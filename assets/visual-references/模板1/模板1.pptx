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7" r:id="rId1"/>
  </p:sldMasterIdLst>
  <p:notesMasterIdLst>
    <p:notesMasterId r:id="rId18"/>
  </p:notesMasterIdLst>
  <p:handoutMasterIdLst>
    <p:handoutMasterId r:id="rId19"/>
  </p:handoutMasterIdLst>
  <p:sldIdLst>
    <p:sldId id="1770" r:id="rId2"/>
    <p:sldId id="1704" r:id="rId3"/>
    <p:sldId id="1956" r:id="rId4"/>
    <p:sldId id="1780" r:id="rId5"/>
    <p:sldId id="1965" r:id="rId6"/>
    <p:sldId id="2122" r:id="rId7"/>
    <p:sldId id="2123" r:id="rId8"/>
    <p:sldId id="2126" r:id="rId9"/>
    <p:sldId id="2127" r:id="rId10"/>
    <p:sldId id="1786" r:id="rId11"/>
    <p:sldId id="1782" r:id="rId12"/>
    <p:sldId id="1787" r:id="rId13"/>
    <p:sldId id="2130" r:id="rId14"/>
    <p:sldId id="1739" r:id="rId15"/>
    <p:sldId id="2132" r:id="rId16"/>
    <p:sldId id="2131" r:id="rId17"/>
  </p:sldIdLst>
  <p:sldSz cx="12192000" cy="6858000"/>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3111"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BF7"/>
    <a:srgbClr val="FFF1D5"/>
    <a:srgbClr val="E9D66F"/>
    <a:srgbClr val="B469FF"/>
    <a:srgbClr val="0099CC"/>
    <a:srgbClr val="E2F0D9"/>
    <a:srgbClr val="6600CC"/>
    <a:srgbClr val="C55A11"/>
    <a:srgbClr val="FFFFFF"/>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79" autoAdjust="0"/>
    <p:restoredTop sz="92265" autoAdjust="0"/>
  </p:normalViewPr>
  <p:slideViewPr>
    <p:cSldViewPr>
      <p:cViewPr>
        <p:scale>
          <a:sx n="75" d="100"/>
          <a:sy n="75" d="100"/>
        </p:scale>
        <p:origin x="924" y="564"/>
      </p:cViewPr>
      <p:guideLst>
        <p:guide orient="horz" pos="2161"/>
        <p:guide pos="3841"/>
      </p:guideLst>
    </p:cSldViewPr>
  </p:slideViewPr>
  <p:notesTextViewPr>
    <p:cViewPr>
      <p:scale>
        <a:sx n="125" d="100"/>
        <a:sy n="125" d="100"/>
      </p:scale>
      <p:origin x="0" y="0"/>
    </p:cViewPr>
  </p:notesTextViewPr>
  <p:sorterViewPr>
    <p:cViewPr varScale="1">
      <p:scale>
        <a:sx n="100" d="100"/>
        <a:sy n="100" d="100"/>
      </p:scale>
      <p:origin x="0" y="0"/>
    </p:cViewPr>
  </p:sorterViewPr>
  <p:notesViewPr>
    <p:cSldViewPr>
      <p:cViewPr varScale="1">
        <p:scale>
          <a:sx n="78" d="100"/>
          <a:sy n="78" d="100"/>
        </p:scale>
        <p:origin x="3114" y="120"/>
      </p:cViewPr>
      <p:guideLst>
        <p:guide orient="horz" pos="3111"/>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1" y="1"/>
            <a:ext cx="2946448" cy="493241"/>
          </a:xfrm>
          <a:prstGeom prst="rect">
            <a:avLst/>
          </a:prstGeom>
          <a:noFill/>
          <a:ln w="9525">
            <a:noFill/>
            <a:miter lim="800000"/>
          </a:ln>
        </p:spPr>
        <p:txBody>
          <a:bodyPr vert="horz" wrap="square" lIns="95558" tIns="47778" rIns="95558" bIns="47778" numCol="1" anchor="t" anchorCtr="0" compatLnSpc="1"/>
          <a:lstStyle>
            <a:lvl1pPr defTabSz="882650" eaLnBrk="0" hangingPunct="0">
              <a:defRPr sz="1300">
                <a:latin typeface="Arial" panose="020B0604020202020204" pitchFamily="34" charset="0"/>
                <a:ea typeface="宋体" panose="02010600030101010101" pitchFamily="2" charset="-122"/>
              </a:defRPr>
            </a:lvl1pPr>
          </a:lstStyle>
          <a:p>
            <a:pPr>
              <a:defRPr/>
            </a:pPr>
            <a:endParaRPr lang="zh-CN" altLang="en-US"/>
          </a:p>
        </p:txBody>
      </p:sp>
      <p:sp>
        <p:nvSpPr>
          <p:cNvPr id="98307" name="Rectangle 3"/>
          <p:cNvSpPr>
            <a:spLocks noGrp="1" noChangeArrowheads="1"/>
          </p:cNvSpPr>
          <p:nvPr>
            <p:ph type="dt" sz="quarter" idx="1"/>
          </p:nvPr>
        </p:nvSpPr>
        <p:spPr bwMode="auto">
          <a:xfrm>
            <a:off x="3849648" y="1"/>
            <a:ext cx="2946448" cy="493241"/>
          </a:xfrm>
          <a:prstGeom prst="rect">
            <a:avLst/>
          </a:prstGeom>
          <a:noFill/>
          <a:ln w="9525">
            <a:noFill/>
            <a:miter lim="800000"/>
          </a:ln>
        </p:spPr>
        <p:txBody>
          <a:bodyPr vert="horz" wrap="square" lIns="95558" tIns="47778" rIns="95558" bIns="47778" numCol="1" anchor="t" anchorCtr="0" compatLnSpc="1"/>
          <a:lstStyle>
            <a:lvl1pPr algn="r" defTabSz="882650" eaLnBrk="0" hangingPunct="0">
              <a:defRPr sz="1300">
                <a:latin typeface="Arial" panose="020B0604020202020204" pitchFamily="34" charset="0"/>
                <a:ea typeface="宋体" panose="02010600030101010101" pitchFamily="2" charset="-122"/>
              </a:defRPr>
            </a:lvl1pPr>
          </a:lstStyle>
          <a:p>
            <a:pPr>
              <a:defRPr/>
            </a:pPr>
            <a:fld id="{8C194AB6-BECC-47C4-98A8-3E8B6DBE99C0}" type="datetimeFigureOut">
              <a:rPr lang="zh-CN" altLang="en-US"/>
              <a:t>2025/5/13</a:t>
            </a:fld>
            <a:endParaRPr lang="en-US" altLang="zh-CN" dirty="0"/>
          </a:p>
        </p:txBody>
      </p:sp>
      <p:sp>
        <p:nvSpPr>
          <p:cNvPr id="98308" name="Rectangle 4"/>
          <p:cNvSpPr>
            <a:spLocks noGrp="1" noChangeArrowheads="1"/>
          </p:cNvSpPr>
          <p:nvPr>
            <p:ph type="ftr" sz="quarter" idx="2"/>
          </p:nvPr>
        </p:nvSpPr>
        <p:spPr bwMode="auto">
          <a:xfrm>
            <a:off x="1" y="9379440"/>
            <a:ext cx="2946448" cy="493241"/>
          </a:xfrm>
          <a:prstGeom prst="rect">
            <a:avLst/>
          </a:prstGeom>
          <a:noFill/>
          <a:ln w="9525">
            <a:noFill/>
            <a:miter lim="800000"/>
          </a:ln>
        </p:spPr>
        <p:txBody>
          <a:bodyPr vert="horz" wrap="square" lIns="95558" tIns="47778" rIns="95558" bIns="47778" numCol="1" anchor="b" anchorCtr="0" compatLnSpc="1"/>
          <a:lstStyle>
            <a:lvl1pPr defTabSz="882650" eaLnBrk="0" hangingPunct="0">
              <a:defRPr sz="1300">
                <a:latin typeface="Arial" panose="020B0604020202020204" pitchFamily="34" charset="0"/>
                <a:ea typeface="宋体" panose="02010600030101010101" pitchFamily="2" charset="-122"/>
              </a:defRPr>
            </a:lvl1pPr>
          </a:lstStyle>
          <a:p>
            <a:pPr>
              <a:defRPr/>
            </a:pPr>
            <a:endParaRPr lang="en-US" altLang="zh-CN" dirty="0"/>
          </a:p>
        </p:txBody>
      </p:sp>
      <p:sp>
        <p:nvSpPr>
          <p:cNvPr id="98309" name="Rectangle 5"/>
          <p:cNvSpPr>
            <a:spLocks noGrp="1" noChangeArrowheads="1"/>
          </p:cNvSpPr>
          <p:nvPr>
            <p:ph type="sldNum" sz="quarter" idx="3"/>
          </p:nvPr>
        </p:nvSpPr>
        <p:spPr bwMode="auto">
          <a:xfrm>
            <a:off x="3849648" y="9379440"/>
            <a:ext cx="2946448" cy="493241"/>
          </a:xfrm>
          <a:prstGeom prst="rect">
            <a:avLst/>
          </a:prstGeom>
          <a:noFill/>
          <a:ln w="9525">
            <a:noFill/>
            <a:miter lim="800000"/>
          </a:ln>
        </p:spPr>
        <p:txBody>
          <a:bodyPr vert="horz" wrap="square" lIns="95558" tIns="47778" rIns="95558" bIns="47778" numCol="1" anchor="b" anchorCtr="0" compatLnSpc="1"/>
          <a:lstStyle>
            <a:lvl1pPr algn="r" defTabSz="882650" eaLnBrk="0" hangingPunct="0">
              <a:defRPr sz="1300">
                <a:latin typeface="Arial" panose="020B0604020202020204" pitchFamily="34" charset="0"/>
                <a:ea typeface="宋体" panose="02010600030101010101" pitchFamily="2" charset="-122"/>
              </a:defRPr>
            </a:lvl1pPr>
          </a:lstStyle>
          <a:p>
            <a:pPr>
              <a:defRPr/>
            </a:pPr>
            <a:fld id="{82C768EC-EEFA-4873-BA36-522C8D5E23C9}" type="slidenum">
              <a:rPr lang="zh-CN" altLang="en-US"/>
              <a:t>‹#›</a:t>
            </a:fld>
            <a:endParaRPr lang="en-US" altLang="zh-CN"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bwMode="auto">
          <a:xfrm>
            <a:off x="1" y="1"/>
            <a:ext cx="2946448" cy="493241"/>
          </a:xfrm>
          <a:prstGeom prst="rect">
            <a:avLst/>
          </a:prstGeom>
          <a:noFill/>
          <a:ln w="9525">
            <a:noFill/>
            <a:miter lim="800000"/>
          </a:ln>
        </p:spPr>
        <p:txBody>
          <a:bodyPr vert="horz" wrap="square" lIns="95558" tIns="47778" rIns="95558" bIns="47778" numCol="1" anchor="t" anchorCtr="0" compatLnSpc="1"/>
          <a:lstStyle>
            <a:lvl1pPr defTabSz="882650">
              <a:defRPr sz="1300">
                <a:latin typeface="Calibri" panose="020F050202020403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bwMode="auto">
          <a:xfrm>
            <a:off x="3849648" y="1"/>
            <a:ext cx="2946448" cy="493241"/>
          </a:xfrm>
          <a:prstGeom prst="rect">
            <a:avLst/>
          </a:prstGeom>
          <a:noFill/>
          <a:ln w="9525">
            <a:noFill/>
            <a:miter lim="800000"/>
          </a:ln>
        </p:spPr>
        <p:txBody>
          <a:bodyPr vert="horz" wrap="square" lIns="95558" tIns="47778" rIns="95558" bIns="47778" numCol="1" anchor="t" anchorCtr="0" compatLnSpc="1"/>
          <a:lstStyle>
            <a:lvl1pPr algn="r" defTabSz="882650">
              <a:defRPr sz="1300">
                <a:latin typeface="Calibri" panose="020F0502020204030204" pitchFamily="34" charset="0"/>
                <a:ea typeface="宋体" panose="02010600030101010101" pitchFamily="2" charset="-122"/>
              </a:defRPr>
            </a:lvl1pPr>
          </a:lstStyle>
          <a:p>
            <a:pPr>
              <a:defRPr/>
            </a:pPr>
            <a:fld id="{1305259F-B612-43F3-809A-4A8C8541FCC4}" type="datetimeFigureOut">
              <a:rPr lang="zh-CN" altLang="en-US"/>
              <a:t>2025/5/12</a:t>
            </a:fld>
            <a:endParaRPr lang="en-US" altLang="zh-CN" dirty="0"/>
          </a:p>
        </p:txBody>
      </p:sp>
      <p:sp>
        <p:nvSpPr>
          <p:cNvPr id="4" name="幻灯片图像占位符 3"/>
          <p:cNvSpPr>
            <a:spLocks noGrp="1" noRot="1" noChangeAspect="1"/>
          </p:cNvSpPr>
          <p:nvPr>
            <p:ph type="sldImg" idx="2"/>
          </p:nvPr>
        </p:nvSpPr>
        <p:spPr>
          <a:xfrm>
            <a:off x="109538" y="741363"/>
            <a:ext cx="6578600" cy="3702050"/>
          </a:xfrm>
          <a:prstGeom prst="rect">
            <a:avLst/>
          </a:prstGeom>
          <a:noFill/>
          <a:ln w="12700">
            <a:solidFill>
              <a:prstClr val="black"/>
            </a:solidFill>
          </a:ln>
        </p:spPr>
        <p:txBody>
          <a:bodyPr vert="horz" lIns="98523" tIns="49262" rIns="98523" bIns="49262" rtlCol="0" anchor="ctr"/>
          <a:lstStyle/>
          <a:p>
            <a:pPr lvl="0"/>
            <a:endParaRPr lang="zh-CN" altLang="en-US" noProof="0"/>
          </a:p>
        </p:txBody>
      </p:sp>
      <p:sp>
        <p:nvSpPr>
          <p:cNvPr id="5" name="备注占位符 4"/>
          <p:cNvSpPr>
            <a:spLocks noGrp="1"/>
          </p:cNvSpPr>
          <p:nvPr>
            <p:ph type="body" sz="quarter" idx="3"/>
          </p:nvPr>
        </p:nvSpPr>
        <p:spPr bwMode="auto">
          <a:xfrm>
            <a:off x="678978" y="4690505"/>
            <a:ext cx="5439719" cy="4442313"/>
          </a:xfrm>
          <a:prstGeom prst="rect">
            <a:avLst/>
          </a:prstGeom>
          <a:noFill/>
          <a:ln w="9525">
            <a:noFill/>
            <a:miter lim="800000"/>
          </a:ln>
        </p:spPr>
        <p:txBody>
          <a:bodyPr vert="horz" wrap="square" lIns="95558" tIns="47778" rIns="95558" bIns="47778"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bwMode="auto">
          <a:xfrm>
            <a:off x="1" y="9379440"/>
            <a:ext cx="2946448" cy="493241"/>
          </a:xfrm>
          <a:prstGeom prst="rect">
            <a:avLst/>
          </a:prstGeom>
          <a:noFill/>
          <a:ln w="9525">
            <a:noFill/>
            <a:miter lim="800000"/>
          </a:ln>
        </p:spPr>
        <p:txBody>
          <a:bodyPr vert="horz" wrap="square" lIns="95558" tIns="47778" rIns="95558" bIns="47778" numCol="1" anchor="b" anchorCtr="0" compatLnSpc="1"/>
          <a:lstStyle>
            <a:lvl1pPr defTabSz="882650">
              <a:defRPr sz="1300">
                <a:latin typeface="Calibri" panose="020F050202020403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bwMode="auto">
          <a:xfrm>
            <a:off x="3849648" y="9379440"/>
            <a:ext cx="2946448" cy="493241"/>
          </a:xfrm>
          <a:prstGeom prst="rect">
            <a:avLst/>
          </a:prstGeom>
          <a:noFill/>
          <a:ln w="9525">
            <a:noFill/>
            <a:miter lim="800000"/>
          </a:ln>
        </p:spPr>
        <p:txBody>
          <a:bodyPr vert="horz" wrap="square" lIns="95558" tIns="47778" rIns="95558" bIns="47778" numCol="1" anchor="b" anchorCtr="0" compatLnSpc="1"/>
          <a:lstStyle>
            <a:lvl1pPr algn="r" defTabSz="882650">
              <a:defRPr sz="1300">
                <a:latin typeface="Calibri" panose="020F0502020204030204" pitchFamily="34" charset="0"/>
                <a:ea typeface="宋体" panose="02010600030101010101" pitchFamily="2" charset="-122"/>
              </a:defRPr>
            </a:lvl1pPr>
          </a:lstStyle>
          <a:p>
            <a:pPr>
              <a:defRPr/>
            </a:pPr>
            <a:fld id="{02F54C80-B770-4C50-A5D1-D9880C7EFE61}" type="slidenum">
              <a:rPr lang="zh-CN" altLang="en-US"/>
              <a:t>‹#›</a:t>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a:lstStyle/>
          <a:p>
            <a:fld id="{79ED29BA-91C3-4915-8CAA-DFDFB9FCE647}" type="slidenum">
              <a:rPr lang="zh-CN" altLang="en-US" smtClean="0"/>
              <a:pPr/>
              <a:t>1</a:t>
            </a:fld>
            <a:endParaRPr lang="en-US" altLang="zh-CN"/>
          </a:p>
        </p:txBody>
      </p:sp>
    </p:spTree>
    <p:extLst>
      <p:ext uri="{BB962C8B-B14F-4D97-AF65-F5344CB8AC3E}">
        <p14:creationId xmlns:p14="http://schemas.microsoft.com/office/powerpoint/2010/main" val="4207495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2</a:t>
            </a:fld>
            <a:endParaRPr lang="zh-CN" altLang="en-US">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3</a:t>
            </a:fld>
            <a:endParaRPr lang="zh-CN" altLang="en-US">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运输车辆中驾驶员接管的重要作用不可忽视。尤其遇到极端场景，补充相关的研究可以尽快让驾驶员对智能驾驶车辆的接受程度提高，且更有安全保障。</a:t>
            </a:r>
          </a:p>
        </p:txBody>
      </p:sp>
      <p:sp>
        <p:nvSpPr>
          <p:cNvPr id="4" name="灯片编号占位符 3"/>
          <p:cNvSpPr>
            <a:spLocks noGrp="1"/>
          </p:cNvSpPr>
          <p:nvPr>
            <p:ph type="sldNum" sz="quarter" idx="5"/>
          </p:nvPr>
        </p:nvSpPr>
        <p:spPr/>
        <p:txBody>
          <a:bodyPr/>
          <a:lstStyle/>
          <a:p>
            <a:pPr>
              <a:defRPr/>
            </a:pPr>
            <a:fld id="{02F54C80-B770-4C50-A5D1-D9880C7EFE61}" type="slidenum">
              <a:rPr lang="zh-CN" altLang="en-US" smtClean="0"/>
              <a:t>4</a:t>
            </a:fld>
            <a:endParaRPr lang="en-US" altLang="zh-CN" dirty="0"/>
          </a:p>
        </p:txBody>
      </p:sp>
    </p:spTree>
    <p:extLst>
      <p:ext uri="{BB962C8B-B14F-4D97-AF65-F5344CB8AC3E}">
        <p14:creationId xmlns:p14="http://schemas.microsoft.com/office/powerpoint/2010/main" val="1706700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zh-CN" altLang="en-US" dirty="0"/>
              <a:t>第四章从车的角度考虑被动安全被动防控</a:t>
            </a:r>
            <a:endParaRPr lang="en-US" altLang="zh-CN" dirty="0"/>
          </a:p>
          <a:p>
            <a:pPr algn="l">
              <a:buFont typeface="Arial" panose="020B0604020202020204" pitchFamily="34" charset="0"/>
              <a:buChar char="•"/>
            </a:pPr>
            <a:r>
              <a:rPr lang="zh-CN" altLang="en-US" dirty="0"/>
              <a:t>第五章从人的角度考虑人</a:t>
            </a:r>
            <a:r>
              <a:rPr lang="en-US" altLang="zh-CN" dirty="0"/>
              <a:t>-</a:t>
            </a:r>
            <a:r>
              <a:rPr lang="zh-CN" altLang="en-US" dirty="0"/>
              <a:t>车、车车的协同效应，实现主动安全防控。</a:t>
            </a:r>
            <a:endParaRPr lang="en-US" altLang="zh-CN" dirty="0"/>
          </a:p>
          <a:p>
            <a:pPr algn="l">
              <a:buFont typeface="Arial" panose="020B0604020202020204" pitchFamily="34" charset="0"/>
              <a:buChar char="•"/>
            </a:pPr>
            <a:endParaRPr lang="en-US" altLang="zh-CN" dirty="0"/>
          </a:p>
          <a:p>
            <a:pPr algn="l">
              <a:buFont typeface="Arial" panose="020B0604020202020204" pitchFamily="34" charset="0"/>
              <a:buChar char="•"/>
            </a:pPr>
            <a:endParaRPr lang="en-US" altLang="zh-CN" dirty="0"/>
          </a:p>
          <a:p>
            <a:pPr algn="l">
              <a:buFont typeface="Arial" panose="020B0604020202020204" pitchFamily="34" charset="0"/>
              <a:buChar char="•"/>
            </a:pPr>
            <a:r>
              <a:rPr lang="zh-CN" altLang="en-US" dirty="0"/>
              <a:t>不同源的数据</a:t>
            </a:r>
            <a:br>
              <a:rPr lang="en-US" altLang="zh-CN" dirty="0"/>
            </a:br>
            <a:r>
              <a:rPr lang="zh-CN" altLang="en-US" b="1" i="0" dirty="0">
                <a:solidFill>
                  <a:srgbClr val="000000"/>
                </a:solidFill>
                <a:effectLst/>
                <a:latin typeface="Inter"/>
              </a:rPr>
              <a:t>图结构定义</a:t>
            </a:r>
            <a:r>
              <a:rPr lang="zh-CN" altLang="en-US" b="0" i="0" dirty="0">
                <a:solidFill>
                  <a:srgbClr val="000000"/>
                </a:solidFill>
                <a:effectLst/>
                <a:latin typeface="Inter"/>
              </a:rPr>
              <a:t>：</a:t>
            </a:r>
          </a:p>
          <a:p>
            <a:pPr marL="742950" lvl="1" indent="-285750" algn="l">
              <a:buFont typeface="Arial" panose="020B0604020202020204" pitchFamily="34" charset="0"/>
              <a:buChar char="•"/>
            </a:pPr>
            <a:r>
              <a:rPr lang="zh-CN" altLang="en-US" b="0" i="0" dirty="0">
                <a:solidFill>
                  <a:srgbClr val="000000"/>
                </a:solidFill>
                <a:effectLst/>
                <a:latin typeface="Inter"/>
              </a:rPr>
              <a:t>邻接矩阵 </a:t>
            </a:r>
            <a:r>
              <a:rPr lang="en-US" altLang="zh-CN" b="0" i="0" dirty="0">
                <a:solidFill>
                  <a:srgbClr val="000000"/>
                </a:solidFill>
                <a:effectLst/>
                <a:latin typeface="Inter"/>
              </a:rPr>
              <a:t>A</a:t>
            </a:r>
            <a:r>
              <a:rPr lang="zh-CN" altLang="en-US" b="0" i="0" dirty="0">
                <a:solidFill>
                  <a:srgbClr val="000000"/>
                </a:solidFill>
                <a:effectLst/>
                <a:latin typeface="Inter"/>
              </a:rPr>
              <a:t>：基于网格距离或道路连通性，归一化处理 </a:t>
            </a:r>
            <a:r>
              <a:rPr lang="en-US" altLang="zh-CN" b="0" i="0" dirty="0">
                <a:solidFill>
                  <a:srgbClr val="000000"/>
                </a:solidFill>
                <a:effectLst/>
                <a:latin typeface="Inter"/>
              </a:rPr>
              <a:t>\(\hat{A} = D^{-1/2}AD^{-1/2}\)</a:t>
            </a:r>
            <a:r>
              <a:rPr lang="zh-CN" altLang="en-US" b="0" i="0" dirty="0">
                <a:solidFill>
                  <a:srgbClr val="000000"/>
                </a:solidFill>
                <a:effectLst/>
                <a:latin typeface="Inter"/>
              </a:rPr>
              <a:t>（对称归一化）。</a:t>
            </a:r>
          </a:p>
          <a:p>
            <a:pPr marL="742950" lvl="1" indent="-285750" algn="l">
              <a:buFont typeface="Arial" panose="020B0604020202020204" pitchFamily="34" charset="0"/>
              <a:buChar char="•"/>
            </a:pPr>
            <a:r>
              <a:rPr lang="zh-CN" altLang="en-US" b="0" i="0" dirty="0">
                <a:solidFill>
                  <a:srgbClr val="000000"/>
                </a:solidFill>
                <a:effectLst/>
                <a:latin typeface="Inter"/>
              </a:rPr>
              <a:t>节点特征 </a:t>
            </a:r>
            <a:r>
              <a:rPr lang="en-US" altLang="zh-CN" b="0" i="0" dirty="0">
                <a:solidFill>
                  <a:srgbClr val="000000"/>
                </a:solidFill>
                <a:effectLst/>
                <a:latin typeface="Inter"/>
              </a:rPr>
              <a:t>\(H^{(l)}\)</a:t>
            </a:r>
            <a:r>
              <a:rPr lang="zh-CN" altLang="en-US" b="0" i="0" dirty="0">
                <a:solidFill>
                  <a:srgbClr val="000000"/>
                </a:solidFill>
                <a:effectLst/>
                <a:latin typeface="Inter"/>
              </a:rPr>
              <a:t>：第 </a:t>
            </a:r>
            <a:r>
              <a:rPr lang="en-US" altLang="zh-CN" b="0" i="0" dirty="0">
                <a:solidFill>
                  <a:srgbClr val="000000"/>
                </a:solidFill>
                <a:effectLst/>
                <a:latin typeface="Inter"/>
              </a:rPr>
              <a:t>l </a:t>
            </a:r>
            <a:r>
              <a:rPr lang="zh-CN" altLang="en-US" b="0" i="0" dirty="0">
                <a:solidFill>
                  <a:srgbClr val="000000"/>
                </a:solidFill>
                <a:effectLst/>
                <a:latin typeface="Inter"/>
              </a:rPr>
              <a:t>层输入，初始为 </a:t>
            </a:r>
            <a:r>
              <a:rPr lang="en-US" altLang="zh-CN" b="0" i="0" dirty="0">
                <a:solidFill>
                  <a:srgbClr val="000000"/>
                </a:solidFill>
                <a:effectLst/>
                <a:latin typeface="Inter"/>
              </a:rPr>
              <a:t>\(H^{(0)} = [</a:t>
            </a:r>
            <a:r>
              <a:rPr lang="en-US" altLang="zh-CN" b="0" i="0" dirty="0" err="1">
                <a:solidFill>
                  <a:srgbClr val="000000"/>
                </a:solidFill>
                <a:effectLst/>
                <a:latin typeface="Inter"/>
              </a:rPr>
              <a:t>X_n</a:t>
            </a:r>
            <a:r>
              <a:rPr lang="en-US" altLang="zh-CN" b="0" i="0" dirty="0">
                <a:solidFill>
                  <a:srgbClr val="000000"/>
                </a:solidFill>
                <a:effectLst/>
                <a:latin typeface="Inter"/>
              </a:rPr>
              <a:t>^{static}; X_{</a:t>
            </a:r>
            <a:r>
              <a:rPr lang="en-US" altLang="zh-CN" b="0" i="0" dirty="0" err="1">
                <a:solidFill>
                  <a:srgbClr val="000000"/>
                </a:solidFill>
                <a:effectLst/>
                <a:latin typeface="Inter"/>
              </a:rPr>
              <a:t>i,t</a:t>
            </a:r>
            <a:r>
              <a:rPr lang="en-US" altLang="zh-CN" b="0" i="0" dirty="0">
                <a:solidFill>
                  <a:srgbClr val="000000"/>
                </a:solidFill>
                <a:effectLst/>
                <a:latin typeface="Inter"/>
              </a:rPr>
              <a:t>}]\)</a:t>
            </a:r>
            <a:r>
              <a:rPr lang="zh-CN" altLang="en-US" b="0" i="0" dirty="0">
                <a:solidFill>
                  <a:srgbClr val="000000"/>
                </a:solidFill>
                <a:effectLst/>
                <a:latin typeface="Inter"/>
              </a:rPr>
              <a:t>（融合静态属性与轨迹动态特征）。</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02F54C80-B770-4C50-A5D1-D9880C7EFE61}" type="slidenum">
              <a:rPr lang="zh-CN" altLang="en-US" smtClean="0"/>
              <a:t>5</a:t>
            </a:fld>
            <a:endParaRPr lang="en-US" altLang="zh-CN" dirty="0"/>
          </a:p>
        </p:txBody>
      </p:sp>
    </p:spTree>
    <p:extLst>
      <p:ext uri="{BB962C8B-B14F-4D97-AF65-F5344CB8AC3E}">
        <p14:creationId xmlns:p14="http://schemas.microsoft.com/office/powerpoint/2010/main" val="1654464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9538" y="741363"/>
            <a:ext cx="6578600" cy="3702050"/>
          </a:xfrm>
        </p:spPr>
      </p:sp>
      <p:sp>
        <p:nvSpPr>
          <p:cNvPr id="3" name="备注占位符 2"/>
          <p:cNvSpPr>
            <a:spLocks noGrp="1"/>
          </p:cNvSpPr>
          <p:nvPr>
            <p:ph type="body" idx="1"/>
          </p:nvPr>
        </p:nvSpPr>
        <p:spPr/>
        <p:txBody>
          <a:bodyPr/>
          <a:lstStyle/>
          <a:p>
            <a:pPr algn="l"/>
            <a:r>
              <a:rPr lang="zh-CN" altLang="en-US" b="1" i="0" dirty="0">
                <a:solidFill>
                  <a:srgbClr val="000000"/>
                </a:solidFill>
                <a:effectLst/>
                <a:latin typeface="Inter"/>
              </a:rPr>
              <a:t>少样本增强（</a:t>
            </a:r>
            <a:r>
              <a:rPr lang="en-US" altLang="zh-CN" b="1" i="0" dirty="0">
                <a:solidFill>
                  <a:srgbClr val="000000"/>
                </a:solidFill>
                <a:effectLst/>
                <a:latin typeface="Inter"/>
              </a:rPr>
              <a:t>Few-Shot Augmentation</a:t>
            </a:r>
            <a:r>
              <a:rPr lang="zh-CN" altLang="en-US" b="1" i="0" dirty="0">
                <a:solidFill>
                  <a:srgbClr val="000000"/>
                </a:solidFill>
                <a:effectLst/>
                <a:latin typeface="Inter"/>
              </a:rPr>
              <a:t>）</a:t>
            </a:r>
            <a:r>
              <a:rPr lang="zh-CN" altLang="en-US" b="0" i="0" dirty="0">
                <a:effectLst/>
                <a:latin typeface="Inter"/>
              </a:rPr>
              <a:t> 是针对机器学习中 ** 训练数据极少（如每个类别仅 </a:t>
            </a:r>
            <a:r>
              <a:rPr lang="en-US" altLang="zh-CN" b="0" i="0" dirty="0">
                <a:effectLst/>
                <a:latin typeface="Inter"/>
              </a:rPr>
              <a:t>1-5 </a:t>
            </a:r>
            <a:r>
              <a:rPr lang="zh-CN" altLang="en-US" b="0" i="0" dirty="0">
                <a:effectLst/>
                <a:latin typeface="Inter"/>
              </a:rPr>
              <a:t>个样本）** 的场景，通过技术手段生成高质量辅助数据、优化模型学习策略或融合外部知识，从而提升模型泛化能力的一类方法。其核心目标是缓解小样本场景下的过拟合问题，让模型在数据稀缺时仍能高效学习。</a:t>
            </a:r>
            <a:br>
              <a:rPr lang="en-US" altLang="zh-CN" b="0" i="0" dirty="0">
                <a:effectLst/>
                <a:latin typeface="Inter"/>
              </a:rPr>
            </a:br>
            <a:br>
              <a:rPr lang="en-US" altLang="zh-CN" b="0" i="0" dirty="0">
                <a:effectLst/>
                <a:latin typeface="Inter"/>
              </a:rPr>
            </a:br>
            <a:r>
              <a:rPr lang="en-US" altLang="zh-CN" b="1" i="0" dirty="0">
                <a:solidFill>
                  <a:srgbClr val="000000"/>
                </a:solidFill>
                <a:effectLst/>
                <a:latin typeface="Inter"/>
              </a:rPr>
              <a:t>1. </a:t>
            </a:r>
            <a:r>
              <a:rPr lang="zh-CN" altLang="en-US" b="1" i="0" dirty="0">
                <a:solidFill>
                  <a:srgbClr val="000000"/>
                </a:solidFill>
                <a:effectLst/>
                <a:latin typeface="Inter"/>
              </a:rPr>
              <a:t>线性降维：保留全局结构</a:t>
            </a:r>
          </a:p>
          <a:p>
            <a:pPr algn="l">
              <a:buFont typeface="Arial" panose="020B0604020202020204" pitchFamily="34" charset="0"/>
              <a:buChar char="•"/>
            </a:pPr>
            <a:r>
              <a:rPr lang="en-US" altLang="zh-CN" b="1" i="0" dirty="0">
                <a:solidFill>
                  <a:srgbClr val="000000"/>
                </a:solidFill>
                <a:effectLst/>
                <a:latin typeface="Inter"/>
              </a:rPr>
              <a:t>PCA/FA</a:t>
            </a:r>
            <a:r>
              <a:rPr lang="zh-CN" altLang="en-US" b="1" i="0" dirty="0">
                <a:solidFill>
                  <a:srgbClr val="000000"/>
                </a:solidFill>
                <a:effectLst/>
                <a:latin typeface="Inter"/>
              </a:rPr>
              <a:t>（因子分析）</a:t>
            </a:r>
            <a:r>
              <a:rPr lang="zh-CN" altLang="en-US" b="0" i="0" dirty="0">
                <a:solidFill>
                  <a:srgbClr val="000000"/>
                </a:solidFill>
                <a:effectLst/>
                <a:latin typeface="Inter"/>
              </a:rPr>
              <a:t>：适用于线性相关的高维数据，通过提取主成分保留 </a:t>
            </a:r>
            <a:r>
              <a:rPr lang="en-US" altLang="zh-CN" b="0" i="0" dirty="0">
                <a:solidFill>
                  <a:srgbClr val="000000"/>
                </a:solidFill>
                <a:effectLst/>
                <a:latin typeface="Inter"/>
              </a:rPr>
              <a:t>80%-95% </a:t>
            </a:r>
            <a:r>
              <a:rPr lang="zh-CN" altLang="en-US" b="0" i="0" dirty="0">
                <a:solidFill>
                  <a:srgbClr val="000000"/>
                </a:solidFill>
                <a:effectLst/>
                <a:latin typeface="Inter"/>
              </a:rPr>
              <a:t>方差，降低计算复杂度（如将 </a:t>
            </a:r>
            <a:r>
              <a:rPr lang="en-US" altLang="zh-CN" b="0" i="0" dirty="0">
                <a:solidFill>
                  <a:srgbClr val="000000"/>
                </a:solidFill>
                <a:effectLst/>
                <a:latin typeface="Inter"/>
              </a:rPr>
              <a:t>1000 </a:t>
            </a:r>
            <a:r>
              <a:rPr lang="zh-CN" altLang="en-US" b="0" i="0" dirty="0">
                <a:solidFill>
                  <a:srgbClr val="000000"/>
                </a:solidFill>
                <a:effectLst/>
                <a:latin typeface="Inter"/>
              </a:rPr>
              <a:t>维降至 </a:t>
            </a:r>
            <a:r>
              <a:rPr lang="en-US" altLang="zh-CN" b="0" i="0" dirty="0">
                <a:solidFill>
                  <a:srgbClr val="000000"/>
                </a:solidFill>
                <a:effectLst/>
                <a:latin typeface="Inter"/>
              </a:rPr>
              <a:t>50 </a:t>
            </a:r>
            <a:r>
              <a:rPr lang="zh-CN" altLang="en-US" b="0" i="0" dirty="0">
                <a:solidFill>
                  <a:srgbClr val="000000"/>
                </a:solidFill>
                <a:effectLst/>
                <a:latin typeface="Inter"/>
              </a:rPr>
              <a:t>维）。</a:t>
            </a:r>
          </a:p>
          <a:p>
            <a:pPr algn="l">
              <a:buFont typeface="Arial" panose="020B0604020202020204" pitchFamily="34" charset="0"/>
              <a:buChar char="•"/>
            </a:pPr>
            <a:r>
              <a:rPr lang="zh-CN" altLang="en-US" b="1" i="0" dirty="0">
                <a:solidFill>
                  <a:srgbClr val="000000"/>
                </a:solidFill>
                <a:effectLst/>
                <a:latin typeface="Inter"/>
              </a:rPr>
              <a:t>针对生成模型优化</a:t>
            </a:r>
            <a:r>
              <a:rPr lang="zh-CN" altLang="en-US" b="0" i="0" dirty="0">
                <a:solidFill>
                  <a:srgbClr val="000000"/>
                </a:solidFill>
                <a:effectLst/>
                <a:latin typeface="Inter"/>
              </a:rPr>
              <a:t>：若生成模型（如 </a:t>
            </a:r>
            <a:r>
              <a:rPr lang="en-US" altLang="zh-CN" b="0" i="0" dirty="0" err="1">
                <a:solidFill>
                  <a:srgbClr val="000000"/>
                </a:solidFill>
                <a:effectLst/>
                <a:latin typeface="Inter"/>
              </a:rPr>
              <a:t>TabDDPM</a:t>
            </a:r>
            <a:r>
              <a:rPr lang="zh-CN" altLang="en-US" b="0" i="0" dirty="0">
                <a:solidFill>
                  <a:srgbClr val="000000"/>
                </a:solidFill>
                <a:effectLst/>
                <a:latin typeface="Inter"/>
              </a:rPr>
              <a:t>）依赖特征间的线性关系，</a:t>
            </a:r>
            <a:r>
              <a:rPr lang="en-US" altLang="zh-CN" b="0" i="0" dirty="0">
                <a:solidFill>
                  <a:srgbClr val="000000"/>
                </a:solidFill>
                <a:effectLst/>
                <a:latin typeface="Inter"/>
              </a:rPr>
              <a:t>PCA </a:t>
            </a:r>
            <a:r>
              <a:rPr lang="zh-CN" altLang="en-US" b="0" i="0" dirty="0">
                <a:solidFill>
                  <a:srgbClr val="000000"/>
                </a:solidFill>
                <a:effectLst/>
                <a:latin typeface="Inter"/>
              </a:rPr>
              <a:t>可显式保留协方差结构，提升生成样本的统计合理性。</a:t>
            </a:r>
          </a:p>
          <a:p>
            <a:pPr algn="l"/>
            <a:r>
              <a:rPr lang="zh-CN" altLang="en-US" b="1" i="0" dirty="0">
                <a:solidFill>
                  <a:srgbClr val="000000"/>
                </a:solidFill>
                <a:effectLst/>
                <a:latin typeface="Inter"/>
              </a:rPr>
              <a:t>线性降维（以 </a:t>
            </a:r>
            <a:r>
              <a:rPr lang="en-US" altLang="zh-CN" b="1" i="0" dirty="0">
                <a:solidFill>
                  <a:srgbClr val="000000"/>
                </a:solidFill>
                <a:effectLst/>
                <a:latin typeface="Inter"/>
              </a:rPr>
              <a:t>PCA </a:t>
            </a:r>
            <a:r>
              <a:rPr lang="zh-CN" altLang="en-US" b="1" i="0" dirty="0">
                <a:solidFill>
                  <a:srgbClr val="000000"/>
                </a:solidFill>
                <a:effectLst/>
                <a:latin typeface="Inter"/>
              </a:rPr>
              <a:t>为例）的优势</a:t>
            </a:r>
            <a:endParaRPr lang="zh-CN" altLang="en-US" b="0" i="0" dirty="0">
              <a:effectLst/>
              <a:latin typeface="Inter"/>
            </a:endParaRPr>
          </a:p>
          <a:p>
            <a:pPr algn="l">
              <a:buFont typeface="Arial" panose="020B0604020202020204" pitchFamily="34" charset="0"/>
              <a:buChar char="•"/>
            </a:pPr>
            <a:r>
              <a:rPr lang="zh-CN" altLang="en-US" b="1" i="0" dirty="0">
                <a:solidFill>
                  <a:srgbClr val="000000"/>
                </a:solidFill>
                <a:effectLst/>
                <a:latin typeface="Inter"/>
              </a:rPr>
              <a:t>保留全局变异与计算效率</a:t>
            </a:r>
            <a:r>
              <a:rPr lang="zh-CN" altLang="en-US" b="0" i="0" dirty="0">
                <a:effectLst/>
                <a:latin typeface="Inter"/>
              </a:rPr>
              <a:t>：</a:t>
            </a:r>
            <a:br>
              <a:rPr lang="zh-CN" altLang="en-US" b="0" i="0" dirty="0">
                <a:effectLst/>
                <a:latin typeface="Inter"/>
              </a:rPr>
            </a:br>
            <a:r>
              <a:rPr lang="en-US" altLang="zh-CN" b="0" i="0" dirty="0">
                <a:effectLst/>
                <a:latin typeface="Inter"/>
              </a:rPr>
              <a:t>PCA </a:t>
            </a:r>
            <a:r>
              <a:rPr lang="zh-CN" altLang="en-US" b="0" i="0" dirty="0">
                <a:effectLst/>
                <a:latin typeface="Inter"/>
              </a:rPr>
              <a:t>通过最大化方差保留数据的主要线性结构，适用于高维数据中存在冗余 </a:t>
            </a:r>
            <a:r>
              <a:rPr lang="en-US" altLang="zh-CN" b="0" i="0" dirty="0">
                <a:effectLst/>
                <a:latin typeface="Inter"/>
              </a:rPr>
              <a:t>/ </a:t>
            </a:r>
            <a:r>
              <a:rPr lang="zh-CN" altLang="en-US" b="0" i="0" dirty="0">
                <a:effectLst/>
                <a:latin typeface="Inter"/>
              </a:rPr>
              <a:t>噪声的场景（如交通事故数据中的传感器噪声、重复采集特征），能快速降低维度（如从 </a:t>
            </a:r>
            <a:r>
              <a:rPr lang="en-US" altLang="zh-CN" b="0" i="0" dirty="0">
                <a:effectLst/>
                <a:latin typeface="Inter"/>
              </a:rPr>
              <a:t>100 </a:t>
            </a:r>
            <a:r>
              <a:rPr lang="zh-CN" altLang="en-US" b="0" i="0" dirty="0">
                <a:effectLst/>
                <a:latin typeface="Inter"/>
              </a:rPr>
              <a:t>维降至 </a:t>
            </a:r>
            <a:r>
              <a:rPr lang="en-US" altLang="zh-CN" b="0" i="0" dirty="0">
                <a:effectLst/>
                <a:latin typeface="Inter"/>
              </a:rPr>
              <a:t>20 </a:t>
            </a:r>
            <a:r>
              <a:rPr lang="zh-CN" altLang="en-US" b="0" i="0" dirty="0">
                <a:effectLst/>
                <a:latin typeface="Inter"/>
              </a:rPr>
              <a:t>维），减少 </a:t>
            </a:r>
            <a:r>
              <a:rPr lang="en-US" altLang="zh-CN" b="0" i="0" dirty="0" err="1">
                <a:effectLst/>
                <a:latin typeface="Inter"/>
              </a:rPr>
              <a:t>LightGBM</a:t>
            </a:r>
            <a:r>
              <a:rPr lang="en-US" altLang="zh-CN" b="0" i="0" dirty="0">
                <a:effectLst/>
                <a:latin typeface="Inter"/>
              </a:rPr>
              <a:t> </a:t>
            </a:r>
            <a:r>
              <a:rPr lang="zh-CN" altLang="en-US" b="0" i="0" dirty="0">
                <a:effectLst/>
                <a:latin typeface="Inter"/>
              </a:rPr>
              <a:t>的训练时间和过拟合风险。</a:t>
            </a:r>
          </a:p>
          <a:p>
            <a:pPr algn="l">
              <a:buFont typeface="Arial" panose="020B0604020202020204" pitchFamily="34" charset="0"/>
              <a:buChar char="•"/>
            </a:pPr>
            <a:r>
              <a:rPr lang="zh-CN" altLang="en-US" b="1" i="0" dirty="0">
                <a:solidFill>
                  <a:srgbClr val="000000"/>
                </a:solidFill>
                <a:effectLst/>
                <a:latin typeface="Inter"/>
              </a:rPr>
              <a:t>特征可解释性</a:t>
            </a:r>
            <a:r>
              <a:rPr lang="zh-CN" altLang="en-US" b="0" i="0" dirty="0">
                <a:effectLst/>
                <a:latin typeface="Inter"/>
              </a:rPr>
              <a:t>：</a:t>
            </a:r>
            <a:br>
              <a:rPr lang="zh-CN" altLang="en-US" b="0" i="0" dirty="0">
                <a:effectLst/>
                <a:latin typeface="Inter"/>
              </a:rPr>
            </a:br>
            <a:r>
              <a:rPr lang="en-US" altLang="zh-CN" b="0" i="0" dirty="0">
                <a:effectLst/>
                <a:latin typeface="Inter"/>
              </a:rPr>
              <a:t>PCA </a:t>
            </a:r>
            <a:r>
              <a:rPr lang="zh-CN" altLang="en-US" b="0" i="0" dirty="0">
                <a:effectLst/>
                <a:latin typeface="Inter"/>
              </a:rPr>
              <a:t>的主成分是原始特征的线性组合，可通过载荷矩阵（</a:t>
            </a:r>
            <a:r>
              <a:rPr lang="en-US" altLang="zh-CN" b="0" i="0" dirty="0">
                <a:effectLst/>
                <a:latin typeface="Inter"/>
              </a:rPr>
              <a:t>Loading Matrix</a:t>
            </a:r>
            <a:r>
              <a:rPr lang="zh-CN" altLang="en-US" b="0" i="0" dirty="0">
                <a:effectLst/>
                <a:latin typeface="Inter"/>
              </a:rPr>
              <a:t>）分析主成分的物理意义（如第一主成分可能对应 “速度 </a:t>
            </a:r>
            <a:r>
              <a:rPr lang="en-US" altLang="zh-CN" b="0" i="0" dirty="0">
                <a:effectLst/>
                <a:latin typeface="Inter"/>
              </a:rPr>
              <a:t>+ </a:t>
            </a:r>
            <a:r>
              <a:rPr lang="zh-CN" altLang="en-US" b="0" i="0" dirty="0">
                <a:effectLst/>
                <a:latin typeface="Inter"/>
              </a:rPr>
              <a:t>交通流量” 的综合影响），符合事故致因分析中对特征可解释性的需求。</a:t>
            </a:r>
          </a:p>
          <a:p>
            <a:endParaRPr lang="en-US" altLang="zh-CN" b="0" i="0" dirty="0">
              <a:effectLst/>
              <a:latin typeface="Inter"/>
            </a:endParaRPr>
          </a:p>
          <a:p>
            <a:endParaRPr lang="en-US" altLang="zh-CN" b="0" i="0" dirty="0">
              <a:effectLst/>
              <a:latin typeface="Inter"/>
            </a:endParaRPr>
          </a:p>
          <a:p>
            <a:pPr algn="l"/>
            <a:r>
              <a:rPr lang="zh-CN" altLang="en-US" b="1" i="0" dirty="0">
                <a:solidFill>
                  <a:srgbClr val="000000"/>
                </a:solidFill>
                <a:effectLst/>
                <a:latin typeface="Inter"/>
              </a:rPr>
              <a:t>核心技术方向</a:t>
            </a:r>
            <a:r>
              <a:rPr lang="zh-CN" altLang="en-US" b="0" i="0" dirty="0">
                <a:effectLst/>
                <a:latin typeface="Inter"/>
              </a:rPr>
              <a:t>：</a:t>
            </a:r>
          </a:p>
          <a:p>
            <a:pPr algn="l">
              <a:buFont typeface="Arial" panose="020B0604020202020204" pitchFamily="34" charset="0"/>
              <a:buChar char="•"/>
            </a:pPr>
            <a:r>
              <a:rPr lang="zh-CN" altLang="en-US" b="1" i="0" dirty="0">
                <a:solidFill>
                  <a:srgbClr val="000000"/>
                </a:solidFill>
                <a:effectLst/>
                <a:latin typeface="Inter"/>
              </a:rPr>
              <a:t>样本生成</a:t>
            </a:r>
            <a:r>
              <a:rPr lang="zh-CN" altLang="en-US" b="0" i="0" dirty="0">
                <a:effectLst/>
                <a:latin typeface="Inter"/>
              </a:rPr>
              <a:t>：通过生成模型（如扩散模型、</a:t>
            </a:r>
            <a:r>
              <a:rPr lang="en-US" altLang="zh-CN" b="0" i="0" dirty="0">
                <a:effectLst/>
                <a:latin typeface="Inter"/>
              </a:rPr>
              <a:t>GAN</a:t>
            </a:r>
            <a:r>
              <a:rPr lang="zh-CN" altLang="en-US" b="0" i="0" dirty="0">
                <a:effectLst/>
                <a:latin typeface="Inter"/>
              </a:rPr>
              <a:t>）合成与真实数据分布一致的新样本，补充训练数据；</a:t>
            </a:r>
          </a:p>
          <a:p>
            <a:pPr algn="l">
              <a:buFont typeface="Arial" panose="020B0604020202020204" pitchFamily="34" charset="0"/>
              <a:buChar char="•"/>
            </a:pPr>
            <a:r>
              <a:rPr lang="zh-CN" altLang="en-US" b="1" i="0" dirty="0">
                <a:solidFill>
                  <a:srgbClr val="000000"/>
                </a:solidFill>
                <a:effectLst/>
                <a:latin typeface="Inter"/>
              </a:rPr>
              <a:t>学习策略优化</a:t>
            </a:r>
            <a:r>
              <a:rPr lang="zh-CN" altLang="en-US" b="0" i="0" dirty="0">
                <a:effectLst/>
                <a:latin typeface="Inter"/>
              </a:rPr>
              <a:t>：利用元学习动态调整训练策略（如增强参数、损失函数），让模型快速适应新任务；</a:t>
            </a:r>
            <a:endParaRPr lang="en-US" altLang="zh-CN" b="0" i="0" dirty="0">
              <a:effectLst/>
              <a:latin typeface="Inter"/>
            </a:endParaRPr>
          </a:p>
          <a:p>
            <a:pPr algn="l">
              <a:buFont typeface="Arial" panose="020B0604020202020204" pitchFamily="34" charset="0"/>
              <a:buChar char="•"/>
            </a:pPr>
            <a:endParaRPr lang="en-US" altLang="zh-CN" b="0" i="0" dirty="0">
              <a:effectLst/>
              <a:latin typeface="Inter"/>
            </a:endParaRPr>
          </a:p>
          <a:p>
            <a:pPr algn="l">
              <a:buFont typeface="Arial" panose="020B0604020202020204" pitchFamily="34" charset="0"/>
              <a:buChar char="•"/>
            </a:pPr>
            <a:r>
              <a:rPr lang="zh-CN" altLang="en-US" b="1" i="0" dirty="0">
                <a:solidFill>
                  <a:srgbClr val="000000"/>
                </a:solidFill>
                <a:effectLst/>
                <a:latin typeface="Inter"/>
              </a:rPr>
              <a:t>基于元学习的增强</a:t>
            </a:r>
            <a:r>
              <a:rPr lang="zh-CN" altLang="en-US" b="0" i="0" dirty="0">
                <a:effectLst/>
                <a:latin typeface="Inter"/>
              </a:rPr>
              <a:t>是指通过元学习（</a:t>
            </a:r>
            <a:r>
              <a:rPr lang="en-US" altLang="zh-CN" b="0" i="0" dirty="0">
                <a:effectLst/>
                <a:latin typeface="Inter"/>
              </a:rPr>
              <a:t>Meta-Learning</a:t>
            </a:r>
            <a:r>
              <a:rPr lang="zh-CN" altLang="en-US" b="0" i="0" dirty="0">
                <a:effectLst/>
                <a:latin typeface="Inter"/>
              </a:rPr>
              <a:t>，又称 “学会学习”）框架，让模型在少样本场景下</a:t>
            </a:r>
            <a:r>
              <a:rPr lang="zh-CN" altLang="en-US" b="1" i="0" dirty="0">
                <a:solidFill>
                  <a:srgbClr val="000000"/>
                </a:solidFill>
                <a:effectLst/>
                <a:latin typeface="Inter"/>
              </a:rPr>
              <a:t>自主学习如何高效利用少量数据</a:t>
            </a:r>
            <a:r>
              <a:rPr lang="zh-CN" altLang="en-US" b="0" i="0" dirty="0">
                <a:effectLst/>
                <a:latin typeface="Inter"/>
              </a:rPr>
              <a:t>，并通过优化模型参数、生成虚拟样本或改进学习策略，实现对新任务的快速适应和性能增强。其核心不是直接增强数据本身（如 </a:t>
            </a:r>
            <a:r>
              <a:rPr lang="en-US" altLang="zh-CN" b="0" i="0" dirty="0">
                <a:effectLst/>
                <a:latin typeface="Inter"/>
              </a:rPr>
              <a:t>GAN </a:t>
            </a:r>
            <a:r>
              <a:rPr lang="zh-CN" altLang="en-US" b="0" i="0" dirty="0">
                <a:effectLst/>
                <a:latin typeface="Inter"/>
              </a:rPr>
              <a:t>生成新样本），而是增强模型的</a:t>
            </a:r>
            <a:r>
              <a:rPr lang="zh-CN" altLang="en-US" b="1" i="0" dirty="0">
                <a:solidFill>
                  <a:srgbClr val="000000"/>
                </a:solidFill>
                <a:effectLst/>
                <a:latin typeface="Inter"/>
              </a:rPr>
              <a:t>学习能力</a:t>
            </a:r>
            <a:r>
              <a:rPr lang="zh-CN" altLang="en-US" b="0" i="0" dirty="0">
                <a:effectLst/>
                <a:latin typeface="Inter"/>
              </a:rPr>
              <a:t>，使其在少样本条件下具备更强的泛化性和快速收敛能力。</a:t>
            </a:r>
            <a:endParaRPr lang="en-US" altLang="zh-CN" b="0" i="0" dirty="0">
              <a:effectLst/>
              <a:latin typeface="Inter"/>
            </a:endParaRPr>
          </a:p>
          <a:p>
            <a:pPr algn="l">
              <a:buFont typeface="Arial" panose="020B0604020202020204" pitchFamily="34" charset="0"/>
              <a:buChar char="•"/>
            </a:pPr>
            <a:endParaRPr lang="en-US" altLang="zh-CN" b="0" i="0" dirty="0">
              <a:effectLst/>
              <a:latin typeface="Inter"/>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zh-CN" altLang="en-US" dirty="0"/>
              <a:t>解决一个交通问题、这章偏向数据处理</a:t>
            </a:r>
          </a:p>
          <a:p>
            <a:pPr algn="l">
              <a:buFont typeface="Arial" panose="020B0604020202020204" pitchFamily="34" charset="0"/>
              <a:buChar char="•"/>
            </a:pPr>
            <a:endParaRPr lang="zh-CN" altLang="en-US" b="0" i="0" dirty="0">
              <a:effectLst/>
              <a:latin typeface="Inter"/>
            </a:endParaRPr>
          </a:p>
          <a:p>
            <a:endParaRPr lang="zh-CN" altLang="en-US" dirty="0"/>
          </a:p>
        </p:txBody>
      </p:sp>
      <p:sp>
        <p:nvSpPr>
          <p:cNvPr id="4" name="灯片编号占位符 3"/>
          <p:cNvSpPr>
            <a:spLocks noGrp="1"/>
          </p:cNvSpPr>
          <p:nvPr>
            <p:ph type="sldNum" sz="quarter" idx="5"/>
          </p:nvPr>
        </p:nvSpPr>
        <p:spPr/>
        <p:txBody>
          <a:bodyPr/>
          <a:lstStyle/>
          <a:p>
            <a:pPr>
              <a:defRPr/>
            </a:pPr>
            <a:fld id="{02F54C80-B770-4C50-A5D1-D9880C7EFE61}" type="slidenum">
              <a:rPr lang="zh-CN" altLang="en-US" smtClean="0"/>
              <a:t>6</a:t>
            </a:fld>
            <a:endParaRPr lang="en-US" altLang="zh-CN" dirty="0"/>
          </a:p>
        </p:txBody>
      </p:sp>
    </p:spTree>
    <p:extLst>
      <p:ext uri="{BB962C8B-B14F-4D97-AF65-F5344CB8AC3E}">
        <p14:creationId xmlns:p14="http://schemas.microsoft.com/office/powerpoint/2010/main" val="1449527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09538" y="741363"/>
            <a:ext cx="6578600" cy="3702050"/>
          </a:xfrm>
        </p:spPr>
      </p:sp>
      <p:sp>
        <p:nvSpPr>
          <p:cNvPr id="3" name="备注占位符 2"/>
          <p:cNvSpPr>
            <a:spLocks noGrp="1"/>
          </p:cNvSpPr>
          <p:nvPr>
            <p:ph type="body" idx="1"/>
          </p:nvPr>
        </p:nvSpPr>
        <p:spPr/>
        <p:txBody>
          <a:bodyPr/>
          <a:lstStyle/>
          <a:p>
            <a:r>
              <a:rPr lang="zh-CN" altLang="en-US" dirty="0"/>
              <a:t>挖掘独特的北京市货车事故数据优势，填补当前对货车多样性考虑问题不足的研究空白</a:t>
            </a:r>
            <a:endParaRPr lang="en-US" altLang="zh-CN" dirty="0"/>
          </a:p>
          <a:p>
            <a:endParaRPr lang="en-US" altLang="zh-CN" dirty="0"/>
          </a:p>
          <a:p>
            <a:r>
              <a:rPr lang="zh-CN" altLang="en-US" b="0" i="0" dirty="0">
                <a:effectLst/>
                <a:latin typeface="Inter"/>
              </a:rPr>
              <a:t> </a:t>
            </a:r>
            <a:r>
              <a:rPr lang="en-US" altLang="zh-CN" b="0" i="0" dirty="0">
                <a:effectLst/>
                <a:latin typeface="Inter"/>
              </a:rPr>
              <a:t>LOWESS</a:t>
            </a:r>
            <a:r>
              <a:rPr lang="zh-CN" altLang="en-US" b="0" i="0" dirty="0">
                <a:effectLst/>
                <a:latin typeface="Inter"/>
              </a:rPr>
              <a:t>（局部加权散点图平滑）曲线拟合时，标点后的点通常仍被称为 </a:t>
            </a:r>
            <a:r>
              <a:rPr lang="zh-CN" altLang="en-US" b="1" i="0" dirty="0">
                <a:solidFill>
                  <a:srgbClr val="000000"/>
                </a:solidFill>
                <a:effectLst/>
                <a:latin typeface="Inter"/>
              </a:rPr>
              <a:t>“数据点” 或 “观测点”</a:t>
            </a:r>
            <a:r>
              <a:rPr lang="zh-CN" altLang="en-US" b="0" i="0" dirty="0">
                <a:effectLst/>
                <a:latin typeface="Inter"/>
              </a:rPr>
              <a:t>。</a:t>
            </a:r>
            <a:r>
              <a:rPr lang="en-US" altLang="zh-CN" b="0" i="0" dirty="0">
                <a:effectLst/>
                <a:latin typeface="Inter"/>
              </a:rPr>
              <a:t>LOWESS </a:t>
            </a:r>
            <a:r>
              <a:rPr lang="zh-CN" altLang="en-US" b="0" i="0" dirty="0">
                <a:effectLst/>
                <a:latin typeface="Inter"/>
              </a:rPr>
              <a:t>是一种非参数回归方法，用于对散点图中的数据点进行局部加权平滑拟合，以揭示数据的趋势。这些点本质上是原始数据的观测值，在拟合过程中作为输入用于计算局部加权回归，其本身的名称并不因 </a:t>
            </a:r>
            <a:r>
              <a:rPr lang="en-US" altLang="zh-CN" b="0" i="0" dirty="0">
                <a:effectLst/>
                <a:latin typeface="Inter"/>
              </a:rPr>
              <a:t>LOWESS </a:t>
            </a:r>
            <a:r>
              <a:rPr lang="zh-CN" altLang="en-US" b="0" i="0" dirty="0">
                <a:effectLst/>
                <a:latin typeface="Inter"/>
              </a:rPr>
              <a:t>拟合操作而改变，依然代表实际测量或记录的数值。</a:t>
            </a:r>
            <a:endParaRPr lang="zh-CN" altLang="en-US" dirty="0"/>
          </a:p>
        </p:txBody>
      </p:sp>
      <p:sp>
        <p:nvSpPr>
          <p:cNvPr id="4" name="灯片编号占位符 3"/>
          <p:cNvSpPr>
            <a:spLocks noGrp="1"/>
          </p:cNvSpPr>
          <p:nvPr>
            <p:ph type="sldNum" sz="quarter" idx="5"/>
          </p:nvPr>
        </p:nvSpPr>
        <p:spPr/>
        <p:txBody>
          <a:bodyPr/>
          <a:lstStyle/>
          <a:p>
            <a:pPr>
              <a:defRPr/>
            </a:pPr>
            <a:fld id="{02F54C80-B770-4C50-A5D1-D9880C7EFE61}" type="slidenum">
              <a:rPr lang="zh-CN" altLang="en-US" smtClean="0"/>
              <a:t>7</a:t>
            </a:fld>
            <a:endParaRPr lang="en-US" altLang="zh-CN" dirty="0"/>
          </a:p>
        </p:txBody>
      </p:sp>
    </p:spTree>
    <p:extLst>
      <p:ext uri="{BB962C8B-B14F-4D97-AF65-F5344CB8AC3E}">
        <p14:creationId xmlns:p14="http://schemas.microsoft.com/office/powerpoint/2010/main" val="3505434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zh-CN"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ST-GCN</a:t>
            </a:r>
            <a:endParaRPr kumimoji="0" lang="zh-CN" alt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r>
              <a:rPr lang="en-US" altLang="zh-CN" dirty="0"/>
              <a:t>2017</a:t>
            </a:r>
            <a:r>
              <a:rPr lang="zh-CN" altLang="en-US" dirty="0"/>
              <a:t>年</a:t>
            </a:r>
            <a:endParaRPr lang="en-US" altLang="zh-CN" dirty="0"/>
          </a:p>
          <a:p>
            <a:r>
              <a:rPr lang="en-US" altLang="zh-CN" b="0" i="0" dirty="0">
                <a:effectLst/>
                <a:latin typeface="Inter"/>
              </a:rPr>
              <a:t>Transformer </a:t>
            </a:r>
            <a:r>
              <a:rPr lang="zh-CN" altLang="en-US" b="0" i="0" dirty="0">
                <a:effectLst/>
                <a:latin typeface="Inter"/>
              </a:rPr>
              <a:t>模型由 </a:t>
            </a:r>
            <a:r>
              <a:rPr lang="en-US" altLang="zh-CN" b="0" i="0" dirty="0">
                <a:effectLst/>
                <a:latin typeface="Inter"/>
              </a:rPr>
              <a:t>Google </a:t>
            </a:r>
            <a:r>
              <a:rPr lang="zh-CN" altLang="en-US" b="0" i="0" dirty="0">
                <a:effectLst/>
                <a:latin typeface="Inter"/>
              </a:rPr>
              <a:t>研究团队在 </a:t>
            </a:r>
            <a:r>
              <a:rPr lang="en-US" altLang="zh-CN" b="0" i="0" dirty="0">
                <a:effectLst/>
                <a:latin typeface="Inter"/>
              </a:rPr>
              <a:t>2018 </a:t>
            </a:r>
            <a:r>
              <a:rPr lang="zh-CN" altLang="en-US" b="0" i="0" dirty="0">
                <a:effectLst/>
                <a:latin typeface="Inter"/>
              </a:rPr>
              <a:t>年提出</a:t>
            </a:r>
            <a:endParaRPr lang="en-US" altLang="zh-CN" b="0" i="0" dirty="0">
              <a:effectLst/>
              <a:latin typeface="Inter"/>
            </a:endParaRPr>
          </a:p>
          <a:p>
            <a:endParaRPr lang="en-US" altLang="zh-CN" b="0" i="0" dirty="0">
              <a:effectLst/>
              <a:latin typeface="Inter"/>
            </a:endParaRPr>
          </a:p>
          <a:p>
            <a:r>
              <a:rPr lang="zh-CN" altLang="en-US" b="0" i="0" dirty="0">
                <a:solidFill>
                  <a:srgbClr val="4D4D4D"/>
                </a:solidFill>
                <a:effectLst/>
                <a:latin typeface="-apple-system"/>
              </a:rPr>
              <a:t>每个</a:t>
            </a:r>
            <a:r>
              <a:rPr lang="en-US" altLang="zh-CN" b="0" i="0" dirty="0">
                <a:solidFill>
                  <a:srgbClr val="4D4D4D"/>
                </a:solidFill>
                <a:effectLst/>
                <a:latin typeface="-apple-system"/>
              </a:rPr>
              <a:t>ST—Conv</a:t>
            </a:r>
            <a:r>
              <a:rPr lang="zh-CN" altLang="en-US" b="0" i="0" dirty="0">
                <a:solidFill>
                  <a:srgbClr val="4D4D4D"/>
                </a:solidFill>
                <a:effectLst/>
                <a:latin typeface="-apple-system"/>
              </a:rPr>
              <a:t>模块包含两个时间门控卷积层和一个空间图卷积层</a:t>
            </a:r>
            <a:endParaRPr lang="en-US" altLang="zh-CN" b="0" i="0" dirty="0">
              <a:solidFill>
                <a:srgbClr val="4D4D4D"/>
              </a:solidFill>
              <a:effectLst/>
              <a:latin typeface="-apple-system"/>
            </a:endParaRPr>
          </a:p>
          <a:p>
            <a:r>
              <a:rPr lang="en-US" altLang="zh-CN" b="0" i="0" dirty="0">
                <a:solidFill>
                  <a:srgbClr val="4D4D4D"/>
                </a:solidFill>
                <a:effectLst/>
                <a:latin typeface="-apple-system"/>
              </a:rPr>
              <a:t>STGCN</a:t>
            </a:r>
            <a:r>
              <a:rPr lang="zh-CN" altLang="en-US" b="0" i="0" dirty="0">
                <a:solidFill>
                  <a:srgbClr val="4D4D4D"/>
                </a:solidFill>
                <a:effectLst/>
                <a:latin typeface="-apple-system"/>
              </a:rPr>
              <a:t>包含三个模型，其中两个时空</a:t>
            </a:r>
            <a:r>
              <a:rPr lang="en-US" altLang="zh-CN" b="0" i="0" dirty="0" err="1">
                <a:solidFill>
                  <a:srgbClr val="4D4D4D"/>
                </a:solidFill>
                <a:effectLst/>
                <a:latin typeface="-apple-system"/>
              </a:rPr>
              <a:t>STGCNBlock</a:t>
            </a:r>
            <a:r>
              <a:rPr lang="zh-CN" altLang="en-US" b="0" i="0" dirty="0">
                <a:solidFill>
                  <a:srgbClr val="4D4D4D"/>
                </a:solidFill>
                <a:effectLst/>
                <a:latin typeface="-apple-system"/>
              </a:rPr>
              <a:t>模块和一个</a:t>
            </a:r>
            <a:r>
              <a:rPr lang="en-US" altLang="zh-CN" b="0" i="0" dirty="0" err="1">
                <a:solidFill>
                  <a:srgbClr val="4D4D4D"/>
                </a:solidFill>
                <a:effectLst/>
                <a:latin typeface="-apple-system"/>
              </a:rPr>
              <a:t>TimeBlock</a:t>
            </a:r>
            <a:r>
              <a:rPr lang="zh-CN" altLang="en-US" b="0" i="0" dirty="0">
                <a:solidFill>
                  <a:srgbClr val="4D4D4D"/>
                </a:solidFill>
                <a:effectLst/>
                <a:latin typeface="-apple-system"/>
              </a:rPr>
              <a:t>模块和最后一个全连接层，而一个</a:t>
            </a:r>
            <a:r>
              <a:rPr lang="en-US" altLang="zh-CN" b="0" i="0" dirty="0" err="1">
                <a:solidFill>
                  <a:srgbClr val="4D4D4D"/>
                </a:solidFill>
                <a:effectLst/>
                <a:latin typeface="-apple-system"/>
              </a:rPr>
              <a:t>STGCNBlock</a:t>
            </a:r>
            <a:r>
              <a:rPr lang="zh-CN" altLang="en-US" b="0" i="0" dirty="0">
                <a:solidFill>
                  <a:srgbClr val="4D4D4D"/>
                </a:solidFill>
                <a:effectLst/>
                <a:latin typeface="-apple-system"/>
              </a:rPr>
              <a:t>又包含两个</a:t>
            </a:r>
            <a:r>
              <a:rPr lang="en-US" altLang="zh-CN" b="0" i="0" dirty="0">
                <a:solidFill>
                  <a:srgbClr val="4D4D4D"/>
                </a:solidFill>
                <a:effectLst/>
                <a:latin typeface="-apple-system"/>
              </a:rPr>
              <a:t>temporal</a:t>
            </a:r>
            <a:r>
              <a:rPr lang="zh-CN" altLang="en-US" b="0" i="0" dirty="0">
                <a:solidFill>
                  <a:srgbClr val="4D4D4D"/>
                </a:solidFill>
                <a:effectLst/>
                <a:latin typeface="-apple-system"/>
              </a:rPr>
              <a:t>（</a:t>
            </a:r>
            <a:r>
              <a:rPr lang="en-US" altLang="zh-CN" b="0" i="0" dirty="0">
                <a:solidFill>
                  <a:srgbClr val="4D4D4D"/>
                </a:solidFill>
                <a:effectLst/>
                <a:latin typeface="-apple-system"/>
              </a:rPr>
              <a:t>temporal</a:t>
            </a:r>
            <a:r>
              <a:rPr lang="zh-CN" altLang="en-US" b="0" i="0" dirty="0">
                <a:solidFill>
                  <a:srgbClr val="4D4D4D"/>
                </a:solidFill>
                <a:effectLst/>
                <a:latin typeface="-apple-system"/>
              </a:rPr>
              <a:t>）模块，（也就是</a:t>
            </a:r>
            <a:r>
              <a:rPr lang="en-US" altLang="zh-CN" b="0" i="0" dirty="0" err="1">
                <a:solidFill>
                  <a:srgbClr val="4D4D4D"/>
                </a:solidFill>
                <a:effectLst/>
                <a:latin typeface="-apple-system"/>
              </a:rPr>
              <a:t>TimeBlock</a:t>
            </a:r>
            <a:r>
              <a:rPr lang="zh-CN" altLang="en-US" b="0" i="0" dirty="0">
                <a:solidFill>
                  <a:srgbClr val="4D4D4D"/>
                </a:solidFill>
                <a:effectLst/>
                <a:latin typeface="-apple-system"/>
              </a:rPr>
              <a:t>模块模块）和 一个</a:t>
            </a:r>
            <a:r>
              <a:rPr lang="en-US" altLang="zh-CN" b="0" i="0" dirty="0">
                <a:solidFill>
                  <a:srgbClr val="4D4D4D"/>
                </a:solidFill>
                <a:effectLst/>
                <a:latin typeface="-apple-system"/>
              </a:rPr>
              <a:t>Theta</a:t>
            </a:r>
            <a:r>
              <a:rPr lang="zh-CN" altLang="en-US" b="0" i="0" dirty="0">
                <a:solidFill>
                  <a:srgbClr val="4D4D4D"/>
                </a:solidFill>
                <a:effectLst/>
                <a:latin typeface="-apple-system"/>
              </a:rPr>
              <a:t>（</a:t>
            </a:r>
            <a:r>
              <a:rPr lang="en-US" altLang="zh-CN" b="0" i="0" dirty="0">
                <a:solidFill>
                  <a:srgbClr val="4D4D4D"/>
                </a:solidFill>
                <a:effectLst/>
                <a:latin typeface="-apple-system"/>
              </a:rPr>
              <a:t>spatial</a:t>
            </a:r>
            <a:r>
              <a:rPr lang="zh-CN" altLang="en-US" b="0" i="0" dirty="0">
                <a:solidFill>
                  <a:srgbClr val="4D4D4D"/>
                </a:solidFill>
                <a:effectLst/>
                <a:latin typeface="-apple-system"/>
              </a:rPr>
              <a:t>）模块，一个</a:t>
            </a:r>
            <a:r>
              <a:rPr lang="en-US" altLang="zh-CN" b="0" i="0" dirty="0" err="1">
                <a:solidFill>
                  <a:srgbClr val="4D4D4D"/>
                </a:solidFill>
                <a:effectLst/>
                <a:latin typeface="-apple-system"/>
              </a:rPr>
              <a:t>TimeBlock</a:t>
            </a:r>
            <a:r>
              <a:rPr lang="zh-CN" altLang="en-US" b="0" i="0" dirty="0">
                <a:solidFill>
                  <a:srgbClr val="4D4D4D"/>
                </a:solidFill>
                <a:effectLst/>
                <a:latin typeface="-apple-system"/>
              </a:rPr>
              <a:t>模块包含因果卷积操作目的就是为了提取时间信息</a:t>
            </a:r>
            <a:r>
              <a:rPr lang="en-US" altLang="zh-CN" b="0" i="0" dirty="0">
                <a:solidFill>
                  <a:srgbClr val="4D4D4D"/>
                </a:solidFill>
                <a:effectLst/>
                <a:latin typeface="-apple-system"/>
              </a:rPr>
              <a:t>(</a:t>
            </a:r>
            <a:r>
              <a:rPr lang="zh-CN" altLang="en-US" b="0" i="0" dirty="0">
                <a:solidFill>
                  <a:srgbClr val="4D4D4D"/>
                </a:solidFill>
                <a:effectLst/>
                <a:latin typeface="-apple-system"/>
              </a:rPr>
              <a:t>主要是</a:t>
            </a:r>
            <a:r>
              <a:rPr lang="en-US" altLang="zh-CN" b="0" i="0" dirty="0">
                <a:solidFill>
                  <a:srgbClr val="4D4D4D"/>
                </a:solidFill>
                <a:effectLst/>
                <a:latin typeface="-apple-system"/>
              </a:rPr>
              <a:t>W</a:t>
            </a:r>
            <a:r>
              <a:rPr lang="zh-CN" altLang="en-US" b="0" i="0" dirty="0">
                <a:solidFill>
                  <a:srgbClr val="4D4D4D"/>
                </a:solidFill>
                <a:effectLst/>
                <a:latin typeface="-apple-system"/>
              </a:rPr>
              <a:t>维度上的</a:t>
            </a:r>
            <a:r>
              <a:rPr lang="en-US" altLang="zh-CN" b="0" i="0" dirty="0">
                <a:solidFill>
                  <a:srgbClr val="4D4D4D"/>
                </a:solidFill>
                <a:effectLst/>
                <a:latin typeface="-apple-system"/>
              </a:rPr>
              <a:t>)</a:t>
            </a:r>
            <a:r>
              <a:rPr lang="en-US" altLang="zh-CN" b="0" i="0" dirty="0" err="1">
                <a:solidFill>
                  <a:srgbClr val="4D4D4D"/>
                </a:solidFill>
                <a:effectLst/>
                <a:latin typeface="-apple-system"/>
              </a:rPr>
              <a:t>TimeBlock</a:t>
            </a:r>
            <a:r>
              <a:rPr lang="zh-CN" altLang="en-US" b="0" i="0" dirty="0">
                <a:solidFill>
                  <a:srgbClr val="4D4D4D"/>
                </a:solidFill>
                <a:effectLst/>
                <a:latin typeface="-apple-system"/>
              </a:rPr>
              <a:t>模块主要是为了提取时间信息，利用的是一维卷积，</a:t>
            </a:r>
            <a:r>
              <a:rPr lang="en-US" altLang="zh-CN" b="0" i="0" dirty="0" err="1">
                <a:solidFill>
                  <a:srgbClr val="4D4D4D"/>
                </a:solidFill>
                <a:effectLst/>
                <a:latin typeface="-apple-system"/>
              </a:rPr>
              <a:t>kernel_size</a:t>
            </a:r>
            <a:r>
              <a:rPr lang="en-US" altLang="zh-CN" b="0" i="0" dirty="0">
                <a:solidFill>
                  <a:srgbClr val="4D4D4D"/>
                </a:solidFill>
                <a:effectLst/>
                <a:latin typeface="-apple-system"/>
              </a:rPr>
              <a:t>=3</a:t>
            </a:r>
            <a:r>
              <a:rPr lang="zh-CN" altLang="en-US" b="0" i="0" dirty="0">
                <a:solidFill>
                  <a:srgbClr val="4D4D4D"/>
                </a:solidFill>
                <a:effectLst/>
                <a:latin typeface="-apple-system"/>
              </a:rPr>
              <a:t>，卷积核大小为（</a:t>
            </a:r>
            <a:r>
              <a:rPr lang="en-US" altLang="zh-CN" b="0" i="0" dirty="0">
                <a:solidFill>
                  <a:srgbClr val="4D4D4D"/>
                </a:solidFill>
                <a:effectLst/>
                <a:latin typeface="-apple-system"/>
              </a:rPr>
              <a:t>1</a:t>
            </a:r>
            <a:r>
              <a:rPr lang="zh-CN" altLang="en-US" b="0" i="0" dirty="0">
                <a:solidFill>
                  <a:srgbClr val="4D4D4D"/>
                </a:solidFill>
                <a:effectLst/>
                <a:latin typeface="-apple-system"/>
              </a:rPr>
              <a:t>，</a:t>
            </a:r>
            <a:r>
              <a:rPr lang="en-US" altLang="zh-CN" b="0" i="0" dirty="0" err="1">
                <a:solidFill>
                  <a:srgbClr val="4D4D4D"/>
                </a:solidFill>
                <a:effectLst/>
                <a:latin typeface="-apple-system"/>
              </a:rPr>
              <a:t>kernel_size</a:t>
            </a:r>
            <a:r>
              <a:rPr lang="en-US" altLang="zh-CN" b="0" i="0" dirty="0">
                <a:solidFill>
                  <a:srgbClr val="4D4D4D"/>
                </a:solidFill>
                <a:effectLst/>
                <a:latin typeface="-apple-system"/>
              </a:rPr>
              <a:t>=3</a:t>
            </a:r>
            <a:r>
              <a:rPr lang="zh-CN" altLang="en-US" b="0" i="0" dirty="0">
                <a:solidFill>
                  <a:srgbClr val="4D4D4D"/>
                </a:solidFill>
                <a:effectLst/>
                <a:latin typeface="-apple-system"/>
              </a:rPr>
              <a:t>，分别对应</a:t>
            </a:r>
            <a:r>
              <a:rPr lang="en-US" altLang="zh-CN" b="0" i="0" dirty="0">
                <a:solidFill>
                  <a:srgbClr val="4D4D4D"/>
                </a:solidFill>
                <a:effectLst/>
                <a:latin typeface="-apple-system"/>
              </a:rPr>
              <a:t>H,W</a:t>
            </a:r>
            <a:r>
              <a:rPr lang="zh-CN" altLang="en-US" b="0" i="0" dirty="0">
                <a:solidFill>
                  <a:srgbClr val="4D4D4D"/>
                </a:solidFill>
                <a:effectLst/>
                <a:latin typeface="-apple-system"/>
              </a:rPr>
              <a:t>）。</a:t>
            </a:r>
          </a:p>
          <a:p>
            <a:r>
              <a:rPr lang="zh-CN" altLang="en-US" b="1" i="0" dirty="0">
                <a:solidFill>
                  <a:srgbClr val="4D4D4D"/>
                </a:solidFill>
                <a:effectLst/>
                <a:latin typeface="-apple-system"/>
              </a:rPr>
              <a:t>采用</a:t>
            </a:r>
            <a:r>
              <a:rPr lang="en-US" altLang="zh-CN" b="1" i="0" dirty="0">
                <a:solidFill>
                  <a:srgbClr val="4D4D4D"/>
                </a:solidFill>
                <a:effectLst/>
                <a:latin typeface="-apple-system"/>
              </a:rPr>
              <a:t>GLU</a:t>
            </a:r>
            <a:r>
              <a:rPr lang="zh-CN" altLang="en-US" b="1" i="0" dirty="0">
                <a:solidFill>
                  <a:srgbClr val="4D4D4D"/>
                </a:solidFill>
                <a:effectLst/>
                <a:latin typeface="-apple-system"/>
              </a:rPr>
              <a:t>实现了在时间维度上的卷积操作，卷积核大小是</a:t>
            </a:r>
            <a:r>
              <a:rPr lang="en-US" altLang="zh-CN" b="1" i="0" dirty="0">
                <a:solidFill>
                  <a:srgbClr val="4D4D4D"/>
                </a:solidFill>
                <a:effectLst/>
                <a:latin typeface="-apple-system"/>
              </a:rPr>
              <a:t>1</a:t>
            </a:r>
            <a:r>
              <a:rPr lang="en-US" altLang="zh-CN" b="1" i="1" dirty="0">
                <a:solidFill>
                  <a:srgbClr val="4D4D4D"/>
                </a:solidFill>
                <a:effectLst/>
                <a:latin typeface="-apple-system"/>
              </a:rPr>
              <a:t>3</a:t>
            </a:r>
            <a:r>
              <a:rPr lang="zh-CN" altLang="en-US" b="1" i="1" dirty="0">
                <a:solidFill>
                  <a:srgbClr val="4D4D4D"/>
                </a:solidFill>
                <a:effectLst/>
                <a:latin typeface="-apple-system"/>
              </a:rPr>
              <a:t>，即</a:t>
            </a:r>
            <a:r>
              <a:rPr lang="en-US" altLang="zh-CN" b="1" i="1" dirty="0">
                <a:solidFill>
                  <a:srgbClr val="4D4D4D"/>
                </a:solidFill>
                <a:effectLst/>
                <a:latin typeface="-apple-system"/>
              </a:rPr>
              <a:t>H</a:t>
            </a:r>
            <a:r>
              <a:rPr lang="en-US" altLang="zh-CN" b="1" i="0" dirty="0">
                <a:solidFill>
                  <a:srgbClr val="4D4D4D"/>
                </a:solidFill>
                <a:effectLst/>
                <a:latin typeface="-apple-system"/>
              </a:rPr>
              <a:t>W</a:t>
            </a:r>
            <a:r>
              <a:rPr lang="zh-CN" altLang="en-US" b="1" i="0" dirty="0">
                <a:solidFill>
                  <a:srgbClr val="4D4D4D"/>
                </a:solidFill>
                <a:effectLst/>
                <a:latin typeface="-apple-system"/>
              </a:rPr>
              <a:t>，</a:t>
            </a:r>
            <a:r>
              <a:rPr lang="en-US" altLang="zh-CN" b="1" i="0" dirty="0">
                <a:solidFill>
                  <a:srgbClr val="4D4D4D"/>
                </a:solidFill>
                <a:effectLst/>
                <a:latin typeface="-apple-system"/>
              </a:rPr>
              <a:t>H</a:t>
            </a:r>
            <a:r>
              <a:rPr lang="zh-CN" altLang="en-US" b="1" i="0" dirty="0">
                <a:solidFill>
                  <a:srgbClr val="4D4D4D"/>
                </a:solidFill>
                <a:effectLst/>
                <a:latin typeface="-apple-system"/>
              </a:rPr>
              <a:t>表示节点数量，</a:t>
            </a:r>
            <a:r>
              <a:rPr lang="en-US" altLang="zh-CN" b="1" i="0" dirty="0">
                <a:solidFill>
                  <a:srgbClr val="4D4D4D"/>
                </a:solidFill>
                <a:effectLst/>
                <a:latin typeface="-apple-system"/>
              </a:rPr>
              <a:t>W</a:t>
            </a:r>
            <a:r>
              <a:rPr lang="zh-CN" altLang="en-US" b="1" i="0" dirty="0">
                <a:solidFill>
                  <a:srgbClr val="4D4D4D"/>
                </a:solidFill>
                <a:effectLst/>
                <a:latin typeface="-apple-system"/>
              </a:rPr>
              <a:t>表示时间长度，因此在每个节点上使用</a:t>
            </a:r>
            <a:r>
              <a:rPr lang="en-US" altLang="zh-CN" b="1" i="0" dirty="0">
                <a:solidFill>
                  <a:srgbClr val="4D4D4D"/>
                </a:solidFill>
                <a:effectLst/>
                <a:latin typeface="-apple-system"/>
              </a:rPr>
              <a:t>GLU</a:t>
            </a:r>
            <a:r>
              <a:rPr lang="zh-CN" altLang="en-US" b="1" i="0" dirty="0">
                <a:solidFill>
                  <a:srgbClr val="4D4D4D"/>
                </a:solidFill>
                <a:effectLst/>
                <a:latin typeface="-apple-system"/>
              </a:rPr>
              <a:t>来捕获时间上的依赖关系，也就是利用</a:t>
            </a:r>
            <a:r>
              <a:rPr lang="en-US" altLang="zh-CN" b="1" i="0" dirty="0">
                <a:solidFill>
                  <a:srgbClr val="4D4D4D"/>
                </a:solidFill>
                <a:effectLst/>
                <a:latin typeface="-apple-system"/>
              </a:rPr>
              <a:t>GLU</a:t>
            </a:r>
            <a:r>
              <a:rPr lang="zh-CN" altLang="en-US" b="1" i="0" dirty="0">
                <a:solidFill>
                  <a:srgbClr val="4D4D4D"/>
                </a:solidFill>
                <a:effectLst/>
                <a:latin typeface="-apple-system"/>
              </a:rPr>
              <a:t>来实现</a:t>
            </a:r>
            <a:r>
              <a:rPr lang="en-US" altLang="zh-CN" b="1" i="0" dirty="0">
                <a:solidFill>
                  <a:srgbClr val="4D4D4D"/>
                </a:solidFill>
                <a:effectLst/>
                <a:latin typeface="-apple-system"/>
              </a:rPr>
              <a:t>TCN</a:t>
            </a:r>
            <a:r>
              <a:rPr lang="zh-CN" altLang="en-US" b="1" i="0" dirty="0">
                <a:solidFill>
                  <a:srgbClr val="4D4D4D"/>
                </a:solidFill>
                <a:effectLst/>
                <a:latin typeface="-apple-system"/>
              </a:rPr>
              <a:t>能够达到的效果</a:t>
            </a:r>
            <a:r>
              <a:rPr lang="en-US" altLang="zh-CN" b="1" i="0" dirty="0">
                <a:solidFill>
                  <a:srgbClr val="4D4D4D"/>
                </a:solidFill>
                <a:effectLst/>
                <a:latin typeface="-apple-system"/>
              </a:rPr>
              <a:t>——1D</a:t>
            </a:r>
            <a:r>
              <a:rPr lang="zh-CN" altLang="en-US" b="1" i="0" dirty="0">
                <a:solidFill>
                  <a:srgbClr val="4D4D4D"/>
                </a:solidFill>
                <a:effectLst/>
                <a:latin typeface="-apple-system"/>
              </a:rPr>
              <a:t>卷积和并行计算的功能</a:t>
            </a:r>
            <a:endParaRPr lang="en-US" altLang="zh-CN" b="1" i="0" dirty="0">
              <a:solidFill>
                <a:srgbClr val="4D4D4D"/>
              </a:solidFill>
              <a:effectLst/>
              <a:latin typeface="-apple-system"/>
            </a:endParaRPr>
          </a:p>
          <a:p>
            <a:endParaRPr lang="en-US" altLang="zh-CN" b="1" i="0" dirty="0">
              <a:solidFill>
                <a:srgbClr val="4D4D4D"/>
              </a:solidFill>
              <a:effectLst/>
              <a:latin typeface="-apple-system"/>
            </a:endParaRPr>
          </a:p>
          <a:p>
            <a:endParaRPr lang="en-US" altLang="zh-CN" b="1" i="0" dirty="0">
              <a:solidFill>
                <a:srgbClr val="4D4D4D"/>
              </a:solidFill>
              <a:effectLst/>
              <a:latin typeface="-apple-system"/>
            </a:endParaRPr>
          </a:p>
          <a:p>
            <a:r>
              <a:rPr lang="zh-CN" altLang="en-US" b="1" i="0" dirty="0">
                <a:solidFill>
                  <a:srgbClr val="4D4D4D"/>
                </a:solidFill>
                <a:effectLst/>
                <a:latin typeface="-apple-system"/>
              </a:rPr>
              <a:t>通过多次实验，考虑下降梯度最快的时候，确保预测</a:t>
            </a:r>
            <a:endParaRPr lang="zh-CN" altLang="en-US" dirty="0"/>
          </a:p>
        </p:txBody>
      </p:sp>
      <p:sp>
        <p:nvSpPr>
          <p:cNvPr id="4" name="灯片编号占位符 3"/>
          <p:cNvSpPr>
            <a:spLocks noGrp="1"/>
          </p:cNvSpPr>
          <p:nvPr>
            <p:ph type="sldNum" sz="quarter" idx="5"/>
          </p:nvPr>
        </p:nvSpPr>
        <p:spPr/>
        <p:txBody>
          <a:bodyPr/>
          <a:lstStyle/>
          <a:p>
            <a:pPr>
              <a:defRPr/>
            </a:pPr>
            <a:fld id="{02F54C80-B770-4C50-A5D1-D9880C7EFE61}" type="slidenum">
              <a:rPr lang="zh-CN" altLang="en-US" smtClean="0"/>
              <a:t>8</a:t>
            </a:fld>
            <a:endParaRPr lang="en-US" altLang="zh-CN" dirty="0"/>
          </a:p>
        </p:txBody>
      </p:sp>
    </p:spTree>
    <p:extLst>
      <p:ext uri="{BB962C8B-B14F-4D97-AF65-F5344CB8AC3E}">
        <p14:creationId xmlns:p14="http://schemas.microsoft.com/office/powerpoint/2010/main" val="3424738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主动安全考虑不同车辆，是被动安全中的致因分析中对车辆属性考虑的延申与加强</a:t>
            </a:r>
          </a:p>
        </p:txBody>
      </p:sp>
      <p:sp>
        <p:nvSpPr>
          <p:cNvPr id="4" name="灯片编号占位符 3"/>
          <p:cNvSpPr>
            <a:spLocks noGrp="1"/>
          </p:cNvSpPr>
          <p:nvPr>
            <p:ph type="sldNum" sz="quarter" idx="5"/>
          </p:nvPr>
        </p:nvSpPr>
        <p:spPr/>
        <p:txBody>
          <a:bodyPr/>
          <a:lstStyle/>
          <a:p>
            <a:pPr>
              <a:defRPr/>
            </a:pPr>
            <a:fld id="{02F54C80-B770-4C50-A5D1-D9880C7EFE61}" type="slidenum">
              <a:rPr lang="zh-CN" altLang="en-US" smtClean="0"/>
              <a:t>9</a:t>
            </a:fld>
            <a:endParaRPr lang="en-US" altLang="zh-CN" dirty="0"/>
          </a:p>
        </p:txBody>
      </p:sp>
    </p:spTree>
    <p:extLst>
      <p:ext uri="{BB962C8B-B14F-4D97-AF65-F5344CB8AC3E}">
        <p14:creationId xmlns:p14="http://schemas.microsoft.com/office/powerpoint/2010/main" val="11708292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主动安全考虑不同车辆，是被动安全中的致因分析中对车辆属性考虑的延申与加强</a:t>
            </a:r>
            <a:endParaRPr lang="en-US" altLang="zh-CN" dirty="0"/>
          </a:p>
          <a:p>
            <a:endParaRPr lang="en-US" altLang="zh-CN" dirty="0"/>
          </a:p>
          <a:p>
            <a:r>
              <a:rPr lang="zh-CN" altLang="en-US" dirty="0"/>
              <a:t>考虑生成样本的质量是从什么方面考虑</a:t>
            </a:r>
          </a:p>
        </p:txBody>
      </p:sp>
      <p:sp>
        <p:nvSpPr>
          <p:cNvPr id="4" name="灯片编号占位符 3"/>
          <p:cNvSpPr>
            <a:spLocks noGrp="1"/>
          </p:cNvSpPr>
          <p:nvPr>
            <p:ph type="sldNum" sz="quarter" idx="5"/>
          </p:nvPr>
        </p:nvSpPr>
        <p:spPr/>
        <p:txBody>
          <a:bodyPr/>
          <a:lstStyle/>
          <a:p>
            <a:pPr>
              <a:defRPr/>
            </a:pPr>
            <a:fld id="{02F54C80-B770-4C50-A5D1-D9880C7EFE61}" type="slidenum">
              <a:rPr lang="zh-CN" altLang="en-US" smtClean="0"/>
              <a:t>13</a:t>
            </a:fld>
            <a:endParaRPr lang="en-US" altLang="zh-CN" dirty="0"/>
          </a:p>
        </p:txBody>
      </p:sp>
    </p:spTree>
    <p:extLst>
      <p:ext uri="{BB962C8B-B14F-4D97-AF65-F5344CB8AC3E}">
        <p14:creationId xmlns:p14="http://schemas.microsoft.com/office/powerpoint/2010/main" val="2335207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r>
              <a:rPr lang="zh-CN" altLang="en-US" dirty="0"/>
              <a:t>报告分为三个部分</a:t>
            </a:r>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14</a:t>
            </a:fld>
            <a:endParaRPr lang="zh-CN" altLang="en-US">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zh-CN" altLang="en-US" dirty="0"/>
              <a:t>第四章从车的角度考虑被动安全被动防控</a:t>
            </a:r>
            <a:endParaRPr lang="en-US" altLang="zh-CN" dirty="0"/>
          </a:p>
          <a:p>
            <a:pPr algn="l">
              <a:buFont typeface="Arial" panose="020B0604020202020204" pitchFamily="34" charset="0"/>
              <a:buChar char="•"/>
            </a:pPr>
            <a:r>
              <a:rPr lang="zh-CN" altLang="en-US" dirty="0"/>
              <a:t>第五章从人的角度考虑人</a:t>
            </a:r>
            <a:r>
              <a:rPr lang="en-US" altLang="zh-CN" dirty="0"/>
              <a:t>-</a:t>
            </a:r>
            <a:r>
              <a:rPr lang="zh-CN" altLang="en-US" dirty="0"/>
              <a:t>车、车车的协同效应，实现主动安全防控。</a:t>
            </a:r>
            <a:endParaRPr lang="en-US" altLang="zh-CN" dirty="0"/>
          </a:p>
          <a:p>
            <a:pPr algn="l">
              <a:buFont typeface="Arial" panose="020B0604020202020204" pitchFamily="34" charset="0"/>
              <a:buChar char="•"/>
            </a:pPr>
            <a:endParaRPr lang="en-US" altLang="zh-CN" dirty="0"/>
          </a:p>
          <a:p>
            <a:pPr algn="l">
              <a:buFont typeface="Arial" panose="020B0604020202020204" pitchFamily="34" charset="0"/>
              <a:buChar char="•"/>
            </a:pPr>
            <a:endParaRPr lang="en-US" altLang="zh-CN" dirty="0"/>
          </a:p>
          <a:p>
            <a:pPr algn="l">
              <a:buFont typeface="Arial" panose="020B0604020202020204" pitchFamily="34" charset="0"/>
              <a:buChar char="•"/>
            </a:pPr>
            <a:r>
              <a:rPr lang="zh-CN" altLang="en-US" dirty="0"/>
              <a:t>不同源的数据</a:t>
            </a:r>
            <a:br>
              <a:rPr lang="en-US" altLang="zh-CN" dirty="0"/>
            </a:br>
            <a:r>
              <a:rPr lang="zh-CN" altLang="en-US" b="1" i="0" dirty="0">
                <a:solidFill>
                  <a:srgbClr val="000000"/>
                </a:solidFill>
                <a:effectLst/>
                <a:latin typeface="Inter"/>
              </a:rPr>
              <a:t>图结构定义</a:t>
            </a:r>
            <a:r>
              <a:rPr lang="zh-CN" altLang="en-US" b="0" i="0" dirty="0">
                <a:solidFill>
                  <a:srgbClr val="000000"/>
                </a:solidFill>
                <a:effectLst/>
                <a:latin typeface="Inter"/>
              </a:rPr>
              <a:t>：</a:t>
            </a:r>
          </a:p>
          <a:p>
            <a:pPr marL="742950" lvl="1" indent="-285750" algn="l">
              <a:buFont typeface="Arial" panose="020B0604020202020204" pitchFamily="34" charset="0"/>
              <a:buChar char="•"/>
            </a:pPr>
            <a:r>
              <a:rPr lang="zh-CN" altLang="en-US" b="0" i="0" dirty="0">
                <a:solidFill>
                  <a:srgbClr val="000000"/>
                </a:solidFill>
                <a:effectLst/>
                <a:latin typeface="Inter"/>
              </a:rPr>
              <a:t>邻接矩阵 </a:t>
            </a:r>
            <a:r>
              <a:rPr lang="en-US" altLang="zh-CN" b="0" i="0" dirty="0">
                <a:solidFill>
                  <a:srgbClr val="000000"/>
                </a:solidFill>
                <a:effectLst/>
                <a:latin typeface="Inter"/>
              </a:rPr>
              <a:t>A</a:t>
            </a:r>
            <a:r>
              <a:rPr lang="zh-CN" altLang="en-US" b="0" i="0" dirty="0">
                <a:solidFill>
                  <a:srgbClr val="000000"/>
                </a:solidFill>
                <a:effectLst/>
                <a:latin typeface="Inter"/>
              </a:rPr>
              <a:t>：基于网格距离或道路连通性，归一化处理 </a:t>
            </a:r>
            <a:r>
              <a:rPr lang="en-US" altLang="zh-CN" b="0" i="0" dirty="0">
                <a:solidFill>
                  <a:srgbClr val="000000"/>
                </a:solidFill>
                <a:effectLst/>
                <a:latin typeface="Inter"/>
              </a:rPr>
              <a:t>\(\hat{A} = D^{-1/2}AD^{-1/2}\)</a:t>
            </a:r>
            <a:r>
              <a:rPr lang="zh-CN" altLang="en-US" b="0" i="0" dirty="0">
                <a:solidFill>
                  <a:srgbClr val="000000"/>
                </a:solidFill>
                <a:effectLst/>
                <a:latin typeface="Inter"/>
              </a:rPr>
              <a:t>（对称归一化）。</a:t>
            </a:r>
          </a:p>
          <a:p>
            <a:pPr marL="742950" lvl="1" indent="-285750" algn="l">
              <a:buFont typeface="Arial" panose="020B0604020202020204" pitchFamily="34" charset="0"/>
              <a:buChar char="•"/>
            </a:pPr>
            <a:r>
              <a:rPr lang="zh-CN" altLang="en-US" b="0" i="0" dirty="0">
                <a:solidFill>
                  <a:srgbClr val="000000"/>
                </a:solidFill>
                <a:effectLst/>
                <a:latin typeface="Inter"/>
              </a:rPr>
              <a:t>节点特征 </a:t>
            </a:r>
            <a:r>
              <a:rPr lang="en-US" altLang="zh-CN" b="0" i="0" dirty="0">
                <a:solidFill>
                  <a:srgbClr val="000000"/>
                </a:solidFill>
                <a:effectLst/>
                <a:latin typeface="Inter"/>
              </a:rPr>
              <a:t>\(H^{(l)}\)</a:t>
            </a:r>
            <a:r>
              <a:rPr lang="zh-CN" altLang="en-US" b="0" i="0" dirty="0">
                <a:solidFill>
                  <a:srgbClr val="000000"/>
                </a:solidFill>
                <a:effectLst/>
                <a:latin typeface="Inter"/>
              </a:rPr>
              <a:t>：第 </a:t>
            </a:r>
            <a:r>
              <a:rPr lang="en-US" altLang="zh-CN" b="0" i="0" dirty="0">
                <a:solidFill>
                  <a:srgbClr val="000000"/>
                </a:solidFill>
                <a:effectLst/>
                <a:latin typeface="Inter"/>
              </a:rPr>
              <a:t>l </a:t>
            </a:r>
            <a:r>
              <a:rPr lang="zh-CN" altLang="en-US" b="0" i="0" dirty="0">
                <a:solidFill>
                  <a:srgbClr val="000000"/>
                </a:solidFill>
                <a:effectLst/>
                <a:latin typeface="Inter"/>
              </a:rPr>
              <a:t>层输入，初始为 </a:t>
            </a:r>
            <a:r>
              <a:rPr lang="en-US" altLang="zh-CN" b="0" i="0" dirty="0">
                <a:solidFill>
                  <a:srgbClr val="000000"/>
                </a:solidFill>
                <a:effectLst/>
                <a:latin typeface="Inter"/>
              </a:rPr>
              <a:t>\(H^{(0)} = [</a:t>
            </a:r>
            <a:r>
              <a:rPr lang="en-US" altLang="zh-CN" b="0" i="0" dirty="0" err="1">
                <a:solidFill>
                  <a:srgbClr val="000000"/>
                </a:solidFill>
                <a:effectLst/>
                <a:latin typeface="Inter"/>
              </a:rPr>
              <a:t>X_n</a:t>
            </a:r>
            <a:r>
              <a:rPr lang="en-US" altLang="zh-CN" b="0" i="0" dirty="0">
                <a:solidFill>
                  <a:srgbClr val="000000"/>
                </a:solidFill>
                <a:effectLst/>
                <a:latin typeface="Inter"/>
              </a:rPr>
              <a:t>^{static}; X_{</a:t>
            </a:r>
            <a:r>
              <a:rPr lang="en-US" altLang="zh-CN" b="0" i="0" dirty="0" err="1">
                <a:solidFill>
                  <a:srgbClr val="000000"/>
                </a:solidFill>
                <a:effectLst/>
                <a:latin typeface="Inter"/>
              </a:rPr>
              <a:t>i,t</a:t>
            </a:r>
            <a:r>
              <a:rPr lang="en-US" altLang="zh-CN" b="0" i="0" dirty="0">
                <a:solidFill>
                  <a:srgbClr val="000000"/>
                </a:solidFill>
                <a:effectLst/>
                <a:latin typeface="Inter"/>
              </a:rPr>
              <a:t>}]\)</a:t>
            </a:r>
            <a:r>
              <a:rPr lang="zh-CN" altLang="en-US" b="0" i="0" dirty="0">
                <a:solidFill>
                  <a:srgbClr val="000000"/>
                </a:solidFill>
                <a:effectLst/>
                <a:latin typeface="Inter"/>
              </a:rPr>
              <a:t>（融合静态属性与轨迹动态特征）。</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02F54C80-B770-4C50-A5D1-D9880C7EFE61}" type="slidenum">
              <a:rPr lang="zh-CN" altLang="en-US" smtClean="0"/>
              <a:t>16</a:t>
            </a:fld>
            <a:endParaRPr lang="en-US" altLang="zh-CN" dirty="0"/>
          </a:p>
        </p:txBody>
      </p:sp>
    </p:spTree>
    <p:extLst>
      <p:ext uri="{BB962C8B-B14F-4D97-AF65-F5344CB8AC3E}">
        <p14:creationId xmlns:p14="http://schemas.microsoft.com/office/powerpoint/2010/main" val="1058470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22108A11-C4C4-47DC-9FDC-957A41EDA30D}" type="slidenum">
              <a:rPr lang="zh-CN" altLang="en-US" smtClean="0"/>
              <a:t>‹#›</a:t>
            </a:fld>
            <a:endParaRPr lang="en-US" altLang="zh-CN" dirty="0"/>
          </a:p>
        </p:txBody>
      </p:sp>
    </p:spTree>
    <p:extLst>
      <p:ext uri="{BB962C8B-B14F-4D97-AF65-F5344CB8AC3E}">
        <p14:creationId xmlns:p14="http://schemas.microsoft.com/office/powerpoint/2010/main" val="3892215346"/>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9A8C56B3-3B34-4D40-AF87-9F9B0A883ED8}" type="slidenum">
              <a:rPr lang="zh-CN" altLang="en-US" smtClean="0"/>
              <a:t>‹#›</a:t>
            </a:fld>
            <a:endParaRPr lang="en-US" altLang="zh-CN" dirty="0"/>
          </a:p>
        </p:txBody>
      </p:sp>
    </p:spTree>
    <p:extLst>
      <p:ext uri="{BB962C8B-B14F-4D97-AF65-F5344CB8AC3E}">
        <p14:creationId xmlns:p14="http://schemas.microsoft.com/office/powerpoint/2010/main" val="2991443430"/>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10E47EE5-0608-4349-AE19-460B51080CA5}" type="slidenum">
              <a:rPr lang="zh-CN" altLang="en-US" smtClean="0"/>
              <a:t>‹#›</a:t>
            </a:fld>
            <a:endParaRPr lang="en-US" altLang="zh-CN" dirty="0"/>
          </a:p>
        </p:txBody>
      </p:sp>
    </p:spTree>
    <p:extLst>
      <p:ext uri="{BB962C8B-B14F-4D97-AF65-F5344CB8AC3E}">
        <p14:creationId xmlns:p14="http://schemas.microsoft.com/office/powerpoint/2010/main" val="324448374"/>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endParaRPr lang="en-US" altLang="zh-CN" dirty="0"/>
          </a:p>
        </p:txBody>
      </p:sp>
      <p:sp>
        <p:nvSpPr>
          <p:cNvPr id="6" name="Footer Placeholder 5"/>
          <p:cNvSpPr>
            <a:spLocks noGrp="1"/>
          </p:cNvSpPr>
          <p:nvPr>
            <p:ph type="ftr" sz="quarter" idx="11"/>
          </p:nvPr>
        </p:nvSpPr>
        <p:spPr/>
        <p:txBody>
          <a:bodyPr/>
          <a:lstStyle/>
          <a:p>
            <a:pPr>
              <a:defRPr/>
            </a:pPr>
            <a:endParaRPr lang="en-US" altLang="zh-CN" dirty="0"/>
          </a:p>
        </p:txBody>
      </p:sp>
      <p:sp>
        <p:nvSpPr>
          <p:cNvPr id="7" name="Slide Number Placeholder 6"/>
          <p:cNvSpPr>
            <a:spLocks noGrp="1"/>
          </p:cNvSpPr>
          <p:nvPr>
            <p:ph type="sldNum" sz="quarter" idx="12"/>
          </p:nvPr>
        </p:nvSpPr>
        <p:spPr/>
        <p:txBody>
          <a:bodyPr/>
          <a:lstStyle/>
          <a:p>
            <a:pPr>
              <a:defRPr/>
            </a:pPr>
            <a:fld id="{BBA37028-1973-41B4-8E64-A16DF9CE78C5}" type="slidenum">
              <a:rPr lang="zh-CN" altLang="en-US" smtClean="0"/>
              <a:t>‹#›</a:t>
            </a:fld>
            <a:endParaRPr lang="en-US" altLang="zh-CN" dirty="0"/>
          </a:p>
        </p:txBody>
      </p:sp>
    </p:spTree>
    <p:extLst>
      <p:ext uri="{BB962C8B-B14F-4D97-AF65-F5344CB8AC3E}">
        <p14:creationId xmlns:p14="http://schemas.microsoft.com/office/powerpoint/2010/main" val="836794988"/>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endParaRPr lang="en-US" altLang="zh-CN" dirty="0"/>
          </a:p>
        </p:txBody>
      </p:sp>
      <p:sp>
        <p:nvSpPr>
          <p:cNvPr id="8" name="Footer Placeholder 7"/>
          <p:cNvSpPr>
            <a:spLocks noGrp="1"/>
          </p:cNvSpPr>
          <p:nvPr>
            <p:ph type="ftr" sz="quarter" idx="11"/>
          </p:nvPr>
        </p:nvSpPr>
        <p:spPr/>
        <p:txBody>
          <a:bodyPr/>
          <a:lstStyle/>
          <a:p>
            <a:pPr>
              <a:defRPr/>
            </a:pPr>
            <a:endParaRPr lang="en-US" altLang="zh-CN" dirty="0"/>
          </a:p>
        </p:txBody>
      </p:sp>
      <p:sp>
        <p:nvSpPr>
          <p:cNvPr id="9" name="Slide Number Placeholder 8"/>
          <p:cNvSpPr>
            <a:spLocks noGrp="1"/>
          </p:cNvSpPr>
          <p:nvPr>
            <p:ph type="sldNum" sz="quarter" idx="12"/>
          </p:nvPr>
        </p:nvSpPr>
        <p:spPr/>
        <p:txBody>
          <a:bodyPr/>
          <a:lstStyle/>
          <a:p>
            <a:pPr>
              <a:defRPr/>
            </a:pPr>
            <a:fld id="{928EF42A-5939-4654-85BC-BA1A5AD64E17}" type="slidenum">
              <a:rPr lang="zh-CN" altLang="en-US" smtClean="0"/>
              <a:t>‹#›</a:t>
            </a:fld>
            <a:endParaRPr lang="en-US" altLang="zh-CN" dirty="0"/>
          </a:p>
        </p:txBody>
      </p:sp>
    </p:spTree>
    <p:extLst>
      <p:ext uri="{BB962C8B-B14F-4D97-AF65-F5344CB8AC3E}">
        <p14:creationId xmlns:p14="http://schemas.microsoft.com/office/powerpoint/2010/main" val="1413640923"/>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dirty="0"/>
          </a:p>
        </p:txBody>
      </p:sp>
      <p:sp>
        <p:nvSpPr>
          <p:cNvPr id="4" name="Footer Placeholder 3"/>
          <p:cNvSpPr>
            <a:spLocks noGrp="1"/>
          </p:cNvSpPr>
          <p:nvPr>
            <p:ph type="ftr" sz="quarter" idx="11"/>
          </p:nvPr>
        </p:nvSpPr>
        <p:spPr/>
        <p:txBody>
          <a:bodyPr/>
          <a:lstStyle/>
          <a:p>
            <a:pPr>
              <a:defRPr/>
            </a:pPr>
            <a:endParaRPr lang="en-US" altLang="zh-CN" dirty="0"/>
          </a:p>
        </p:txBody>
      </p:sp>
      <p:sp>
        <p:nvSpPr>
          <p:cNvPr id="5" name="Slide Number Placeholder 4"/>
          <p:cNvSpPr>
            <a:spLocks noGrp="1"/>
          </p:cNvSpPr>
          <p:nvPr>
            <p:ph type="sldNum" sz="quarter" idx="12"/>
          </p:nvPr>
        </p:nvSpPr>
        <p:spPr/>
        <p:txBody>
          <a:bodyPr/>
          <a:lstStyle/>
          <a:p>
            <a:pPr>
              <a:defRPr/>
            </a:pPr>
            <a:fld id="{A5253DF6-27E5-40A0-A490-376194406B50}" type="slidenum">
              <a:rPr lang="zh-CN" altLang="en-US" smtClean="0"/>
              <a:t>‹#›</a:t>
            </a:fld>
            <a:endParaRPr lang="en-US" altLang="zh-CN" dirty="0"/>
          </a:p>
        </p:txBody>
      </p:sp>
    </p:spTree>
    <p:extLst>
      <p:ext uri="{BB962C8B-B14F-4D97-AF65-F5344CB8AC3E}">
        <p14:creationId xmlns:p14="http://schemas.microsoft.com/office/powerpoint/2010/main" val="3467802769"/>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dirty="0"/>
          </a:p>
        </p:txBody>
      </p:sp>
      <p:sp>
        <p:nvSpPr>
          <p:cNvPr id="3" name="Footer Placeholder 2"/>
          <p:cNvSpPr>
            <a:spLocks noGrp="1"/>
          </p:cNvSpPr>
          <p:nvPr>
            <p:ph type="ftr" sz="quarter" idx="11"/>
          </p:nvPr>
        </p:nvSpPr>
        <p:spPr/>
        <p:txBody>
          <a:bodyPr/>
          <a:lstStyle/>
          <a:p>
            <a:pPr>
              <a:defRPr/>
            </a:pPr>
            <a:endParaRPr lang="en-US" altLang="zh-CN" dirty="0"/>
          </a:p>
        </p:txBody>
      </p:sp>
      <p:sp>
        <p:nvSpPr>
          <p:cNvPr id="4" name="Slide Number Placeholder 3"/>
          <p:cNvSpPr>
            <a:spLocks noGrp="1"/>
          </p:cNvSpPr>
          <p:nvPr>
            <p:ph type="sldNum" sz="quarter" idx="12"/>
          </p:nvPr>
        </p:nvSpPr>
        <p:spPr/>
        <p:txBody>
          <a:bodyPr/>
          <a:lstStyle/>
          <a:p>
            <a:pPr>
              <a:defRPr/>
            </a:pPr>
            <a:fld id="{E3494EB2-2042-4D3E-AE60-C357328FE70C}" type="slidenum">
              <a:rPr lang="zh-CN" altLang="en-US" smtClean="0"/>
              <a:t>‹#›</a:t>
            </a:fld>
            <a:endParaRPr lang="en-US" altLang="zh-CN" dirty="0"/>
          </a:p>
        </p:txBody>
      </p:sp>
    </p:spTree>
    <p:extLst>
      <p:ext uri="{BB962C8B-B14F-4D97-AF65-F5344CB8AC3E}">
        <p14:creationId xmlns:p14="http://schemas.microsoft.com/office/powerpoint/2010/main" val="2165630356"/>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endParaRPr lang="en-US" altLang="zh-CN" dirty="0"/>
          </a:p>
        </p:txBody>
      </p:sp>
      <p:sp>
        <p:nvSpPr>
          <p:cNvPr id="6" name="Footer Placeholder 5"/>
          <p:cNvSpPr>
            <a:spLocks noGrp="1"/>
          </p:cNvSpPr>
          <p:nvPr>
            <p:ph type="ftr" sz="quarter" idx="11"/>
          </p:nvPr>
        </p:nvSpPr>
        <p:spPr/>
        <p:txBody>
          <a:bodyPr/>
          <a:lstStyle/>
          <a:p>
            <a:pPr>
              <a:defRPr/>
            </a:pPr>
            <a:endParaRPr lang="en-US" altLang="zh-CN" dirty="0"/>
          </a:p>
        </p:txBody>
      </p:sp>
      <p:sp>
        <p:nvSpPr>
          <p:cNvPr id="7" name="Slide Number Placeholder 6"/>
          <p:cNvSpPr>
            <a:spLocks noGrp="1"/>
          </p:cNvSpPr>
          <p:nvPr>
            <p:ph type="sldNum" sz="quarter" idx="12"/>
          </p:nvPr>
        </p:nvSpPr>
        <p:spPr/>
        <p:txBody>
          <a:bodyPr/>
          <a:lstStyle/>
          <a:p>
            <a:pPr>
              <a:defRPr/>
            </a:pPr>
            <a:fld id="{284E721D-341E-46A8-9634-AFA3596890ED}" type="slidenum">
              <a:rPr lang="zh-CN" altLang="en-US" smtClean="0"/>
              <a:t>‹#›</a:t>
            </a:fld>
            <a:endParaRPr lang="en-US" altLang="zh-CN" dirty="0"/>
          </a:p>
        </p:txBody>
      </p:sp>
    </p:spTree>
    <p:extLst>
      <p:ext uri="{BB962C8B-B14F-4D97-AF65-F5344CB8AC3E}">
        <p14:creationId xmlns:p14="http://schemas.microsoft.com/office/powerpoint/2010/main" val="3605219861"/>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endParaRPr lang="en-US" altLang="zh-CN" dirty="0"/>
          </a:p>
        </p:txBody>
      </p:sp>
      <p:sp>
        <p:nvSpPr>
          <p:cNvPr id="6" name="Footer Placeholder 5"/>
          <p:cNvSpPr>
            <a:spLocks noGrp="1"/>
          </p:cNvSpPr>
          <p:nvPr>
            <p:ph type="ftr" sz="quarter" idx="11"/>
          </p:nvPr>
        </p:nvSpPr>
        <p:spPr/>
        <p:txBody>
          <a:bodyPr/>
          <a:lstStyle/>
          <a:p>
            <a:pPr>
              <a:defRPr/>
            </a:pPr>
            <a:endParaRPr lang="en-US" altLang="zh-CN" dirty="0"/>
          </a:p>
        </p:txBody>
      </p:sp>
      <p:sp>
        <p:nvSpPr>
          <p:cNvPr id="7" name="Slide Number Placeholder 6"/>
          <p:cNvSpPr>
            <a:spLocks noGrp="1"/>
          </p:cNvSpPr>
          <p:nvPr>
            <p:ph type="sldNum" sz="quarter" idx="12"/>
          </p:nvPr>
        </p:nvSpPr>
        <p:spPr/>
        <p:txBody>
          <a:bodyPr/>
          <a:lstStyle/>
          <a:p>
            <a:pPr>
              <a:defRPr/>
            </a:pPr>
            <a:fld id="{D9DC8AAC-475B-4954-80C7-2718119FCE67}" type="slidenum">
              <a:rPr lang="zh-CN" altLang="en-US" smtClean="0"/>
              <a:t>‹#›</a:t>
            </a:fld>
            <a:endParaRPr lang="en-US" altLang="zh-CN" dirty="0"/>
          </a:p>
        </p:txBody>
      </p:sp>
    </p:spTree>
    <p:extLst>
      <p:ext uri="{BB962C8B-B14F-4D97-AF65-F5344CB8AC3E}">
        <p14:creationId xmlns:p14="http://schemas.microsoft.com/office/powerpoint/2010/main" val="205972024"/>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AB3CDB77-BDD4-4E50-AF2D-C8E2730BCAE9}" type="slidenum">
              <a:rPr lang="zh-CN" altLang="en-US" smtClean="0"/>
              <a:t>‹#›</a:t>
            </a:fld>
            <a:endParaRPr lang="en-US" altLang="zh-CN" dirty="0"/>
          </a:p>
        </p:txBody>
      </p:sp>
    </p:spTree>
    <p:extLst>
      <p:ext uri="{BB962C8B-B14F-4D97-AF65-F5344CB8AC3E}">
        <p14:creationId xmlns:p14="http://schemas.microsoft.com/office/powerpoint/2010/main" val="3262237314"/>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EEC65444-C27E-4275-9B64-A99AFE6606A1}" type="slidenum">
              <a:rPr lang="zh-CN" altLang="en-US" smtClean="0"/>
              <a:t>‹#›</a:t>
            </a:fld>
            <a:endParaRPr lang="en-US" altLang="zh-CN" dirty="0"/>
          </a:p>
        </p:txBody>
      </p:sp>
    </p:spTree>
    <p:extLst>
      <p:ext uri="{BB962C8B-B14F-4D97-AF65-F5344CB8AC3E}">
        <p14:creationId xmlns:p14="http://schemas.microsoft.com/office/powerpoint/2010/main" val="261106118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Picture 2" descr="高铁新2.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060574"/>
            <a:ext cx="12192000" cy="4797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a:spLocks noChangeArrowheads="1"/>
          </p:cNvSpPr>
          <p:nvPr userDrawn="1"/>
        </p:nvSpPr>
        <p:spPr bwMode="auto">
          <a:xfrm>
            <a:off x="0" y="2060574"/>
            <a:ext cx="12192000" cy="2026456"/>
          </a:xfrm>
          <a:prstGeom prst="rect">
            <a:avLst/>
          </a:prstGeom>
          <a:solidFill>
            <a:srgbClr val="1B3F85"/>
          </a:solidFill>
          <a:ln>
            <a:noFill/>
          </a:ln>
        </p:spPr>
        <p:txBody>
          <a:bodyPr/>
          <a:lstStyle/>
          <a:p>
            <a:pPr lvl="0"/>
            <a:endParaRPr lang="zh-CN" altLang="en-US" sz="1600" b="1">
              <a:solidFill>
                <a:srgbClr val="000000"/>
              </a:solidFill>
              <a:latin typeface="Times New Roman" pitchFamily="18" charset="0"/>
              <a:ea typeface="宋体" charset="-122"/>
              <a:cs typeface="Times New Roman" pitchFamily="18" charset="0"/>
            </a:endParaRPr>
          </a:p>
        </p:txBody>
      </p:sp>
      <p:pic>
        <p:nvPicPr>
          <p:cNvPr id="15" name="Picture 7" descr="L:\山东用图\13249475386848.jpg"/>
          <p:cNvPicPr>
            <a:picLocks noChangeAspect="1" noChangeArrowheads="1"/>
          </p:cNvPicPr>
          <p:nvPr userDrawn="1"/>
        </p:nvPicPr>
        <p:blipFill>
          <a:blip r:embed="rId3" cstate="print"/>
          <a:srcRect/>
          <a:stretch>
            <a:fillRect/>
          </a:stretch>
        </p:blipFill>
        <p:spPr bwMode="auto">
          <a:xfrm>
            <a:off x="5497147" y="4231530"/>
            <a:ext cx="1218833" cy="611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Picture 2" descr="L:\山东用图\20130608104108931.jpg"/>
          <p:cNvPicPr>
            <a:picLocks noChangeAspect="1" noChangeArrowheads="1"/>
          </p:cNvPicPr>
          <p:nvPr userDrawn="1"/>
        </p:nvPicPr>
        <p:blipFill rotWithShape="1">
          <a:blip r:embed="rId4" cstate="print"/>
          <a:srcRect/>
          <a:stretch/>
        </p:blipFill>
        <p:spPr bwMode="auto">
          <a:xfrm>
            <a:off x="1487488" y="4231530"/>
            <a:ext cx="1151832" cy="611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6" name="Picture 3" descr="L:\山东用图\m_13394.jpg"/>
          <p:cNvPicPr>
            <a:picLocks noChangeAspect="1" noChangeArrowheads="1"/>
          </p:cNvPicPr>
          <p:nvPr userDrawn="1"/>
        </p:nvPicPr>
        <p:blipFill>
          <a:blip r:embed="rId5" cstate="print"/>
          <a:srcRect/>
          <a:stretch>
            <a:fillRect/>
          </a:stretch>
        </p:blipFill>
        <p:spPr bwMode="auto">
          <a:xfrm>
            <a:off x="190459" y="4231530"/>
            <a:ext cx="1144103" cy="611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7" name="Picture 4" descr="L:\山东用图\29.jpg"/>
          <p:cNvPicPr>
            <a:picLocks noChangeAspect="1" noChangeArrowheads="1"/>
          </p:cNvPicPr>
          <p:nvPr userDrawn="1"/>
        </p:nvPicPr>
        <p:blipFill rotWithShape="1">
          <a:blip r:embed="rId6" cstate="print"/>
          <a:srcRect/>
          <a:stretch/>
        </p:blipFill>
        <p:spPr bwMode="auto">
          <a:xfrm>
            <a:off x="4175787" y="4231530"/>
            <a:ext cx="1144103" cy="611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8" name="Picture 8" descr="L:\山东用图\W020110917520651407484.jpg"/>
          <p:cNvPicPr>
            <a:picLocks noChangeAspect="1" noChangeArrowheads="1"/>
          </p:cNvPicPr>
          <p:nvPr userDrawn="1"/>
        </p:nvPicPr>
        <p:blipFill rotWithShape="1">
          <a:blip r:embed="rId7" cstate="print"/>
          <a:srcRect/>
          <a:stretch/>
        </p:blipFill>
        <p:spPr bwMode="auto">
          <a:xfrm>
            <a:off x="2811316" y="4231530"/>
            <a:ext cx="1177603" cy="611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AutoShape 9"/>
          <p:cNvSpPr>
            <a:spLocks noChangeArrowheads="1"/>
          </p:cNvSpPr>
          <p:nvPr userDrawn="1"/>
        </p:nvSpPr>
        <p:spPr bwMode="auto">
          <a:xfrm>
            <a:off x="-10584" y="793204"/>
            <a:ext cx="12202584" cy="53642"/>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1"/>
          </a:solidFill>
          <a:ln w="12700">
            <a:solidFill>
              <a:srgbClr val="4F81BD"/>
            </a:solidFill>
            <a:round/>
            <a:headEnd/>
            <a:tailEnd/>
          </a:ln>
        </p:spPr>
        <p:txBody>
          <a:bodyPr/>
          <a:lstStyle/>
          <a:p>
            <a:pPr fontAlgn="auto">
              <a:spcBef>
                <a:spcPts val="0"/>
              </a:spcBef>
              <a:spcAft>
                <a:spcPts val="0"/>
              </a:spcAft>
              <a:defRPr/>
            </a:pPr>
            <a:endParaRPr lang="zh-CN" altLang="zh-CN" sz="2400">
              <a:ln w="18000">
                <a:solidFill>
                  <a:schemeClr val="accent2">
                    <a:satMod val="140000"/>
                  </a:schemeClr>
                </a:solidFill>
                <a:prstDash val="solid"/>
                <a:miter lim="800000"/>
              </a:ln>
              <a:noFill/>
              <a:effectLst>
                <a:outerShdw blurRad="25500" dist="23000" dir="7020000" algn="tl">
                  <a:srgbClr val="000000">
                    <a:alpha val="50000"/>
                  </a:srgbClr>
                </a:outerShdw>
              </a:effectLst>
              <a:latin typeface="Times New Roman" pitchFamily="18" charset="0"/>
              <a:ea typeface="+mn-ea"/>
            </a:endParaRPr>
          </a:p>
        </p:txBody>
      </p:sp>
      <p:pic>
        <p:nvPicPr>
          <p:cNvPr id="13" name="Picture 2" descr="北京交通大学ppt角标图案（右）.jpg"/>
          <p:cNvPicPr preferRelativeResize="0">
            <a:picLocks noChangeArrowheads="1"/>
          </p:cNvPicPr>
          <p:nvPr userDrawn="1"/>
        </p:nvPicPr>
        <p:blipFill>
          <a:blip r:embed="rId8" cstate="print">
            <a:duotone>
              <a:schemeClr val="accent1">
                <a:shade val="45000"/>
                <a:satMod val="135000"/>
              </a:schemeClr>
              <a:prstClr val="white"/>
            </a:duotone>
          </a:blip>
          <a:srcRect/>
          <a:stretch>
            <a:fillRect/>
          </a:stretch>
        </p:blipFill>
        <p:spPr bwMode="auto">
          <a:xfrm>
            <a:off x="10128448" y="236568"/>
            <a:ext cx="1728192" cy="468000"/>
          </a:xfrm>
          <a:prstGeom prst="rect">
            <a:avLst/>
          </a:prstGeom>
          <a:noFill/>
        </p:spPr>
      </p:pic>
    </p:spTree>
    <p:extLst>
      <p:ext uri="{BB962C8B-B14F-4D97-AF65-F5344CB8AC3E}">
        <p14:creationId xmlns:p14="http://schemas.microsoft.com/office/powerpoint/2010/main" val="387269135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2" name="Picture 7" descr="C:\Documents and Settings\Administrator\桌面\图片3.jpg"/>
          <p:cNvPicPr>
            <a:picLocks noChangeAspect="1" noChangeArrowheads="1"/>
          </p:cNvPicPr>
          <p:nvPr userDrawn="1"/>
        </p:nvPicPr>
        <p:blipFill>
          <a:blip r:embed="rId2">
            <a:clrChange>
              <a:clrFrom>
                <a:srgbClr val="FFFFFF"/>
              </a:clrFrom>
              <a:clrTo>
                <a:srgbClr val="FFFFFF">
                  <a:alpha val="0"/>
                </a:srgbClr>
              </a:clrTo>
            </a:clrChange>
          </a:blip>
          <a:srcRect/>
          <a:stretch>
            <a:fillRect/>
          </a:stretch>
        </p:blipFill>
        <p:spPr bwMode="auto">
          <a:xfrm>
            <a:off x="2" y="0"/>
            <a:ext cx="10096500" cy="765176"/>
          </a:xfrm>
          <a:prstGeom prst="rect">
            <a:avLst/>
          </a:prstGeom>
          <a:noFill/>
          <a:ln w="9525">
            <a:noFill/>
            <a:miter lim="800000"/>
            <a:headEnd/>
            <a:tailEnd/>
          </a:ln>
        </p:spPr>
      </p:pic>
      <p:sp>
        <p:nvSpPr>
          <p:cNvPr id="3" name="任意多边形 2"/>
          <p:cNvSpPr/>
          <p:nvPr userDrawn="1"/>
        </p:nvSpPr>
        <p:spPr>
          <a:xfrm>
            <a:off x="8382005" y="-1"/>
            <a:ext cx="2190751" cy="1041399"/>
          </a:xfrm>
          <a:custGeom>
            <a:avLst/>
            <a:gdLst>
              <a:gd name="connsiteX0" fmla="*/ 1045234 w 1194758"/>
              <a:gd name="connsiteY0" fmla="*/ 67574 h 1040922"/>
              <a:gd name="connsiteX1" fmla="*/ 1045234 w 1194758"/>
              <a:gd name="connsiteY1" fmla="*/ 887084 h 1040922"/>
              <a:gd name="connsiteX2" fmla="*/ 148087 w 1194758"/>
              <a:gd name="connsiteY2" fmla="*/ 973348 h 1040922"/>
              <a:gd name="connsiteX3" fmla="*/ 156713 w 1194758"/>
              <a:gd name="connsiteY3" fmla="*/ 481642 h 1040922"/>
              <a:gd name="connsiteX4" fmla="*/ 1045234 w 1194758"/>
              <a:gd name="connsiteY4" fmla="*/ 67574 h 1040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758" h="1040922">
                <a:moveTo>
                  <a:pt x="1045234" y="67574"/>
                </a:moveTo>
                <a:cubicBezTo>
                  <a:pt x="1193321" y="135148"/>
                  <a:pt x="1194758" y="736122"/>
                  <a:pt x="1045234" y="887084"/>
                </a:cubicBezTo>
                <a:cubicBezTo>
                  <a:pt x="895710" y="1038046"/>
                  <a:pt x="296174" y="1040922"/>
                  <a:pt x="148087" y="973348"/>
                </a:cubicBezTo>
                <a:cubicBezTo>
                  <a:pt x="0" y="905774"/>
                  <a:pt x="4313" y="635480"/>
                  <a:pt x="156713" y="481642"/>
                </a:cubicBezTo>
                <a:cubicBezTo>
                  <a:pt x="309113" y="327804"/>
                  <a:pt x="897147" y="0"/>
                  <a:pt x="1045234" y="6757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5" name="AutoShape 9"/>
          <p:cNvSpPr>
            <a:spLocks noChangeArrowheads="1"/>
          </p:cNvSpPr>
          <p:nvPr userDrawn="1"/>
        </p:nvSpPr>
        <p:spPr bwMode="auto">
          <a:xfrm>
            <a:off x="-10584" y="793204"/>
            <a:ext cx="12202584" cy="53642"/>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1"/>
          </a:solidFill>
          <a:ln w="12700">
            <a:solidFill>
              <a:srgbClr val="4F81BD"/>
            </a:solidFill>
            <a:round/>
            <a:headEnd/>
            <a:tailEnd/>
          </a:ln>
        </p:spPr>
        <p:txBody>
          <a:bodyPr/>
          <a:lstStyle/>
          <a:p>
            <a:pPr fontAlgn="auto">
              <a:spcBef>
                <a:spcPts val="0"/>
              </a:spcBef>
              <a:spcAft>
                <a:spcPts val="0"/>
              </a:spcAft>
              <a:defRPr/>
            </a:pPr>
            <a:endParaRPr lang="zh-CN" altLang="zh-CN" sz="2400">
              <a:ln w="18000">
                <a:solidFill>
                  <a:schemeClr val="accent2">
                    <a:satMod val="140000"/>
                  </a:schemeClr>
                </a:solidFill>
                <a:prstDash val="solid"/>
                <a:miter lim="800000"/>
              </a:ln>
              <a:noFill/>
              <a:effectLst>
                <a:outerShdw blurRad="25500" dist="23000" dir="7020000" algn="tl">
                  <a:srgbClr val="000000">
                    <a:alpha val="50000"/>
                  </a:srgbClr>
                </a:outerShdw>
              </a:effectLst>
              <a:latin typeface="Times New Roman" pitchFamily="18" charset="0"/>
              <a:ea typeface="+mn-ea"/>
            </a:endParaRPr>
          </a:p>
        </p:txBody>
      </p:sp>
      <p:pic>
        <p:nvPicPr>
          <p:cNvPr id="6" name="Picture 2" descr="北京交通大学ppt角标图案（右）.jpg"/>
          <p:cNvPicPr preferRelativeResize="0">
            <a:picLocks noChangeArrowheads="1"/>
          </p:cNvPicPr>
          <p:nvPr userDrawn="1"/>
        </p:nvPicPr>
        <p:blipFill>
          <a:blip r:embed="rId3" cstate="print">
            <a:duotone>
              <a:schemeClr val="accent1">
                <a:shade val="45000"/>
                <a:satMod val="135000"/>
              </a:schemeClr>
              <a:prstClr val="white"/>
            </a:duotone>
          </a:blip>
          <a:srcRect/>
          <a:stretch>
            <a:fillRect/>
          </a:stretch>
        </p:blipFill>
        <p:spPr bwMode="auto">
          <a:xfrm>
            <a:off x="10096502" y="224696"/>
            <a:ext cx="1760138" cy="468000"/>
          </a:xfrm>
          <a:prstGeom prst="rect">
            <a:avLst/>
          </a:prstGeom>
          <a:noFill/>
        </p:spPr>
      </p:pic>
    </p:spTree>
    <p:extLst>
      <p:ext uri="{BB962C8B-B14F-4D97-AF65-F5344CB8AC3E}">
        <p14:creationId xmlns:p14="http://schemas.microsoft.com/office/powerpoint/2010/main" val="4134818297"/>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Picture 7" descr="C:\Documents and Settings\Administrator\桌面\图片3.jpg"/>
          <p:cNvPicPr>
            <a:picLocks noChangeAspect="1" noChangeArrowheads="1"/>
          </p:cNvPicPr>
          <p:nvPr userDrawn="1"/>
        </p:nvPicPr>
        <p:blipFill>
          <a:blip r:embed="rId2">
            <a:clrChange>
              <a:clrFrom>
                <a:srgbClr val="FFFFFF"/>
              </a:clrFrom>
              <a:clrTo>
                <a:srgbClr val="FFFFFF">
                  <a:alpha val="0"/>
                </a:srgbClr>
              </a:clrTo>
            </a:clrChange>
          </a:blip>
          <a:srcRect/>
          <a:stretch>
            <a:fillRect/>
          </a:stretch>
        </p:blipFill>
        <p:spPr bwMode="auto">
          <a:xfrm>
            <a:off x="2" y="0"/>
            <a:ext cx="10096500" cy="765176"/>
          </a:xfrm>
          <a:prstGeom prst="rect">
            <a:avLst/>
          </a:prstGeom>
          <a:noFill/>
          <a:ln w="9525">
            <a:noFill/>
            <a:miter lim="800000"/>
            <a:headEnd/>
            <a:tailEnd/>
          </a:ln>
        </p:spPr>
      </p:pic>
      <p:sp>
        <p:nvSpPr>
          <p:cNvPr id="3" name="任意多边形 2"/>
          <p:cNvSpPr/>
          <p:nvPr userDrawn="1"/>
        </p:nvSpPr>
        <p:spPr>
          <a:xfrm>
            <a:off x="8382005" y="-142875"/>
            <a:ext cx="2190751" cy="1184274"/>
          </a:xfrm>
          <a:custGeom>
            <a:avLst/>
            <a:gdLst>
              <a:gd name="connsiteX0" fmla="*/ 1045234 w 1194758"/>
              <a:gd name="connsiteY0" fmla="*/ 67574 h 1040922"/>
              <a:gd name="connsiteX1" fmla="*/ 1045234 w 1194758"/>
              <a:gd name="connsiteY1" fmla="*/ 887084 h 1040922"/>
              <a:gd name="connsiteX2" fmla="*/ 148087 w 1194758"/>
              <a:gd name="connsiteY2" fmla="*/ 973348 h 1040922"/>
              <a:gd name="connsiteX3" fmla="*/ 156713 w 1194758"/>
              <a:gd name="connsiteY3" fmla="*/ 481642 h 1040922"/>
              <a:gd name="connsiteX4" fmla="*/ 1045234 w 1194758"/>
              <a:gd name="connsiteY4" fmla="*/ 67574 h 1040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758" h="1040922">
                <a:moveTo>
                  <a:pt x="1045234" y="67574"/>
                </a:moveTo>
                <a:cubicBezTo>
                  <a:pt x="1193321" y="135148"/>
                  <a:pt x="1194758" y="736122"/>
                  <a:pt x="1045234" y="887084"/>
                </a:cubicBezTo>
                <a:cubicBezTo>
                  <a:pt x="895710" y="1038046"/>
                  <a:pt x="296174" y="1040922"/>
                  <a:pt x="148087" y="973348"/>
                </a:cubicBezTo>
                <a:cubicBezTo>
                  <a:pt x="0" y="905774"/>
                  <a:pt x="4313" y="635480"/>
                  <a:pt x="156713" y="481642"/>
                </a:cubicBezTo>
                <a:cubicBezTo>
                  <a:pt x="309113" y="327804"/>
                  <a:pt x="897147" y="0"/>
                  <a:pt x="1045234" y="6757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pic>
        <p:nvPicPr>
          <p:cNvPr id="4" name="Picture 2" descr="北京交通大学ppt角标图案（右）.jpg"/>
          <p:cNvPicPr>
            <a:picLocks noChangeAspect="1" noChangeArrowheads="1"/>
          </p:cNvPicPr>
          <p:nvPr userDrawn="1"/>
        </p:nvPicPr>
        <p:blipFill>
          <a:blip r:embed="rId3" cstate="print">
            <a:duotone>
              <a:schemeClr val="accent1">
                <a:shade val="45000"/>
                <a:satMod val="135000"/>
              </a:schemeClr>
              <a:prstClr val="white"/>
            </a:duotone>
          </a:blip>
          <a:srcRect/>
          <a:stretch>
            <a:fillRect/>
          </a:stretch>
        </p:blipFill>
        <p:spPr bwMode="auto">
          <a:xfrm>
            <a:off x="9360363" y="188640"/>
            <a:ext cx="2616117" cy="576536"/>
          </a:xfrm>
          <a:prstGeom prst="rect">
            <a:avLst/>
          </a:prstGeom>
          <a:noFill/>
        </p:spPr>
      </p:pic>
    </p:spTree>
    <p:extLst>
      <p:ext uri="{BB962C8B-B14F-4D97-AF65-F5344CB8AC3E}">
        <p14:creationId xmlns:p14="http://schemas.microsoft.com/office/powerpoint/2010/main" val="3351462138"/>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9F98286-50E2-43B3-8BCD-2562A101D5BB}" type="slidenum">
              <a:rPr lang="zh-CN" altLang="en-US" smtClean="0"/>
              <a:t>‹#›</a:t>
            </a:fld>
            <a:endParaRPr lang="zh-CN" altLang="en-US"/>
          </a:p>
        </p:txBody>
      </p:sp>
      <p:sp>
        <p:nvSpPr>
          <p:cNvPr id="10" name="文本框 9"/>
          <p:cNvSpPr txBox="1"/>
          <p:nvPr userDrawn="1"/>
        </p:nvSpPr>
        <p:spPr>
          <a:xfrm>
            <a:off x="945735" y="1521152"/>
            <a:ext cx="10380292" cy="369332"/>
          </a:xfrm>
          <a:prstGeom prst="rect">
            <a:avLst/>
          </a:prstGeom>
          <a:solidFill>
            <a:schemeClr val="bg1"/>
          </a:solidFill>
        </p:spPr>
        <p:txBody>
          <a:bodyPr wrap="square" rtlCol="0">
            <a:spAutoFit/>
          </a:bodyPr>
          <a:lstStyle/>
          <a:p>
            <a:endParaRPr lang="zh-CN" altLang="en-US" sz="1800" dirty="0"/>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EC65444-C27E-4275-9B64-A99AFE6606A1}" type="slidenum">
              <a:rPr lang="zh-CN" altLang="en-US" smtClean="0"/>
              <a:t>‹#›</a:t>
            </a:fld>
            <a:endParaRPr lang="en-US" altLang="zh-CN" dirty="0"/>
          </a:p>
        </p:txBody>
      </p:sp>
    </p:spTree>
    <p:extLst>
      <p:ext uri="{BB962C8B-B14F-4D97-AF65-F5344CB8AC3E}">
        <p14:creationId xmlns:p14="http://schemas.microsoft.com/office/powerpoint/2010/main" val="186706830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74" r:id="rId14"/>
    <p:sldLayoutId id="2147483661" r:id="rId15"/>
  </p:sldLayoutIdLst>
  <p:transition spd="slow">
    <p:wipe dir="r"/>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3.jpeg"/><Relationship Id="rId11" Type="http://schemas.openxmlformats.org/officeDocument/2006/relationships/image" Target="../media/image18.png"/><Relationship Id="rId5" Type="http://schemas.openxmlformats.org/officeDocument/2006/relationships/image" Target="../media/image12.jpeg"/><Relationship Id="rId10" Type="http://schemas.openxmlformats.org/officeDocument/2006/relationships/image" Target="../media/image17.svg"/><Relationship Id="rId4" Type="http://schemas.openxmlformats.org/officeDocument/2006/relationships/image" Target="../media/image11.jpe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emf"/><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30.jpeg"/><Relationship Id="rId13" Type="http://schemas.openxmlformats.org/officeDocument/2006/relationships/image" Target="../media/image35.jpeg"/><Relationship Id="rId3" Type="http://schemas.openxmlformats.org/officeDocument/2006/relationships/image" Target="../media/image25.jpeg"/><Relationship Id="rId7" Type="http://schemas.openxmlformats.org/officeDocument/2006/relationships/image" Target="../media/image29.jpeg"/><Relationship Id="rId12"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8.jpeg"/><Relationship Id="rId11" Type="http://schemas.openxmlformats.org/officeDocument/2006/relationships/image" Target="../media/image33.png"/><Relationship Id="rId5" Type="http://schemas.openxmlformats.org/officeDocument/2006/relationships/image" Target="../media/image27.jpe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jpeg"/><Relationship Id="rId9" Type="http://schemas.openxmlformats.org/officeDocument/2006/relationships/image" Target="../media/image31.png"/><Relationship Id="rId14" Type="http://schemas.openxmlformats.org/officeDocument/2006/relationships/image" Target="../media/image36.jpe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tags" Target="../tags/tag3.xml"/><Relationship Id="rId7" Type="http://schemas.openxmlformats.org/officeDocument/2006/relationships/image" Target="../media/image39.jpeg"/><Relationship Id="rId12" Type="http://schemas.openxmlformats.org/officeDocument/2006/relationships/image" Target="../media/image44.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8.jpeg"/><Relationship Id="rId11" Type="http://schemas.openxmlformats.org/officeDocument/2006/relationships/image" Target="../media/image43.png"/><Relationship Id="rId5" Type="http://schemas.openxmlformats.org/officeDocument/2006/relationships/notesSlide" Target="../notesSlides/notesSlide8.xml"/><Relationship Id="rId10" Type="http://schemas.openxmlformats.org/officeDocument/2006/relationships/image" Target="../media/image42.png"/><Relationship Id="rId4" Type="http://schemas.openxmlformats.org/officeDocument/2006/relationships/slideLayout" Target="../slideLayouts/slideLayout13.xml"/><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slideLayout" Target="../slideLayouts/slideLayout13.xml"/><Relationship Id="rId1" Type="http://schemas.openxmlformats.org/officeDocument/2006/relationships/tags" Target="../tags/tag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1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8" Type="http://schemas.openxmlformats.org/officeDocument/2006/relationships/image" Target="../media/image62.jpeg"/><Relationship Id="rId13" Type="http://schemas.openxmlformats.org/officeDocument/2006/relationships/image" Target="../media/image67.jpeg"/><Relationship Id="rId18" Type="http://schemas.openxmlformats.org/officeDocument/2006/relationships/image" Target="../media/image71.jpeg"/><Relationship Id="rId3" Type="http://schemas.openxmlformats.org/officeDocument/2006/relationships/image" Target="../media/image57.png"/><Relationship Id="rId21" Type="http://schemas.openxmlformats.org/officeDocument/2006/relationships/image" Target="../media/image74.jpeg"/><Relationship Id="rId7" Type="http://schemas.openxmlformats.org/officeDocument/2006/relationships/image" Target="../media/image61.jpeg"/><Relationship Id="rId12" Type="http://schemas.openxmlformats.org/officeDocument/2006/relationships/image" Target="../media/image66.png"/><Relationship Id="rId17" Type="http://schemas.openxmlformats.org/officeDocument/2006/relationships/image" Target="../media/image37.png"/><Relationship Id="rId2" Type="http://schemas.openxmlformats.org/officeDocument/2006/relationships/slideLayout" Target="../slideLayouts/slideLayout13.xml"/><Relationship Id="rId16" Type="http://schemas.openxmlformats.org/officeDocument/2006/relationships/image" Target="../media/image70.png"/><Relationship Id="rId20" Type="http://schemas.openxmlformats.org/officeDocument/2006/relationships/image" Target="../media/image73.jpeg"/><Relationship Id="rId1" Type="http://schemas.openxmlformats.org/officeDocument/2006/relationships/tags" Target="../tags/tag5.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19" Type="http://schemas.openxmlformats.org/officeDocument/2006/relationships/image" Target="../media/image72.jpeg"/><Relationship Id="rId4" Type="http://schemas.openxmlformats.org/officeDocument/2006/relationships/image" Target="../media/image58.png"/><Relationship Id="rId9" Type="http://schemas.openxmlformats.org/officeDocument/2006/relationships/image" Target="../media/image63.jpeg"/><Relationship Id="rId14" Type="http://schemas.openxmlformats.org/officeDocument/2006/relationships/image" Target="../media/image68.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13"/>
          <p:cNvSpPr>
            <a:spLocks noChangeArrowheads="1"/>
          </p:cNvSpPr>
          <p:nvPr/>
        </p:nvSpPr>
        <p:spPr bwMode="auto">
          <a:xfrm>
            <a:off x="6061487" y="4797152"/>
            <a:ext cx="4752528" cy="1330325"/>
          </a:xfrm>
          <a:prstGeom prst="rect">
            <a:avLst/>
          </a:prstGeom>
          <a:noFill/>
          <a:ln w="9525">
            <a:noFill/>
            <a:miter lim="800000"/>
            <a:headEnd/>
            <a:tailEnd/>
          </a:ln>
        </p:spPr>
        <p:txBody>
          <a:bodyPr/>
          <a:lstStyle/>
          <a:p>
            <a:pPr algn="r" eaLnBrk="0" hangingPunct="0">
              <a:lnSpc>
                <a:spcPct val="125000"/>
              </a:lnSpc>
              <a:spcBef>
                <a:spcPct val="20000"/>
              </a:spcBef>
              <a:buClr>
                <a:srgbClr val="00007D"/>
              </a:buClr>
              <a:buSzPct val="75000"/>
            </a:pPr>
            <a:r>
              <a:rPr lang="zh-CN" altLang="en-US" sz="2000" b="1" dirty="0">
                <a:solidFill>
                  <a:srgbClr val="000066"/>
                </a:solidFill>
                <a:latin typeface="微软雅黑" panose="020B0503020204020204" pitchFamily="34" charset="-122"/>
                <a:ea typeface="微软雅黑" panose="020B0503020204020204" pitchFamily="34" charset="-122"/>
              </a:rPr>
              <a:t>指导老师：待填写</a:t>
            </a:r>
            <a:endParaRPr lang="en-US" altLang="zh-CN" sz="2000" b="1" dirty="0">
              <a:solidFill>
                <a:srgbClr val="000066"/>
              </a:solidFill>
              <a:latin typeface="微软雅黑" panose="020B0503020204020204" pitchFamily="34" charset="-122"/>
              <a:ea typeface="微软雅黑" panose="020B0503020204020204" pitchFamily="34" charset="-122"/>
            </a:endParaRPr>
          </a:p>
          <a:p>
            <a:pPr algn="r" eaLnBrk="0" hangingPunct="0">
              <a:lnSpc>
                <a:spcPct val="125000"/>
              </a:lnSpc>
              <a:spcBef>
                <a:spcPct val="20000"/>
              </a:spcBef>
              <a:buClr>
                <a:srgbClr val="00007D"/>
              </a:buClr>
              <a:buSzPct val="75000"/>
            </a:pPr>
            <a:r>
              <a:rPr lang="zh-CN" altLang="en-US" sz="2000" b="1" dirty="0">
                <a:solidFill>
                  <a:srgbClr val="000066"/>
                </a:solidFill>
                <a:latin typeface="微软雅黑" panose="020B0503020204020204" pitchFamily="34" charset="-122"/>
                <a:ea typeface="微软雅黑" panose="020B0503020204020204" pitchFamily="34" charset="-122"/>
              </a:rPr>
              <a:t>汇报人：待填写</a:t>
            </a:r>
            <a:endParaRPr lang="en-US" altLang="zh-CN" sz="2000" b="1" dirty="0">
              <a:solidFill>
                <a:srgbClr val="000066"/>
              </a:solidFill>
              <a:latin typeface="微软雅黑" panose="020B0503020204020204" pitchFamily="34" charset="-122"/>
              <a:ea typeface="微软雅黑" panose="020B0503020204020204" pitchFamily="34" charset="-122"/>
            </a:endParaRPr>
          </a:p>
          <a:p>
            <a:pPr algn="r" eaLnBrk="0" hangingPunct="0">
              <a:lnSpc>
                <a:spcPct val="125000"/>
              </a:lnSpc>
              <a:spcBef>
                <a:spcPct val="20000"/>
              </a:spcBef>
              <a:buClr>
                <a:srgbClr val="00007D"/>
              </a:buClr>
              <a:buSzPct val="75000"/>
            </a:pPr>
            <a:r>
              <a:rPr lang="en-US" altLang="zh-CN" sz="2000" b="1" dirty="0">
                <a:solidFill>
                  <a:srgbClr val="000066"/>
                </a:solidFill>
                <a:latin typeface="微软雅黑" panose="020B0503020204020204" pitchFamily="34" charset="-122"/>
                <a:ea typeface="微软雅黑" panose="020B0503020204020204" pitchFamily="34" charset="-122"/>
              </a:rPr>
              <a:t>20XX</a:t>
            </a:r>
            <a:r>
              <a:rPr lang="zh-CN" altLang="en-US" sz="2000" b="1" dirty="0">
                <a:solidFill>
                  <a:srgbClr val="000066"/>
                </a:solidFill>
                <a:latin typeface="微软雅黑" panose="020B0503020204020204" pitchFamily="34" charset="-122"/>
                <a:ea typeface="微软雅黑" panose="020B0503020204020204" pitchFamily="34" charset="-122"/>
              </a:rPr>
              <a:t>年</a:t>
            </a:r>
            <a:r>
              <a:rPr lang="en-US" altLang="zh-CN" sz="2000" b="1" dirty="0">
                <a:solidFill>
                  <a:srgbClr val="000066"/>
                </a:solidFill>
                <a:latin typeface="微软雅黑" panose="020B0503020204020204" pitchFamily="34" charset="-122"/>
                <a:ea typeface="微软雅黑" panose="020B0503020204020204" pitchFamily="34" charset="-122"/>
              </a:rPr>
              <a:t>X</a:t>
            </a:r>
            <a:r>
              <a:rPr lang="zh-CN" altLang="en-US" sz="2000" b="1" dirty="0">
                <a:solidFill>
                  <a:srgbClr val="000066"/>
                </a:solidFill>
                <a:latin typeface="微软雅黑" panose="020B0503020204020204" pitchFamily="34" charset="-122"/>
                <a:ea typeface="微软雅黑" panose="020B0503020204020204" pitchFamily="34" charset="-122"/>
              </a:rPr>
              <a:t>月</a:t>
            </a:r>
            <a:endParaRPr lang="en-US" altLang="zh-CN" sz="2000" b="1" dirty="0">
              <a:solidFill>
                <a:srgbClr val="000066"/>
              </a:solidFill>
              <a:latin typeface="微软雅黑" panose="020B0503020204020204" pitchFamily="34" charset="-122"/>
              <a:ea typeface="微软雅黑" panose="020B0503020204020204" pitchFamily="34" charset="-122"/>
            </a:endParaRPr>
          </a:p>
          <a:p>
            <a:pPr algn="r" eaLnBrk="0" hangingPunct="0">
              <a:lnSpc>
                <a:spcPct val="125000"/>
              </a:lnSpc>
              <a:spcBef>
                <a:spcPct val="20000"/>
              </a:spcBef>
              <a:buClr>
                <a:srgbClr val="00007D"/>
              </a:buClr>
              <a:buSzPct val="75000"/>
            </a:pPr>
            <a:endParaRPr lang="en-US" altLang="zh-CN" sz="2400" b="1" dirty="0">
              <a:solidFill>
                <a:srgbClr val="000066"/>
              </a:solidFill>
              <a:latin typeface="微软雅黑" panose="020B0503020204020204" pitchFamily="34" charset="-122"/>
              <a:ea typeface="微软雅黑" panose="020B0503020204020204" pitchFamily="34" charset="-122"/>
            </a:endParaRPr>
          </a:p>
        </p:txBody>
      </p:sp>
      <p:sp>
        <p:nvSpPr>
          <p:cNvPr id="7" name="文本框 7"/>
          <p:cNvSpPr txBox="1"/>
          <p:nvPr/>
        </p:nvSpPr>
        <p:spPr>
          <a:xfrm>
            <a:off x="2477598" y="2420888"/>
            <a:ext cx="6948772" cy="1414041"/>
          </a:xfrm>
          <a:prstGeom prst="rect">
            <a:avLst/>
          </a:prstGeom>
          <a:noFill/>
        </p:spPr>
        <p:txBody>
          <a:bodyPr wrap="square">
            <a:spAutoFit/>
          </a:bodyPr>
          <a:lstStyle/>
          <a:p>
            <a:pPr lvl="0" algn="ctr">
              <a:lnSpc>
                <a:spcPct val="125000"/>
              </a:lnSpc>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考虑车辆与驾驶员异质性的货车事故致因分析与出行风险预测</a:t>
            </a:r>
          </a:p>
        </p:txBody>
      </p:sp>
      <p:sp>
        <p:nvSpPr>
          <p:cNvPr id="8" name="TextBox 1"/>
          <p:cNvSpPr txBox="1"/>
          <p:nvPr/>
        </p:nvSpPr>
        <p:spPr>
          <a:xfrm>
            <a:off x="119336" y="277198"/>
            <a:ext cx="5832648" cy="415498"/>
          </a:xfrm>
          <a:prstGeom prst="rect">
            <a:avLst/>
          </a:prstGeom>
          <a:noFill/>
        </p:spPr>
        <p:txBody>
          <a:bodyPr wrap="square" rtlCol="0">
            <a:spAutoFit/>
          </a:bodyPr>
          <a:lstStyle/>
          <a:p>
            <a:r>
              <a:rPr lang="zh-CN" altLang="en-US" sz="2100" b="1" dirty="0">
                <a:solidFill>
                  <a:srgbClr val="FF9900"/>
                </a:solidFill>
                <a:latin typeface="微软雅黑" panose="020B0503020204020204" pitchFamily="34" charset="-122"/>
                <a:ea typeface="微软雅黑" panose="020B0503020204020204" pitchFamily="34" charset="-122"/>
              </a:rPr>
              <a:t>博士开题汇报</a:t>
            </a:r>
          </a:p>
        </p:txBody>
      </p:sp>
    </p:spTree>
    <p:extLst>
      <p:ext uri="{BB962C8B-B14F-4D97-AF65-F5344CB8AC3E}">
        <p14:creationId xmlns:p14="http://schemas.microsoft.com/office/powerpoint/2010/main" val="2004184656"/>
      </p:ext>
    </p:extLst>
  </p:cSld>
  <p:clrMapOvr>
    <a:masterClrMapping/>
  </p:clrMapOvr>
  <p:transition advTm="587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15"/>
          <p:cNvSpPr txBox="1">
            <a:spLocks noChangeArrowheads="1"/>
          </p:cNvSpPr>
          <p:nvPr/>
        </p:nvSpPr>
        <p:spPr bwMode="auto">
          <a:xfrm>
            <a:off x="5088962" y="1970391"/>
            <a:ext cx="518350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lnSpc>
                <a:spcPct val="150000"/>
              </a:lnSpc>
              <a:defRPr sz="3200" b="1">
                <a:solidFill>
                  <a:srgbClr val="1B3F85"/>
                </a:solidFill>
                <a:latin typeface="微软雅黑" panose="020B0503020204020204" pitchFamily="34" charset="-122"/>
                <a:ea typeface="微软雅黑" panose="020B0503020204020204" pitchFamily="34" charset="-122"/>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00000"/>
              </a:lnSpc>
            </a:pPr>
            <a:r>
              <a:rPr lang="zh-CN" altLang="en-US" sz="2700" dirty="0"/>
              <a:t>研究背景及现状</a:t>
            </a:r>
            <a:endParaRPr lang="en-US" altLang="zh-CN" sz="2700" dirty="0"/>
          </a:p>
        </p:txBody>
      </p:sp>
      <p:sp>
        <p:nvSpPr>
          <p:cNvPr id="31" name="矩形 6"/>
          <p:cNvSpPr>
            <a:spLocks noChangeArrowheads="1"/>
          </p:cNvSpPr>
          <p:nvPr/>
        </p:nvSpPr>
        <p:spPr bwMode="auto">
          <a:xfrm>
            <a:off x="4602909" y="1844824"/>
            <a:ext cx="319683" cy="71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444" tIns="13221" rIns="26444" bIns="1322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4500" dirty="0">
                <a:solidFill>
                  <a:srgbClr val="1B3F85"/>
                </a:solidFill>
                <a:latin typeface="Broadway" panose="04040905080B02020502" pitchFamily="82" charset="0"/>
                <a:ea typeface="方正粗宋简体"/>
                <a:cs typeface="经典平黑简"/>
              </a:rPr>
              <a:t>1</a:t>
            </a:r>
            <a:endParaRPr lang="zh-CN" altLang="en-US" sz="4950" b="1" dirty="0">
              <a:solidFill>
                <a:srgbClr val="1B3F85"/>
              </a:solidFill>
              <a:latin typeface="微软雅黑" panose="020B0503020204020204" pitchFamily="34" charset="-122"/>
              <a:ea typeface="微软雅黑" panose="020B0503020204020204" pitchFamily="34" charset="-122"/>
              <a:cs typeface="经典平黑简"/>
            </a:endParaRPr>
          </a:p>
        </p:txBody>
      </p:sp>
      <p:sp>
        <p:nvSpPr>
          <p:cNvPr id="32" name="矩形 6"/>
          <p:cNvSpPr>
            <a:spLocks noChangeArrowheads="1"/>
          </p:cNvSpPr>
          <p:nvPr/>
        </p:nvSpPr>
        <p:spPr bwMode="auto">
          <a:xfrm>
            <a:off x="4642644" y="2677228"/>
            <a:ext cx="319683" cy="71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444" tIns="13221" rIns="26444" bIns="1322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4500" dirty="0">
                <a:solidFill>
                  <a:srgbClr val="1B3F85"/>
                </a:solidFill>
                <a:latin typeface="Broadway" panose="04040905080B02020502" pitchFamily="82" charset="0"/>
                <a:ea typeface="方正粗宋简体"/>
                <a:cs typeface="经典平黑简"/>
              </a:rPr>
              <a:t>2</a:t>
            </a:r>
            <a:endParaRPr lang="zh-CN" altLang="en-US" sz="4500" dirty="0">
              <a:solidFill>
                <a:srgbClr val="1B3F85"/>
              </a:solidFill>
              <a:latin typeface="Broadway" panose="04040905080B02020502" pitchFamily="82" charset="0"/>
              <a:ea typeface="方正粗宋简体"/>
              <a:cs typeface="经典平黑简"/>
            </a:endParaRPr>
          </a:p>
        </p:txBody>
      </p:sp>
      <p:sp>
        <p:nvSpPr>
          <p:cNvPr id="33" name="矩形 6"/>
          <p:cNvSpPr>
            <a:spLocks noChangeArrowheads="1"/>
          </p:cNvSpPr>
          <p:nvPr/>
        </p:nvSpPr>
        <p:spPr bwMode="auto">
          <a:xfrm>
            <a:off x="4642644" y="3556802"/>
            <a:ext cx="319683" cy="71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444" tIns="13221" rIns="26444" bIns="1322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4500" dirty="0">
                <a:solidFill>
                  <a:srgbClr val="1B3F85"/>
                </a:solidFill>
                <a:latin typeface="Broadway" panose="04040905080B02020502" pitchFamily="82" charset="0"/>
                <a:ea typeface="方正粗宋简体"/>
                <a:cs typeface="经典平黑简"/>
              </a:rPr>
              <a:t>3</a:t>
            </a:r>
            <a:endParaRPr lang="zh-CN" altLang="en-US" sz="4500" dirty="0">
              <a:solidFill>
                <a:srgbClr val="1B3F85"/>
              </a:solidFill>
              <a:latin typeface="Broadway" panose="04040905080B02020502" pitchFamily="82" charset="0"/>
              <a:ea typeface="方正粗宋简体"/>
              <a:cs typeface="经典平黑简"/>
            </a:endParaRPr>
          </a:p>
        </p:txBody>
      </p:sp>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l="31402" r="31660" b="11545"/>
          <a:stretch>
            <a:fillRect/>
          </a:stretch>
        </p:blipFill>
        <p:spPr>
          <a:xfrm>
            <a:off x="0" y="0"/>
            <a:ext cx="3935761" cy="6858000"/>
          </a:xfrm>
          <a:prstGeom prst="rect">
            <a:avLst/>
          </a:prstGeom>
        </p:spPr>
      </p:pic>
      <p:sp>
        <p:nvSpPr>
          <p:cNvPr id="3" name="矩形 2"/>
          <p:cNvSpPr/>
          <p:nvPr/>
        </p:nvSpPr>
        <p:spPr>
          <a:xfrm>
            <a:off x="6312024" y="755609"/>
            <a:ext cx="2448272" cy="756084"/>
          </a:xfrm>
          <a:prstGeom prst="rect">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600" b="1" dirty="0">
                <a:solidFill>
                  <a:srgbClr val="C00000"/>
                </a:solidFill>
                <a:latin typeface="微软雅黑" panose="020B0503020204020204" pitchFamily="34" charset="-122"/>
                <a:ea typeface="微软雅黑" panose="020B0503020204020204" pitchFamily="34" charset="-122"/>
              </a:rPr>
              <a:t>汇报提纲</a:t>
            </a:r>
          </a:p>
        </p:txBody>
      </p:sp>
      <p:sp>
        <p:nvSpPr>
          <p:cNvPr id="10" name="文本框 18">
            <a:extLst>
              <a:ext uri="{FF2B5EF4-FFF2-40B4-BE49-F238E27FC236}">
                <a16:creationId xmlns:a16="http://schemas.microsoft.com/office/drawing/2014/main" id="{1F1020A2-80A9-4DAF-8681-23C097C2363C}"/>
              </a:ext>
            </a:extLst>
          </p:cNvPr>
          <p:cNvSpPr txBox="1">
            <a:spLocks noChangeArrowheads="1"/>
          </p:cNvSpPr>
          <p:nvPr/>
        </p:nvSpPr>
        <p:spPr bwMode="auto">
          <a:xfrm>
            <a:off x="5088962" y="4538123"/>
            <a:ext cx="5039486"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lnSpc>
                <a:spcPct val="150000"/>
              </a:lnSpc>
              <a:defRPr sz="3200" b="1">
                <a:solidFill>
                  <a:srgbClr val="1B3F85"/>
                </a:solidFill>
                <a:latin typeface="微软雅黑" panose="020B0503020204020204" pitchFamily="34" charset="-122"/>
                <a:ea typeface="微软雅黑" panose="020B0503020204020204" pitchFamily="34" charset="-122"/>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00000"/>
              </a:lnSpc>
            </a:pPr>
            <a:r>
              <a:rPr lang="zh-CN" altLang="en-US" sz="2700" dirty="0"/>
              <a:t>研究进展及成果</a:t>
            </a:r>
          </a:p>
        </p:txBody>
      </p:sp>
      <p:sp>
        <p:nvSpPr>
          <p:cNvPr id="11" name="矩形 6">
            <a:extLst>
              <a:ext uri="{FF2B5EF4-FFF2-40B4-BE49-F238E27FC236}">
                <a16:creationId xmlns:a16="http://schemas.microsoft.com/office/drawing/2014/main" id="{D437F084-095A-44F8-861D-8CD70FBF879E}"/>
              </a:ext>
            </a:extLst>
          </p:cNvPr>
          <p:cNvSpPr>
            <a:spLocks noChangeArrowheads="1"/>
          </p:cNvSpPr>
          <p:nvPr/>
        </p:nvSpPr>
        <p:spPr bwMode="auto">
          <a:xfrm>
            <a:off x="4642644" y="4420898"/>
            <a:ext cx="319683" cy="71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444" tIns="13221" rIns="26444" bIns="1322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4500" dirty="0">
                <a:solidFill>
                  <a:srgbClr val="1B3F85"/>
                </a:solidFill>
                <a:latin typeface="Broadway" panose="04040905080B02020502" pitchFamily="82" charset="0"/>
                <a:ea typeface="方正粗宋简体"/>
                <a:cs typeface="经典平黑简"/>
              </a:rPr>
              <a:t>4</a:t>
            </a:r>
            <a:endParaRPr lang="zh-CN" altLang="en-US" sz="4500" dirty="0">
              <a:solidFill>
                <a:srgbClr val="1B3F85"/>
              </a:solidFill>
              <a:latin typeface="Broadway" panose="04040905080B02020502" pitchFamily="82" charset="0"/>
              <a:ea typeface="方正粗宋简体"/>
              <a:cs typeface="经典平黑简"/>
            </a:endParaRPr>
          </a:p>
        </p:txBody>
      </p:sp>
      <p:sp>
        <p:nvSpPr>
          <p:cNvPr id="12" name="文本框 12"/>
          <p:cNvSpPr txBox="1">
            <a:spLocks noChangeArrowheads="1"/>
          </p:cNvSpPr>
          <p:nvPr/>
        </p:nvSpPr>
        <p:spPr bwMode="auto">
          <a:xfrm>
            <a:off x="5088962" y="2817838"/>
            <a:ext cx="5039486"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700" b="1" dirty="0">
                <a:solidFill>
                  <a:srgbClr val="1B3F85"/>
                </a:solidFill>
                <a:latin typeface="微软雅黑" panose="020B0503020204020204" pitchFamily="34" charset="-122"/>
                <a:ea typeface="微软雅黑" panose="020B0503020204020204" pitchFamily="34" charset="-122"/>
              </a:rPr>
              <a:t>研究思路</a:t>
            </a:r>
          </a:p>
        </p:txBody>
      </p:sp>
      <p:sp>
        <p:nvSpPr>
          <p:cNvPr id="13" name="文本框 18"/>
          <p:cNvSpPr txBox="1">
            <a:spLocks noChangeArrowheads="1"/>
          </p:cNvSpPr>
          <p:nvPr/>
        </p:nvSpPr>
        <p:spPr bwMode="auto">
          <a:xfrm>
            <a:off x="5088962" y="3678923"/>
            <a:ext cx="5039486"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lnSpc>
                <a:spcPct val="150000"/>
              </a:lnSpc>
              <a:defRPr sz="3200" b="1">
                <a:solidFill>
                  <a:srgbClr val="1B3F85"/>
                </a:solidFill>
                <a:latin typeface="微软雅黑" panose="020B0503020204020204" pitchFamily="34" charset="-122"/>
                <a:ea typeface="微软雅黑" panose="020B0503020204020204" pitchFamily="34" charset="-122"/>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00000"/>
              </a:lnSpc>
            </a:pPr>
            <a:r>
              <a:rPr lang="zh-CN" altLang="en-US" sz="2700" dirty="0"/>
              <a:t>研究内容</a:t>
            </a:r>
          </a:p>
        </p:txBody>
      </p:sp>
      <p:sp>
        <p:nvSpPr>
          <p:cNvPr id="4" name="文本框 18">
            <a:extLst>
              <a:ext uri="{FF2B5EF4-FFF2-40B4-BE49-F238E27FC236}">
                <a16:creationId xmlns:a16="http://schemas.microsoft.com/office/drawing/2014/main" id="{CBE34B72-E972-865C-6B94-6DAABA28B693}"/>
              </a:ext>
            </a:extLst>
          </p:cNvPr>
          <p:cNvSpPr txBox="1">
            <a:spLocks noChangeArrowheads="1"/>
          </p:cNvSpPr>
          <p:nvPr/>
        </p:nvSpPr>
        <p:spPr bwMode="auto">
          <a:xfrm>
            <a:off x="5105895" y="5397323"/>
            <a:ext cx="5039486"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lnSpc>
                <a:spcPct val="150000"/>
              </a:lnSpc>
              <a:defRPr sz="3200" b="1">
                <a:solidFill>
                  <a:srgbClr val="1B3F85"/>
                </a:solidFill>
                <a:latin typeface="微软雅黑" panose="020B0503020204020204" pitchFamily="34" charset="-122"/>
                <a:ea typeface="微软雅黑" panose="020B0503020204020204" pitchFamily="34" charset="-122"/>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100000"/>
              </a:lnSpc>
            </a:pPr>
            <a:r>
              <a:rPr lang="zh-CN" altLang="en-US" sz="2700" dirty="0"/>
              <a:t>创新点</a:t>
            </a:r>
          </a:p>
        </p:txBody>
      </p:sp>
      <p:sp>
        <p:nvSpPr>
          <p:cNvPr id="5" name="矩形 6">
            <a:extLst>
              <a:ext uri="{FF2B5EF4-FFF2-40B4-BE49-F238E27FC236}">
                <a16:creationId xmlns:a16="http://schemas.microsoft.com/office/drawing/2014/main" id="{7CE7B3AB-FEC4-0AD2-F291-A9FCAC675A70}"/>
              </a:ext>
            </a:extLst>
          </p:cNvPr>
          <p:cNvSpPr>
            <a:spLocks noChangeArrowheads="1"/>
          </p:cNvSpPr>
          <p:nvPr/>
        </p:nvSpPr>
        <p:spPr bwMode="auto">
          <a:xfrm>
            <a:off x="4637087" y="5284994"/>
            <a:ext cx="319683" cy="71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6444" tIns="13221" rIns="26444" bIns="1322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4500" dirty="0">
                <a:solidFill>
                  <a:srgbClr val="1B3F85"/>
                </a:solidFill>
                <a:latin typeface="Broadway" panose="04040905080B02020502" pitchFamily="82" charset="0"/>
                <a:ea typeface="方正粗宋简体"/>
                <a:cs typeface="经典平黑简"/>
              </a:rPr>
              <a:t>5</a:t>
            </a:r>
            <a:endParaRPr lang="zh-CN" altLang="en-US" sz="4500" dirty="0">
              <a:solidFill>
                <a:srgbClr val="1B3F85"/>
              </a:solidFill>
              <a:latin typeface="Broadway" panose="04040905080B02020502" pitchFamily="82" charset="0"/>
              <a:ea typeface="方正粗宋简体"/>
              <a:cs typeface="经典平黑简"/>
            </a:endParaRP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407368" y="188641"/>
            <a:ext cx="6912768" cy="460375"/>
          </a:xfrm>
          <a:prstGeom prst="rect">
            <a:avLst/>
          </a:prstGeom>
          <a:noFill/>
        </p:spPr>
        <p:txBody>
          <a:bodyPr wrap="square" rtlCol="0">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研究背景</a:t>
            </a:r>
          </a:p>
        </p:txBody>
      </p:sp>
      <p:sp>
        <p:nvSpPr>
          <p:cNvPr id="2" name="矩形 1"/>
          <p:cNvSpPr/>
          <p:nvPr/>
        </p:nvSpPr>
        <p:spPr>
          <a:xfrm>
            <a:off x="629920" y="1056005"/>
            <a:ext cx="10808970" cy="61722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300" b="1" dirty="0">
                <a:solidFill>
                  <a:schemeClr val="bg1"/>
                </a:solidFill>
                <a:latin typeface="微软雅黑" panose="020B0503020204020204" pitchFamily="34" charset="-122"/>
                <a:ea typeface="微软雅黑" panose="020B0503020204020204" pitchFamily="34" charset="-122"/>
              </a:rPr>
              <a:t>《交通强国建设纲要》强调遏制和减少道路运输事故，保障运输车辆安全的重要性</a:t>
            </a:r>
          </a:p>
        </p:txBody>
      </p:sp>
      <p:pic>
        <p:nvPicPr>
          <p:cNvPr id="100" name="图片 99"/>
          <p:cNvPicPr/>
          <p:nvPr/>
        </p:nvPicPr>
        <p:blipFill>
          <a:blip r:embed="rId3"/>
          <a:stretch>
            <a:fillRect/>
          </a:stretch>
        </p:blipFill>
        <p:spPr>
          <a:xfrm>
            <a:off x="7134225" y="2017395"/>
            <a:ext cx="2027555" cy="1357630"/>
          </a:xfrm>
          <a:prstGeom prst="rect">
            <a:avLst/>
          </a:prstGeom>
          <a:noFill/>
          <a:ln w="9525">
            <a:noFill/>
          </a:ln>
        </p:spPr>
      </p:pic>
      <p:pic>
        <p:nvPicPr>
          <p:cNvPr id="101" name="图片 100"/>
          <p:cNvPicPr/>
          <p:nvPr/>
        </p:nvPicPr>
        <p:blipFill>
          <a:blip r:embed="rId4"/>
          <a:stretch>
            <a:fillRect/>
          </a:stretch>
        </p:blipFill>
        <p:spPr>
          <a:xfrm>
            <a:off x="9365615" y="3589020"/>
            <a:ext cx="2027555" cy="1471930"/>
          </a:xfrm>
          <a:prstGeom prst="rect">
            <a:avLst/>
          </a:prstGeom>
          <a:noFill/>
          <a:ln w="9525">
            <a:noFill/>
          </a:ln>
        </p:spPr>
      </p:pic>
      <p:pic>
        <p:nvPicPr>
          <p:cNvPr id="102" name="图片 101"/>
          <p:cNvPicPr/>
          <p:nvPr/>
        </p:nvPicPr>
        <p:blipFill>
          <a:blip r:embed="rId5"/>
          <a:stretch>
            <a:fillRect/>
          </a:stretch>
        </p:blipFill>
        <p:spPr>
          <a:xfrm>
            <a:off x="9365615" y="2017395"/>
            <a:ext cx="2027555" cy="1356995"/>
          </a:xfrm>
          <a:prstGeom prst="rect">
            <a:avLst/>
          </a:prstGeom>
          <a:noFill/>
          <a:ln w="9525">
            <a:noFill/>
          </a:ln>
        </p:spPr>
      </p:pic>
      <p:pic>
        <p:nvPicPr>
          <p:cNvPr id="103" name="图片 102"/>
          <p:cNvPicPr/>
          <p:nvPr/>
        </p:nvPicPr>
        <p:blipFill>
          <a:blip r:embed="rId6"/>
          <a:srcRect l="4248" t="7219" r="6639" b="14183"/>
          <a:stretch>
            <a:fillRect/>
          </a:stretch>
        </p:blipFill>
        <p:spPr>
          <a:xfrm>
            <a:off x="7134225" y="3594735"/>
            <a:ext cx="2027555" cy="1466215"/>
          </a:xfrm>
          <a:prstGeom prst="rect">
            <a:avLst/>
          </a:prstGeom>
          <a:noFill/>
          <a:ln w="9525">
            <a:noFill/>
          </a:ln>
        </p:spPr>
      </p:pic>
      <p:sp>
        <p:nvSpPr>
          <p:cNvPr id="104" name="文本框 103" descr="7b0a2020202022776f7264617274223a2022220a7d0a"/>
          <p:cNvSpPr txBox="1"/>
          <p:nvPr/>
        </p:nvSpPr>
        <p:spPr>
          <a:xfrm>
            <a:off x="7464425" y="5426710"/>
            <a:ext cx="3724910" cy="706755"/>
          </a:xfrm>
          <a:prstGeom prst="rect">
            <a:avLst/>
          </a:prstGeom>
          <a:noFill/>
          <a:ln w="9525">
            <a:noFill/>
          </a:ln>
        </p:spPr>
        <p:txBody>
          <a:bodyPr wrap="square">
            <a:spAutoFit/>
          </a:bodyPr>
          <a:lstStyle/>
          <a:p>
            <a:pPr indent="0" algn="ctr"/>
            <a:r>
              <a:rPr lang="zh-CN" sz="2000" b="1" dirty="0">
                <a:solidFill>
                  <a:srgbClr val="C00000"/>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cs typeface="+mj-ea"/>
              </a:rPr>
              <a:t>预防、减少运输车辆交通事故的发生具有迫切需求</a:t>
            </a:r>
          </a:p>
        </p:txBody>
      </p:sp>
      <p:sp>
        <p:nvSpPr>
          <p:cNvPr id="4" name="矩形 3"/>
          <p:cNvSpPr/>
          <p:nvPr/>
        </p:nvSpPr>
        <p:spPr bwMode="auto">
          <a:xfrm>
            <a:off x="629920" y="2067560"/>
            <a:ext cx="1522095" cy="122682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buClrTx/>
              <a:buSzTx/>
              <a:buFontTx/>
              <a:defRPr/>
            </a:pPr>
            <a:r>
              <a:rPr lang="zh-CN" altLang="en-US"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公路运输事故呈现多发态势</a:t>
            </a:r>
          </a:p>
        </p:txBody>
      </p:sp>
      <p:sp>
        <p:nvSpPr>
          <p:cNvPr id="50" name="文本框 49"/>
          <p:cNvSpPr txBox="1"/>
          <p:nvPr/>
        </p:nvSpPr>
        <p:spPr>
          <a:xfrm>
            <a:off x="3619500" y="2183765"/>
            <a:ext cx="3096260" cy="262890"/>
          </a:xfrm>
          <a:prstGeom prst="rect">
            <a:avLst/>
          </a:prstGeom>
          <a:noFill/>
        </p:spPr>
        <p:txBody>
          <a:bodyPr wrap="square" rtlCol="0" anchor="t">
            <a:noAutofit/>
          </a:bodyPr>
          <a:lstStyle/>
          <a:p>
            <a:pPr lvl="0" algn="ctr" eaLnBrk="0" fontAlgn="base" hangingPunct="0">
              <a:lnSpc>
                <a:spcPct val="100000"/>
              </a:lnSpc>
              <a:spcBef>
                <a:spcPts val="0"/>
              </a:spcBef>
              <a:buClrTx/>
              <a:buSzTx/>
              <a:buFontTx/>
              <a:defRPr/>
            </a:pPr>
            <a:r>
              <a:rPr lang="zh-CN" altLang="en-US" sz="1400" b="1" noProof="0" dirty="0">
                <a:ln>
                  <a:noFill/>
                </a:ln>
                <a:effectLst/>
                <a:uLnTx/>
                <a:uFillTx/>
                <a:latin typeface="微软雅黑" panose="020B0503020204020204" pitchFamily="34" charset="-122"/>
                <a:ea typeface="微软雅黑" panose="020B0503020204020204" pitchFamily="34" charset="-122"/>
                <a:sym typeface="+mn-ea"/>
              </a:rPr>
              <a:t>2023年全国运输事故总和中</a:t>
            </a:r>
          </a:p>
        </p:txBody>
      </p:sp>
      <p:sp>
        <p:nvSpPr>
          <p:cNvPr id="51" name="矩形 50"/>
          <p:cNvSpPr/>
          <p:nvPr/>
        </p:nvSpPr>
        <p:spPr bwMode="auto">
          <a:xfrm>
            <a:off x="629285" y="2047875"/>
            <a:ext cx="6160135" cy="1262380"/>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52" name="图片 51"/>
          <p:cNvPicPr>
            <a:picLocks noChangeAspect="1"/>
          </p:cNvPicPr>
          <p:nvPr/>
        </p:nvPicPr>
        <p:blipFill>
          <a:blip r:embed="rId7"/>
          <a:stretch>
            <a:fillRect/>
          </a:stretch>
        </p:blipFill>
        <p:spPr>
          <a:xfrm>
            <a:off x="2228850" y="2110740"/>
            <a:ext cx="1236345" cy="1129030"/>
          </a:xfrm>
          <a:prstGeom prst="rect">
            <a:avLst/>
          </a:prstGeom>
        </p:spPr>
      </p:pic>
      <p:sp>
        <p:nvSpPr>
          <p:cNvPr id="53" name="文本框 52"/>
          <p:cNvSpPr txBox="1"/>
          <p:nvPr/>
        </p:nvSpPr>
        <p:spPr>
          <a:xfrm>
            <a:off x="3542030" y="2454910"/>
            <a:ext cx="1470660" cy="645160"/>
          </a:xfrm>
          <a:prstGeom prst="rect">
            <a:avLst/>
          </a:prstGeom>
          <a:noFill/>
        </p:spPr>
        <p:txBody>
          <a:bodyPr wrap="square" rtlCol="0" anchor="t">
            <a:spAutoFit/>
          </a:bodyPr>
          <a:lstStyle/>
          <a:p>
            <a:pPr>
              <a:lnSpc>
                <a:spcPct val="150000"/>
              </a:lnSpc>
            </a:pPr>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公路运输事故起数占</a:t>
            </a:r>
          </a:p>
        </p:txBody>
      </p:sp>
      <p:sp>
        <p:nvSpPr>
          <p:cNvPr id="54" name="文本框 53"/>
          <p:cNvSpPr txBox="1"/>
          <p:nvPr/>
        </p:nvSpPr>
        <p:spPr>
          <a:xfrm>
            <a:off x="3910965" y="2802255"/>
            <a:ext cx="877570" cy="337185"/>
          </a:xfrm>
          <a:prstGeom prst="rect">
            <a:avLst/>
          </a:prstGeom>
          <a:noFill/>
        </p:spPr>
        <p:txBody>
          <a:bodyPr wrap="square" rtlCol="0" anchor="t">
            <a:spAutoFit/>
          </a:bodyPr>
          <a:lstStyle/>
          <a:p>
            <a:r>
              <a:rPr lang="zh-CN" altLang="en-US" sz="1600" b="1" i="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80.2%</a:t>
            </a:r>
          </a:p>
        </p:txBody>
      </p:sp>
      <p:sp>
        <p:nvSpPr>
          <p:cNvPr id="55" name="文本框 54"/>
          <p:cNvSpPr txBox="1"/>
          <p:nvPr/>
        </p:nvSpPr>
        <p:spPr>
          <a:xfrm>
            <a:off x="5868035" y="2794635"/>
            <a:ext cx="888365" cy="337185"/>
          </a:xfrm>
          <a:prstGeom prst="rect">
            <a:avLst/>
          </a:prstGeom>
          <a:noFill/>
        </p:spPr>
        <p:txBody>
          <a:bodyPr wrap="square" rtlCol="0" anchor="t">
            <a:spAutoFit/>
          </a:bodyPr>
          <a:lstStyle/>
          <a:p>
            <a:pPr lvl="0" algn="l">
              <a:buClrTx/>
              <a:buSzTx/>
              <a:buFontTx/>
            </a:pPr>
            <a:r>
              <a:rPr lang="zh-CN" altLang="en-US" sz="1600" b="1" i="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84.3%</a:t>
            </a:r>
          </a:p>
        </p:txBody>
      </p:sp>
      <p:sp>
        <p:nvSpPr>
          <p:cNvPr id="56" name="文本框 55"/>
          <p:cNvSpPr txBox="1"/>
          <p:nvPr/>
        </p:nvSpPr>
        <p:spPr>
          <a:xfrm>
            <a:off x="4930140" y="2537460"/>
            <a:ext cx="1014730" cy="275590"/>
          </a:xfrm>
          <a:prstGeom prst="rect">
            <a:avLst/>
          </a:prstGeom>
          <a:noFill/>
        </p:spPr>
        <p:txBody>
          <a:bodyPr wrap="square" rtlCol="0" anchor="t">
            <a:spAutoFit/>
          </a:bodyPr>
          <a:lstStyle/>
          <a:p>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死亡人数占</a:t>
            </a:r>
            <a:endParaRPr lang="en-US" altLang="zh-CN" sz="1200" b="1"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57" name="文本框 56"/>
          <p:cNvSpPr txBox="1"/>
          <p:nvPr/>
        </p:nvSpPr>
        <p:spPr>
          <a:xfrm>
            <a:off x="5793740" y="2537460"/>
            <a:ext cx="962025" cy="275590"/>
          </a:xfrm>
          <a:prstGeom prst="rect">
            <a:avLst/>
          </a:prstGeom>
          <a:noFill/>
        </p:spPr>
        <p:txBody>
          <a:bodyPr wrap="square" rtlCol="0" anchor="t">
            <a:spAutoFit/>
          </a:bodyPr>
          <a:lstStyle/>
          <a:p>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伤亡人数占</a:t>
            </a:r>
          </a:p>
        </p:txBody>
      </p:sp>
      <p:sp>
        <p:nvSpPr>
          <p:cNvPr id="58" name="文本框 57"/>
          <p:cNvSpPr txBox="1"/>
          <p:nvPr/>
        </p:nvSpPr>
        <p:spPr>
          <a:xfrm>
            <a:off x="5054600" y="2794635"/>
            <a:ext cx="813435" cy="337185"/>
          </a:xfrm>
          <a:prstGeom prst="rect">
            <a:avLst/>
          </a:prstGeom>
          <a:noFill/>
        </p:spPr>
        <p:txBody>
          <a:bodyPr wrap="square" rtlCol="0" anchor="t">
            <a:spAutoFit/>
          </a:bodyPr>
          <a:lstStyle/>
          <a:p>
            <a:pPr lvl="0" algn="l">
              <a:buClrTx/>
              <a:buSzTx/>
              <a:buFontTx/>
            </a:pPr>
            <a:r>
              <a:rPr lang="zh-CN" altLang="en-US" sz="1600" b="1" i="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81%</a:t>
            </a:r>
          </a:p>
        </p:txBody>
      </p:sp>
      <p:sp>
        <p:nvSpPr>
          <p:cNvPr id="61" name="矩形 60"/>
          <p:cNvSpPr/>
          <p:nvPr/>
        </p:nvSpPr>
        <p:spPr bwMode="auto">
          <a:xfrm>
            <a:off x="629920" y="3570605"/>
            <a:ext cx="1522095" cy="122682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buClrTx/>
              <a:buSzTx/>
              <a:buFontTx/>
              <a:defRPr/>
            </a:pPr>
            <a:r>
              <a:rPr lang="zh-CN" altLang="en-US"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运输车辆保有量少，但事故率高</a:t>
            </a:r>
          </a:p>
        </p:txBody>
      </p:sp>
      <p:sp>
        <p:nvSpPr>
          <p:cNvPr id="60" name="矩形 59"/>
          <p:cNvSpPr/>
          <p:nvPr/>
        </p:nvSpPr>
        <p:spPr bwMode="auto">
          <a:xfrm>
            <a:off x="629920" y="3561080"/>
            <a:ext cx="6160135" cy="1236345"/>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62" name="文本框 61"/>
          <p:cNvSpPr txBox="1"/>
          <p:nvPr/>
        </p:nvSpPr>
        <p:spPr>
          <a:xfrm>
            <a:off x="3552190" y="3644265"/>
            <a:ext cx="3247390" cy="337185"/>
          </a:xfrm>
          <a:prstGeom prst="rect">
            <a:avLst/>
          </a:prstGeom>
          <a:noFill/>
        </p:spPr>
        <p:txBody>
          <a:bodyPr wrap="square" rtlCol="0" anchor="t">
            <a:spAutoFit/>
          </a:bodyPr>
          <a:lstStyle/>
          <a:p>
            <a:pPr lvl="0" algn="l">
              <a:buClrTx/>
              <a:buSzTx/>
              <a:buFontTx/>
            </a:pPr>
            <a:r>
              <a:rPr lang="en-US" altLang="zh-CN" sz="1400" b="1" noProof="0" dirty="0">
                <a:ln>
                  <a:noFill/>
                </a:ln>
                <a:effectLst/>
                <a:uLnTx/>
                <a:uFillTx/>
                <a:latin typeface="微软雅黑" panose="020B0503020204020204" pitchFamily="34" charset="-122"/>
                <a:ea typeface="微软雅黑" panose="020B0503020204020204" pitchFamily="34" charset="-122"/>
                <a:sym typeface="+mn-ea"/>
              </a:rPr>
              <a:t>2022</a:t>
            </a:r>
            <a:r>
              <a:rPr lang="zh-CN" altLang="en-US" sz="1400" b="1" noProof="0" dirty="0">
                <a:ln>
                  <a:noFill/>
                </a:ln>
                <a:effectLst/>
                <a:uLnTx/>
                <a:uFillTx/>
                <a:latin typeface="微软雅黑" panose="020B0503020204020204" pitchFamily="34" charset="-122"/>
                <a:ea typeface="微软雅黑" panose="020B0503020204020204" pitchFamily="34" charset="-122"/>
                <a:sym typeface="+mn-ea"/>
              </a:rPr>
              <a:t>年全国公路营运车辆</a:t>
            </a:r>
            <a:r>
              <a:rPr lang="en-US" altLang="zh-CN" sz="1400" b="1" noProof="0" dirty="0">
                <a:ln>
                  <a:noFill/>
                </a:ln>
                <a:effectLst/>
                <a:uLnTx/>
                <a:uFillTx/>
                <a:latin typeface="微软雅黑" panose="020B0503020204020204" pitchFamily="34" charset="-122"/>
                <a:ea typeface="微软雅黑" panose="020B0503020204020204" pitchFamily="34" charset="-122"/>
                <a:sym typeface="+mn-ea"/>
              </a:rPr>
              <a:t> </a:t>
            </a:r>
            <a:r>
              <a:rPr lang="zh-CN" altLang="en-US" sz="1600" b="1" i="1"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1222万辆</a:t>
            </a:r>
          </a:p>
        </p:txBody>
      </p:sp>
      <p:pic>
        <p:nvPicPr>
          <p:cNvPr id="63" name="图片 62"/>
          <p:cNvPicPr>
            <a:picLocks noChangeAspect="1"/>
          </p:cNvPicPr>
          <p:nvPr/>
        </p:nvPicPr>
        <p:blipFill>
          <a:blip r:embed="rId8"/>
          <a:srcRect/>
          <a:stretch>
            <a:fillRect/>
          </a:stretch>
        </p:blipFill>
        <p:spPr>
          <a:xfrm>
            <a:off x="2152015" y="3620770"/>
            <a:ext cx="1467485" cy="1116330"/>
          </a:xfrm>
          <a:prstGeom prst="rect">
            <a:avLst/>
          </a:prstGeom>
          <a:noFill/>
          <a:ln>
            <a:noFill/>
          </a:ln>
        </p:spPr>
      </p:pic>
      <p:sp>
        <p:nvSpPr>
          <p:cNvPr id="65" name="文本框 64"/>
          <p:cNvSpPr txBox="1"/>
          <p:nvPr/>
        </p:nvSpPr>
        <p:spPr>
          <a:xfrm>
            <a:off x="3619500" y="4044315"/>
            <a:ext cx="1283970" cy="275590"/>
          </a:xfrm>
          <a:prstGeom prst="rect">
            <a:avLst/>
          </a:prstGeom>
          <a:noFill/>
        </p:spPr>
        <p:txBody>
          <a:bodyPr wrap="square" rtlCol="0" anchor="t">
            <a:spAutoFit/>
          </a:bodyPr>
          <a:lstStyle/>
          <a:p>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占机动车保有量</a:t>
            </a:r>
            <a:endParaRPr lang="zh-CN" altLang="en-US" sz="1600" b="1" dirty="0">
              <a:solidFill>
                <a:srgbClr val="C00000"/>
              </a:solidFill>
              <a:latin typeface="微软雅黑" panose="020B0503020204020204" pitchFamily="34" charset="-122"/>
              <a:ea typeface="微软雅黑" panose="020B0503020204020204" pitchFamily="34" charset="-122"/>
              <a:sym typeface="+mn-ea"/>
            </a:endParaRPr>
          </a:p>
        </p:txBody>
      </p:sp>
      <p:sp>
        <p:nvSpPr>
          <p:cNvPr id="66" name="文本框 65"/>
          <p:cNvSpPr txBox="1"/>
          <p:nvPr/>
        </p:nvSpPr>
        <p:spPr>
          <a:xfrm>
            <a:off x="3919855" y="4336415"/>
            <a:ext cx="720725" cy="337185"/>
          </a:xfrm>
          <a:prstGeom prst="rect">
            <a:avLst/>
          </a:prstGeom>
          <a:noFill/>
        </p:spPr>
        <p:txBody>
          <a:bodyPr wrap="square" rtlCol="0" anchor="t">
            <a:spAutoFit/>
          </a:bodyPr>
          <a:lstStyle/>
          <a:p>
            <a:r>
              <a:rPr sz="1600" b="1" i="1" dirty="0">
                <a:solidFill>
                  <a:srgbClr val="C00000"/>
                </a:solidFill>
                <a:latin typeface="微软雅黑" panose="020B0503020204020204" pitchFamily="34" charset="-122"/>
                <a:ea typeface="微软雅黑" panose="020B0503020204020204" pitchFamily="34" charset="-122"/>
                <a:sym typeface="+mn-ea"/>
              </a:rPr>
              <a:t>2.8%</a:t>
            </a:r>
            <a:endParaRPr lang="zh-CN" altLang="en-US" sz="1600" b="1" i="1" dirty="0">
              <a:solidFill>
                <a:srgbClr val="C00000"/>
              </a:solidFill>
              <a:latin typeface="微软雅黑" panose="020B0503020204020204" pitchFamily="34" charset="-122"/>
              <a:ea typeface="微软雅黑" panose="020B0503020204020204" pitchFamily="34" charset="-122"/>
              <a:sym typeface="+mn-ea"/>
            </a:endParaRPr>
          </a:p>
        </p:txBody>
      </p:sp>
      <p:sp>
        <p:nvSpPr>
          <p:cNvPr id="67" name="文本框 66"/>
          <p:cNvSpPr txBox="1"/>
          <p:nvPr/>
        </p:nvSpPr>
        <p:spPr>
          <a:xfrm>
            <a:off x="4947920" y="4050030"/>
            <a:ext cx="1000760" cy="275590"/>
          </a:xfrm>
          <a:prstGeom prst="rect">
            <a:avLst/>
          </a:prstGeom>
          <a:noFill/>
        </p:spPr>
        <p:txBody>
          <a:bodyPr wrap="square" rtlCol="0" anchor="t">
            <a:spAutoFit/>
          </a:bodyPr>
          <a:lstStyle/>
          <a:p>
            <a:pPr lvl="0" algn="l">
              <a:buClrTx/>
              <a:buSzTx/>
              <a:buFontTx/>
            </a:pPr>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交通事故占</a:t>
            </a:r>
          </a:p>
        </p:txBody>
      </p:sp>
      <p:sp>
        <p:nvSpPr>
          <p:cNvPr id="68" name="文本框 67"/>
          <p:cNvSpPr txBox="1"/>
          <p:nvPr/>
        </p:nvSpPr>
        <p:spPr>
          <a:xfrm>
            <a:off x="5828030" y="4050665"/>
            <a:ext cx="962025" cy="275590"/>
          </a:xfrm>
          <a:prstGeom prst="rect">
            <a:avLst/>
          </a:prstGeom>
          <a:noFill/>
        </p:spPr>
        <p:txBody>
          <a:bodyPr wrap="square" rtlCol="0" anchor="t">
            <a:spAutoFit/>
          </a:bodyPr>
          <a:lstStyle/>
          <a:p>
            <a:pPr lvl="0" algn="l">
              <a:buClrTx/>
              <a:buSzTx/>
              <a:buFontTx/>
            </a:pPr>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死亡人数占</a:t>
            </a:r>
          </a:p>
        </p:txBody>
      </p:sp>
      <p:sp>
        <p:nvSpPr>
          <p:cNvPr id="69" name="文本框 68"/>
          <p:cNvSpPr txBox="1"/>
          <p:nvPr/>
        </p:nvSpPr>
        <p:spPr>
          <a:xfrm>
            <a:off x="5102860" y="4336415"/>
            <a:ext cx="666115" cy="337185"/>
          </a:xfrm>
          <a:prstGeom prst="rect">
            <a:avLst/>
          </a:prstGeom>
          <a:noFill/>
        </p:spPr>
        <p:txBody>
          <a:bodyPr wrap="square" rtlCol="0" anchor="t">
            <a:spAutoFit/>
          </a:bodyPr>
          <a:lstStyle/>
          <a:p>
            <a:r>
              <a:rPr sz="1600" b="1" i="1" dirty="0">
                <a:solidFill>
                  <a:srgbClr val="C00000"/>
                </a:solidFill>
                <a:latin typeface="微软雅黑" panose="020B0503020204020204" pitchFamily="34" charset="-122"/>
                <a:ea typeface="微软雅黑" panose="020B0503020204020204" pitchFamily="34" charset="-122"/>
                <a:sym typeface="+mn-ea"/>
              </a:rPr>
              <a:t>13%</a:t>
            </a:r>
            <a:endParaRPr lang="zh-CN" altLang="en-US" sz="1600" b="1" i="1" dirty="0">
              <a:solidFill>
                <a:srgbClr val="C00000"/>
              </a:solidFill>
              <a:latin typeface="微软雅黑" panose="020B0503020204020204" pitchFamily="34" charset="-122"/>
              <a:ea typeface="微软雅黑" panose="020B0503020204020204" pitchFamily="34" charset="-122"/>
              <a:sym typeface="+mn-ea"/>
            </a:endParaRPr>
          </a:p>
        </p:txBody>
      </p:sp>
      <p:sp>
        <p:nvSpPr>
          <p:cNvPr id="70" name="文本框 69"/>
          <p:cNvSpPr txBox="1"/>
          <p:nvPr/>
        </p:nvSpPr>
        <p:spPr>
          <a:xfrm>
            <a:off x="5977890" y="4335780"/>
            <a:ext cx="670560" cy="337185"/>
          </a:xfrm>
          <a:prstGeom prst="rect">
            <a:avLst/>
          </a:prstGeom>
          <a:noFill/>
        </p:spPr>
        <p:txBody>
          <a:bodyPr wrap="square" rtlCol="0" anchor="t">
            <a:spAutoFit/>
          </a:bodyPr>
          <a:lstStyle/>
          <a:p>
            <a:pPr algn="ctr"/>
            <a:r>
              <a:rPr sz="1600" b="1" i="1" dirty="0">
                <a:solidFill>
                  <a:srgbClr val="C00000"/>
                </a:solidFill>
                <a:latin typeface="微软雅黑" panose="020B0503020204020204" pitchFamily="34" charset="-122"/>
                <a:ea typeface="微软雅黑" panose="020B0503020204020204" pitchFamily="34" charset="-122"/>
                <a:sym typeface="+mn-ea"/>
              </a:rPr>
              <a:t>23%</a:t>
            </a:r>
            <a:endParaRPr lang="zh-CN" altLang="en-US" sz="1600" b="1" i="1" dirty="0">
              <a:solidFill>
                <a:srgbClr val="C00000"/>
              </a:solidFill>
              <a:latin typeface="微软雅黑" panose="020B0503020204020204" pitchFamily="34" charset="-122"/>
              <a:ea typeface="微软雅黑" panose="020B0503020204020204" pitchFamily="34" charset="-122"/>
              <a:sym typeface="+mn-ea"/>
            </a:endParaRPr>
          </a:p>
        </p:txBody>
      </p:sp>
      <p:pic>
        <p:nvPicPr>
          <p:cNvPr id="73" name="图片 72" descr="vs"/>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58055" y="4415790"/>
            <a:ext cx="177165" cy="177165"/>
          </a:xfrm>
          <a:prstGeom prst="rect">
            <a:avLst/>
          </a:prstGeom>
        </p:spPr>
      </p:pic>
      <p:pic>
        <p:nvPicPr>
          <p:cNvPr id="74" name="图片 7"/>
          <p:cNvPicPr>
            <a:picLocks noChangeAspect="1"/>
          </p:cNvPicPr>
          <p:nvPr/>
        </p:nvPicPr>
        <p:blipFill>
          <a:blip r:embed="rId11"/>
          <a:stretch>
            <a:fillRect/>
          </a:stretch>
        </p:blipFill>
        <p:spPr>
          <a:xfrm>
            <a:off x="2152015" y="5170805"/>
            <a:ext cx="1626235" cy="1066165"/>
          </a:xfrm>
          <a:prstGeom prst="rect">
            <a:avLst/>
          </a:prstGeom>
          <a:noFill/>
          <a:ln>
            <a:noFill/>
          </a:ln>
        </p:spPr>
      </p:pic>
      <p:sp>
        <p:nvSpPr>
          <p:cNvPr id="72" name="矩形 71"/>
          <p:cNvSpPr/>
          <p:nvPr/>
        </p:nvSpPr>
        <p:spPr bwMode="auto">
          <a:xfrm>
            <a:off x="629920" y="5070475"/>
            <a:ext cx="1522095" cy="122682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buClrTx/>
              <a:buSzTx/>
              <a:buFontTx/>
              <a:defRPr/>
            </a:pPr>
            <a:r>
              <a:rPr lang="zh-CN" altLang="en-US" b="1"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公路运输车辆事故后果严重</a:t>
            </a:r>
          </a:p>
        </p:txBody>
      </p:sp>
      <p:sp>
        <p:nvSpPr>
          <p:cNvPr id="75" name="文本框 74"/>
          <p:cNvSpPr txBox="1"/>
          <p:nvPr/>
        </p:nvSpPr>
        <p:spPr>
          <a:xfrm>
            <a:off x="4053840" y="5107305"/>
            <a:ext cx="2448560" cy="306705"/>
          </a:xfrm>
          <a:prstGeom prst="rect">
            <a:avLst/>
          </a:prstGeom>
          <a:noFill/>
        </p:spPr>
        <p:txBody>
          <a:bodyPr wrap="square" rtlCol="0" anchor="t">
            <a:spAutoFit/>
          </a:bodyPr>
          <a:lstStyle/>
          <a:p>
            <a:r>
              <a:rPr lang="zh-CN" altLang="en-US" sz="1400" b="1" noProof="0" dirty="0">
                <a:ln>
                  <a:noFill/>
                </a:ln>
                <a:effectLst/>
                <a:uLnTx/>
                <a:uFillTx/>
                <a:latin typeface="微软雅黑" panose="020B0503020204020204" pitchFamily="34" charset="-122"/>
                <a:ea typeface="微软雅黑" panose="020B0503020204020204" pitchFamily="34" charset="-122"/>
                <a:sym typeface="+mn-ea"/>
              </a:rPr>
              <a:t>2023年交通事故肇事车辆中</a:t>
            </a:r>
          </a:p>
        </p:txBody>
      </p:sp>
      <p:sp>
        <p:nvSpPr>
          <p:cNvPr id="76" name="文本框 75"/>
          <p:cNvSpPr txBox="1"/>
          <p:nvPr/>
        </p:nvSpPr>
        <p:spPr>
          <a:xfrm>
            <a:off x="3755390" y="5342255"/>
            <a:ext cx="3088640" cy="275590"/>
          </a:xfrm>
          <a:prstGeom prst="rect">
            <a:avLst/>
          </a:prstGeom>
          <a:noFill/>
        </p:spPr>
        <p:txBody>
          <a:bodyPr wrap="square" rtlCol="0" anchor="t">
            <a:spAutoFit/>
          </a:bodyPr>
          <a:lstStyle/>
          <a:p>
            <a:pPr algn="l">
              <a:buClrTx/>
              <a:buSzTx/>
              <a:buFontTx/>
            </a:pPr>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涉及货运车辆的较大等级道路运输安全事故</a:t>
            </a:r>
          </a:p>
        </p:txBody>
      </p:sp>
      <p:sp>
        <p:nvSpPr>
          <p:cNvPr id="77" name="文本框 76"/>
          <p:cNvSpPr txBox="1"/>
          <p:nvPr/>
        </p:nvSpPr>
        <p:spPr>
          <a:xfrm>
            <a:off x="3803015" y="5893435"/>
            <a:ext cx="1781810" cy="337185"/>
          </a:xfrm>
          <a:prstGeom prst="rect">
            <a:avLst/>
          </a:prstGeom>
          <a:noFill/>
        </p:spPr>
        <p:txBody>
          <a:bodyPr wrap="square" rtlCol="0" anchor="t">
            <a:spAutoFit/>
          </a:bodyPr>
          <a:lstStyle/>
          <a:p>
            <a:pPr lvl="0" algn="ctr">
              <a:buClrTx/>
              <a:buSzTx/>
              <a:buFontTx/>
            </a:pPr>
            <a:r>
              <a:rPr sz="1600" b="1" i="1" dirty="0">
                <a:solidFill>
                  <a:srgbClr val="C00000"/>
                </a:solidFill>
                <a:latin typeface="微软雅黑" panose="020B0503020204020204" pitchFamily="34" charset="-122"/>
                <a:ea typeface="微软雅黑" panose="020B0503020204020204" pitchFamily="34" charset="-122"/>
                <a:sym typeface="+mn-ea"/>
              </a:rPr>
              <a:t>85.2%和83.1%</a:t>
            </a:r>
          </a:p>
        </p:txBody>
      </p:sp>
      <p:sp>
        <p:nvSpPr>
          <p:cNvPr id="78" name="文本框 77"/>
          <p:cNvSpPr txBox="1"/>
          <p:nvPr/>
        </p:nvSpPr>
        <p:spPr>
          <a:xfrm>
            <a:off x="4110990" y="5635625"/>
            <a:ext cx="1107440" cy="275590"/>
          </a:xfrm>
          <a:prstGeom prst="rect">
            <a:avLst/>
          </a:prstGeom>
          <a:noFill/>
        </p:spPr>
        <p:txBody>
          <a:bodyPr wrap="square" rtlCol="0" anchor="t">
            <a:spAutoFit/>
          </a:bodyPr>
          <a:lstStyle/>
          <a:p>
            <a:pPr algn="ctr"/>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占事故总数</a:t>
            </a:r>
          </a:p>
        </p:txBody>
      </p:sp>
      <p:sp>
        <p:nvSpPr>
          <p:cNvPr id="79" name="文本框 78"/>
          <p:cNvSpPr txBox="1"/>
          <p:nvPr/>
        </p:nvSpPr>
        <p:spPr>
          <a:xfrm>
            <a:off x="5596255" y="5600700"/>
            <a:ext cx="1107440" cy="312420"/>
          </a:xfrm>
          <a:prstGeom prst="rect">
            <a:avLst/>
          </a:prstGeom>
          <a:noFill/>
        </p:spPr>
        <p:txBody>
          <a:bodyPr wrap="square" rtlCol="0" anchor="t">
            <a:spAutoFit/>
          </a:bodyPr>
          <a:lstStyle/>
          <a:p>
            <a:pPr lvl="0" algn="l">
              <a:lnSpc>
                <a:spcPct val="120000"/>
              </a:lnSpc>
              <a:buClr>
                <a:srgbClr val="1B3F85"/>
              </a:buClr>
              <a:buSzTx/>
              <a:buFontTx/>
            </a:pPr>
            <a:r>
              <a:rPr lang="zh-CN" altLang="en-US" sz="1200" b="1" noProof="0" dirty="0">
                <a:ln>
                  <a:noFill/>
                </a:ln>
                <a:effectLst/>
                <a:uLnTx/>
                <a:uFillTx/>
                <a:latin typeface="微软雅黑" panose="020B0503020204020204" pitchFamily="34" charset="-122"/>
                <a:ea typeface="微软雅黑" panose="020B0503020204020204" pitchFamily="34" charset="-122"/>
                <a:sym typeface="+mn-ea"/>
              </a:rPr>
              <a:t>伤亡人数占</a:t>
            </a:r>
            <a:endParaRPr lang="zh-CN" altLang="en-US" sz="1600" b="1" dirty="0">
              <a:solidFill>
                <a:srgbClr val="C00000"/>
              </a:solidFill>
              <a:latin typeface="微软雅黑" panose="020B0503020204020204" pitchFamily="34" charset="-122"/>
              <a:ea typeface="微软雅黑" panose="020B0503020204020204" pitchFamily="34" charset="-122"/>
              <a:sym typeface="+mn-ea"/>
            </a:endParaRPr>
          </a:p>
        </p:txBody>
      </p:sp>
      <p:sp>
        <p:nvSpPr>
          <p:cNvPr id="80" name="文本框 79"/>
          <p:cNvSpPr txBox="1"/>
          <p:nvPr/>
        </p:nvSpPr>
        <p:spPr>
          <a:xfrm>
            <a:off x="5609590" y="5901055"/>
            <a:ext cx="904240" cy="337185"/>
          </a:xfrm>
          <a:prstGeom prst="rect">
            <a:avLst/>
          </a:prstGeom>
          <a:noFill/>
        </p:spPr>
        <p:txBody>
          <a:bodyPr wrap="square" rtlCol="0" anchor="t">
            <a:spAutoFit/>
          </a:bodyPr>
          <a:lstStyle/>
          <a:p>
            <a:pPr lvl="0" algn="ctr">
              <a:buClrTx/>
              <a:buSzTx/>
              <a:buFontTx/>
            </a:pPr>
            <a:r>
              <a:rPr sz="1600" b="1" i="1" dirty="0">
                <a:solidFill>
                  <a:srgbClr val="C00000"/>
                </a:solidFill>
                <a:latin typeface="微软雅黑" panose="020B0503020204020204" pitchFamily="34" charset="-122"/>
                <a:ea typeface="微软雅黑" panose="020B0503020204020204" pitchFamily="34" charset="-122"/>
                <a:sym typeface="+mn-ea"/>
              </a:rPr>
              <a:t>50%</a:t>
            </a:r>
          </a:p>
        </p:txBody>
      </p:sp>
      <p:sp>
        <p:nvSpPr>
          <p:cNvPr id="87" name="箭头: 右 1"/>
          <p:cNvSpPr/>
          <p:nvPr/>
        </p:nvSpPr>
        <p:spPr bwMode="auto">
          <a:xfrm>
            <a:off x="6844030" y="5584825"/>
            <a:ext cx="290195" cy="459740"/>
          </a:xfrm>
          <a:prstGeom prst="rightArrow">
            <a:avLst>
              <a:gd name="adj1" fmla="val 50000"/>
              <a:gd name="adj2" fmla="val 62144"/>
            </a:avLst>
          </a:prstGeom>
          <a:solidFill>
            <a:srgbClr val="3266B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88" name="矩形 87"/>
          <p:cNvSpPr/>
          <p:nvPr/>
        </p:nvSpPr>
        <p:spPr bwMode="auto">
          <a:xfrm>
            <a:off x="7134225" y="5280660"/>
            <a:ext cx="4260215" cy="1005205"/>
          </a:xfrm>
          <a:prstGeom prst="rect">
            <a:avLst/>
          </a:prstGeom>
          <a:ln w="12700" cap="flat" cmpd="sng" algn="ctr">
            <a:solidFill>
              <a:prstClr val="black"/>
            </a:solidFill>
            <a:prstDash val="solid"/>
            <a:miter lim="800000"/>
          </a:ln>
        </p:spPr>
        <p:style>
          <a:lnRef idx="0">
            <a:schemeClr val="accent1"/>
          </a:lnRef>
          <a:fillRef idx="0">
            <a:srgbClr val="FFFFFF"/>
          </a:fillRef>
          <a:effectRef idx="0">
            <a:srgbClr val="FFFFFF"/>
          </a:effectRef>
          <a:fontRef idx="minor">
            <a:schemeClr val="tx1"/>
          </a:fontRef>
        </p:style>
        <p:txBody>
          <a:bodyPr wrap="square" rtlCol="0" anchor="ctr">
            <a:noAutofit/>
          </a:bodyPr>
          <a:lstStyle/>
          <a:p>
            <a:pPr algn="ctr">
              <a:spcBef>
                <a:spcPct val="50000"/>
              </a:spcBef>
            </a:pPr>
            <a:endParaRPr lang="zh-CN" altLang="en-US" sz="2400">
              <a:latin typeface="黑体" panose="02010609060101010101" charset="-122"/>
              <a:ea typeface="黑体" panose="02010609060101010101" charset="-122"/>
            </a:endParaRPr>
          </a:p>
        </p:txBody>
      </p:sp>
      <p:sp>
        <p:nvSpPr>
          <p:cNvPr id="71" name="矩形 70"/>
          <p:cNvSpPr/>
          <p:nvPr/>
        </p:nvSpPr>
        <p:spPr bwMode="auto">
          <a:xfrm>
            <a:off x="629920" y="5070475"/>
            <a:ext cx="6160135" cy="1236345"/>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66AE4945-6979-5281-EAA9-DC9DA4A857FC}"/>
              </a:ext>
            </a:extLst>
          </p:cNvPr>
          <p:cNvSpPr/>
          <p:nvPr/>
        </p:nvSpPr>
        <p:spPr>
          <a:xfrm>
            <a:off x="306918" y="1236322"/>
            <a:ext cx="11549721" cy="4384057"/>
          </a:xfrm>
          <a:prstGeom prst="roundRect">
            <a:avLst>
              <a:gd name="adj" fmla="val 2834"/>
            </a:avLst>
          </a:prstGeom>
          <a:solidFill>
            <a:schemeClr val="bg1"/>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29F2DBA2-77BB-45AD-8F77-047D3B4A61B8}"/>
              </a:ext>
            </a:extLst>
          </p:cNvPr>
          <p:cNvSpPr/>
          <p:nvPr/>
        </p:nvSpPr>
        <p:spPr>
          <a:xfrm>
            <a:off x="4462660" y="2425728"/>
            <a:ext cx="1356570" cy="511519"/>
          </a:xfrm>
          <a:prstGeom prst="rect">
            <a:avLst/>
          </a:prstGeom>
          <a:solidFill>
            <a:srgbClr val="FBE5D6"/>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6AA33222-A277-48EB-AC44-B266B6D00766}"/>
              </a:ext>
            </a:extLst>
          </p:cNvPr>
          <p:cNvSpPr/>
          <p:nvPr/>
        </p:nvSpPr>
        <p:spPr>
          <a:xfrm>
            <a:off x="865305" y="3875007"/>
            <a:ext cx="3208802" cy="1650258"/>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517D444-41AA-4529-B000-E180F2AB50FB}"/>
              </a:ext>
            </a:extLst>
          </p:cNvPr>
          <p:cNvSpPr/>
          <p:nvPr/>
        </p:nvSpPr>
        <p:spPr>
          <a:xfrm>
            <a:off x="865305" y="1726740"/>
            <a:ext cx="3198677" cy="1675069"/>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E7102F4-D366-4109-B211-E343E6F91607}"/>
              </a:ext>
            </a:extLst>
          </p:cNvPr>
          <p:cNvSpPr/>
          <p:nvPr/>
        </p:nvSpPr>
        <p:spPr>
          <a:xfrm>
            <a:off x="391642" y="5902536"/>
            <a:ext cx="11381287" cy="550800"/>
          </a:xfrm>
          <a:prstGeom prst="rect">
            <a:avLst/>
          </a:prstGeom>
          <a:solidFill>
            <a:srgbClr val="FFFBF3"/>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000" b="1" dirty="0">
                <a:solidFill>
                  <a:schemeClr val="tx1"/>
                </a:solidFill>
                <a:latin typeface="微软雅黑" panose="020B0503020204020204" pitchFamily="34" charset="-122"/>
                <a:ea typeface="微软雅黑" panose="020B0503020204020204" pitchFamily="34" charset="-122"/>
              </a:rPr>
              <a:t>进一步深入</a:t>
            </a:r>
            <a:r>
              <a:rPr lang="zh-CN" altLang="en-US" sz="2000" b="1" dirty="0">
                <a:solidFill>
                  <a:srgbClr val="FF0000"/>
                </a:solidFill>
                <a:latin typeface="微软雅黑" panose="020B0503020204020204" pitchFamily="34" charset="-122"/>
                <a:ea typeface="微软雅黑" panose="020B0503020204020204" pitchFamily="34" charset="-122"/>
              </a:rPr>
              <a:t>电动燃油货车混行</a:t>
            </a:r>
            <a:r>
              <a:rPr lang="zh-CN" altLang="en-US" sz="2000" b="1" dirty="0">
                <a:solidFill>
                  <a:schemeClr val="tx1"/>
                </a:solidFill>
                <a:latin typeface="微软雅黑" panose="020B0503020204020204" pitchFamily="34" charset="-122"/>
                <a:ea typeface="微软雅黑" panose="020B0503020204020204" pitchFamily="34" charset="-122"/>
              </a:rPr>
              <a:t>的货车事故</a:t>
            </a:r>
            <a:r>
              <a:rPr lang="zh-CN" altLang="en-US" sz="2000" b="1" dirty="0">
                <a:solidFill>
                  <a:srgbClr val="FF0000"/>
                </a:solidFill>
                <a:latin typeface="微软雅黑" panose="020B0503020204020204" pitchFamily="34" charset="-122"/>
                <a:ea typeface="微软雅黑" panose="020B0503020204020204" pitchFamily="34" charset="-122"/>
              </a:rPr>
              <a:t>致因机理分析</a:t>
            </a:r>
            <a:r>
              <a:rPr lang="zh-CN" altLang="en-US" sz="2000" b="1" dirty="0">
                <a:solidFill>
                  <a:schemeClr val="tx1"/>
                </a:solidFill>
                <a:latin typeface="微软雅黑" panose="020B0503020204020204" pitchFamily="34" charset="-122"/>
                <a:ea typeface="微软雅黑" panose="020B0503020204020204" pitchFamily="34" charset="-122"/>
              </a:rPr>
              <a:t>与出行</a:t>
            </a:r>
            <a:r>
              <a:rPr lang="zh-CN" altLang="en-US" sz="2000" b="1" dirty="0">
                <a:solidFill>
                  <a:srgbClr val="FF0000"/>
                </a:solidFill>
                <a:latin typeface="微软雅黑" panose="020B0503020204020204" pitchFamily="34" charset="-122"/>
                <a:ea typeface="微软雅黑" panose="020B0503020204020204" pitchFamily="34" charset="-122"/>
              </a:rPr>
              <a:t>风险预测识别</a:t>
            </a:r>
            <a:r>
              <a:rPr lang="zh-CN" altLang="en-US" sz="2000" b="1" dirty="0">
                <a:solidFill>
                  <a:schemeClr val="tx1"/>
                </a:solidFill>
                <a:latin typeface="微软雅黑" panose="020B0503020204020204" pitchFamily="34" charset="-122"/>
                <a:ea typeface="微软雅黑" panose="020B0503020204020204" pitchFamily="34" charset="-122"/>
              </a:rPr>
              <a:t>研究很有必要</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pic>
        <p:nvPicPr>
          <p:cNvPr id="12" name="图形 16" descr="箭头: 逆时针曲线 纯色填充">
            <a:extLst>
              <a:ext uri="{FF2B5EF4-FFF2-40B4-BE49-F238E27FC236}">
                <a16:creationId xmlns:a16="http://schemas.microsoft.com/office/drawing/2014/main" id="{3ED18713-30D1-4862-A2E1-FB5F2E6AB73F}"/>
              </a:ext>
            </a:extLst>
          </p:cNvPr>
          <p:cNvPicPr>
            <a:picLocks noChangeAspect="1"/>
          </p:cNvPicPr>
          <p:nvPr/>
        </p:nvPicPr>
        <p:blipFill>
          <a:blip r:embed="rId3"/>
          <a:stretch>
            <a:fillRect/>
          </a:stretch>
        </p:blipFill>
        <p:spPr>
          <a:xfrm rot="12028342">
            <a:off x="4448808" y="1912486"/>
            <a:ext cx="361109" cy="498904"/>
          </a:xfrm>
          <a:prstGeom prst="rect">
            <a:avLst/>
          </a:prstGeom>
        </p:spPr>
      </p:pic>
      <p:sp>
        <p:nvSpPr>
          <p:cNvPr id="13" name="矩形 12">
            <a:extLst>
              <a:ext uri="{FF2B5EF4-FFF2-40B4-BE49-F238E27FC236}">
                <a16:creationId xmlns:a16="http://schemas.microsoft.com/office/drawing/2014/main" id="{45A65ADA-D44A-4FFF-94E1-AF722C185471}"/>
              </a:ext>
            </a:extLst>
          </p:cNvPr>
          <p:cNvSpPr/>
          <p:nvPr/>
        </p:nvSpPr>
        <p:spPr bwMode="auto">
          <a:xfrm>
            <a:off x="865306" y="1361269"/>
            <a:ext cx="3198678" cy="365472"/>
          </a:xfrm>
          <a:prstGeom prst="rect">
            <a:avLst/>
          </a:prstGeom>
          <a:solidFill>
            <a:srgbClr val="B8DDE5"/>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机器学习与深度学习</a:t>
            </a:r>
          </a:p>
        </p:txBody>
      </p:sp>
      <p:sp>
        <p:nvSpPr>
          <p:cNvPr id="14" name="矩形 13">
            <a:extLst>
              <a:ext uri="{FF2B5EF4-FFF2-40B4-BE49-F238E27FC236}">
                <a16:creationId xmlns:a16="http://schemas.microsoft.com/office/drawing/2014/main" id="{EBE5AEF0-FE15-4733-AC10-C74F37A50B16}"/>
              </a:ext>
            </a:extLst>
          </p:cNvPr>
          <p:cNvSpPr/>
          <p:nvPr/>
        </p:nvSpPr>
        <p:spPr bwMode="auto">
          <a:xfrm>
            <a:off x="865305" y="3514349"/>
            <a:ext cx="3213848" cy="367200"/>
          </a:xfrm>
          <a:prstGeom prst="rect">
            <a:avLst/>
          </a:prstGeom>
          <a:solidFill>
            <a:srgbClr val="EEE9ED"/>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algn="ctr" defTabSz="914400">
              <a:defRPr/>
            </a:pPr>
            <a:r>
              <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事故致因与出行预测</a:t>
            </a:r>
          </a:p>
        </p:txBody>
      </p:sp>
      <p:sp>
        <p:nvSpPr>
          <p:cNvPr id="15" name="文本框 14">
            <a:extLst>
              <a:ext uri="{FF2B5EF4-FFF2-40B4-BE49-F238E27FC236}">
                <a16:creationId xmlns:a16="http://schemas.microsoft.com/office/drawing/2014/main" id="{83F4768E-DE8D-4B46-AFE7-77EA9A840724}"/>
              </a:ext>
            </a:extLst>
          </p:cNvPr>
          <p:cNvSpPr txBox="1"/>
          <p:nvPr/>
        </p:nvSpPr>
        <p:spPr>
          <a:xfrm>
            <a:off x="867914" y="1780212"/>
            <a:ext cx="3145595" cy="1621598"/>
          </a:xfrm>
          <a:prstGeom prst="rect">
            <a:avLst/>
          </a:prstGeom>
          <a:noFill/>
        </p:spPr>
        <p:txBody>
          <a:bodyPr wrap="square">
            <a:spAutoFit/>
          </a:bodyPr>
          <a:lstStyle/>
          <a:p>
            <a:pPr marL="285750" marR="0" lvl="0" indent="-285750" defTabSz="457200" rtl="0" eaLnBrk="1" fontAlgn="auto" latinLnBrk="0" hangingPunct="1">
              <a:lnSpc>
                <a:spcPct val="120000"/>
              </a:lnSpc>
              <a:spcBef>
                <a:spcPts val="0"/>
              </a:spcBef>
              <a:spcAft>
                <a:spcPts val="0"/>
              </a:spcAft>
              <a:buClrTx/>
              <a:buSzTx/>
              <a:buFont typeface="Wingdings" panose="05000000000000000000" pitchFamily="2" charset="2"/>
              <a:buChar char="u"/>
              <a:tabLst/>
              <a:defRPr/>
            </a:pPr>
            <a:r>
              <a:rPr lang="zh-CN" altLang="en-US" sz="1400" b="0" i="0" dirty="0">
                <a:effectLst/>
                <a:latin typeface="微软雅黑" panose="020B0503020204020204" pitchFamily="34" charset="-122"/>
                <a:ea typeface="微软雅黑" panose="020B0503020204020204" pitchFamily="34" charset="-122"/>
              </a:rPr>
              <a:t>机器学习受</a:t>
            </a:r>
            <a:r>
              <a:rPr lang="zh-CN" altLang="en-US" sz="1400" b="1" i="0" dirty="0">
                <a:effectLst/>
                <a:latin typeface="微软雅黑" panose="020B0503020204020204" pitchFamily="34" charset="-122"/>
                <a:ea typeface="微软雅黑" panose="020B0503020204020204" pitchFamily="34" charset="-122"/>
              </a:rPr>
              <a:t>数据不平衡问题</a:t>
            </a:r>
            <a:r>
              <a:rPr lang="zh-CN" altLang="en-US" sz="1400" b="0" i="0" dirty="0">
                <a:effectLst/>
                <a:latin typeface="微软雅黑" panose="020B0503020204020204" pitchFamily="34" charset="-122"/>
                <a:ea typeface="微软雅黑" panose="020B0503020204020204" pitchFamily="34" charset="-122"/>
              </a:rPr>
              <a:t>影响较大，不能很好的分析事故中损伤较为严重的受伤和死亡等少样本数据；</a:t>
            </a:r>
            <a:endParaRPr lang="en-US" altLang="zh-CN" sz="1400" b="0" i="0" dirty="0">
              <a:effectLst/>
              <a:latin typeface="微软雅黑" panose="020B0503020204020204" pitchFamily="34" charset="-122"/>
              <a:ea typeface="微软雅黑" panose="020B0503020204020204" pitchFamily="34" charset="-122"/>
            </a:endParaRPr>
          </a:p>
          <a:p>
            <a:pPr marL="285750" marR="0" lvl="0" indent="-285750" defTabSz="457200" rtl="0" eaLnBrk="1" fontAlgn="auto" latinLnBrk="0" hangingPunct="1">
              <a:lnSpc>
                <a:spcPct val="120000"/>
              </a:lnSpc>
              <a:spcBef>
                <a:spcPts val="0"/>
              </a:spcBef>
              <a:spcAft>
                <a:spcPts val="0"/>
              </a:spcAft>
              <a:buClrTx/>
              <a:buSzTx/>
              <a:buFont typeface="Wingdings" panose="05000000000000000000" pitchFamily="2" charset="2"/>
              <a:buChar char="u"/>
              <a:tabLst/>
              <a:defRPr/>
            </a:pPr>
            <a:r>
              <a:rPr lang="zh-CN" altLang="en-US" sz="1400" b="0" i="0" dirty="0">
                <a:effectLst/>
                <a:latin typeface="微软雅黑" panose="020B0503020204020204" pitchFamily="34" charset="-122"/>
                <a:ea typeface="微软雅黑" panose="020B0503020204020204" pitchFamily="34" charset="-122"/>
              </a:rPr>
              <a:t>较多使用</a:t>
            </a:r>
            <a:r>
              <a:rPr lang="zh-CN" altLang="en-US" sz="1400" b="1" i="0" dirty="0">
                <a:effectLst/>
                <a:latin typeface="微软雅黑" panose="020B0503020204020204" pitchFamily="34" charset="-122"/>
                <a:ea typeface="微软雅黑" panose="020B0503020204020204" pitchFamily="34" charset="-122"/>
              </a:rPr>
              <a:t>过采样方法及其改进</a:t>
            </a:r>
            <a:r>
              <a:rPr lang="zh-CN" altLang="en-US" sz="1400" b="0" i="0" dirty="0">
                <a:effectLst/>
                <a:latin typeface="微软雅黑" panose="020B0503020204020204" pitchFamily="34" charset="-122"/>
                <a:ea typeface="微软雅黑" panose="020B0503020204020204" pitchFamily="34" charset="-122"/>
              </a:rPr>
              <a:t>实现样本平衡，生成式算法的引入较少，缺少</a:t>
            </a:r>
            <a:r>
              <a:rPr lang="zh-CN" altLang="en-US" sz="1400" b="1" i="0" dirty="0">
                <a:effectLst/>
                <a:latin typeface="微软雅黑" panose="020B0503020204020204" pitchFamily="34" charset="-122"/>
                <a:ea typeface="微软雅黑" panose="020B0503020204020204" pitchFamily="34" charset="-122"/>
              </a:rPr>
              <a:t>生成样本质量和泛化性</a:t>
            </a:r>
            <a:r>
              <a:rPr lang="zh-CN" altLang="en-US" sz="1400" b="0" i="0" dirty="0">
                <a:effectLst/>
                <a:latin typeface="微软雅黑" panose="020B0503020204020204" pitchFamily="34" charset="-122"/>
                <a:ea typeface="微软雅黑" panose="020B0503020204020204" pitchFamily="34" charset="-122"/>
              </a:rPr>
              <a:t>的考虑。</a:t>
            </a:r>
            <a:endParaRPr lang="en-US" altLang="zh-CN" sz="1400" b="0" i="0" dirty="0">
              <a:effectLst/>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0ACC820D-1F88-46D7-BB8B-0421D84A26BD}"/>
              </a:ext>
            </a:extLst>
          </p:cNvPr>
          <p:cNvSpPr/>
          <p:nvPr/>
        </p:nvSpPr>
        <p:spPr>
          <a:xfrm>
            <a:off x="393438" y="1361269"/>
            <a:ext cx="403009" cy="4163996"/>
          </a:xfrm>
          <a:prstGeom prst="rect">
            <a:avLst/>
          </a:prstGeom>
          <a:solidFill>
            <a:srgbClr val="1B3F85"/>
          </a:solidFill>
          <a:ln>
            <a:solidFill>
              <a:srgbClr val="1B3F85"/>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文本框 20">
            <a:extLst>
              <a:ext uri="{FF2B5EF4-FFF2-40B4-BE49-F238E27FC236}">
                <a16:creationId xmlns:a16="http://schemas.microsoft.com/office/drawing/2014/main" id="{14355BFE-641A-4C39-B00A-6E5939E5A974}"/>
              </a:ext>
            </a:extLst>
          </p:cNvPr>
          <p:cNvSpPr txBox="1"/>
          <p:nvPr/>
        </p:nvSpPr>
        <p:spPr>
          <a:xfrm>
            <a:off x="364399" y="2819641"/>
            <a:ext cx="477054" cy="1118255"/>
          </a:xfrm>
          <a:prstGeom prst="rect">
            <a:avLst/>
          </a:prstGeom>
          <a:noFill/>
        </p:spPr>
        <p:txBody>
          <a:bodyPr vert="eaVert" wrap="none" rtlCol="0">
            <a:spAutoFit/>
          </a:bodyPr>
          <a:lstStyle/>
          <a:p>
            <a:r>
              <a:rPr lang="zh-CN" altLang="en-US" sz="1900" b="1" spc="100" dirty="0">
                <a:solidFill>
                  <a:schemeClr val="bg1"/>
                </a:solidFill>
              </a:rPr>
              <a:t>研究现状</a:t>
            </a:r>
          </a:p>
        </p:txBody>
      </p:sp>
      <p:grpSp>
        <p:nvGrpSpPr>
          <p:cNvPr id="33" name="组合 32">
            <a:extLst>
              <a:ext uri="{FF2B5EF4-FFF2-40B4-BE49-F238E27FC236}">
                <a16:creationId xmlns:a16="http://schemas.microsoft.com/office/drawing/2014/main" id="{63382945-65B9-477F-B599-6AD39E45C53C}"/>
              </a:ext>
            </a:extLst>
          </p:cNvPr>
          <p:cNvGrpSpPr/>
          <p:nvPr/>
        </p:nvGrpSpPr>
        <p:grpSpPr>
          <a:xfrm>
            <a:off x="4424100" y="1489624"/>
            <a:ext cx="1349812" cy="399830"/>
            <a:chOff x="4466135" y="2055957"/>
            <a:chExt cx="1430361" cy="399830"/>
          </a:xfrm>
          <a:solidFill>
            <a:schemeClr val="accent2">
              <a:lumMod val="20000"/>
              <a:lumOff val="80000"/>
            </a:schemeClr>
          </a:solidFill>
        </p:grpSpPr>
        <p:sp>
          <p:nvSpPr>
            <p:cNvPr id="34" name="流程图: 磁盘 33">
              <a:extLst>
                <a:ext uri="{FF2B5EF4-FFF2-40B4-BE49-F238E27FC236}">
                  <a16:creationId xmlns:a16="http://schemas.microsoft.com/office/drawing/2014/main" id="{9D320680-53F6-4F4B-8ABB-366886163561}"/>
                </a:ext>
              </a:extLst>
            </p:cNvPr>
            <p:cNvSpPr/>
            <p:nvPr/>
          </p:nvSpPr>
          <p:spPr>
            <a:xfrm>
              <a:off x="4486743" y="2055957"/>
              <a:ext cx="1350662" cy="399830"/>
            </a:xfrm>
            <a:prstGeom prst="rect">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6D33CA82-D404-4973-9465-D49AECAF96AD}"/>
                </a:ext>
              </a:extLst>
            </p:cNvPr>
            <p:cNvSpPr txBox="1"/>
            <p:nvPr/>
          </p:nvSpPr>
          <p:spPr>
            <a:xfrm>
              <a:off x="4466135" y="2099119"/>
              <a:ext cx="1430361" cy="323165"/>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5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驾驶行为辨识</a:t>
              </a:r>
              <a:endParaRPr kumimoji="0" lang="en-US" altLang="zh-CN" sz="15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p:txBody>
        </p:sp>
      </p:grpSp>
      <p:grpSp>
        <p:nvGrpSpPr>
          <p:cNvPr id="37" name="组合 36">
            <a:extLst>
              <a:ext uri="{FF2B5EF4-FFF2-40B4-BE49-F238E27FC236}">
                <a16:creationId xmlns:a16="http://schemas.microsoft.com/office/drawing/2014/main" id="{95CAA219-A1F0-4753-8A65-73E92D6F605D}"/>
              </a:ext>
            </a:extLst>
          </p:cNvPr>
          <p:cNvGrpSpPr/>
          <p:nvPr/>
        </p:nvGrpSpPr>
        <p:grpSpPr>
          <a:xfrm>
            <a:off x="4404886" y="3479544"/>
            <a:ext cx="1531381" cy="602368"/>
            <a:chOff x="4451585" y="3958610"/>
            <a:chExt cx="1531381" cy="602368"/>
          </a:xfrm>
        </p:grpSpPr>
        <p:sp>
          <p:nvSpPr>
            <p:cNvPr id="38" name="矩形 37">
              <a:extLst>
                <a:ext uri="{FF2B5EF4-FFF2-40B4-BE49-F238E27FC236}">
                  <a16:creationId xmlns:a16="http://schemas.microsoft.com/office/drawing/2014/main" id="{14FAF0E6-F9A9-4B23-98FF-C98B19A6ECC1}"/>
                </a:ext>
              </a:extLst>
            </p:cNvPr>
            <p:cNvSpPr/>
            <p:nvPr/>
          </p:nvSpPr>
          <p:spPr>
            <a:xfrm>
              <a:off x="4545776" y="3958610"/>
              <a:ext cx="1356570" cy="602368"/>
            </a:xfrm>
            <a:prstGeom prst="rect">
              <a:avLst/>
            </a:prstGeom>
            <a:solidFill>
              <a:srgbClr val="FBE5D6"/>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0AF10605-E42E-4607-96F1-555AB5E41B12}"/>
                </a:ext>
              </a:extLst>
            </p:cNvPr>
            <p:cNvSpPr txBox="1"/>
            <p:nvPr/>
          </p:nvSpPr>
          <p:spPr>
            <a:xfrm>
              <a:off x="4451585" y="3980676"/>
              <a:ext cx="1531381" cy="553998"/>
            </a:xfrm>
            <a:prstGeom prst="rect">
              <a:avLst/>
            </a:prstGeom>
            <a:noFill/>
            <a:ln w="12700">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仿宋_GB2312"/>
                </a:rPr>
                <a:t>货车碰撞事故致因分析</a:t>
              </a:r>
              <a:endPar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仿宋_GB2312"/>
              </a:endParaRPr>
            </a:p>
          </p:txBody>
        </p:sp>
      </p:grpSp>
      <p:sp>
        <p:nvSpPr>
          <p:cNvPr id="40" name="矩形 39">
            <a:extLst>
              <a:ext uri="{FF2B5EF4-FFF2-40B4-BE49-F238E27FC236}">
                <a16:creationId xmlns:a16="http://schemas.microsoft.com/office/drawing/2014/main" id="{F1AE8BF3-A216-4C01-8F7E-20903F9E118B}"/>
              </a:ext>
            </a:extLst>
          </p:cNvPr>
          <p:cNvSpPr/>
          <p:nvPr/>
        </p:nvSpPr>
        <p:spPr>
          <a:xfrm>
            <a:off x="4513035" y="4611368"/>
            <a:ext cx="1356570" cy="572624"/>
          </a:xfrm>
          <a:prstGeom prst="rect">
            <a:avLst/>
          </a:prstGeom>
          <a:solidFill>
            <a:srgbClr val="FBE5D6"/>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D85ACFE4-0DB9-424F-BB7C-31BDFAE18A97}"/>
              </a:ext>
            </a:extLst>
          </p:cNvPr>
          <p:cNvSpPr txBox="1"/>
          <p:nvPr/>
        </p:nvSpPr>
        <p:spPr>
          <a:xfrm>
            <a:off x="4464366" y="4639472"/>
            <a:ext cx="1430361" cy="553998"/>
          </a:xfrm>
          <a:prstGeom prst="rect">
            <a:avLst/>
          </a:prstGeom>
          <a:noFill/>
          <a:ln w="12700">
            <a:noFill/>
          </a:ln>
        </p:spPr>
        <p:txBody>
          <a:bodyPr wrap="square">
            <a:spAutoFit/>
          </a:bodyPr>
          <a:lstStyle>
            <a:defPPr>
              <a:defRPr lang="en-US"/>
            </a:defPPr>
            <a:lvl1pPr marR="0" lvl="0" indent="0" algn="ctr" fontAlgn="auto">
              <a:lnSpc>
                <a:spcPct val="100000"/>
              </a:lnSpc>
              <a:spcBef>
                <a:spcPts val="0"/>
              </a:spcBef>
              <a:spcAft>
                <a:spcPts val="0"/>
              </a:spcAft>
              <a:buClrTx/>
              <a:buSzTx/>
              <a:buFontTx/>
              <a:buNone/>
              <a:tabLst/>
              <a:defRPr kumimoji="0" sz="1500" b="1" i="0" u="none" strike="noStrike" cap="none" spc="0" normalizeH="0" baseline="0">
                <a:ln>
                  <a:noFill/>
                </a:ln>
                <a:solidFill>
                  <a:srgbClr val="C00000"/>
                </a:solidFill>
                <a:effectLst/>
                <a:uLnTx/>
                <a:uFillTx/>
                <a:latin typeface="微软雅黑" panose="020B0503020204020204" pitchFamily="34" charset="-122"/>
                <a:ea typeface="微软雅黑" panose="020B0503020204020204" pitchFamily="34" charset="-122"/>
                <a:cs typeface="仿宋_GB2312"/>
              </a:defRPr>
            </a:lvl1pPr>
          </a:lstStyle>
          <a:p>
            <a:r>
              <a:rPr lang="zh-CN" altLang="en-US" dirty="0"/>
              <a:t>驾驶安全风险评估</a:t>
            </a:r>
            <a:endParaRPr lang="en-US" altLang="zh-CN" dirty="0"/>
          </a:p>
        </p:txBody>
      </p:sp>
      <p:pic>
        <p:nvPicPr>
          <p:cNvPr id="42" name="图形 61" descr="箭头: 逆时针曲线 纯色填充">
            <a:extLst>
              <a:ext uri="{FF2B5EF4-FFF2-40B4-BE49-F238E27FC236}">
                <a16:creationId xmlns:a16="http://schemas.microsoft.com/office/drawing/2014/main" id="{F4603DC4-8648-4D35-AF76-E932342E0D70}"/>
              </a:ext>
            </a:extLst>
          </p:cNvPr>
          <p:cNvPicPr>
            <a:picLocks noChangeAspect="1"/>
          </p:cNvPicPr>
          <p:nvPr/>
        </p:nvPicPr>
        <p:blipFill>
          <a:blip r:embed="rId3"/>
          <a:stretch>
            <a:fillRect/>
          </a:stretch>
        </p:blipFill>
        <p:spPr>
          <a:xfrm rot="12028342">
            <a:off x="4448808" y="2954870"/>
            <a:ext cx="361109" cy="498904"/>
          </a:xfrm>
          <a:prstGeom prst="rect">
            <a:avLst/>
          </a:prstGeom>
        </p:spPr>
      </p:pic>
      <p:pic>
        <p:nvPicPr>
          <p:cNvPr id="43" name="图形 62" descr="箭头: 逆时针曲线 纯色填充">
            <a:extLst>
              <a:ext uri="{FF2B5EF4-FFF2-40B4-BE49-F238E27FC236}">
                <a16:creationId xmlns:a16="http://schemas.microsoft.com/office/drawing/2014/main" id="{C6EFD96E-A401-40FC-B036-0F75191232BD}"/>
              </a:ext>
            </a:extLst>
          </p:cNvPr>
          <p:cNvPicPr>
            <a:picLocks noChangeAspect="1"/>
          </p:cNvPicPr>
          <p:nvPr/>
        </p:nvPicPr>
        <p:blipFill>
          <a:blip r:embed="rId3"/>
          <a:stretch>
            <a:fillRect/>
          </a:stretch>
        </p:blipFill>
        <p:spPr>
          <a:xfrm rot="12028342">
            <a:off x="4444275" y="4057299"/>
            <a:ext cx="361109" cy="498904"/>
          </a:xfrm>
          <a:prstGeom prst="rect">
            <a:avLst/>
          </a:prstGeom>
        </p:spPr>
      </p:pic>
      <p:cxnSp>
        <p:nvCxnSpPr>
          <p:cNvPr id="47" name="直接连接符 46">
            <a:extLst>
              <a:ext uri="{FF2B5EF4-FFF2-40B4-BE49-F238E27FC236}">
                <a16:creationId xmlns:a16="http://schemas.microsoft.com/office/drawing/2014/main" id="{A0DCB9F3-9EF5-4688-BA13-EDD46212A357}"/>
              </a:ext>
            </a:extLst>
          </p:cNvPr>
          <p:cNvCxnSpPr>
            <a:cxnSpLocks/>
            <a:stCxn id="35" idx="3"/>
          </p:cNvCxnSpPr>
          <p:nvPr/>
        </p:nvCxnSpPr>
        <p:spPr>
          <a:xfrm flipV="1">
            <a:off x="5773912" y="1693170"/>
            <a:ext cx="1423342" cy="1199"/>
          </a:xfrm>
          <a:prstGeom prst="line">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48" name="直接连接符 47">
            <a:extLst>
              <a:ext uri="{FF2B5EF4-FFF2-40B4-BE49-F238E27FC236}">
                <a16:creationId xmlns:a16="http://schemas.microsoft.com/office/drawing/2014/main" id="{E83D2DA0-19F0-456E-9C85-64B4409A3091}"/>
              </a:ext>
            </a:extLst>
          </p:cNvPr>
          <p:cNvCxnSpPr>
            <a:cxnSpLocks/>
          </p:cNvCxnSpPr>
          <p:nvPr/>
        </p:nvCxnSpPr>
        <p:spPr>
          <a:xfrm>
            <a:off x="5888156" y="5016743"/>
            <a:ext cx="1309098" cy="0"/>
          </a:xfrm>
          <a:prstGeom prst="line">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cxnSp>
      <p:cxnSp>
        <p:nvCxnSpPr>
          <p:cNvPr id="49" name="直接连接符 48">
            <a:extLst>
              <a:ext uri="{FF2B5EF4-FFF2-40B4-BE49-F238E27FC236}">
                <a16:creationId xmlns:a16="http://schemas.microsoft.com/office/drawing/2014/main" id="{904C8B7A-C0BA-46A6-AA3B-9F295ABDA1C6}"/>
              </a:ext>
            </a:extLst>
          </p:cNvPr>
          <p:cNvCxnSpPr>
            <a:cxnSpLocks/>
          </p:cNvCxnSpPr>
          <p:nvPr/>
        </p:nvCxnSpPr>
        <p:spPr>
          <a:xfrm>
            <a:off x="7197254" y="1679349"/>
            <a:ext cx="7263" cy="3357500"/>
          </a:xfrm>
          <a:prstGeom prst="line">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cxnSp>
      <p:sp>
        <p:nvSpPr>
          <p:cNvPr id="50" name="圆角矩形 12">
            <a:extLst>
              <a:ext uri="{FF2B5EF4-FFF2-40B4-BE49-F238E27FC236}">
                <a16:creationId xmlns:a16="http://schemas.microsoft.com/office/drawing/2014/main" id="{8B60C2CC-CE78-465F-ABA9-FCB3201390E4}"/>
              </a:ext>
            </a:extLst>
          </p:cNvPr>
          <p:cNvSpPr/>
          <p:nvPr/>
        </p:nvSpPr>
        <p:spPr>
          <a:xfrm>
            <a:off x="6006001" y="2001397"/>
            <a:ext cx="1847230" cy="818572"/>
          </a:xfrm>
          <a:prstGeom prst="roundRect">
            <a:avLst/>
          </a:prstGeom>
          <a:solidFill>
            <a:srgbClr val="FFF7F7"/>
          </a:solidFill>
          <a:ln w="15875">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r>
              <a:rPr lang="zh-CN" altLang="en-US" sz="1200" dirty="0">
                <a:solidFill>
                  <a:schemeClr val="tx1"/>
                </a:solidFill>
                <a:latin typeface="微软雅黑" panose="020B0503020204020204" pitchFamily="34" charset="-122"/>
                <a:ea typeface="微软雅黑" panose="020B0503020204020204" pitchFamily="34" charset="-122"/>
              </a:rPr>
              <a:t>选择合适的</a:t>
            </a:r>
            <a:r>
              <a:rPr lang="zh-CN" altLang="en-US" sz="1200" b="1" dirty="0">
                <a:solidFill>
                  <a:schemeClr val="tx1"/>
                </a:solidFill>
                <a:latin typeface="微软雅黑" panose="020B0503020204020204" pitchFamily="34" charset="-122"/>
                <a:ea typeface="微软雅黑" panose="020B0503020204020204" pitchFamily="34" charset="-122"/>
              </a:rPr>
              <a:t>数据源</a:t>
            </a:r>
            <a:r>
              <a:rPr lang="zh-CN" altLang="en-US" sz="1200" dirty="0">
                <a:solidFill>
                  <a:schemeClr val="tx1"/>
                </a:solidFill>
                <a:latin typeface="微软雅黑" panose="020B0503020204020204" pitchFamily="34" charset="-122"/>
                <a:ea typeface="微软雅黑" panose="020B0503020204020204" pitchFamily="34" charset="-122"/>
              </a:rPr>
              <a:t>，如美国公开数据集</a:t>
            </a:r>
            <a:r>
              <a:rPr lang="en-US" altLang="zh-CN" sz="1200" b="1" dirty="0">
                <a:solidFill>
                  <a:srgbClr val="C00000"/>
                </a:solidFill>
                <a:latin typeface="微软雅黑" panose="020B0503020204020204" pitchFamily="34" charset="-122"/>
                <a:ea typeface="微软雅黑" panose="020B0503020204020204" pitchFamily="34" charset="-122"/>
              </a:rPr>
              <a:t>LTCCS\NTDS</a:t>
            </a:r>
            <a:r>
              <a:rPr lang="zh-CN" altLang="en-US" sz="1200" dirty="0">
                <a:solidFill>
                  <a:schemeClr val="tx1"/>
                </a:solidFill>
                <a:latin typeface="微软雅黑" panose="020B0503020204020204" pitchFamily="34" charset="-122"/>
                <a:ea typeface="微软雅黑" panose="020B0503020204020204" pitchFamily="34" charset="-122"/>
              </a:rPr>
              <a:t>，中国监管部门调查数据报告等</a:t>
            </a:r>
            <a:endParaRPr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51" name="圆角矩形 12">
            <a:extLst>
              <a:ext uri="{FF2B5EF4-FFF2-40B4-BE49-F238E27FC236}">
                <a16:creationId xmlns:a16="http://schemas.microsoft.com/office/drawing/2014/main" id="{688565D1-9A60-482F-8769-A4FF3E9E5BC6}"/>
              </a:ext>
            </a:extLst>
          </p:cNvPr>
          <p:cNvSpPr/>
          <p:nvPr/>
        </p:nvSpPr>
        <p:spPr>
          <a:xfrm>
            <a:off x="6006001" y="2979963"/>
            <a:ext cx="1847230" cy="818572"/>
          </a:xfrm>
          <a:prstGeom prst="roundRect">
            <a:avLst/>
          </a:prstGeom>
          <a:solidFill>
            <a:srgbClr val="FFF7F7"/>
          </a:solidFill>
          <a:ln w="15875">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r>
              <a:rPr lang="zh-CN" altLang="en-US" sz="1200" dirty="0">
                <a:solidFill>
                  <a:schemeClr val="tx1"/>
                </a:solidFill>
                <a:latin typeface="微软雅黑" panose="020B0503020204020204" pitchFamily="34" charset="-122"/>
                <a:ea typeface="微软雅黑" panose="020B0503020204020204" pitchFamily="34" charset="-122"/>
              </a:rPr>
              <a:t>选择合适的</a:t>
            </a:r>
            <a:r>
              <a:rPr lang="zh-CN" altLang="en-US" sz="1200" b="1" dirty="0">
                <a:solidFill>
                  <a:schemeClr val="tx1"/>
                </a:solidFill>
                <a:latin typeface="微软雅黑" panose="020B0503020204020204" pitchFamily="34" charset="-122"/>
                <a:ea typeface="微软雅黑" panose="020B0503020204020204" pitchFamily="34" charset="-122"/>
              </a:rPr>
              <a:t>变量</a:t>
            </a:r>
            <a:r>
              <a:rPr lang="zh-CN" altLang="en-US" sz="1200" dirty="0">
                <a:solidFill>
                  <a:schemeClr val="tx1"/>
                </a:solidFill>
                <a:latin typeface="微软雅黑" panose="020B0503020204020204" pitchFamily="34" charset="-122"/>
                <a:ea typeface="微软雅黑" panose="020B0503020204020204" pitchFamily="34" charset="-122"/>
              </a:rPr>
              <a:t>，当前较多从</a:t>
            </a:r>
            <a:r>
              <a:rPr lang="zh-CN" altLang="en-US" sz="1200" b="1" dirty="0">
                <a:solidFill>
                  <a:srgbClr val="C00000"/>
                </a:solidFill>
                <a:latin typeface="微软雅黑" panose="020B0503020204020204" pitchFamily="34" charset="-122"/>
                <a:ea typeface="微软雅黑" panose="020B0503020204020204" pitchFamily="34" charset="-122"/>
              </a:rPr>
              <a:t>社会经济属性、车辆特征、空间特征、时间特征及天气特征</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圆角矩形 12">
            <a:extLst>
              <a:ext uri="{FF2B5EF4-FFF2-40B4-BE49-F238E27FC236}">
                <a16:creationId xmlns:a16="http://schemas.microsoft.com/office/drawing/2014/main" id="{ABC4EA9D-5F06-4682-A870-47255D20B80E}"/>
              </a:ext>
            </a:extLst>
          </p:cNvPr>
          <p:cNvSpPr/>
          <p:nvPr/>
        </p:nvSpPr>
        <p:spPr>
          <a:xfrm>
            <a:off x="6005644" y="3958529"/>
            <a:ext cx="1847230" cy="818572"/>
          </a:xfrm>
          <a:prstGeom prst="roundRect">
            <a:avLst/>
          </a:prstGeom>
          <a:solidFill>
            <a:srgbClr val="FFF7F7"/>
          </a:solidFill>
          <a:ln w="15875">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r>
              <a:rPr lang="zh-CN" altLang="en-US" sz="1200" dirty="0">
                <a:solidFill>
                  <a:schemeClr val="tx1"/>
                </a:solidFill>
                <a:latin typeface="微软雅黑" panose="020B0503020204020204" pitchFamily="34" charset="-122"/>
                <a:ea typeface="微软雅黑" panose="020B0503020204020204" pitchFamily="34" charset="-122"/>
              </a:rPr>
              <a:t>选择合适的</a:t>
            </a:r>
            <a:r>
              <a:rPr lang="zh-CN" altLang="en-US" sz="1200" b="1" dirty="0">
                <a:solidFill>
                  <a:schemeClr val="tx1"/>
                </a:solidFill>
                <a:latin typeface="微软雅黑" panose="020B0503020204020204" pitchFamily="34" charset="-122"/>
                <a:ea typeface="微软雅黑" panose="020B0503020204020204" pitchFamily="34" charset="-122"/>
              </a:rPr>
              <a:t>模型</a:t>
            </a:r>
            <a:r>
              <a:rPr lang="zh-CN" altLang="en-US" sz="1200" dirty="0">
                <a:solidFill>
                  <a:schemeClr val="tx1"/>
                </a:solidFill>
                <a:latin typeface="微软雅黑" panose="020B0503020204020204" pitchFamily="34" charset="-122"/>
                <a:ea typeface="微软雅黑" panose="020B0503020204020204" pitchFamily="34" charset="-122"/>
              </a:rPr>
              <a:t>，当前主要分基于</a:t>
            </a:r>
            <a:r>
              <a:rPr lang="zh-CN" altLang="en-US" sz="1200" b="1" dirty="0">
                <a:solidFill>
                  <a:srgbClr val="C00000"/>
                </a:solidFill>
                <a:latin typeface="微软雅黑" panose="020B0503020204020204" pitchFamily="34" charset="-122"/>
                <a:ea typeface="微软雅黑" panose="020B0503020204020204" pitchFamily="34" charset="-122"/>
              </a:rPr>
              <a:t>数理统计</a:t>
            </a:r>
            <a:r>
              <a:rPr lang="zh-CN" altLang="en-US" sz="1200" dirty="0">
                <a:solidFill>
                  <a:schemeClr val="tx1"/>
                </a:solidFill>
                <a:latin typeface="微软雅黑" panose="020B0503020204020204" pitchFamily="34" charset="-122"/>
                <a:ea typeface="微软雅黑" panose="020B0503020204020204" pitchFamily="34" charset="-122"/>
              </a:rPr>
              <a:t>的方法和基于</a:t>
            </a:r>
            <a:r>
              <a:rPr lang="zh-CN" altLang="en-US" sz="1200" b="1" dirty="0">
                <a:solidFill>
                  <a:srgbClr val="C00000"/>
                </a:solidFill>
                <a:latin typeface="微软雅黑" panose="020B0503020204020204" pitchFamily="34" charset="-122"/>
                <a:ea typeface="微软雅黑" panose="020B0503020204020204" pitchFamily="34" charset="-122"/>
              </a:rPr>
              <a:t>机器学习</a:t>
            </a:r>
            <a:r>
              <a:rPr lang="zh-CN" altLang="en-US" sz="1200" dirty="0">
                <a:solidFill>
                  <a:schemeClr val="tx1"/>
                </a:solidFill>
                <a:latin typeface="微软雅黑" panose="020B0503020204020204" pitchFamily="34" charset="-122"/>
                <a:ea typeface="微软雅黑" panose="020B0503020204020204" pitchFamily="34" charset="-122"/>
              </a:rPr>
              <a:t>的方法</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EEE3193E-B2CC-415E-AA89-1107415A39C7}"/>
              </a:ext>
            </a:extLst>
          </p:cNvPr>
          <p:cNvSpPr txBox="1"/>
          <p:nvPr/>
        </p:nvSpPr>
        <p:spPr>
          <a:xfrm>
            <a:off x="4375255" y="2425728"/>
            <a:ext cx="1531381" cy="553998"/>
          </a:xfrm>
          <a:prstGeom prst="rect">
            <a:avLst/>
          </a:prstGeom>
          <a:noFill/>
          <a:ln w="12700">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500" b="1" dirty="0">
                <a:latin typeface="微软雅黑" panose="020B0503020204020204" pitchFamily="34" charset="-122"/>
                <a:ea typeface="微软雅黑" panose="020B0503020204020204" pitchFamily="34" charset="-122"/>
                <a:cs typeface="仿宋_GB2312"/>
              </a:rPr>
              <a:t>危险驾驶行为与行车安全</a:t>
            </a:r>
            <a:endParaRPr kumimoji="0" lang="en-US" altLang="zh-CN" sz="15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p:txBody>
      </p:sp>
      <p:sp>
        <p:nvSpPr>
          <p:cNvPr id="61" name="文本框 60">
            <a:extLst>
              <a:ext uri="{FF2B5EF4-FFF2-40B4-BE49-F238E27FC236}">
                <a16:creationId xmlns:a16="http://schemas.microsoft.com/office/drawing/2014/main" id="{5877324A-1662-4F06-AE35-08BADE0F83C1}"/>
              </a:ext>
            </a:extLst>
          </p:cNvPr>
          <p:cNvSpPr txBox="1"/>
          <p:nvPr/>
        </p:nvSpPr>
        <p:spPr>
          <a:xfrm>
            <a:off x="4618665" y="1991818"/>
            <a:ext cx="1155246"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驾驶风格研判</a:t>
            </a:r>
            <a:endPar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p:txBody>
      </p:sp>
      <p:sp>
        <p:nvSpPr>
          <p:cNvPr id="62" name="文本框 61">
            <a:extLst>
              <a:ext uri="{FF2B5EF4-FFF2-40B4-BE49-F238E27FC236}">
                <a16:creationId xmlns:a16="http://schemas.microsoft.com/office/drawing/2014/main" id="{86220817-D241-4DE4-9B09-FD428ACADF03}"/>
              </a:ext>
            </a:extLst>
          </p:cNvPr>
          <p:cNvSpPr txBox="1"/>
          <p:nvPr/>
        </p:nvSpPr>
        <p:spPr>
          <a:xfrm>
            <a:off x="4640123" y="3032565"/>
            <a:ext cx="1185683"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疲劳</a:t>
            </a:r>
            <a:r>
              <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zh-CN" altLang="en-US"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分心驾驶</a:t>
            </a:r>
            <a:endPar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p:txBody>
      </p:sp>
      <p:sp>
        <p:nvSpPr>
          <p:cNvPr id="63" name="文本框 62">
            <a:extLst>
              <a:ext uri="{FF2B5EF4-FFF2-40B4-BE49-F238E27FC236}">
                <a16:creationId xmlns:a16="http://schemas.microsoft.com/office/drawing/2014/main" id="{5A0DA8D5-4AF5-42BF-BB7B-B422E6756E59}"/>
              </a:ext>
            </a:extLst>
          </p:cNvPr>
          <p:cNvSpPr txBox="1"/>
          <p:nvPr/>
        </p:nvSpPr>
        <p:spPr>
          <a:xfrm>
            <a:off x="4617029" y="5218774"/>
            <a:ext cx="1185683"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驾驶</a:t>
            </a:r>
            <a:r>
              <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zh-CN" altLang="en-US"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行车风险</a:t>
            </a:r>
            <a:endPar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p:txBody>
      </p:sp>
      <p:sp>
        <p:nvSpPr>
          <p:cNvPr id="64" name="文本框 63">
            <a:extLst>
              <a:ext uri="{FF2B5EF4-FFF2-40B4-BE49-F238E27FC236}">
                <a16:creationId xmlns:a16="http://schemas.microsoft.com/office/drawing/2014/main" id="{C3C3ACEE-776F-4963-91BB-9079120F1B18}"/>
              </a:ext>
            </a:extLst>
          </p:cNvPr>
          <p:cNvSpPr txBox="1"/>
          <p:nvPr/>
        </p:nvSpPr>
        <p:spPr>
          <a:xfrm>
            <a:off x="4624829" y="4200490"/>
            <a:ext cx="1185683"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cs typeface="仿宋_GB2312"/>
              </a:rPr>
              <a:t>关键影响因素</a:t>
            </a:r>
            <a:endParaRPr kumimoji="0" lang="en-US" altLang="zh-CN" sz="120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p:txBody>
      </p:sp>
      <p:sp>
        <p:nvSpPr>
          <p:cNvPr id="89" name="矩形 88">
            <a:extLst>
              <a:ext uri="{FF2B5EF4-FFF2-40B4-BE49-F238E27FC236}">
                <a16:creationId xmlns:a16="http://schemas.microsoft.com/office/drawing/2014/main" id="{B723D97B-04E6-444D-A818-C4A3E2F01BA8}"/>
              </a:ext>
            </a:extLst>
          </p:cNvPr>
          <p:cNvSpPr/>
          <p:nvPr/>
        </p:nvSpPr>
        <p:spPr>
          <a:xfrm>
            <a:off x="8115414" y="1361269"/>
            <a:ext cx="403009" cy="4163996"/>
          </a:xfrm>
          <a:prstGeom prst="rect">
            <a:avLst/>
          </a:prstGeom>
          <a:solidFill>
            <a:srgbClr val="1B3F85"/>
          </a:solidFill>
          <a:ln>
            <a:solidFill>
              <a:srgbClr val="1B3F85"/>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0" name="文本框 89">
            <a:extLst>
              <a:ext uri="{FF2B5EF4-FFF2-40B4-BE49-F238E27FC236}">
                <a16:creationId xmlns:a16="http://schemas.microsoft.com/office/drawing/2014/main" id="{B0A45ABF-FC2D-4E4E-A142-B5815282C144}"/>
              </a:ext>
            </a:extLst>
          </p:cNvPr>
          <p:cNvSpPr txBox="1"/>
          <p:nvPr/>
        </p:nvSpPr>
        <p:spPr>
          <a:xfrm>
            <a:off x="8069255" y="2652621"/>
            <a:ext cx="477054" cy="1118255"/>
          </a:xfrm>
          <a:prstGeom prst="rect">
            <a:avLst/>
          </a:prstGeom>
          <a:noFill/>
        </p:spPr>
        <p:txBody>
          <a:bodyPr vert="eaVert" wrap="none" rtlCol="0">
            <a:spAutoFit/>
          </a:bodyPr>
          <a:lstStyle/>
          <a:p>
            <a:r>
              <a:rPr lang="zh-CN" altLang="en-US" sz="1900" b="1" spc="100" dirty="0">
                <a:solidFill>
                  <a:schemeClr val="bg1"/>
                </a:solidFill>
              </a:rPr>
              <a:t>关键问题</a:t>
            </a:r>
          </a:p>
        </p:txBody>
      </p:sp>
      <p:sp>
        <p:nvSpPr>
          <p:cNvPr id="96" name="矩形 95">
            <a:extLst>
              <a:ext uri="{FF2B5EF4-FFF2-40B4-BE49-F238E27FC236}">
                <a16:creationId xmlns:a16="http://schemas.microsoft.com/office/drawing/2014/main" id="{D3F744E9-8084-4C4A-932E-D99BE54E7CE8}"/>
              </a:ext>
            </a:extLst>
          </p:cNvPr>
          <p:cNvSpPr/>
          <p:nvPr/>
        </p:nvSpPr>
        <p:spPr>
          <a:xfrm>
            <a:off x="8561827" y="1693171"/>
            <a:ext cx="3198677" cy="1021730"/>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a:extLst>
              <a:ext uri="{FF2B5EF4-FFF2-40B4-BE49-F238E27FC236}">
                <a16:creationId xmlns:a16="http://schemas.microsoft.com/office/drawing/2014/main" id="{307F56E9-DD19-4F2E-820C-3DD61C206955}"/>
              </a:ext>
            </a:extLst>
          </p:cNvPr>
          <p:cNvSpPr/>
          <p:nvPr/>
        </p:nvSpPr>
        <p:spPr>
          <a:xfrm>
            <a:off x="8574252" y="3013993"/>
            <a:ext cx="3198677" cy="1050794"/>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97">
            <a:extLst>
              <a:ext uri="{FF2B5EF4-FFF2-40B4-BE49-F238E27FC236}">
                <a16:creationId xmlns:a16="http://schemas.microsoft.com/office/drawing/2014/main" id="{BD4CC485-E32D-409C-A632-E3E44D0C6824}"/>
              </a:ext>
            </a:extLst>
          </p:cNvPr>
          <p:cNvSpPr/>
          <p:nvPr/>
        </p:nvSpPr>
        <p:spPr>
          <a:xfrm>
            <a:off x="8578846" y="4427407"/>
            <a:ext cx="3198677" cy="1097858"/>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a:extLst>
              <a:ext uri="{FF2B5EF4-FFF2-40B4-BE49-F238E27FC236}">
                <a16:creationId xmlns:a16="http://schemas.microsoft.com/office/drawing/2014/main" id="{64798A02-2109-4997-9FFF-70ACC4D56423}"/>
              </a:ext>
            </a:extLst>
          </p:cNvPr>
          <p:cNvSpPr/>
          <p:nvPr/>
        </p:nvSpPr>
        <p:spPr bwMode="auto">
          <a:xfrm>
            <a:off x="8555459" y="1367617"/>
            <a:ext cx="3217469" cy="365472"/>
          </a:xfrm>
          <a:prstGeom prst="rect">
            <a:avLst/>
          </a:prstGeom>
          <a:solidFill>
            <a:srgbClr val="B8DDE5"/>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样本不均衡与可解释性差</a:t>
            </a:r>
          </a:p>
        </p:txBody>
      </p:sp>
      <p:sp>
        <p:nvSpPr>
          <p:cNvPr id="100" name="文本框 99">
            <a:extLst>
              <a:ext uri="{FF2B5EF4-FFF2-40B4-BE49-F238E27FC236}">
                <a16:creationId xmlns:a16="http://schemas.microsoft.com/office/drawing/2014/main" id="{27055AA1-40D6-4B87-A733-2050FD09F540}"/>
              </a:ext>
            </a:extLst>
          </p:cNvPr>
          <p:cNvSpPr txBox="1"/>
          <p:nvPr/>
        </p:nvSpPr>
        <p:spPr>
          <a:xfrm>
            <a:off x="8591323" y="1792827"/>
            <a:ext cx="3163191" cy="846001"/>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限制机器学习对关键变量的识别；</a:t>
            </a:r>
            <a:endParaRPr lang="en-US" altLang="zh-CN" sz="1400" dirty="0">
              <a:latin typeface="微软雅黑" panose="020B0503020204020204" pitchFamily="34" charset="-122"/>
              <a:ea typeface="微软雅黑" panose="020B0503020204020204" pitchFamily="34" charset="-122"/>
              <a:cs typeface="仿宋_GB2312"/>
            </a:endParaRPr>
          </a:p>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限制高精度机器学习对关键因素的定量解释。</a:t>
            </a:r>
            <a:endParaRPr lang="en-US" altLang="zh-CN" sz="1400" dirty="0">
              <a:latin typeface="微软雅黑" panose="020B0503020204020204" pitchFamily="34" charset="-122"/>
              <a:ea typeface="微软雅黑" panose="020B0503020204020204" pitchFamily="34" charset="-122"/>
              <a:cs typeface="仿宋_GB2312"/>
            </a:endParaRPr>
          </a:p>
        </p:txBody>
      </p:sp>
      <p:sp>
        <p:nvSpPr>
          <p:cNvPr id="101" name="矩形 100">
            <a:extLst>
              <a:ext uri="{FF2B5EF4-FFF2-40B4-BE49-F238E27FC236}">
                <a16:creationId xmlns:a16="http://schemas.microsoft.com/office/drawing/2014/main" id="{D33B8180-D5A7-4772-950C-E6451AD58995}"/>
              </a:ext>
            </a:extLst>
          </p:cNvPr>
          <p:cNvSpPr/>
          <p:nvPr/>
        </p:nvSpPr>
        <p:spPr bwMode="auto">
          <a:xfrm>
            <a:off x="8569810" y="2785654"/>
            <a:ext cx="3207714" cy="365472"/>
          </a:xfrm>
          <a:prstGeom prst="rect">
            <a:avLst/>
          </a:prstGeom>
          <a:solidFill>
            <a:srgbClr val="FFF1D5"/>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考虑货车异质性的致因分析</a:t>
            </a:r>
          </a:p>
        </p:txBody>
      </p:sp>
      <p:sp>
        <p:nvSpPr>
          <p:cNvPr id="102" name="矩形 101">
            <a:extLst>
              <a:ext uri="{FF2B5EF4-FFF2-40B4-BE49-F238E27FC236}">
                <a16:creationId xmlns:a16="http://schemas.microsoft.com/office/drawing/2014/main" id="{5B29A523-2F45-44DA-8D1C-831D44559F13}"/>
              </a:ext>
            </a:extLst>
          </p:cNvPr>
          <p:cNvSpPr/>
          <p:nvPr/>
        </p:nvSpPr>
        <p:spPr bwMode="auto">
          <a:xfrm>
            <a:off x="8578846" y="4180893"/>
            <a:ext cx="3198677" cy="365472"/>
          </a:xfrm>
          <a:prstGeom prst="rect">
            <a:avLst/>
          </a:prstGeom>
          <a:solidFill>
            <a:srgbClr val="EBF1DE"/>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考虑驾驶员异质性的风险预测</a:t>
            </a:r>
          </a:p>
        </p:txBody>
      </p:sp>
      <p:sp>
        <p:nvSpPr>
          <p:cNvPr id="103" name="文本框 102">
            <a:extLst>
              <a:ext uri="{FF2B5EF4-FFF2-40B4-BE49-F238E27FC236}">
                <a16:creationId xmlns:a16="http://schemas.microsoft.com/office/drawing/2014/main" id="{5E5D50A8-6C65-4B1E-B5D5-4F4D6DC78F38}"/>
              </a:ext>
            </a:extLst>
          </p:cNvPr>
          <p:cNvSpPr txBox="1"/>
          <p:nvPr/>
        </p:nvSpPr>
        <p:spPr>
          <a:xfrm>
            <a:off x="8555460" y="3162630"/>
            <a:ext cx="3234918" cy="846001"/>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针对货车的研究局限在燃油大型货车；</a:t>
            </a:r>
            <a:endParaRPr lang="en-US" altLang="zh-CN" sz="1400" dirty="0">
              <a:latin typeface="微软雅黑" panose="020B0503020204020204" pitchFamily="34" charset="-122"/>
              <a:ea typeface="微软雅黑" panose="020B0503020204020204" pitchFamily="34" charset="-122"/>
              <a:cs typeface="仿宋_GB2312"/>
            </a:endParaRPr>
          </a:p>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电动货车占比增加，考虑货车异质性的致因分析对针对性防控非常关键。</a:t>
            </a:r>
            <a:endParaRPr lang="en-US" altLang="zh-CN" sz="1400" dirty="0">
              <a:latin typeface="微软雅黑" panose="020B0503020204020204" pitchFamily="34" charset="-122"/>
              <a:ea typeface="微软雅黑" panose="020B0503020204020204" pitchFamily="34" charset="-122"/>
              <a:cs typeface="仿宋_GB2312"/>
            </a:endParaRPr>
          </a:p>
        </p:txBody>
      </p:sp>
      <p:sp>
        <p:nvSpPr>
          <p:cNvPr id="104" name="文本框 103">
            <a:extLst>
              <a:ext uri="{FF2B5EF4-FFF2-40B4-BE49-F238E27FC236}">
                <a16:creationId xmlns:a16="http://schemas.microsoft.com/office/drawing/2014/main" id="{824B8150-FA1C-4C99-A37C-6BCEB948BF65}"/>
              </a:ext>
            </a:extLst>
          </p:cNvPr>
          <p:cNvSpPr txBox="1"/>
          <p:nvPr/>
        </p:nvSpPr>
        <p:spPr>
          <a:xfrm>
            <a:off x="8608330" y="4602790"/>
            <a:ext cx="3248310" cy="846001"/>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kumimoji="0" lang="zh-CN" altLang="en-US"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智能化发展使得运输车辆主动防控需求增加，</a:t>
            </a:r>
            <a:r>
              <a:rPr lang="zh-CN" altLang="en-US" sz="1400" dirty="0">
                <a:latin typeface="微软雅黑" panose="020B0503020204020204" pitchFamily="34" charset="-122"/>
                <a:ea typeface="微软雅黑" panose="020B0503020204020204" pitchFamily="34" charset="-122"/>
                <a:cs typeface="仿宋_GB2312"/>
              </a:rPr>
              <a:t>当前主动安全研究局限在时空属性影响，缺少对驾驶员异质性考虑。</a:t>
            </a:r>
          </a:p>
        </p:txBody>
      </p:sp>
      <p:sp>
        <p:nvSpPr>
          <p:cNvPr id="57" name="文本框 4">
            <a:extLst>
              <a:ext uri="{FF2B5EF4-FFF2-40B4-BE49-F238E27FC236}">
                <a16:creationId xmlns:a16="http://schemas.microsoft.com/office/drawing/2014/main" id="{A3152E6C-2967-4461-8127-52101B99AE48}"/>
              </a:ext>
            </a:extLst>
          </p:cNvPr>
          <p:cNvSpPr txBox="1"/>
          <p:nvPr/>
        </p:nvSpPr>
        <p:spPr>
          <a:xfrm>
            <a:off x="407368" y="188641"/>
            <a:ext cx="7767863"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研究现状</a:t>
            </a:r>
            <a:endParaRPr lang="zh-CN" altLang="en-US" dirty="0">
              <a:solidFill>
                <a:srgbClr val="FFC000"/>
              </a:solidFill>
              <a:latin typeface="微软雅黑" panose="020B0503020204020204" pitchFamily="34" charset="-122"/>
              <a:ea typeface="微软雅黑" panose="020B0503020204020204" pitchFamily="34" charset="-122"/>
            </a:endParaRPr>
          </a:p>
        </p:txBody>
      </p:sp>
      <p:sp>
        <p:nvSpPr>
          <p:cNvPr id="8" name="箭头: 右 7">
            <a:extLst>
              <a:ext uri="{FF2B5EF4-FFF2-40B4-BE49-F238E27FC236}">
                <a16:creationId xmlns:a16="http://schemas.microsoft.com/office/drawing/2014/main" id="{24AC77C2-0A5B-C44A-2D6A-C06BCD4D46C2}"/>
              </a:ext>
            </a:extLst>
          </p:cNvPr>
          <p:cNvSpPr/>
          <p:nvPr/>
        </p:nvSpPr>
        <p:spPr>
          <a:xfrm rot="5400000">
            <a:off x="5937260" y="5383474"/>
            <a:ext cx="282158" cy="7559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2AB4F049-A89D-F3D2-D1D9-371B2ADF8AE8}"/>
              </a:ext>
            </a:extLst>
          </p:cNvPr>
          <p:cNvSpPr txBox="1"/>
          <p:nvPr/>
        </p:nvSpPr>
        <p:spPr>
          <a:xfrm>
            <a:off x="849786" y="3686282"/>
            <a:ext cx="3213848" cy="1880130"/>
          </a:xfrm>
          <a:prstGeom prst="rect">
            <a:avLst/>
          </a:prstGeom>
          <a:noFill/>
        </p:spPr>
        <p:txBody>
          <a:bodyPr wrap="square">
            <a:spAutoFit/>
          </a:bodyPr>
          <a:lstStyle>
            <a:defPPr>
              <a:defRPr lang="en-US"/>
            </a:defPPr>
            <a:lvl1pPr marL="285750" marR="0" lvl="0" indent="-285750" fontAlgn="auto">
              <a:lnSpc>
                <a:spcPct val="120000"/>
              </a:lnSpc>
              <a:spcBef>
                <a:spcPts val="0"/>
              </a:spcBef>
              <a:spcAft>
                <a:spcPts val="0"/>
              </a:spcAft>
              <a:buClrTx/>
              <a:buSzTx/>
              <a:buFont typeface="Wingdings" panose="05000000000000000000" pitchFamily="2" charset="2"/>
              <a:buChar char="u"/>
              <a:tabLst/>
              <a:defRPr sz="1400" b="0" i="0">
                <a:effectLst/>
                <a:latin typeface="微软雅黑" panose="020B0503020204020204" pitchFamily="34" charset="-122"/>
                <a:ea typeface="微软雅黑" panose="020B0503020204020204" pitchFamily="34" charset="-122"/>
              </a:defRPr>
            </a:lvl1pPr>
          </a:lstStyle>
          <a:p>
            <a:endParaRPr lang="en-US" altLang="zh-CN" dirty="0"/>
          </a:p>
          <a:p>
            <a:r>
              <a:rPr lang="zh-CN" altLang="en-US" dirty="0"/>
              <a:t>事故致因分析中较多使用</a:t>
            </a:r>
            <a:r>
              <a:rPr lang="en-US" altLang="zh-CN" b="1" dirty="0" err="1"/>
              <a:t>LightGBM</a:t>
            </a:r>
            <a:r>
              <a:rPr lang="zh-CN" altLang="en-US" b="1" dirty="0"/>
              <a:t>、</a:t>
            </a:r>
            <a:r>
              <a:rPr lang="en-US" altLang="zh-CN" b="1" dirty="0" err="1"/>
              <a:t>XGBoost</a:t>
            </a:r>
            <a:r>
              <a:rPr lang="zh-CN" altLang="en-US" b="1" dirty="0"/>
              <a:t>、</a:t>
            </a:r>
            <a:r>
              <a:rPr lang="en-US" altLang="zh-CN" b="1" dirty="0" err="1"/>
              <a:t>CatBoost</a:t>
            </a:r>
            <a:r>
              <a:rPr lang="zh-CN" altLang="en-US" b="1" dirty="0"/>
              <a:t>、</a:t>
            </a:r>
            <a:r>
              <a:rPr lang="en-US" altLang="zh-CN" b="1" dirty="0"/>
              <a:t>RF</a:t>
            </a:r>
            <a:r>
              <a:rPr lang="zh-CN" altLang="en-US" b="1" dirty="0"/>
              <a:t>、</a:t>
            </a:r>
            <a:r>
              <a:rPr lang="en-US" altLang="zh-CN" b="1" dirty="0"/>
              <a:t>SVM</a:t>
            </a:r>
            <a:r>
              <a:rPr lang="zh-CN" altLang="en-US" dirty="0"/>
              <a:t>等模型，并利用 </a:t>
            </a:r>
            <a:r>
              <a:rPr lang="en-US" altLang="zh-CN" b="1" dirty="0"/>
              <a:t>SHAP </a:t>
            </a:r>
            <a:r>
              <a:rPr lang="zh-CN" altLang="en-US" dirty="0"/>
              <a:t>等算法进行致因解释</a:t>
            </a:r>
            <a:endParaRPr lang="en-US" altLang="zh-CN" dirty="0"/>
          </a:p>
          <a:p>
            <a:r>
              <a:rPr lang="zh-CN" altLang="en-US" sz="1400" dirty="0">
                <a:latin typeface="微软雅黑" panose="020B0503020204020204" pitchFamily="34" charset="-122"/>
                <a:ea typeface="微软雅黑" panose="020B0503020204020204" pitchFamily="34" charset="-122"/>
                <a:cs typeface="仿宋_GB2312"/>
              </a:rPr>
              <a:t>货车事故致因分析研究集中在</a:t>
            </a:r>
            <a:r>
              <a:rPr lang="zh-CN" altLang="en-US" sz="1400" b="1" dirty="0">
                <a:latin typeface="微软雅黑" panose="020B0503020204020204" pitchFamily="34" charset="-122"/>
                <a:ea typeface="微软雅黑" panose="020B0503020204020204" pitchFamily="34" charset="-122"/>
                <a:cs typeface="仿宋_GB2312"/>
              </a:rPr>
              <a:t>燃油大型货车</a:t>
            </a:r>
            <a:r>
              <a:rPr lang="zh-CN" altLang="en-US" dirty="0"/>
              <a:t>。</a:t>
            </a:r>
            <a:endParaRPr lang="en-US" altLang="zh-CN" dirty="0"/>
          </a:p>
        </p:txBody>
      </p:sp>
    </p:spTree>
    <p:extLst>
      <p:ext uri="{BB962C8B-B14F-4D97-AF65-F5344CB8AC3E}">
        <p14:creationId xmlns:p14="http://schemas.microsoft.com/office/powerpoint/2010/main" val="3363837368"/>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矩形 194">
            <a:extLst>
              <a:ext uri="{FF2B5EF4-FFF2-40B4-BE49-F238E27FC236}">
                <a16:creationId xmlns:a16="http://schemas.microsoft.com/office/drawing/2014/main" id="{FA426AE5-A142-81FD-536E-ACD319510FD6}"/>
              </a:ext>
            </a:extLst>
          </p:cNvPr>
          <p:cNvSpPr/>
          <p:nvPr/>
        </p:nvSpPr>
        <p:spPr>
          <a:xfrm>
            <a:off x="6368107" y="3139271"/>
            <a:ext cx="5285557" cy="81953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0" name="矩形 179">
            <a:extLst>
              <a:ext uri="{FF2B5EF4-FFF2-40B4-BE49-F238E27FC236}">
                <a16:creationId xmlns:a16="http://schemas.microsoft.com/office/drawing/2014/main" id="{F05F3317-C2F4-CC60-A2CA-BEB11DDD43E5}"/>
              </a:ext>
            </a:extLst>
          </p:cNvPr>
          <p:cNvSpPr/>
          <p:nvPr/>
        </p:nvSpPr>
        <p:spPr>
          <a:xfrm>
            <a:off x="6368106" y="2158602"/>
            <a:ext cx="5285557" cy="720893"/>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5" name="矩形 174">
            <a:extLst>
              <a:ext uri="{FF2B5EF4-FFF2-40B4-BE49-F238E27FC236}">
                <a16:creationId xmlns:a16="http://schemas.microsoft.com/office/drawing/2014/main" id="{C749B178-0C8F-F626-85AD-AEB763211C7B}"/>
              </a:ext>
            </a:extLst>
          </p:cNvPr>
          <p:cNvSpPr/>
          <p:nvPr/>
        </p:nvSpPr>
        <p:spPr>
          <a:xfrm>
            <a:off x="476503" y="2224974"/>
            <a:ext cx="2701367"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6" name="矩形 175">
            <a:extLst>
              <a:ext uri="{FF2B5EF4-FFF2-40B4-BE49-F238E27FC236}">
                <a16:creationId xmlns:a16="http://schemas.microsoft.com/office/drawing/2014/main" id="{E5294E16-A48F-06C2-1A46-BE693A547B58}"/>
              </a:ext>
            </a:extLst>
          </p:cNvPr>
          <p:cNvSpPr/>
          <p:nvPr/>
        </p:nvSpPr>
        <p:spPr>
          <a:xfrm>
            <a:off x="3285989" y="2224974"/>
            <a:ext cx="2596718"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46" name="矩形 245">
            <a:extLst>
              <a:ext uri="{FF2B5EF4-FFF2-40B4-BE49-F238E27FC236}">
                <a16:creationId xmlns:a16="http://schemas.microsoft.com/office/drawing/2014/main" id="{97FA3670-2AAF-A5F5-BBD1-F1E5763D3C5E}"/>
              </a:ext>
            </a:extLst>
          </p:cNvPr>
          <p:cNvSpPr/>
          <p:nvPr/>
        </p:nvSpPr>
        <p:spPr>
          <a:xfrm>
            <a:off x="6268244" y="4770692"/>
            <a:ext cx="1604490" cy="1733694"/>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45" name="矩形 244">
            <a:extLst>
              <a:ext uri="{FF2B5EF4-FFF2-40B4-BE49-F238E27FC236}">
                <a16:creationId xmlns:a16="http://schemas.microsoft.com/office/drawing/2014/main" id="{A7FF663E-7E7A-5957-9216-9871F38F39F6}"/>
              </a:ext>
            </a:extLst>
          </p:cNvPr>
          <p:cNvSpPr/>
          <p:nvPr/>
        </p:nvSpPr>
        <p:spPr>
          <a:xfrm>
            <a:off x="3045235" y="4778977"/>
            <a:ext cx="2837472"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6" name="TextBox 1"/>
          <p:cNvSpPr txBox="1"/>
          <p:nvPr/>
        </p:nvSpPr>
        <p:spPr>
          <a:xfrm>
            <a:off x="407368" y="188641"/>
            <a:ext cx="6912768" cy="460375"/>
          </a:xfrm>
          <a:prstGeom prst="rect">
            <a:avLst/>
          </a:prstGeom>
          <a:noFill/>
        </p:spPr>
        <p:txBody>
          <a:bodyPr wrap="square" rtlCol="0">
            <a:spAutoFit/>
          </a:bodyPr>
          <a:lstStyle/>
          <a:p>
            <a:r>
              <a:rPr lang="zh-CN" altLang="en-US" sz="2400" b="1" dirty="0">
                <a:solidFill>
                  <a:srgbClr val="FFC000"/>
                </a:solidFill>
                <a:latin typeface="微软雅黑" panose="020B0503020204020204" pitchFamily="34" charset="-122"/>
                <a:ea typeface="微软雅黑" panose="020B0503020204020204" pitchFamily="34" charset="-122"/>
                <a:sym typeface="+mn-ea"/>
              </a:rPr>
              <a:t>研究思路</a:t>
            </a:r>
            <a:endParaRPr lang="zh-CN" sz="2400" b="1" dirty="0">
              <a:solidFill>
                <a:srgbClr val="FFC000"/>
              </a:solidFill>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6699BF80-EB83-4A67-5D55-74907B51AC5E}"/>
              </a:ext>
            </a:extLst>
          </p:cNvPr>
          <p:cNvSpPr/>
          <p:nvPr/>
        </p:nvSpPr>
        <p:spPr>
          <a:xfrm>
            <a:off x="332487" y="1654547"/>
            <a:ext cx="5691505" cy="2422525"/>
          </a:xfrm>
          <a:prstGeom prst="roundRect">
            <a:avLst>
              <a:gd name="adj" fmla="val 9054"/>
            </a:avLst>
          </a:prstGeom>
          <a:noFill/>
          <a:ln>
            <a:solidFill>
              <a:schemeClr val="tx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09DB6E25-F2C9-E7B2-1E6D-9ECA90371FCF}"/>
              </a:ext>
            </a:extLst>
          </p:cNvPr>
          <p:cNvSpPr/>
          <p:nvPr/>
        </p:nvSpPr>
        <p:spPr>
          <a:xfrm>
            <a:off x="6165135" y="1654546"/>
            <a:ext cx="5691505" cy="2422525"/>
          </a:xfrm>
          <a:prstGeom prst="roundRect">
            <a:avLst>
              <a:gd name="adj" fmla="val 9054"/>
            </a:avLst>
          </a:prstGeom>
          <a:noFill/>
          <a:ln>
            <a:solidFill>
              <a:schemeClr val="tx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0" name="矩形: 圆顶角 9">
            <a:extLst>
              <a:ext uri="{FF2B5EF4-FFF2-40B4-BE49-F238E27FC236}">
                <a16:creationId xmlns:a16="http://schemas.microsoft.com/office/drawing/2014/main" id="{0BD79165-C83B-C471-4152-A90B9507BE60}"/>
              </a:ext>
            </a:extLst>
          </p:cNvPr>
          <p:cNvSpPr/>
          <p:nvPr/>
        </p:nvSpPr>
        <p:spPr>
          <a:xfrm>
            <a:off x="329614" y="1652958"/>
            <a:ext cx="5691505" cy="432048"/>
          </a:xfrm>
          <a:prstGeom prst="round2SameRect">
            <a:avLst>
              <a:gd name="adj1" fmla="val 50000"/>
              <a:gd name="adj2" fmla="val 0"/>
            </a:avLst>
          </a:prstGeom>
          <a:solidFill>
            <a:srgbClr val="4472C4"/>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数据基座：基于多源数据的道路运输车辆出行风险特征分析</a:t>
            </a:r>
          </a:p>
        </p:txBody>
      </p:sp>
      <p:sp>
        <p:nvSpPr>
          <p:cNvPr id="23" name="矩形 22">
            <a:extLst>
              <a:ext uri="{FF2B5EF4-FFF2-40B4-BE49-F238E27FC236}">
                <a16:creationId xmlns:a16="http://schemas.microsoft.com/office/drawing/2014/main" id="{58DF6B67-4302-8629-9827-5F1CAF7324D9}"/>
              </a:ext>
            </a:extLst>
          </p:cNvPr>
          <p:cNvSpPr/>
          <p:nvPr/>
        </p:nvSpPr>
        <p:spPr>
          <a:xfrm>
            <a:off x="2400387" y="2319605"/>
            <a:ext cx="648072" cy="8545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货车事故数据</a:t>
            </a:r>
          </a:p>
        </p:txBody>
      </p:sp>
      <p:sp>
        <p:nvSpPr>
          <p:cNvPr id="24" name="矩形 23">
            <a:extLst>
              <a:ext uri="{FF2B5EF4-FFF2-40B4-BE49-F238E27FC236}">
                <a16:creationId xmlns:a16="http://schemas.microsoft.com/office/drawing/2014/main" id="{65AD007F-1CEA-E549-AB9B-BD7539BBB007}"/>
              </a:ext>
            </a:extLst>
          </p:cNvPr>
          <p:cNvSpPr/>
          <p:nvPr/>
        </p:nvSpPr>
        <p:spPr>
          <a:xfrm>
            <a:off x="3356823" y="2319605"/>
            <a:ext cx="648072" cy="86683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运输车辆出行数据</a:t>
            </a:r>
          </a:p>
        </p:txBody>
      </p:sp>
      <p:sp>
        <p:nvSpPr>
          <p:cNvPr id="28" name="矩形 27">
            <a:extLst>
              <a:ext uri="{FF2B5EF4-FFF2-40B4-BE49-F238E27FC236}">
                <a16:creationId xmlns:a16="http://schemas.microsoft.com/office/drawing/2014/main" id="{3B4007C1-FED1-65D5-FAF1-ED16F54FB3BB}"/>
              </a:ext>
            </a:extLst>
          </p:cNvPr>
          <p:cNvSpPr/>
          <p:nvPr/>
        </p:nvSpPr>
        <p:spPr>
          <a:xfrm>
            <a:off x="577792" y="2311928"/>
            <a:ext cx="1445689"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OSM</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道路数据</a:t>
            </a:r>
          </a:p>
        </p:txBody>
      </p:sp>
      <p:sp>
        <p:nvSpPr>
          <p:cNvPr id="29" name="矩形 28">
            <a:extLst>
              <a:ext uri="{FF2B5EF4-FFF2-40B4-BE49-F238E27FC236}">
                <a16:creationId xmlns:a16="http://schemas.microsoft.com/office/drawing/2014/main" id="{C99016EB-4655-4E31-3F8B-EA73778F87BB}"/>
              </a:ext>
            </a:extLst>
          </p:cNvPr>
          <p:cNvSpPr/>
          <p:nvPr/>
        </p:nvSpPr>
        <p:spPr>
          <a:xfrm>
            <a:off x="577792" y="2615243"/>
            <a:ext cx="1445689"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GIS</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路网特性</a:t>
            </a:r>
          </a:p>
        </p:txBody>
      </p:sp>
      <p:sp>
        <p:nvSpPr>
          <p:cNvPr id="30" name="矩形 29">
            <a:extLst>
              <a:ext uri="{FF2B5EF4-FFF2-40B4-BE49-F238E27FC236}">
                <a16:creationId xmlns:a16="http://schemas.microsoft.com/office/drawing/2014/main" id="{21DD3332-D952-6075-87D9-83B846DDA251}"/>
              </a:ext>
            </a:extLst>
          </p:cNvPr>
          <p:cNvSpPr/>
          <p:nvPr/>
        </p:nvSpPr>
        <p:spPr>
          <a:xfrm>
            <a:off x="577792" y="2918133"/>
            <a:ext cx="1445689"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气候数据</a:t>
            </a:r>
          </a:p>
        </p:txBody>
      </p:sp>
      <p:sp>
        <p:nvSpPr>
          <p:cNvPr id="31" name="矩形 30">
            <a:extLst>
              <a:ext uri="{FF2B5EF4-FFF2-40B4-BE49-F238E27FC236}">
                <a16:creationId xmlns:a16="http://schemas.microsoft.com/office/drawing/2014/main" id="{6007E566-22B6-2AA8-9C8C-EF4950B6283E}"/>
              </a:ext>
            </a:extLst>
          </p:cNvPr>
          <p:cNvSpPr/>
          <p:nvPr/>
        </p:nvSpPr>
        <p:spPr>
          <a:xfrm>
            <a:off x="4428435" y="2312499"/>
            <a:ext cx="1368152"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GPS</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轨迹数据</a:t>
            </a:r>
          </a:p>
        </p:txBody>
      </p:sp>
      <p:sp>
        <p:nvSpPr>
          <p:cNvPr id="32" name="矩形 31">
            <a:extLst>
              <a:ext uri="{FF2B5EF4-FFF2-40B4-BE49-F238E27FC236}">
                <a16:creationId xmlns:a16="http://schemas.microsoft.com/office/drawing/2014/main" id="{C218B1F8-25A6-97EF-8A55-07B5055A1F2B}"/>
              </a:ext>
            </a:extLst>
          </p:cNvPr>
          <p:cNvSpPr/>
          <p:nvPr/>
        </p:nvSpPr>
        <p:spPr>
          <a:xfrm>
            <a:off x="4428435" y="2620592"/>
            <a:ext cx="1368152"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告警数据</a:t>
            </a:r>
          </a:p>
        </p:txBody>
      </p:sp>
      <p:sp>
        <p:nvSpPr>
          <p:cNvPr id="33" name="矩形 32">
            <a:extLst>
              <a:ext uri="{FF2B5EF4-FFF2-40B4-BE49-F238E27FC236}">
                <a16:creationId xmlns:a16="http://schemas.microsoft.com/office/drawing/2014/main" id="{EE8D7BAD-E8A4-D4FE-F3F7-77D0E93A1AD4}"/>
              </a:ext>
            </a:extLst>
          </p:cNvPr>
          <p:cNvSpPr/>
          <p:nvPr/>
        </p:nvSpPr>
        <p:spPr>
          <a:xfrm>
            <a:off x="4428435" y="2929670"/>
            <a:ext cx="1368152"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视频数据</a:t>
            </a:r>
          </a:p>
        </p:txBody>
      </p:sp>
      <p:cxnSp>
        <p:nvCxnSpPr>
          <p:cNvPr id="36" name="连接符: 肘形 35">
            <a:extLst>
              <a:ext uri="{FF2B5EF4-FFF2-40B4-BE49-F238E27FC236}">
                <a16:creationId xmlns:a16="http://schemas.microsoft.com/office/drawing/2014/main" id="{F3C43882-4FD6-C831-E827-2B56CC6C6247}"/>
              </a:ext>
            </a:extLst>
          </p:cNvPr>
          <p:cNvCxnSpPr>
            <a:cxnSpLocks/>
            <a:stCxn id="28" idx="3"/>
            <a:endCxn id="23" idx="1"/>
          </p:cNvCxnSpPr>
          <p:nvPr/>
        </p:nvCxnSpPr>
        <p:spPr>
          <a:xfrm>
            <a:off x="2023481" y="2445326"/>
            <a:ext cx="376906" cy="30156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8" name="连接符: 肘形 37">
            <a:extLst>
              <a:ext uri="{FF2B5EF4-FFF2-40B4-BE49-F238E27FC236}">
                <a16:creationId xmlns:a16="http://schemas.microsoft.com/office/drawing/2014/main" id="{066049BA-1191-7833-4EBB-A124D8E32F02}"/>
              </a:ext>
            </a:extLst>
          </p:cNvPr>
          <p:cNvCxnSpPr>
            <a:cxnSpLocks/>
            <a:stCxn id="29" idx="3"/>
            <a:endCxn id="23" idx="1"/>
          </p:cNvCxnSpPr>
          <p:nvPr/>
        </p:nvCxnSpPr>
        <p:spPr>
          <a:xfrm flipV="1">
            <a:off x="2023481" y="2746889"/>
            <a:ext cx="376906" cy="175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2" name="连接符: 肘形 41">
            <a:extLst>
              <a:ext uri="{FF2B5EF4-FFF2-40B4-BE49-F238E27FC236}">
                <a16:creationId xmlns:a16="http://schemas.microsoft.com/office/drawing/2014/main" id="{EC0BEDB6-DAD6-B690-6EEF-50027FA09590}"/>
              </a:ext>
            </a:extLst>
          </p:cNvPr>
          <p:cNvCxnSpPr>
            <a:cxnSpLocks/>
            <a:stCxn id="30" idx="3"/>
            <a:endCxn id="23" idx="1"/>
          </p:cNvCxnSpPr>
          <p:nvPr/>
        </p:nvCxnSpPr>
        <p:spPr>
          <a:xfrm flipV="1">
            <a:off x="2023481" y="2746889"/>
            <a:ext cx="376906" cy="30464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3" name="连接符: 肘形 42">
            <a:extLst>
              <a:ext uri="{FF2B5EF4-FFF2-40B4-BE49-F238E27FC236}">
                <a16:creationId xmlns:a16="http://schemas.microsoft.com/office/drawing/2014/main" id="{4AC7EF9A-43BB-725C-AC37-F78C137FC9EF}"/>
              </a:ext>
            </a:extLst>
          </p:cNvPr>
          <p:cNvCxnSpPr>
            <a:cxnSpLocks/>
            <a:stCxn id="31" idx="1"/>
            <a:endCxn id="24" idx="3"/>
          </p:cNvCxnSpPr>
          <p:nvPr/>
        </p:nvCxnSpPr>
        <p:spPr>
          <a:xfrm rot="10800000" flipV="1">
            <a:off x="4004895" y="2445896"/>
            <a:ext cx="423540" cy="30712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6" name="连接符: 肘形 45">
            <a:extLst>
              <a:ext uri="{FF2B5EF4-FFF2-40B4-BE49-F238E27FC236}">
                <a16:creationId xmlns:a16="http://schemas.microsoft.com/office/drawing/2014/main" id="{E7A92188-F929-F419-9849-42E56D41522A}"/>
              </a:ext>
            </a:extLst>
          </p:cNvPr>
          <p:cNvCxnSpPr>
            <a:cxnSpLocks/>
            <a:stCxn id="32" idx="1"/>
            <a:endCxn id="24" idx="3"/>
          </p:cNvCxnSpPr>
          <p:nvPr/>
        </p:nvCxnSpPr>
        <p:spPr>
          <a:xfrm rot="10800000">
            <a:off x="4004895" y="2753024"/>
            <a:ext cx="423540" cy="96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9" name="连接符: 肘形 48">
            <a:extLst>
              <a:ext uri="{FF2B5EF4-FFF2-40B4-BE49-F238E27FC236}">
                <a16:creationId xmlns:a16="http://schemas.microsoft.com/office/drawing/2014/main" id="{7D2102C2-1015-448B-B69B-E807433E9493}"/>
              </a:ext>
            </a:extLst>
          </p:cNvPr>
          <p:cNvCxnSpPr>
            <a:cxnSpLocks/>
            <a:stCxn id="33" idx="1"/>
            <a:endCxn id="24" idx="3"/>
          </p:cNvCxnSpPr>
          <p:nvPr/>
        </p:nvCxnSpPr>
        <p:spPr>
          <a:xfrm rot="10800000">
            <a:off x="4004895" y="2753024"/>
            <a:ext cx="423540" cy="31004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09" name="矩形 108">
            <a:extLst>
              <a:ext uri="{FF2B5EF4-FFF2-40B4-BE49-F238E27FC236}">
                <a16:creationId xmlns:a16="http://schemas.microsoft.com/office/drawing/2014/main" id="{43829FAB-3629-525A-0FB9-9258BEC43542}"/>
              </a:ext>
            </a:extLst>
          </p:cNvPr>
          <p:cNvSpPr/>
          <p:nvPr/>
        </p:nvSpPr>
        <p:spPr>
          <a:xfrm>
            <a:off x="538492" y="3594647"/>
            <a:ext cx="2577391" cy="30310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多类别货车事故时空分布特征</a:t>
            </a:r>
          </a:p>
        </p:txBody>
      </p:sp>
      <p:sp>
        <p:nvSpPr>
          <p:cNvPr id="119" name="箭头: 下 118">
            <a:extLst>
              <a:ext uri="{FF2B5EF4-FFF2-40B4-BE49-F238E27FC236}">
                <a16:creationId xmlns:a16="http://schemas.microsoft.com/office/drawing/2014/main" id="{4A797D0A-2B1A-0878-4A95-E292CC685507}"/>
              </a:ext>
            </a:extLst>
          </p:cNvPr>
          <p:cNvSpPr/>
          <p:nvPr/>
        </p:nvSpPr>
        <p:spPr>
          <a:xfrm>
            <a:off x="1827317" y="3293742"/>
            <a:ext cx="141408" cy="216024"/>
          </a:xfrm>
          <a:prstGeom prst="downArrow">
            <a:avLst/>
          </a:prstGeom>
          <a:solidFill>
            <a:srgbClr val="B8DDE5"/>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120" name="矩形 119">
            <a:extLst>
              <a:ext uri="{FF2B5EF4-FFF2-40B4-BE49-F238E27FC236}">
                <a16:creationId xmlns:a16="http://schemas.microsoft.com/office/drawing/2014/main" id="{A0D1BDD6-70B1-210F-85A2-9977FDAF569C}"/>
              </a:ext>
            </a:extLst>
          </p:cNvPr>
          <p:cNvSpPr/>
          <p:nvPr/>
        </p:nvSpPr>
        <p:spPr>
          <a:xfrm>
            <a:off x="3379979" y="3594647"/>
            <a:ext cx="2425115" cy="30310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运输车辆出行特征</a:t>
            </a:r>
          </a:p>
        </p:txBody>
      </p:sp>
      <p:sp>
        <p:nvSpPr>
          <p:cNvPr id="121" name="文本框 120">
            <a:extLst>
              <a:ext uri="{FF2B5EF4-FFF2-40B4-BE49-F238E27FC236}">
                <a16:creationId xmlns:a16="http://schemas.microsoft.com/office/drawing/2014/main" id="{417E4353-B441-D5D3-7F65-4F042EA3E2F2}"/>
              </a:ext>
            </a:extLst>
          </p:cNvPr>
          <p:cNvSpPr txBox="1"/>
          <p:nvPr/>
        </p:nvSpPr>
        <p:spPr>
          <a:xfrm>
            <a:off x="995565" y="3249085"/>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统计分析</a:t>
            </a:r>
          </a:p>
        </p:txBody>
      </p:sp>
      <p:sp>
        <p:nvSpPr>
          <p:cNvPr id="128" name="文本框 127">
            <a:extLst>
              <a:ext uri="{FF2B5EF4-FFF2-40B4-BE49-F238E27FC236}">
                <a16:creationId xmlns:a16="http://schemas.microsoft.com/office/drawing/2014/main" id="{3F27AD6F-C6B6-583D-1F27-4D172E77CF46}"/>
              </a:ext>
            </a:extLst>
          </p:cNvPr>
          <p:cNvSpPr txBox="1"/>
          <p:nvPr/>
        </p:nvSpPr>
        <p:spPr>
          <a:xfrm>
            <a:off x="2000258" y="3249085"/>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聚类分析</a:t>
            </a:r>
          </a:p>
        </p:txBody>
      </p:sp>
      <p:sp>
        <p:nvSpPr>
          <p:cNvPr id="129" name="箭头: 下 128">
            <a:extLst>
              <a:ext uri="{FF2B5EF4-FFF2-40B4-BE49-F238E27FC236}">
                <a16:creationId xmlns:a16="http://schemas.microsoft.com/office/drawing/2014/main" id="{A1C09A33-9384-3230-EB77-01EA281E42D3}"/>
              </a:ext>
            </a:extLst>
          </p:cNvPr>
          <p:cNvSpPr/>
          <p:nvPr/>
        </p:nvSpPr>
        <p:spPr>
          <a:xfrm>
            <a:off x="4677428" y="3272494"/>
            <a:ext cx="141408" cy="216024"/>
          </a:xfrm>
          <a:prstGeom prst="downArrow">
            <a:avLst/>
          </a:prstGeom>
          <a:solidFill>
            <a:srgbClr val="B8DDE5"/>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130" name="文本框 129">
            <a:extLst>
              <a:ext uri="{FF2B5EF4-FFF2-40B4-BE49-F238E27FC236}">
                <a16:creationId xmlns:a16="http://schemas.microsoft.com/office/drawing/2014/main" id="{CE2990AD-C74F-7876-4C66-1D2893DD378D}"/>
              </a:ext>
            </a:extLst>
          </p:cNvPr>
          <p:cNvSpPr txBox="1"/>
          <p:nvPr/>
        </p:nvSpPr>
        <p:spPr>
          <a:xfrm>
            <a:off x="4876775" y="3245499"/>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指标提取</a:t>
            </a:r>
          </a:p>
        </p:txBody>
      </p:sp>
      <p:sp>
        <p:nvSpPr>
          <p:cNvPr id="131" name="文本框 130">
            <a:extLst>
              <a:ext uri="{FF2B5EF4-FFF2-40B4-BE49-F238E27FC236}">
                <a16:creationId xmlns:a16="http://schemas.microsoft.com/office/drawing/2014/main" id="{5953ADDF-1489-6EAD-8E78-0E9FD7CAF5F9}"/>
              </a:ext>
            </a:extLst>
          </p:cNvPr>
          <p:cNvSpPr txBox="1"/>
          <p:nvPr/>
        </p:nvSpPr>
        <p:spPr>
          <a:xfrm>
            <a:off x="3814143" y="3247214"/>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滤波插值</a:t>
            </a:r>
          </a:p>
        </p:txBody>
      </p:sp>
      <p:sp>
        <p:nvSpPr>
          <p:cNvPr id="153" name="矩形 152">
            <a:extLst>
              <a:ext uri="{FF2B5EF4-FFF2-40B4-BE49-F238E27FC236}">
                <a16:creationId xmlns:a16="http://schemas.microsoft.com/office/drawing/2014/main" id="{BAFF37C2-0663-8C27-487D-54EC3E83B3E8}"/>
              </a:ext>
            </a:extLst>
          </p:cNvPr>
          <p:cNvSpPr/>
          <p:nvPr/>
        </p:nvSpPr>
        <p:spPr>
          <a:xfrm>
            <a:off x="7245255" y="2230951"/>
            <a:ext cx="1371496"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CTGAN</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4" name="矩形 153">
            <a:extLst>
              <a:ext uri="{FF2B5EF4-FFF2-40B4-BE49-F238E27FC236}">
                <a16:creationId xmlns:a16="http://schemas.microsoft.com/office/drawing/2014/main" id="{29A6F2C4-5929-8109-E020-19566814413D}"/>
              </a:ext>
            </a:extLst>
          </p:cNvPr>
          <p:cNvSpPr/>
          <p:nvPr/>
        </p:nvSpPr>
        <p:spPr>
          <a:xfrm>
            <a:off x="7245255" y="2556500"/>
            <a:ext cx="1371496"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TabDDPM</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8" name="文本框 157">
            <a:extLst>
              <a:ext uri="{FF2B5EF4-FFF2-40B4-BE49-F238E27FC236}">
                <a16:creationId xmlns:a16="http://schemas.microsoft.com/office/drawing/2014/main" id="{EFEA7A3B-9CDC-82D9-99C4-FB7471E09786}"/>
              </a:ext>
            </a:extLst>
          </p:cNvPr>
          <p:cNvSpPr txBox="1"/>
          <p:nvPr/>
        </p:nvSpPr>
        <p:spPr>
          <a:xfrm>
            <a:off x="6420828" y="2254405"/>
            <a:ext cx="799256" cy="523220"/>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生成式算法</a:t>
            </a:r>
          </a:p>
        </p:txBody>
      </p:sp>
      <p:sp>
        <p:nvSpPr>
          <p:cNvPr id="159" name="文本框 158">
            <a:extLst>
              <a:ext uri="{FF2B5EF4-FFF2-40B4-BE49-F238E27FC236}">
                <a16:creationId xmlns:a16="http://schemas.microsoft.com/office/drawing/2014/main" id="{5A2E2437-44E4-6D93-FEBF-3994DFCEF0A6}"/>
              </a:ext>
            </a:extLst>
          </p:cNvPr>
          <p:cNvSpPr txBox="1"/>
          <p:nvPr/>
        </p:nvSpPr>
        <p:spPr>
          <a:xfrm>
            <a:off x="6409606" y="3215042"/>
            <a:ext cx="810478" cy="738664"/>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事故严重程度识别</a:t>
            </a:r>
          </a:p>
        </p:txBody>
      </p:sp>
      <p:sp>
        <p:nvSpPr>
          <p:cNvPr id="160" name="矩形 159">
            <a:extLst>
              <a:ext uri="{FF2B5EF4-FFF2-40B4-BE49-F238E27FC236}">
                <a16:creationId xmlns:a16="http://schemas.microsoft.com/office/drawing/2014/main" id="{45C413F7-A09C-111C-3495-71D1412B7C98}"/>
              </a:ext>
            </a:extLst>
          </p:cNvPr>
          <p:cNvSpPr/>
          <p:nvPr/>
        </p:nvSpPr>
        <p:spPr>
          <a:xfrm>
            <a:off x="9520624" y="3257298"/>
            <a:ext cx="1469047" cy="23731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模型整体性能</a:t>
            </a:r>
          </a:p>
        </p:txBody>
      </p:sp>
      <p:sp>
        <p:nvSpPr>
          <p:cNvPr id="161" name="矩形 160">
            <a:extLst>
              <a:ext uri="{FF2B5EF4-FFF2-40B4-BE49-F238E27FC236}">
                <a16:creationId xmlns:a16="http://schemas.microsoft.com/office/drawing/2014/main" id="{F596CC19-837F-0CB7-43CE-C2FBB45AA2E9}"/>
              </a:ext>
            </a:extLst>
          </p:cNvPr>
          <p:cNvSpPr/>
          <p:nvPr/>
        </p:nvSpPr>
        <p:spPr>
          <a:xfrm>
            <a:off x="7337937" y="3257299"/>
            <a:ext cx="1964639"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Stacking</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集成</a:t>
            </a:r>
          </a:p>
        </p:txBody>
      </p:sp>
      <p:sp>
        <p:nvSpPr>
          <p:cNvPr id="162" name="矩形 161">
            <a:extLst>
              <a:ext uri="{FF2B5EF4-FFF2-40B4-BE49-F238E27FC236}">
                <a16:creationId xmlns:a16="http://schemas.microsoft.com/office/drawing/2014/main" id="{72CDD3A2-910A-A169-7EF7-4E75FD0F0C27}"/>
              </a:ext>
            </a:extLst>
          </p:cNvPr>
          <p:cNvSpPr/>
          <p:nvPr/>
        </p:nvSpPr>
        <p:spPr>
          <a:xfrm>
            <a:off x="7337937" y="3594140"/>
            <a:ext cx="95428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基学习器</a:t>
            </a:r>
          </a:p>
        </p:txBody>
      </p:sp>
      <p:sp>
        <p:nvSpPr>
          <p:cNvPr id="167" name="矩形 166">
            <a:extLst>
              <a:ext uri="{FF2B5EF4-FFF2-40B4-BE49-F238E27FC236}">
                <a16:creationId xmlns:a16="http://schemas.microsoft.com/office/drawing/2014/main" id="{E8F5AAC0-67B0-40B5-6F56-B4D83B0E3573}"/>
              </a:ext>
            </a:extLst>
          </p:cNvPr>
          <p:cNvSpPr/>
          <p:nvPr/>
        </p:nvSpPr>
        <p:spPr>
          <a:xfrm>
            <a:off x="8366474" y="3594139"/>
            <a:ext cx="93610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元学习器</a:t>
            </a:r>
          </a:p>
        </p:txBody>
      </p:sp>
      <p:sp>
        <p:nvSpPr>
          <p:cNvPr id="168" name="矩形 167">
            <a:extLst>
              <a:ext uri="{FF2B5EF4-FFF2-40B4-BE49-F238E27FC236}">
                <a16:creationId xmlns:a16="http://schemas.microsoft.com/office/drawing/2014/main" id="{5122EDBA-5D30-CBD5-47C5-CE72B3D72E06}"/>
              </a:ext>
            </a:extLst>
          </p:cNvPr>
          <p:cNvSpPr/>
          <p:nvPr/>
        </p:nvSpPr>
        <p:spPr>
          <a:xfrm>
            <a:off x="9176879" y="2233285"/>
            <a:ext cx="572185" cy="5745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质量评估</a:t>
            </a:r>
          </a:p>
        </p:txBody>
      </p:sp>
      <p:sp>
        <p:nvSpPr>
          <p:cNvPr id="169" name="矩形 168">
            <a:extLst>
              <a:ext uri="{FF2B5EF4-FFF2-40B4-BE49-F238E27FC236}">
                <a16:creationId xmlns:a16="http://schemas.microsoft.com/office/drawing/2014/main" id="{CCE12016-46F0-991F-A517-6827B5FD545D}"/>
              </a:ext>
            </a:extLst>
          </p:cNvPr>
          <p:cNvSpPr/>
          <p:nvPr/>
        </p:nvSpPr>
        <p:spPr>
          <a:xfrm>
            <a:off x="9520624" y="3589873"/>
            <a:ext cx="1469047" cy="23731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少样本识别效果</a:t>
            </a:r>
          </a:p>
        </p:txBody>
      </p:sp>
      <p:sp>
        <p:nvSpPr>
          <p:cNvPr id="172" name="矩形 171">
            <a:extLst>
              <a:ext uri="{FF2B5EF4-FFF2-40B4-BE49-F238E27FC236}">
                <a16:creationId xmlns:a16="http://schemas.microsoft.com/office/drawing/2014/main" id="{055440DB-5148-0412-FA30-F3BFFAAC0D6A}"/>
              </a:ext>
            </a:extLst>
          </p:cNvPr>
          <p:cNvSpPr/>
          <p:nvPr/>
        </p:nvSpPr>
        <p:spPr>
          <a:xfrm>
            <a:off x="10594723" y="2254405"/>
            <a:ext cx="927645" cy="5507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JS</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散度</a:t>
            </a:r>
            <a:endPar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泛化评估</a:t>
            </a:r>
          </a:p>
        </p:txBody>
      </p:sp>
      <p:cxnSp>
        <p:nvCxnSpPr>
          <p:cNvPr id="183" name="直接箭头连接符 182">
            <a:extLst>
              <a:ext uri="{FF2B5EF4-FFF2-40B4-BE49-F238E27FC236}">
                <a16:creationId xmlns:a16="http://schemas.microsoft.com/office/drawing/2014/main" id="{BE3D8195-2300-EE2C-ECCC-C9CBF5D0FB56}"/>
              </a:ext>
            </a:extLst>
          </p:cNvPr>
          <p:cNvCxnSpPr>
            <a:stCxn id="161" idx="2"/>
            <a:endCxn id="162" idx="0"/>
          </p:cNvCxnSpPr>
          <p:nvPr/>
        </p:nvCxnSpPr>
        <p:spPr>
          <a:xfrm flipH="1">
            <a:off x="7815079" y="3494616"/>
            <a:ext cx="505178" cy="9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4" name="直接箭头连接符 183">
            <a:extLst>
              <a:ext uri="{FF2B5EF4-FFF2-40B4-BE49-F238E27FC236}">
                <a16:creationId xmlns:a16="http://schemas.microsoft.com/office/drawing/2014/main" id="{C9C707D7-95AA-88B9-5071-E2B09FB6201C}"/>
              </a:ext>
            </a:extLst>
          </p:cNvPr>
          <p:cNvCxnSpPr>
            <a:cxnSpLocks/>
            <a:stCxn id="161" idx="2"/>
            <a:endCxn id="167" idx="0"/>
          </p:cNvCxnSpPr>
          <p:nvPr/>
        </p:nvCxnSpPr>
        <p:spPr>
          <a:xfrm>
            <a:off x="8320257" y="3494616"/>
            <a:ext cx="514269" cy="995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0" name="矩形 199">
            <a:extLst>
              <a:ext uri="{FF2B5EF4-FFF2-40B4-BE49-F238E27FC236}">
                <a16:creationId xmlns:a16="http://schemas.microsoft.com/office/drawing/2014/main" id="{ABE2E021-0531-E17B-55AB-9A7155F771F7}"/>
              </a:ext>
            </a:extLst>
          </p:cNvPr>
          <p:cNvSpPr/>
          <p:nvPr/>
        </p:nvSpPr>
        <p:spPr>
          <a:xfrm>
            <a:off x="8828450" y="2230610"/>
            <a:ext cx="348429" cy="5798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少样本</a:t>
            </a:r>
          </a:p>
        </p:txBody>
      </p:sp>
      <p:cxnSp>
        <p:nvCxnSpPr>
          <p:cNvPr id="207" name="连接符: 肘形 206">
            <a:extLst>
              <a:ext uri="{FF2B5EF4-FFF2-40B4-BE49-F238E27FC236}">
                <a16:creationId xmlns:a16="http://schemas.microsoft.com/office/drawing/2014/main" id="{6EDC276B-BC8B-3BD8-9FB1-2E8F717C6A7A}"/>
              </a:ext>
            </a:extLst>
          </p:cNvPr>
          <p:cNvCxnSpPr>
            <a:stCxn id="153" idx="3"/>
            <a:endCxn id="200" idx="1"/>
          </p:cNvCxnSpPr>
          <p:nvPr/>
        </p:nvCxnSpPr>
        <p:spPr>
          <a:xfrm>
            <a:off x="8616751" y="2349610"/>
            <a:ext cx="211699" cy="17093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09" name="连接符: 肘形 208">
            <a:extLst>
              <a:ext uri="{FF2B5EF4-FFF2-40B4-BE49-F238E27FC236}">
                <a16:creationId xmlns:a16="http://schemas.microsoft.com/office/drawing/2014/main" id="{6003B16A-1154-CC28-AD58-C3D8B1A30CE1}"/>
              </a:ext>
            </a:extLst>
          </p:cNvPr>
          <p:cNvCxnSpPr>
            <a:stCxn id="154" idx="3"/>
            <a:endCxn id="200" idx="1"/>
          </p:cNvCxnSpPr>
          <p:nvPr/>
        </p:nvCxnSpPr>
        <p:spPr>
          <a:xfrm flipV="1">
            <a:off x="8616751" y="2520546"/>
            <a:ext cx="211699" cy="15461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10" name="矩形 209">
            <a:extLst>
              <a:ext uri="{FF2B5EF4-FFF2-40B4-BE49-F238E27FC236}">
                <a16:creationId xmlns:a16="http://schemas.microsoft.com/office/drawing/2014/main" id="{C4BD61D8-0879-055A-6ABA-A6611900E2F0}"/>
              </a:ext>
            </a:extLst>
          </p:cNvPr>
          <p:cNvSpPr/>
          <p:nvPr/>
        </p:nvSpPr>
        <p:spPr>
          <a:xfrm>
            <a:off x="10063531" y="2239192"/>
            <a:ext cx="572185" cy="5798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平衡样本</a:t>
            </a:r>
          </a:p>
        </p:txBody>
      </p:sp>
      <p:cxnSp>
        <p:nvCxnSpPr>
          <p:cNvPr id="212" name="直接箭头连接符 211">
            <a:extLst>
              <a:ext uri="{FF2B5EF4-FFF2-40B4-BE49-F238E27FC236}">
                <a16:creationId xmlns:a16="http://schemas.microsoft.com/office/drawing/2014/main" id="{B0CE48EA-351B-29E9-3DCE-BC2DB5A89CBD}"/>
              </a:ext>
            </a:extLst>
          </p:cNvPr>
          <p:cNvCxnSpPr>
            <a:cxnSpLocks/>
            <a:stCxn id="168" idx="3"/>
            <a:endCxn id="210" idx="1"/>
          </p:cNvCxnSpPr>
          <p:nvPr/>
        </p:nvCxnSpPr>
        <p:spPr>
          <a:xfrm>
            <a:off x="9749064" y="2520546"/>
            <a:ext cx="314467" cy="85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0" name="文本框 219">
            <a:extLst>
              <a:ext uri="{FF2B5EF4-FFF2-40B4-BE49-F238E27FC236}">
                <a16:creationId xmlns:a16="http://schemas.microsoft.com/office/drawing/2014/main" id="{098F9E80-4F41-81B5-D2F1-B28AFE3E8AF9}"/>
              </a:ext>
            </a:extLst>
          </p:cNvPr>
          <p:cNvSpPr txBox="1"/>
          <p:nvPr/>
        </p:nvSpPr>
        <p:spPr>
          <a:xfrm>
            <a:off x="11033767" y="3215042"/>
            <a:ext cx="647934" cy="707886"/>
          </a:xfrm>
          <a:prstGeom prst="rect">
            <a:avLst/>
          </a:prstGeom>
          <a:noFill/>
        </p:spPr>
        <p:txBody>
          <a:bodyPr wrap="none" rtlCol="0">
            <a:spAutoFit/>
          </a:bodyPr>
          <a:lstStyle/>
          <a:p>
            <a:r>
              <a:rPr lang="en-US" altLang="zh-CN" sz="1000" dirty="0">
                <a:latin typeface="Times New Roman" panose="02020603050405020304" pitchFamily="18" charset="0"/>
                <a:cs typeface="Times New Roman" panose="02020603050405020304" pitchFamily="18" charset="0"/>
              </a:rPr>
              <a:t>AUC</a:t>
            </a:r>
          </a:p>
          <a:p>
            <a:r>
              <a:rPr lang="en-US" altLang="zh-CN" sz="1000" dirty="0">
                <a:latin typeface="Times New Roman" panose="02020603050405020304" pitchFamily="18" charset="0"/>
                <a:cs typeface="Times New Roman" panose="02020603050405020304" pitchFamily="18" charset="0"/>
              </a:rPr>
              <a:t>G-means</a:t>
            </a:r>
          </a:p>
          <a:p>
            <a:r>
              <a:rPr lang="en-US" altLang="zh-CN" sz="1000" dirty="0">
                <a:latin typeface="Times New Roman" panose="02020603050405020304" pitchFamily="18" charset="0"/>
                <a:cs typeface="Times New Roman" panose="02020603050405020304" pitchFamily="18" charset="0"/>
              </a:rPr>
              <a:t>F1-score</a:t>
            </a:r>
          </a:p>
          <a:p>
            <a:r>
              <a:rPr lang="en-US" altLang="zh-CN" sz="1000" dirty="0">
                <a:latin typeface="Times New Roman" panose="02020603050405020304" pitchFamily="18" charset="0"/>
                <a:cs typeface="Times New Roman" panose="02020603050405020304" pitchFamily="18" charset="0"/>
              </a:rPr>
              <a:t>……</a:t>
            </a:r>
            <a:endParaRPr lang="zh-CN" altLang="en-US" sz="1000" dirty="0">
              <a:latin typeface="Times New Roman" panose="02020603050405020304" pitchFamily="18" charset="0"/>
              <a:cs typeface="Times New Roman" panose="02020603050405020304" pitchFamily="18" charset="0"/>
            </a:endParaRPr>
          </a:p>
        </p:txBody>
      </p:sp>
      <p:cxnSp>
        <p:nvCxnSpPr>
          <p:cNvPr id="219" name="直接连接符 218">
            <a:extLst>
              <a:ext uri="{FF2B5EF4-FFF2-40B4-BE49-F238E27FC236}">
                <a16:creationId xmlns:a16="http://schemas.microsoft.com/office/drawing/2014/main" id="{F8925D66-10C4-7F40-5D8C-92859D0BC445}"/>
              </a:ext>
            </a:extLst>
          </p:cNvPr>
          <p:cNvCxnSpPr/>
          <p:nvPr/>
        </p:nvCxnSpPr>
        <p:spPr>
          <a:xfrm>
            <a:off x="11065672" y="3264090"/>
            <a:ext cx="0" cy="569891"/>
          </a:xfrm>
          <a:prstGeom prst="line">
            <a:avLst/>
          </a:prstGeom>
        </p:spPr>
        <p:style>
          <a:lnRef idx="1">
            <a:schemeClr val="dk1"/>
          </a:lnRef>
          <a:fillRef idx="0">
            <a:schemeClr val="dk1"/>
          </a:fillRef>
          <a:effectRef idx="0">
            <a:schemeClr val="dk1"/>
          </a:effectRef>
          <a:fontRef idx="minor">
            <a:schemeClr val="tx1"/>
          </a:fontRef>
        </p:style>
      </p:cxnSp>
      <p:sp>
        <p:nvSpPr>
          <p:cNvPr id="243" name="矩形 242">
            <a:extLst>
              <a:ext uri="{FF2B5EF4-FFF2-40B4-BE49-F238E27FC236}">
                <a16:creationId xmlns:a16="http://schemas.microsoft.com/office/drawing/2014/main" id="{F0AA4E37-9F79-A6D2-1AA1-E7AE8EF2367E}"/>
              </a:ext>
            </a:extLst>
          </p:cNvPr>
          <p:cNvSpPr/>
          <p:nvPr/>
        </p:nvSpPr>
        <p:spPr>
          <a:xfrm>
            <a:off x="490703" y="4767561"/>
            <a:ext cx="919045"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44" name="矩形 243">
            <a:extLst>
              <a:ext uri="{FF2B5EF4-FFF2-40B4-BE49-F238E27FC236}">
                <a16:creationId xmlns:a16="http://schemas.microsoft.com/office/drawing/2014/main" id="{27CDC342-0A1A-2A26-01DD-81C6DA65C447}"/>
              </a:ext>
            </a:extLst>
          </p:cNvPr>
          <p:cNvSpPr/>
          <p:nvPr/>
        </p:nvSpPr>
        <p:spPr>
          <a:xfrm>
            <a:off x="1584896" y="4779325"/>
            <a:ext cx="1405560"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59" name="文本框 258">
            <a:extLst>
              <a:ext uri="{FF2B5EF4-FFF2-40B4-BE49-F238E27FC236}">
                <a16:creationId xmlns:a16="http://schemas.microsoft.com/office/drawing/2014/main" id="{33701AE3-9F2E-4DD6-EC99-7EA2A6DF713D}"/>
              </a:ext>
            </a:extLst>
          </p:cNvPr>
          <p:cNvSpPr txBox="1"/>
          <p:nvPr/>
        </p:nvSpPr>
        <p:spPr>
          <a:xfrm>
            <a:off x="7535007" y="2874347"/>
            <a:ext cx="141577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平衡前后对比分析</a:t>
            </a:r>
          </a:p>
        </p:txBody>
      </p:sp>
      <p:sp>
        <p:nvSpPr>
          <p:cNvPr id="260" name="文本框 259">
            <a:extLst>
              <a:ext uri="{FF2B5EF4-FFF2-40B4-BE49-F238E27FC236}">
                <a16:creationId xmlns:a16="http://schemas.microsoft.com/office/drawing/2014/main" id="{12816A3B-CBA1-A6EA-7527-0F09FF7DF846}"/>
              </a:ext>
            </a:extLst>
          </p:cNvPr>
          <p:cNvSpPr txBox="1"/>
          <p:nvPr/>
        </p:nvSpPr>
        <p:spPr>
          <a:xfrm>
            <a:off x="8950779" y="2874347"/>
            <a:ext cx="2492990"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生成式平衡与过采样基准算法对比</a:t>
            </a:r>
          </a:p>
        </p:txBody>
      </p:sp>
      <p:sp>
        <p:nvSpPr>
          <p:cNvPr id="270" name="矩形 269">
            <a:extLst>
              <a:ext uri="{FF2B5EF4-FFF2-40B4-BE49-F238E27FC236}">
                <a16:creationId xmlns:a16="http://schemas.microsoft.com/office/drawing/2014/main" id="{FA449721-6B32-7F3E-67CE-2F51FF6BF9A0}"/>
              </a:ext>
            </a:extLst>
          </p:cNvPr>
          <p:cNvSpPr/>
          <p:nvPr/>
        </p:nvSpPr>
        <p:spPr>
          <a:xfrm>
            <a:off x="4755768" y="6197361"/>
            <a:ext cx="1171268" cy="321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单因子 交互</a:t>
            </a:r>
          </a:p>
        </p:txBody>
      </p:sp>
      <p:sp>
        <p:nvSpPr>
          <p:cNvPr id="271" name="矩形 270">
            <a:extLst>
              <a:ext uri="{FF2B5EF4-FFF2-40B4-BE49-F238E27FC236}">
                <a16:creationId xmlns:a16="http://schemas.microsoft.com/office/drawing/2014/main" id="{DB1B1F84-A944-0C10-74D6-BB2B2F7A1397}"/>
              </a:ext>
            </a:extLst>
          </p:cNvPr>
          <p:cNvSpPr/>
          <p:nvPr/>
        </p:nvSpPr>
        <p:spPr>
          <a:xfrm>
            <a:off x="8040216" y="4767822"/>
            <a:ext cx="1844110" cy="1733694"/>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73" name="矩形 272">
            <a:extLst>
              <a:ext uri="{FF2B5EF4-FFF2-40B4-BE49-F238E27FC236}">
                <a16:creationId xmlns:a16="http://schemas.microsoft.com/office/drawing/2014/main" id="{59C1F15D-E6AD-726D-312B-8DDACBE91AD6}"/>
              </a:ext>
            </a:extLst>
          </p:cNvPr>
          <p:cNvSpPr/>
          <p:nvPr/>
        </p:nvSpPr>
        <p:spPr>
          <a:xfrm>
            <a:off x="10027203" y="4766459"/>
            <a:ext cx="1678522" cy="1733694"/>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74" name="文本框 273">
            <a:extLst>
              <a:ext uri="{FF2B5EF4-FFF2-40B4-BE49-F238E27FC236}">
                <a16:creationId xmlns:a16="http://schemas.microsoft.com/office/drawing/2014/main" id="{F1456DD2-00EA-10CE-33AD-C0F1E3CC4F33}"/>
              </a:ext>
            </a:extLst>
          </p:cNvPr>
          <p:cNvSpPr txBox="1"/>
          <p:nvPr/>
        </p:nvSpPr>
        <p:spPr>
          <a:xfrm>
            <a:off x="6466136" y="4789899"/>
            <a:ext cx="1243905" cy="307777"/>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定义标签</a:t>
            </a:r>
          </a:p>
        </p:txBody>
      </p:sp>
      <p:sp>
        <p:nvSpPr>
          <p:cNvPr id="275" name="文本框 274">
            <a:extLst>
              <a:ext uri="{FF2B5EF4-FFF2-40B4-BE49-F238E27FC236}">
                <a16:creationId xmlns:a16="http://schemas.microsoft.com/office/drawing/2014/main" id="{F57EA9A8-EDBB-FEFB-558C-B0A41009D631}"/>
              </a:ext>
            </a:extLst>
          </p:cNvPr>
          <p:cNvSpPr txBox="1"/>
          <p:nvPr/>
        </p:nvSpPr>
        <p:spPr>
          <a:xfrm>
            <a:off x="8285312" y="4795206"/>
            <a:ext cx="1476724" cy="307777"/>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多模态异构模型</a:t>
            </a:r>
          </a:p>
        </p:txBody>
      </p:sp>
      <p:sp>
        <p:nvSpPr>
          <p:cNvPr id="276" name="文本框 275">
            <a:extLst>
              <a:ext uri="{FF2B5EF4-FFF2-40B4-BE49-F238E27FC236}">
                <a16:creationId xmlns:a16="http://schemas.microsoft.com/office/drawing/2014/main" id="{E056850D-ECF8-39FE-D33F-9F9F353A8EF4}"/>
              </a:ext>
            </a:extLst>
          </p:cNvPr>
          <p:cNvSpPr txBox="1"/>
          <p:nvPr/>
        </p:nvSpPr>
        <p:spPr>
          <a:xfrm>
            <a:off x="6672064" y="5933524"/>
            <a:ext cx="611992" cy="523220"/>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疲劳指数</a:t>
            </a:r>
          </a:p>
        </p:txBody>
      </p:sp>
      <p:sp>
        <p:nvSpPr>
          <p:cNvPr id="277" name="文本框 276">
            <a:extLst>
              <a:ext uri="{FF2B5EF4-FFF2-40B4-BE49-F238E27FC236}">
                <a16:creationId xmlns:a16="http://schemas.microsoft.com/office/drawing/2014/main" id="{CC9001D9-C0F9-B203-CE3B-BEEDBCCED40A}"/>
              </a:ext>
            </a:extLst>
          </p:cNvPr>
          <p:cNvSpPr txBox="1"/>
          <p:nvPr/>
        </p:nvSpPr>
        <p:spPr>
          <a:xfrm>
            <a:off x="6672064" y="5215952"/>
            <a:ext cx="611991" cy="523220"/>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驾驶风格</a:t>
            </a:r>
          </a:p>
        </p:txBody>
      </p:sp>
      <p:sp>
        <p:nvSpPr>
          <p:cNvPr id="278" name="文本框 277">
            <a:extLst>
              <a:ext uri="{FF2B5EF4-FFF2-40B4-BE49-F238E27FC236}">
                <a16:creationId xmlns:a16="http://schemas.microsoft.com/office/drawing/2014/main" id="{8417C610-D5A2-BA81-BC6A-25695DDD9B8B}"/>
              </a:ext>
            </a:extLst>
          </p:cNvPr>
          <p:cNvSpPr txBox="1"/>
          <p:nvPr/>
        </p:nvSpPr>
        <p:spPr>
          <a:xfrm>
            <a:off x="10121403" y="4795206"/>
            <a:ext cx="1476724" cy="307777"/>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出行风险预测</a:t>
            </a:r>
          </a:p>
        </p:txBody>
      </p:sp>
      <p:sp>
        <p:nvSpPr>
          <p:cNvPr id="279" name="矩形 278">
            <a:extLst>
              <a:ext uri="{FF2B5EF4-FFF2-40B4-BE49-F238E27FC236}">
                <a16:creationId xmlns:a16="http://schemas.microsoft.com/office/drawing/2014/main" id="{0B9E9C28-3763-2C86-806B-137604DDC7D9}"/>
              </a:ext>
            </a:extLst>
          </p:cNvPr>
          <p:cNvSpPr/>
          <p:nvPr/>
        </p:nvSpPr>
        <p:spPr>
          <a:xfrm>
            <a:off x="8181030" y="5450851"/>
            <a:ext cx="160445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空间图卷积模块</a:t>
            </a:r>
          </a:p>
        </p:txBody>
      </p:sp>
      <p:sp>
        <p:nvSpPr>
          <p:cNvPr id="280" name="矩形 279">
            <a:extLst>
              <a:ext uri="{FF2B5EF4-FFF2-40B4-BE49-F238E27FC236}">
                <a16:creationId xmlns:a16="http://schemas.microsoft.com/office/drawing/2014/main" id="{735041B9-5A47-E868-F1DE-44193B3F626E}"/>
              </a:ext>
            </a:extLst>
          </p:cNvPr>
          <p:cNvSpPr/>
          <p:nvPr/>
        </p:nvSpPr>
        <p:spPr>
          <a:xfrm>
            <a:off x="8183329" y="5808517"/>
            <a:ext cx="160445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时间卷积模块</a:t>
            </a:r>
          </a:p>
        </p:txBody>
      </p:sp>
      <p:sp>
        <p:nvSpPr>
          <p:cNvPr id="281" name="矩形 280">
            <a:extLst>
              <a:ext uri="{FF2B5EF4-FFF2-40B4-BE49-F238E27FC236}">
                <a16:creationId xmlns:a16="http://schemas.microsoft.com/office/drawing/2014/main" id="{576D57E2-2250-5D5B-1589-57F4A62F3B5F}"/>
              </a:ext>
            </a:extLst>
          </p:cNvPr>
          <p:cNvSpPr/>
          <p:nvPr/>
        </p:nvSpPr>
        <p:spPr>
          <a:xfrm>
            <a:off x="8181031" y="6157058"/>
            <a:ext cx="160445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时空融合</a:t>
            </a:r>
          </a:p>
        </p:txBody>
      </p:sp>
      <p:sp>
        <p:nvSpPr>
          <p:cNvPr id="282" name="矩形 281">
            <a:extLst>
              <a:ext uri="{FF2B5EF4-FFF2-40B4-BE49-F238E27FC236}">
                <a16:creationId xmlns:a16="http://schemas.microsoft.com/office/drawing/2014/main" id="{EBA8BE60-E6F0-BD54-F852-C6D8AE52C9E4}"/>
              </a:ext>
            </a:extLst>
          </p:cNvPr>
          <p:cNvSpPr/>
          <p:nvPr/>
        </p:nvSpPr>
        <p:spPr>
          <a:xfrm>
            <a:off x="10152666" y="5808517"/>
            <a:ext cx="1414197"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风险累积效应</a:t>
            </a:r>
          </a:p>
        </p:txBody>
      </p:sp>
      <p:sp>
        <p:nvSpPr>
          <p:cNvPr id="191" name="矩形 190">
            <a:extLst>
              <a:ext uri="{FF2B5EF4-FFF2-40B4-BE49-F238E27FC236}">
                <a16:creationId xmlns:a16="http://schemas.microsoft.com/office/drawing/2014/main" id="{E8FB5C4B-AD46-0226-1398-99661B5CDB9A}"/>
              </a:ext>
            </a:extLst>
          </p:cNvPr>
          <p:cNvSpPr/>
          <p:nvPr/>
        </p:nvSpPr>
        <p:spPr>
          <a:xfrm>
            <a:off x="1645509" y="4822898"/>
            <a:ext cx="1296144" cy="2985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类</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货车类型</a:t>
            </a:r>
          </a:p>
        </p:txBody>
      </p:sp>
      <p:sp>
        <p:nvSpPr>
          <p:cNvPr id="225" name="矩形 224">
            <a:extLst>
              <a:ext uri="{FF2B5EF4-FFF2-40B4-BE49-F238E27FC236}">
                <a16:creationId xmlns:a16="http://schemas.microsoft.com/office/drawing/2014/main" id="{286E68FF-8F87-CCAC-907F-A73D34BF8997}"/>
              </a:ext>
            </a:extLst>
          </p:cNvPr>
          <p:cNvSpPr/>
          <p:nvPr/>
        </p:nvSpPr>
        <p:spPr>
          <a:xfrm>
            <a:off x="1678297" y="5330122"/>
            <a:ext cx="313247" cy="11395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动力类型</a:t>
            </a:r>
          </a:p>
        </p:txBody>
      </p:sp>
      <p:sp>
        <p:nvSpPr>
          <p:cNvPr id="226" name="矩形 225">
            <a:extLst>
              <a:ext uri="{FF2B5EF4-FFF2-40B4-BE49-F238E27FC236}">
                <a16:creationId xmlns:a16="http://schemas.microsoft.com/office/drawing/2014/main" id="{D2D2DAAB-832B-CE29-5A95-E8EBE2525EE5}"/>
              </a:ext>
            </a:extLst>
          </p:cNvPr>
          <p:cNvSpPr/>
          <p:nvPr/>
        </p:nvSpPr>
        <p:spPr>
          <a:xfrm>
            <a:off x="2135988" y="5330122"/>
            <a:ext cx="313247" cy="11395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车厢类型</a:t>
            </a:r>
          </a:p>
        </p:txBody>
      </p:sp>
      <p:sp>
        <p:nvSpPr>
          <p:cNvPr id="227" name="矩形 226">
            <a:extLst>
              <a:ext uri="{FF2B5EF4-FFF2-40B4-BE49-F238E27FC236}">
                <a16:creationId xmlns:a16="http://schemas.microsoft.com/office/drawing/2014/main" id="{C8D1BBAE-62E7-35B5-AF0C-CBE44670A1C3}"/>
              </a:ext>
            </a:extLst>
          </p:cNvPr>
          <p:cNvSpPr/>
          <p:nvPr/>
        </p:nvSpPr>
        <p:spPr>
          <a:xfrm>
            <a:off x="2567608" y="5330122"/>
            <a:ext cx="313247" cy="11395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载重类型</a:t>
            </a:r>
          </a:p>
        </p:txBody>
      </p:sp>
      <p:cxnSp>
        <p:nvCxnSpPr>
          <p:cNvPr id="232" name="连接符: 肘形 231">
            <a:extLst>
              <a:ext uri="{FF2B5EF4-FFF2-40B4-BE49-F238E27FC236}">
                <a16:creationId xmlns:a16="http://schemas.microsoft.com/office/drawing/2014/main" id="{6E80430A-7B50-0A0A-F460-CF6B9F24238D}"/>
              </a:ext>
            </a:extLst>
          </p:cNvPr>
          <p:cNvCxnSpPr>
            <a:cxnSpLocks/>
            <a:stCxn id="191" idx="2"/>
            <a:endCxn id="225" idx="0"/>
          </p:cNvCxnSpPr>
          <p:nvPr/>
        </p:nvCxnSpPr>
        <p:spPr>
          <a:xfrm rot="5400000">
            <a:off x="1959903" y="4996444"/>
            <a:ext cx="208696" cy="45866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34" name="连接符: 肘形 233">
            <a:extLst>
              <a:ext uri="{FF2B5EF4-FFF2-40B4-BE49-F238E27FC236}">
                <a16:creationId xmlns:a16="http://schemas.microsoft.com/office/drawing/2014/main" id="{BA8C608C-2D63-25A0-612F-B4503A99AE24}"/>
              </a:ext>
            </a:extLst>
          </p:cNvPr>
          <p:cNvCxnSpPr>
            <a:cxnSpLocks/>
            <a:stCxn id="191" idx="2"/>
            <a:endCxn id="227" idx="0"/>
          </p:cNvCxnSpPr>
          <p:nvPr/>
        </p:nvCxnSpPr>
        <p:spPr>
          <a:xfrm rot="16200000" flipH="1">
            <a:off x="2404558" y="5010448"/>
            <a:ext cx="208696" cy="43065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36" name="连接符: 肘形 235">
            <a:extLst>
              <a:ext uri="{FF2B5EF4-FFF2-40B4-BE49-F238E27FC236}">
                <a16:creationId xmlns:a16="http://schemas.microsoft.com/office/drawing/2014/main" id="{09D07ED3-8483-1BC4-FBA7-83367F7F9CA4}"/>
              </a:ext>
            </a:extLst>
          </p:cNvPr>
          <p:cNvCxnSpPr>
            <a:cxnSpLocks/>
            <a:stCxn id="191" idx="2"/>
            <a:endCxn id="226" idx="0"/>
          </p:cNvCxnSpPr>
          <p:nvPr/>
        </p:nvCxnSpPr>
        <p:spPr>
          <a:xfrm rot="5400000">
            <a:off x="2188749" y="5225290"/>
            <a:ext cx="208696" cy="96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38" name="矩形 237">
            <a:extLst>
              <a:ext uri="{FF2B5EF4-FFF2-40B4-BE49-F238E27FC236}">
                <a16:creationId xmlns:a16="http://schemas.microsoft.com/office/drawing/2014/main" id="{14B2E646-8E5D-61E1-4C1B-801DCC8E6937}"/>
              </a:ext>
            </a:extLst>
          </p:cNvPr>
          <p:cNvSpPr/>
          <p:nvPr/>
        </p:nvSpPr>
        <p:spPr>
          <a:xfrm>
            <a:off x="551384" y="4804921"/>
            <a:ext cx="795868" cy="3212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驾驶员</a:t>
            </a:r>
          </a:p>
        </p:txBody>
      </p:sp>
      <p:sp>
        <p:nvSpPr>
          <p:cNvPr id="239" name="矩形 238">
            <a:extLst>
              <a:ext uri="{FF2B5EF4-FFF2-40B4-BE49-F238E27FC236}">
                <a16:creationId xmlns:a16="http://schemas.microsoft.com/office/drawing/2014/main" id="{41EB0F77-86B2-0642-0803-FBAFD14AF603}"/>
              </a:ext>
            </a:extLst>
          </p:cNvPr>
          <p:cNvSpPr/>
          <p:nvPr/>
        </p:nvSpPr>
        <p:spPr>
          <a:xfrm>
            <a:off x="555701" y="5248260"/>
            <a:ext cx="795868" cy="3212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道路</a:t>
            </a:r>
          </a:p>
        </p:txBody>
      </p:sp>
      <p:sp>
        <p:nvSpPr>
          <p:cNvPr id="240" name="矩形 239">
            <a:extLst>
              <a:ext uri="{FF2B5EF4-FFF2-40B4-BE49-F238E27FC236}">
                <a16:creationId xmlns:a16="http://schemas.microsoft.com/office/drawing/2014/main" id="{ABB53626-957A-79AD-5078-B9CF61C322F7}"/>
              </a:ext>
            </a:extLst>
          </p:cNvPr>
          <p:cNvSpPr/>
          <p:nvPr/>
        </p:nvSpPr>
        <p:spPr>
          <a:xfrm>
            <a:off x="558821" y="5703232"/>
            <a:ext cx="795868" cy="3212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环境</a:t>
            </a:r>
          </a:p>
        </p:txBody>
      </p:sp>
      <p:sp>
        <p:nvSpPr>
          <p:cNvPr id="241" name="矩形 240">
            <a:extLst>
              <a:ext uri="{FF2B5EF4-FFF2-40B4-BE49-F238E27FC236}">
                <a16:creationId xmlns:a16="http://schemas.microsoft.com/office/drawing/2014/main" id="{C051119C-ECC2-7D9A-6FBF-9A500F8ECC9E}"/>
              </a:ext>
            </a:extLst>
          </p:cNvPr>
          <p:cNvSpPr/>
          <p:nvPr/>
        </p:nvSpPr>
        <p:spPr>
          <a:xfrm>
            <a:off x="558821" y="6157832"/>
            <a:ext cx="795868" cy="3212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碰撞</a:t>
            </a:r>
          </a:p>
        </p:txBody>
      </p:sp>
      <p:sp>
        <p:nvSpPr>
          <p:cNvPr id="242" name="十字形 241">
            <a:extLst>
              <a:ext uri="{FF2B5EF4-FFF2-40B4-BE49-F238E27FC236}">
                <a16:creationId xmlns:a16="http://schemas.microsoft.com/office/drawing/2014/main" id="{8BAB24BC-0B3D-E906-70D9-DA612DB9058D}"/>
              </a:ext>
            </a:extLst>
          </p:cNvPr>
          <p:cNvSpPr/>
          <p:nvPr/>
        </p:nvSpPr>
        <p:spPr>
          <a:xfrm>
            <a:off x="1415480" y="5541245"/>
            <a:ext cx="159786" cy="161987"/>
          </a:xfrm>
          <a:prstGeom prst="plus">
            <a:avLst>
              <a:gd name="adj" fmla="val 37346"/>
            </a:avLst>
          </a:prstGeom>
          <a:solidFill>
            <a:srgbClr val="EAF1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文本框 246">
            <a:extLst>
              <a:ext uri="{FF2B5EF4-FFF2-40B4-BE49-F238E27FC236}">
                <a16:creationId xmlns:a16="http://schemas.microsoft.com/office/drawing/2014/main" id="{0EADF6FA-A9B1-FCB8-554C-FE6C7C94D947}"/>
              </a:ext>
            </a:extLst>
          </p:cNvPr>
          <p:cNvSpPr txBox="1"/>
          <p:nvPr/>
        </p:nvSpPr>
        <p:spPr>
          <a:xfrm>
            <a:off x="3045235" y="4827436"/>
            <a:ext cx="1181001" cy="307777"/>
          </a:xfrm>
          <a:prstGeom prst="rect">
            <a:avLst/>
          </a:prstGeom>
          <a:noFill/>
        </p:spPr>
        <p:txBody>
          <a:bodyPr wrap="square" rtlCol="0">
            <a:spAutoFit/>
          </a:bodyPr>
          <a:lstStyle/>
          <a:p>
            <a:pPr marL="285750" indent="-285750" algn="ctr">
              <a:buFont typeface="Wingdings" panose="05000000000000000000" pitchFamily="2" charset="2"/>
              <a:buChar char="ü"/>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平衡模块</a:t>
            </a:r>
          </a:p>
        </p:txBody>
      </p:sp>
      <p:sp>
        <p:nvSpPr>
          <p:cNvPr id="248" name="文本框 247">
            <a:extLst>
              <a:ext uri="{FF2B5EF4-FFF2-40B4-BE49-F238E27FC236}">
                <a16:creationId xmlns:a16="http://schemas.microsoft.com/office/drawing/2014/main" id="{8B2EF60F-6F44-649F-77AB-3791FAFD00DE}"/>
              </a:ext>
            </a:extLst>
          </p:cNvPr>
          <p:cNvSpPr txBox="1"/>
          <p:nvPr/>
        </p:nvSpPr>
        <p:spPr>
          <a:xfrm>
            <a:off x="3032491" y="5278980"/>
            <a:ext cx="1192130" cy="523220"/>
          </a:xfrm>
          <a:prstGeom prst="rect">
            <a:avLst/>
          </a:prstGeom>
          <a:noFill/>
        </p:spPr>
        <p:txBody>
          <a:bodyPr wrap="square" rtlCol="0">
            <a:spAutoFit/>
          </a:bodyPr>
          <a:lstStyle/>
          <a:p>
            <a:pPr marL="285750" indent="-285750" algn="ctr">
              <a:buFont typeface="Wingdings" panose="05000000000000000000" pitchFamily="2" charset="2"/>
              <a:buChar char="ü"/>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严重程度识别模块</a:t>
            </a:r>
          </a:p>
        </p:txBody>
      </p:sp>
      <p:sp>
        <p:nvSpPr>
          <p:cNvPr id="249" name="文本框 248">
            <a:extLst>
              <a:ext uri="{FF2B5EF4-FFF2-40B4-BE49-F238E27FC236}">
                <a16:creationId xmlns:a16="http://schemas.microsoft.com/office/drawing/2014/main" id="{381F4057-01C5-9739-C4AC-FDF1E7B43055}"/>
              </a:ext>
            </a:extLst>
          </p:cNvPr>
          <p:cNvSpPr txBox="1"/>
          <p:nvPr/>
        </p:nvSpPr>
        <p:spPr>
          <a:xfrm>
            <a:off x="3001874" y="5981032"/>
            <a:ext cx="1229402" cy="523220"/>
          </a:xfrm>
          <a:prstGeom prst="rect">
            <a:avLst/>
          </a:prstGeom>
          <a:noFill/>
        </p:spPr>
        <p:txBody>
          <a:bodyPr wrap="square" rtlCol="0">
            <a:spAutoFit/>
          </a:bodyPr>
          <a:lstStyle>
            <a:defPPr>
              <a:defRPr lang="en-US"/>
            </a:defPPr>
            <a:lvl1pPr marL="285750" indent="-285750" algn="ctr">
              <a:buFont typeface="Wingdings" panose="05000000000000000000" pitchFamily="2" charset="2"/>
              <a:buChar char="ü"/>
              <a:defRPr sz="1400" b="1">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致因解释模块</a:t>
            </a:r>
          </a:p>
        </p:txBody>
      </p:sp>
      <p:sp>
        <p:nvSpPr>
          <p:cNvPr id="256" name="矩形 255">
            <a:extLst>
              <a:ext uri="{FF2B5EF4-FFF2-40B4-BE49-F238E27FC236}">
                <a16:creationId xmlns:a16="http://schemas.microsoft.com/office/drawing/2014/main" id="{F51F056A-00BA-2EE4-0A4D-1C1127D405FB}"/>
              </a:ext>
            </a:extLst>
          </p:cNvPr>
          <p:cNvSpPr/>
          <p:nvPr/>
        </p:nvSpPr>
        <p:spPr>
          <a:xfrm>
            <a:off x="4266728" y="4858189"/>
            <a:ext cx="573908" cy="2229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致亡</a:t>
            </a:r>
          </a:p>
        </p:txBody>
      </p:sp>
      <p:sp>
        <p:nvSpPr>
          <p:cNvPr id="261" name="矩形 260">
            <a:extLst>
              <a:ext uri="{FF2B5EF4-FFF2-40B4-BE49-F238E27FC236}">
                <a16:creationId xmlns:a16="http://schemas.microsoft.com/office/drawing/2014/main" id="{AD762689-27A5-D14B-3BD9-3140E426DE75}"/>
              </a:ext>
            </a:extLst>
          </p:cNvPr>
          <p:cNvSpPr/>
          <p:nvPr/>
        </p:nvSpPr>
        <p:spPr>
          <a:xfrm>
            <a:off x="4766169" y="5963978"/>
            <a:ext cx="1036074" cy="321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全局  局部</a:t>
            </a:r>
          </a:p>
        </p:txBody>
      </p:sp>
      <p:sp>
        <p:nvSpPr>
          <p:cNvPr id="262" name="矩形 261">
            <a:extLst>
              <a:ext uri="{FF2B5EF4-FFF2-40B4-BE49-F238E27FC236}">
                <a16:creationId xmlns:a16="http://schemas.microsoft.com/office/drawing/2014/main" id="{3FBECD88-C4E4-F335-385E-C82209CF58E0}"/>
              </a:ext>
            </a:extLst>
          </p:cNvPr>
          <p:cNvSpPr/>
          <p:nvPr/>
        </p:nvSpPr>
        <p:spPr>
          <a:xfrm>
            <a:off x="4231276" y="5158921"/>
            <a:ext cx="1110906" cy="321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LightGBM</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4" name="矩形 263">
            <a:extLst>
              <a:ext uri="{FF2B5EF4-FFF2-40B4-BE49-F238E27FC236}">
                <a16:creationId xmlns:a16="http://schemas.microsoft.com/office/drawing/2014/main" id="{B3004E94-5FDD-3A92-98EE-7E55BDC2A0DB}"/>
              </a:ext>
            </a:extLst>
          </p:cNvPr>
          <p:cNvSpPr/>
          <p:nvPr/>
        </p:nvSpPr>
        <p:spPr>
          <a:xfrm>
            <a:off x="4251241" y="5419713"/>
            <a:ext cx="1110906" cy="2557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XGboost</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6" name="矩形 265">
            <a:extLst>
              <a:ext uri="{FF2B5EF4-FFF2-40B4-BE49-F238E27FC236}">
                <a16:creationId xmlns:a16="http://schemas.microsoft.com/office/drawing/2014/main" id="{B86951BD-60A0-61D3-F934-810691C018E6}"/>
              </a:ext>
            </a:extLst>
          </p:cNvPr>
          <p:cNvSpPr/>
          <p:nvPr/>
        </p:nvSpPr>
        <p:spPr>
          <a:xfrm>
            <a:off x="3110555" y="4840963"/>
            <a:ext cx="2694539" cy="267331"/>
          </a:xfrm>
          <a:prstGeom prst="rect">
            <a:avLst/>
          </a:prstGeom>
          <a:noFill/>
          <a:ln w="952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矩形 266">
            <a:extLst>
              <a:ext uri="{FF2B5EF4-FFF2-40B4-BE49-F238E27FC236}">
                <a16:creationId xmlns:a16="http://schemas.microsoft.com/office/drawing/2014/main" id="{86AC969A-C41B-7E7F-24B1-1E7F5D67AC9C}"/>
              </a:ext>
            </a:extLst>
          </p:cNvPr>
          <p:cNvSpPr/>
          <p:nvPr/>
        </p:nvSpPr>
        <p:spPr>
          <a:xfrm>
            <a:off x="3109455" y="5168768"/>
            <a:ext cx="2694539" cy="743645"/>
          </a:xfrm>
          <a:prstGeom prst="rect">
            <a:avLst/>
          </a:prstGeom>
          <a:noFill/>
          <a:ln w="952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矩形 267">
            <a:extLst>
              <a:ext uri="{FF2B5EF4-FFF2-40B4-BE49-F238E27FC236}">
                <a16:creationId xmlns:a16="http://schemas.microsoft.com/office/drawing/2014/main" id="{C100E120-A7A8-BBC0-9D42-5B5F4E56F8A6}"/>
              </a:ext>
            </a:extLst>
          </p:cNvPr>
          <p:cNvSpPr/>
          <p:nvPr/>
        </p:nvSpPr>
        <p:spPr>
          <a:xfrm>
            <a:off x="3113259" y="5972887"/>
            <a:ext cx="2683327" cy="517963"/>
          </a:xfrm>
          <a:prstGeom prst="rect">
            <a:avLst/>
          </a:prstGeom>
          <a:noFill/>
          <a:ln w="952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矩形 264">
            <a:extLst>
              <a:ext uri="{FF2B5EF4-FFF2-40B4-BE49-F238E27FC236}">
                <a16:creationId xmlns:a16="http://schemas.microsoft.com/office/drawing/2014/main" id="{B87D20E0-6560-60B5-4380-7115487137AC}"/>
              </a:ext>
            </a:extLst>
          </p:cNvPr>
          <p:cNvSpPr/>
          <p:nvPr/>
        </p:nvSpPr>
        <p:spPr>
          <a:xfrm>
            <a:off x="4229482" y="6082017"/>
            <a:ext cx="1110906" cy="321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SHAP</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9" name="矩形 268">
            <a:extLst>
              <a:ext uri="{FF2B5EF4-FFF2-40B4-BE49-F238E27FC236}">
                <a16:creationId xmlns:a16="http://schemas.microsoft.com/office/drawing/2014/main" id="{75ECECCA-FE2F-3504-5665-864A6FD14883}"/>
              </a:ext>
            </a:extLst>
          </p:cNvPr>
          <p:cNvSpPr/>
          <p:nvPr/>
        </p:nvSpPr>
        <p:spPr>
          <a:xfrm>
            <a:off x="4244852" y="5653142"/>
            <a:ext cx="1146752" cy="2557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RF    SVM</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椭圆 19">
            <a:extLst>
              <a:ext uri="{FF2B5EF4-FFF2-40B4-BE49-F238E27FC236}">
                <a16:creationId xmlns:a16="http://schemas.microsoft.com/office/drawing/2014/main" id="{D14BE619-1D4A-B307-E6E0-F949519429C2}"/>
              </a:ext>
            </a:extLst>
          </p:cNvPr>
          <p:cNvSpPr/>
          <p:nvPr/>
        </p:nvSpPr>
        <p:spPr>
          <a:xfrm>
            <a:off x="5481673" y="4959627"/>
            <a:ext cx="1233279" cy="123327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a:extLst>
              <a:ext uri="{FF2B5EF4-FFF2-40B4-BE49-F238E27FC236}">
                <a16:creationId xmlns:a16="http://schemas.microsoft.com/office/drawing/2014/main" id="{9E5A3CFE-E70D-5F0F-3D51-F7AE6E8E409F}"/>
              </a:ext>
            </a:extLst>
          </p:cNvPr>
          <p:cNvSpPr/>
          <p:nvPr/>
        </p:nvSpPr>
        <p:spPr>
          <a:xfrm>
            <a:off x="5663952" y="5398961"/>
            <a:ext cx="330574" cy="30515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被动安全</a:t>
            </a:r>
          </a:p>
        </p:txBody>
      </p:sp>
      <p:sp>
        <p:nvSpPr>
          <p:cNvPr id="15" name="矩形 14">
            <a:extLst>
              <a:ext uri="{FF2B5EF4-FFF2-40B4-BE49-F238E27FC236}">
                <a16:creationId xmlns:a16="http://schemas.microsoft.com/office/drawing/2014/main" id="{6D27DC3D-BD88-9784-F960-36D2ACC9F31F}"/>
              </a:ext>
            </a:extLst>
          </p:cNvPr>
          <p:cNvSpPr/>
          <p:nvPr/>
        </p:nvSpPr>
        <p:spPr>
          <a:xfrm>
            <a:off x="6218395" y="5425494"/>
            <a:ext cx="237645" cy="2880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t>主动安全</a:t>
            </a:r>
          </a:p>
        </p:txBody>
      </p:sp>
      <p:sp>
        <p:nvSpPr>
          <p:cNvPr id="21" name="矩形 20">
            <a:extLst>
              <a:ext uri="{FF2B5EF4-FFF2-40B4-BE49-F238E27FC236}">
                <a16:creationId xmlns:a16="http://schemas.microsoft.com/office/drawing/2014/main" id="{46F1E9A7-0CB0-3CD8-199A-979B3640E8E5}"/>
              </a:ext>
            </a:extLst>
          </p:cNvPr>
          <p:cNvSpPr/>
          <p:nvPr/>
        </p:nvSpPr>
        <p:spPr>
          <a:xfrm>
            <a:off x="6030647" y="4877577"/>
            <a:ext cx="72008" cy="1457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C309491-81EE-4C5C-FAAC-6B60415F9D0A}"/>
              </a:ext>
            </a:extLst>
          </p:cNvPr>
          <p:cNvSpPr/>
          <p:nvPr/>
        </p:nvSpPr>
        <p:spPr>
          <a:xfrm>
            <a:off x="6087396" y="4823642"/>
            <a:ext cx="72008" cy="1457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87DCA7BC-C0E0-0C4B-69FA-40A3354E662C}"/>
              </a:ext>
            </a:extLst>
          </p:cNvPr>
          <p:cNvSpPr/>
          <p:nvPr/>
        </p:nvSpPr>
        <p:spPr>
          <a:xfrm>
            <a:off x="332487" y="4246835"/>
            <a:ext cx="5691505" cy="2422525"/>
          </a:xfrm>
          <a:prstGeom prst="roundRect">
            <a:avLst>
              <a:gd name="adj" fmla="val 9054"/>
            </a:avLst>
          </a:prstGeom>
          <a:noFill/>
          <a:ln>
            <a:solidFill>
              <a:schemeClr val="tx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543850E2-377C-EDA3-1217-13692C2C3371}"/>
              </a:ext>
            </a:extLst>
          </p:cNvPr>
          <p:cNvSpPr/>
          <p:nvPr/>
        </p:nvSpPr>
        <p:spPr>
          <a:xfrm>
            <a:off x="6165134" y="4246835"/>
            <a:ext cx="5691505" cy="2422525"/>
          </a:xfrm>
          <a:prstGeom prst="roundRect">
            <a:avLst>
              <a:gd name="adj" fmla="val 9054"/>
            </a:avLst>
          </a:prstGeom>
          <a:noFill/>
          <a:ln>
            <a:solidFill>
              <a:schemeClr val="tx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283" name="矩形 282">
            <a:extLst>
              <a:ext uri="{FF2B5EF4-FFF2-40B4-BE49-F238E27FC236}">
                <a16:creationId xmlns:a16="http://schemas.microsoft.com/office/drawing/2014/main" id="{3B0A8B8C-B3F2-D514-E938-875D13C955C1}"/>
              </a:ext>
            </a:extLst>
          </p:cNvPr>
          <p:cNvSpPr/>
          <p:nvPr/>
        </p:nvSpPr>
        <p:spPr>
          <a:xfrm>
            <a:off x="7261948" y="5132095"/>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保守</a:t>
            </a:r>
          </a:p>
        </p:txBody>
      </p:sp>
      <p:sp>
        <p:nvSpPr>
          <p:cNvPr id="284" name="矩形 283">
            <a:extLst>
              <a:ext uri="{FF2B5EF4-FFF2-40B4-BE49-F238E27FC236}">
                <a16:creationId xmlns:a16="http://schemas.microsoft.com/office/drawing/2014/main" id="{419A4C5A-E2BA-6D17-7AB5-BFDB1F5252D4}"/>
              </a:ext>
            </a:extLst>
          </p:cNvPr>
          <p:cNvSpPr/>
          <p:nvPr/>
        </p:nvSpPr>
        <p:spPr>
          <a:xfrm>
            <a:off x="7260721" y="5391835"/>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稳健</a:t>
            </a:r>
          </a:p>
        </p:txBody>
      </p:sp>
      <p:sp>
        <p:nvSpPr>
          <p:cNvPr id="285" name="矩形 284">
            <a:extLst>
              <a:ext uri="{FF2B5EF4-FFF2-40B4-BE49-F238E27FC236}">
                <a16:creationId xmlns:a16="http://schemas.microsoft.com/office/drawing/2014/main" id="{F66D92DD-7BAD-0F0D-1738-3F3639C763F2}"/>
              </a:ext>
            </a:extLst>
          </p:cNvPr>
          <p:cNvSpPr/>
          <p:nvPr/>
        </p:nvSpPr>
        <p:spPr>
          <a:xfrm>
            <a:off x="7256825" y="5658502"/>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激进</a:t>
            </a:r>
          </a:p>
        </p:txBody>
      </p:sp>
      <p:sp>
        <p:nvSpPr>
          <p:cNvPr id="286" name="矩形 285">
            <a:extLst>
              <a:ext uri="{FF2B5EF4-FFF2-40B4-BE49-F238E27FC236}">
                <a16:creationId xmlns:a16="http://schemas.microsoft.com/office/drawing/2014/main" id="{6D598B4A-AC0A-8A55-842B-8C66A917260B}"/>
              </a:ext>
            </a:extLst>
          </p:cNvPr>
          <p:cNvSpPr/>
          <p:nvPr/>
        </p:nvSpPr>
        <p:spPr>
          <a:xfrm>
            <a:off x="7254863" y="5968432"/>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时长</a:t>
            </a:r>
          </a:p>
        </p:txBody>
      </p:sp>
      <p:sp>
        <p:nvSpPr>
          <p:cNvPr id="287" name="矩形 286">
            <a:extLst>
              <a:ext uri="{FF2B5EF4-FFF2-40B4-BE49-F238E27FC236}">
                <a16:creationId xmlns:a16="http://schemas.microsoft.com/office/drawing/2014/main" id="{188A90CB-4CEE-DBEF-5DCE-4D13F41FAA8A}"/>
              </a:ext>
            </a:extLst>
          </p:cNvPr>
          <p:cNvSpPr/>
          <p:nvPr/>
        </p:nvSpPr>
        <p:spPr>
          <a:xfrm>
            <a:off x="7260721" y="6222268"/>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告警</a:t>
            </a:r>
          </a:p>
        </p:txBody>
      </p:sp>
      <p:sp>
        <p:nvSpPr>
          <p:cNvPr id="289" name="矩形 288">
            <a:extLst>
              <a:ext uri="{FF2B5EF4-FFF2-40B4-BE49-F238E27FC236}">
                <a16:creationId xmlns:a16="http://schemas.microsoft.com/office/drawing/2014/main" id="{3685AAAA-CA95-B9FB-48E3-A7D38CA4E1F0}"/>
              </a:ext>
            </a:extLst>
          </p:cNvPr>
          <p:cNvSpPr/>
          <p:nvPr/>
        </p:nvSpPr>
        <p:spPr>
          <a:xfrm>
            <a:off x="4814303" y="4858190"/>
            <a:ext cx="726097" cy="2321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非致亡</a:t>
            </a:r>
          </a:p>
        </p:txBody>
      </p:sp>
      <p:sp>
        <p:nvSpPr>
          <p:cNvPr id="7" name="文本框 6">
            <a:extLst>
              <a:ext uri="{FF2B5EF4-FFF2-40B4-BE49-F238E27FC236}">
                <a16:creationId xmlns:a16="http://schemas.microsoft.com/office/drawing/2014/main" id="{4D4C3748-F964-D3A5-8242-15B7E107BB2D}"/>
              </a:ext>
            </a:extLst>
          </p:cNvPr>
          <p:cNvSpPr txBox="1"/>
          <p:nvPr/>
        </p:nvSpPr>
        <p:spPr>
          <a:xfrm>
            <a:off x="8058345" y="5155811"/>
            <a:ext cx="1877437" cy="276999"/>
          </a:xfrm>
          <a:prstGeom prst="rect">
            <a:avLst/>
          </a:prstGeom>
          <a:noFill/>
        </p:spPr>
        <p:txBody>
          <a:bodyPr wrap="none" rtlCol="0">
            <a:spAutoFit/>
          </a:bodyPr>
          <a:lstStyle>
            <a:defPPr>
              <a:defRPr lang="en-US"/>
            </a:defPPr>
            <a:lvl1pPr>
              <a:defRPr sz="1200">
                <a:latin typeface="微软雅黑" panose="020B0503020204020204" pitchFamily="34" charset="-122"/>
                <a:ea typeface="微软雅黑" panose="020B0503020204020204" pitchFamily="34" charset="-122"/>
              </a:defRPr>
            </a:lvl1pPr>
          </a:lstStyle>
          <a:p>
            <a:r>
              <a:rPr lang="zh-CN" altLang="en-US" dirty="0"/>
              <a:t>以静态属性影响节点权重</a:t>
            </a:r>
          </a:p>
        </p:txBody>
      </p:sp>
      <p:sp>
        <p:nvSpPr>
          <p:cNvPr id="17" name="箭头: 下 16">
            <a:extLst>
              <a:ext uri="{FF2B5EF4-FFF2-40B4-BE49-F238E27FC236}">
                <a16:creationId xmlns:a16="http://schemas.microsoft.com/office/drawing/2014/main" id="{471270B4-16E3-4795-C994-87F1AB3A7DD4}"/>
              </a:ext>
            </a:extLst>
          </p:cNvPr>
          <p:cNvSpPr/>
          <p:nvPr/>
        </p:nvSpPr>
        <p:spPr>
          <a:xfrm>
            <a:off x="8882266" y="5712629"/>
            <a:ext cx="179669" cy="72163"/>
          </a:xfrm>
          <a:prstGeom prst="downArrow">
            <a:avLst/>
          </a:prstGeom>
          <a:solidFill>
            <a:srgbClr val="FBD6BC"/>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8" name="箭头: 下 17">
            <a:extLst>
              <a:ext uri="{FF2B5EF4-FFF2-40B4-BE49-F238E27FC236}">
                <a16:creationId xmlns:a16="http://schemas.microsoft.com/office/drawing/2014/main" id="{C6A6A80B-89CA-98E0-CFFC-429DFCB6A066}"/>
              </a:ext>
            </a:extLst>
          </p:cNvPr>
          <p:cNvSpPr/>
          <p:nvPr/>
        </p:nvSpPr>
        <p:spPr>
          <a:xfrm>
            <a:off x="8885348" y="6068091"/>
            <a:ext cx="179669" cy="72163"/>
          </a:xfrm>
          <a:prstGeom prst="downArrow">
            <a:avLst/>
          </a:prstGeom>
          <a:solidFill>
            <a:srgbClr val="FBD6BC"/>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5" name="矩形 24">
            <a:extLst>
              <a:ext uri="{FF2B5EF4-FFF2-40B4-BE49-F238E27FC236}">
                <a16:creationId xmlns:a16="http://schemas.microsoft.com/office/drawing/2014/main" id="{693B281C-FBA9-BC8D-35AD-F1065E9D3F86}"/>
              </a:ext>
            </a:extLst>
          </p:cNvPr>
          <p:cNvSpPr/>
          <p:nvPr/>
        </p:nvSpPr>
        <p:spPr>
          <a:xfrm>
            <a:off x="10152666" y="5198245"/>
            <a:ext cx="1414197" cy="4843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驾驶员</a:t>
            </a: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车辆</a:t>
            </a:r>
            <a:endPar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环境</a:t>
            </a:r>
          </a:p>
        </p:txBody>
      </p:sp>
      <p:sp>
        <p:nvSpPr>
          <p:cNvPr id="26" name="矩形 25">
            <a:extLst>
              <a:ext uri="{FF2B5EF4-FFF2-40B4-BE49-F238E27FC236}">
                <a16:creationId xmlns:a16="http://schemas.microsoft.com/office/drawing/2014/main" id="{8BDDA326-EB94-8F2D-D103-7AA30B8CE4FB}"/>
              </a:ext>
            </a:extLst>
          </p:cNvPr>
          <p:cNvSpPr/>
          <p:nvPr/>
        </p:nvSpPr>
        <p:spPr>
          <a:xfrm>
            <a:off x="10152665" y="6164774"/>
            <a:ext cx="1414197"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风险场输出</a:t>
            </a:r>
          </a:p>
        </p:txBody>
      </p:sp>
      <p:cxnSp>
        <p:nvCxnSpPr>
          <p:cNvPr id="34" name="直接箭头连接符 33">
            <a:extLst>
              <a:ext uri="{FF2B5EF4-FFF2-40B4-BE49-F238E27FC236}">
                <a16:creationId xmlns:a16="http://schemas.microsoft.com/office/drawing/2014/main" id="{E59F484D-D8F2-8C31-6ABB-11472016A628}"/>
              </a:ext>
            </a:extLst>
          </p:cNvPr>
          <p:cNvCxnSpPr>
            <a:stCxn id="279" idx="3"/>
          </p:cNvCxnSpPr>
          <p:nvPr/>
        </p:nvCxnSpPr>
        <p:spPr>
          <a:xfrm>
            <a:off x="9785483" y="5569510"/>
            <a:ext cx="36718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A88A9785-E5CA-3147-F91B-71BD750BD61A}"/>
              </a:ext>
            </a:extLst>
          </p:cNvPr>
          <p:cNvCxnSpPr>
            <a:cxnSpLocks/>
            <a:stCxn id="280" idx="3"/>
            <a:endCxn id="282" idx="1"/>
          </p:cNvCxnSpPr>
          <p:nvPr/>
        </p:nvCxnSpPr>
        <p:spPr>
          <a:xfrm>
            <a:off x="9787782" y="5927176"/>
            <a:ext cx="3648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5EA7276F-E68F-2C7E-DABA-B308B215D673}"/>
              </a:ext>
            </a:extLst>
          </p:cNvPr>
          <p:cNvCxnSpPr>
            <a:cxnSpLocks/>
            <a:stCxn id="281" idx="3"/>
            <a:endCxn id="26" idx="1"/>
          </p:cNvCxnSpPr>
          <p:nvPr/>
        </p:nvCxnSpPr>
        <p:spPr>
          <a:xfrm>
            <a:off x="9785484" y="6275717"/>
            <a:ext cx="367181" cy="77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C1D9F3EF-0D08-804B-7D74-1A0F01E480E3}"/>
              </a:ext>
            </a:extLst>
          </p:cNvPr>
          <p:cNvCxnSpPr>
            <a:cxnSpLocks/>
          </p:cNvCxnSpPr>
          <p:nvPr/>
        </p:nvCxnSpPr>
        <p:spPr>
          <a:xfrm>
            <a:off x="7872734" y="5498896"/>
            <a:ext cx="168205" cy="12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直接箭头连接符 47">
            <a:extLst>
              <a:ext uri="{FF2B5EF4-FFF2-40B4-BE49-F238E27FC236}">
                <a16:creationId xmlns:a16="http://schemas.microsoft.com/office/drawing/2014/main" id="{83BE4229-5B88-7484-16F0-A0C1BAAA92CA}"/>
              </a:ext>
            </a:extLst>
          </p:cNvPr>
          <p:cNvCxnSpPr>
            <a:cxnSpLocks/>
          </p:cNvCxnSpPr>
          <p:nvPr/>
        </p:nvCxnSpPr>
        <p:spPr>
          <a:xfrm flipV="1">
            <a:off x="7870800" y="5927175"/>
            <a:ext cx="163686" cy="2592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矩形 54">
            <a:extLst>
              <a:ext uri="{FF2B5EF4-FFF2-40B4-BE49-F238E27FC236}">
                <a16:creationId xmlns:a16="http://schemas.microsoft.com/office/drawing/2014/main" id="{2F5D7031-CAA4-17D5-284A-0B099DC85AE5}"/>
              </a:ext>
            </a:extLst>
          </p:cNvPr>
          <p:cNvSpPr/>
          <p:nvPr/>
        </p:nvSpPr>
        <p:spPr>
          <a:xfrm>
            <a:off x="329614" y="943194"/>
            <a:ext cx="11527023" cy="550545"/>
          </a:xfrm>
          <a:prstGeom prst="rect">
            <a:avLst/>
          </a:prstGeom>
          <a:solidFill>
            <a:srgbClr val="FFFBF3"/>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b="1" dirty="0">
                <a:solidFill>
                  <a:schemeClr val="tx1"/>
                </a:solidFill>
                <a:latin typeface="微软雅黑" panose="020B0503020204020204" pitchFamily="34" charset="-122"/>
                <a:ea typeface="微软雅黑" panose="020B0503020204020204" pitchFamily="34" charset="-122"/>
              </a:rPr>
              <a:t>解决出行风险分析中</a:t>
            </a:r>
            <a:r>
              <a:rPr lang="zh-CN" altLang="en-US" b="1" dirty="0">
                <a:solidFill>
                  <a:srgbClr val="C00000"/>
                </a:solidFill>
                <a:latin typeface="微软雅黑" panose="020B0503020204020204" pitchFamily="34" charset="-122"/>
                <a:ea typeface="微软雅黑" panose="020B0503020204020204" pitchFamily="34" charset="-122"/>
              </a:rPr>
              <a:t>样本不均衡、致因定量解释困难</a:t>
            </a:r>
            <a:r>
              <a:rPr lang="zh-CN" altLang="en-US" b="1" dirty="0">
                <a:solidFill>
                  <a:schemeClr val="tx1"/>
                </a:solidFill>
                <a:latin typeface="微软雅黑" panose="020B0503020204020204" pitchFamily="34" charset="-122"/>
                <a:ea typeface="微软雅黑" panose="020B0503020204020204" pitchFamily="34" charset="-122"/>
              </a:rPr>
              <a:t>的问题，实现</a:t>
            </a:r>
            <a:r>
              <a:rPr lang="zh-CN" altLang="en-US" b="1" dirty="0">
                <a:solidFill>
                  <a:srgbClr val="C00000"/>
                </a:solidFill>
                <a:latin typeface="微软雅黑" panose="020B0503020204020204" pitchFamily="34" charset="-122"/>
                <a:ea typeface="微软雅黑" panose="020B0503020204020204" pitchFamily="34" charset="-122"/>
              </a:rPr>
              <a:t>“人</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车</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路”</a:t>
            </a:r>
            <a:r>
              <a:rPr lang="zh-CN" altLang="en-US" b="1" dirty="0">
                <a:solidFill>
                  <a:schemeClr val="tx1"/>
                </a:solidFill>
                <a:latin typeface="微软雅黑" panose="020B0503020204020204" pitchFamily="34" charset="-122"/>
                <a:ea typeface="微软雅黑" panose="020B0503020204020204" pitchFamily="34" charset="-122"/>
              </a:rPr>
              <a:t>及</a:t>
            </a:r>
            <a:r>
              <a:rPr lang="zh-CN" altLang="en-US" b="1" dirty="0">
                <a:solidFill>
                  <a:srgbClr val="C00000"/>
                </a:solidFill>
                <a:latin typeface="微软雅黑" panose="020B0503020204020204" pitchFamily="34" charset="-122"/>
                <a:ea typeface="微软雅黑" panose="020B0503020204020204" pitchFamily="34" charset="-122"/>
              </a:rPr>
              <a:t>“被动</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主动”</a:t>
            </a:r>
            <a:r>
              <a:rPr lang="zh-CN" altLang="en-US" b="1" dirty="0">
                <a:solidFill>
                  <a:schemeClr val="tx1"/>
                </a:solidFill>
                <a:latin typeface="微软雅黑" panose="020B0503020204020204" pitchFamily="34" charset="-122"/>
                <a:ea typeface="微软雅黑" panose="020B0503020204020204" pitchFamily="34" charset="-122"/>
              </a:rPr>
              <a:t>安全防控</a:t>
            </a:r>
          </a:p>
        </p:txBody>
      </p:sp>
      <p:sp>
        <p:nvSpPr>
          <p:cNvPr id="2" name="矩形: 圆顶角 1">
            <a:extLst>
              <a:ext uri="{FF2B5EF4-FFF2-40B4-BE49-F238E27FC236}">
                <a16:creationId xmlns:a16="http://schemas.microsoft.com/office/drawing/2014/main" id="{34AF3CCE-D12E-CC1E-3BE5-11A4EA0357A0}"/>
              </a:ext>
            </a:extLst>
          </p:cNvPr>
          <p:cNvSpPr/>
          <p:nvPr/>
        </p:nvSpPr>
        <p:spPr>
          <a:xfrm>
            <a:off x="332486" y="4239151"/>
            <a:ext cx="5691505" cy="432048"/>
          </a:xfrm>
          <a:prstGeom prst="round2SameRect">
            <a:avLst>
              <a:gd name="adj1" fmla="val 50000"/>
              <a:gd name="adj2" fmla="val 0"/>
            </a:avLst>
          </a:prstGeom>
          <a:solidFill>
            <a:srgbClr val="E2F0D9"/>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研究内容二：考虑货车异质性的事故致因定性定量分析</a:t>
            </a:r>
          </a:p>
        </p:txBody>
      </p:sp>
      <p:sp>
        <p:nvSpPr>
          <p:cNvPr id="11" name="矩形: 圆顶角 10">
            <a:extLst>
              <a:ext uri="{FF2B5EF4-FFF2-40B4-BE49-F238E27FC236}">
                <a16:creationId xmlns:a16="http://schemas.microsoft.com/office/drawing/2014/main" id="{80DE83F4-7508-262F-7B87-4CE9059EB1EE}"/>
              </a:ext>
            </a:extLst>
          </p:cNvPr>
          <p:cNvSpPr/>
          <p:nvPr/>
        </p:nvSpPr>
        <p:spPr>
          <a:xfrm>
            <a:off x="6159405" y="4239150"/>
            <a:ext cx="5697234" cy="432048"/>
          </a:xfrm>
          <a:prstGeom prst="round2SameRect">
            <a:avLst>
              <a:gd name="adj1" fmla="val 50000"/>
              <a:gd name="adj2" fmla="val 0"/>
            </a:avLst>
          </a:prstGeom>
          <a:solidFill>
            <a:srgbClr val="C55A1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微软雅黑" panose="020B0503020204020204" pitchFamily="34" charset="-122"/>
                <a:ea typeface="微软雅黑" panose="020B0503020204020204" pitchFamily="34" charset="-122"/>
              </a:rPr>
              <a:t>研究内容三：考虑驾驶员异质性的</a:t>
            </a:r>
            <a:r>
              <a:rPr lang="en-US" altLang="zh-CN" sz="1500" b="1" dirty="0">
                <a:solidFill>
                  <a:schemeClr val="bg1"/>
                </a:solidFill>
                <a:latin typeface="微软雅黑" panose="020B0503020204020204" pitchFamily="34" charset="-122"/>
                <a:ea typeface="微软雅黑" panose="020B0503020204020204" pitchFamily="34" charset="-122"/>
              </a:rPr>
              <a:t>ST-GCN</a:t>
            </a:r>
            <a:r>
              <a:rPr lang="zh-CN" altLang="en-US" sz="1500" b="1" dirty="0">
                <a:solidFill>
                  <a:schemeClr val="bg1"/>
                </a:solidFill>
                <a:latin typeface="微软雅黑" panose="020B0503020204020204" pitchFamily="34" charset="-122"/>
                <a:ea typeface="微软雅黑" panose="020B0503020204020204" pitchFamily="34" charset="-122"/>
              </a:rPr>
              <a:t>货车出行风险预测</a:t>
            </a:r>
          </a:p>
        </p:txBody>
      </p:sp>
      <p:sp>
        <p:nvSpPr>
          <p:cNvPr id="9" name="矩形: 圆顶角 8">
            <a:extLst>
              <a:ext uri="{FF2B5EF4-FFF2-40B4-BE49-F238E27FC236}">
                <a16:creationId xmlns:a16="http://schemas.microsoft.com/office/drawing/2014/main" id="{85B18F90-42E7-0E93-D79D-D68430110CBA}"/>
              </a:ext>
            </a:extLst>
          </p:cNvPr>
          <p:cNvSpPr/>
          <p:nvPr/>
        </p:nvSpPr>
        <p:spPr>
          <a:xfrm>
            <a:off x="6165133" y="1653842"/>
            <a:ext cx="5691505" cy="432048"/>
          </a:xfrm>
          <a:prstGeom prst="round2SameRect">
            <a:avLst>
              <a:gd name="adj1" fmla="val 50000"/>
              <a:gd name="adj2" fmla="val 0"/>
            </a:avLst>
          </a:prstGeom>
          <a:solidFill>
            <a:srgbClr val="FFF1D5"/>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研究内容一：</a:t>
            </a:r>
            <a:r>
              <a:rPr lang="zh-CN" altLang="zh-CN" sz="1600" b="1" dirty="0">
                <a:solidFill>
                  <a:schemeClr val="tx1"/>
                </a:solidFill>
                <a:latin typeface="微软雅黑" panose="020B0503020204020204" pitchFamily="34" charset="-122"/>
                <a:ea typeface="微软雅黑" panose="020B0503020204020204" pitchFamily="34" charset="-122"/>
              </a:rPr>
              <a:t>基于生成式</a:t>
            </a:r>
            <a:r>
              <a:rPr lang="zh-CN" altLang="en-US" sz="1600" b="1" dirty="0">
                <a:solidFill>
                  <a:schemeClr val="tx1"/>
                </a:solidFill>
                <a:latin typeface="微软雅黑" panose="020B0503020204020204" pitchFamily="34" charset="-122"/>
                <a:ea typeface="微软雅黑" panose="020B0503020204020204" pitchFamily="34" charset="-122"/>
              </a:rPr>
              <a:t>算法的事故少样本</a:t>
            </a:r>
            <a:r>
              <a:rPr lang="zh-CN" altLang="zh-CN" sz="1600" b="1" dirty="0">
                <a:solidFill>
                  <a:schemeClr val="tx1"/>
                </a:solidFill>
                <a:latin typeface="微软雅黑" panose="020B0503020204020204" pitchFamily="34" charset="-122"/>
                <a:ea typeface="微软雅黑" panose="020B0503020204020204" pitchFamily="34" charset="-122"/>
              </a:rPr>
              <a:t>数据增强</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 name="矩形: 圆角 1075">
            <a:extLst>
              <a:ext uri="{FF2B5EF4-FFF2-40B4-BE49-F238E27FC236}">
                <a16:creationId xmlns:a16="http://schemas.microsoft.com/office/drawing/2014/main" id="{BDDA235A-CFB8-7E24-3B9E-1B6C077C2D33}"/>
              </a:ext>
            </a:extLst>
          </p:cNvPr>
          <p:cNvSpPr/>
          <p:nvPr/>
        </p:nvSpPr>
        <p:spPr>
          <a:xfrm>
            <a:off x="10332807" y="1061176"/>
            <a:ext cx="1610328" cy="5364594"/>
          </a:xfrm>
          <a:prstGeom prst="roundRect">
            <a:avLst>
              <a:gd name="adj" fmla="val 2834"/>
            </a:avLst>
          </a:prstGeom>
          <a:solidFill>
            <a:schemeClr val="bg1"/>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E66C48D2-149B-10F7-BD14-E2BD6391B51C}"/>
              </a:ext>
            </a:extLst>
          </p:cNvPr>
          <p:cNvSpPr/>
          <p:nvPr/>
        </p:nvSpPr>
        <p:spPr>
          <a:xfrm>
            <a:off x="3951578" y="1088740"/>
            <a:ext cx="6104863" cy="3708412"/>
          </a:xfrm>
          <a:prstGeom prst="roundRect">
            <a:avLst>
              <a:gd name="adj" fmla="val 2834"/>
            </a:avLst>
          </a:prstGeom>
          <a:solidFill>
            <a:schemeClr val="bg1"/>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2" name="文本框 4"/>
          <p:cNvSpPr txBox="1"/>
          <p:nvPr/>
        </p:nvSpPr>
        <p:spPr>
          <a:xfrm>
            <a:off x="119336" y="188640"/>
            <a:ext cx="9073008"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研究内容一：基于生成式算法与集成算法的事故少样本数据增强</a:t>
            </a:r>
            <a:endParaRPr lang="zh-CN" altLang="en-US" dirty="0">
              <a:solidFill>
                <a:srgbClr val="FFC000"/>
              </a:solidFill>
              <a:latin typeface="微软雅黑" panose="020B0503020204020204" pitchFamily="34" charset="-122"/>
              <a:ea typeface="微软雅黑" panose="020B0503020204020204" pitchFamily="34" charset="-122"/>
            </a:endParaRPr>
          </a:p>
        </p:txBody>
      </p:sp>
      <p:sp>
        <p:nvSpPr>
          <p:cNvPr id="2" name="矩形: 圆角 1">
            <a:extLst>
              <a:ext uri="{FF2B5EF4-FFF2-40B4-BE49-F238E27FC236}">
                <a16:creationId xmlns:a16="http://schemas.microsoft.com/office/drawing/2014/main" id="{6B0F178A-928B-A53A-ECA9-EAA6A6EB78C5}"/>
              </a:ext>
            </a:extLst>
          </p:cNvPr>
          <p:cNvSpPr/>
          <p:nvPr/>
        </p:nvSpPr>
        <p:spPr>
          <a:xfrm>
            <a:off x="407368" y="1088741"/>
            <a:ext cx="3398937" cy="5364594"/>
          </a:xfrm>
          <a:prstGeom prst="roundRect">
            <a:avLst>
              <a:gd name="adj" fmla="val 4110"/>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F110A47D-5738-FDB2-0897-3E557ED0406D}"/>
              </a:ext>
            </a:extLst>
          </p:cNvPr>
          <p:cNvSpPr txBox="1"/>
          <p:nvPr/>
        </p:nvSpPr>
        <p:spPr>
          <a:xfrm>
            <a:off x="490216" y="1205860"/>
            <a:ext cx="3188686" cy="401479"/>
          </a:xfrm>
          <a:prstGeom prst="roundRect">
            <a:avLst>
              <a:gd name="adj" fmla="val 14826"/>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US"/>
            </a:defPPr>
            <a:lvl1pPr algn="ctr">
              <a:defRPr sz="1400"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少样本增强必要性</a:t>
            </a:r>
          </a:p>
        </p:txBody>
      </p:sp>
      <p:sp>
        <p:nvSpPr>
          <p:cNvPr id="15" name="文本框 14">
            <a:extLst>
              <a:ext uri="{FF2B5EF4-FFF2-40B4-BE49-F238E27FC236}">
                <a16:creationId xmlns:a16="http://schemas.microsoft.com/office/drawing/2014/main" id="{A674103F-0C1A-55FE-9630-55C82ECA8E9B}"/>
              </a:ext>
            </a:extLst>
          </p:cNvPr>
          <p:cNvSpPr txBox="1"/>
          <p:nvPr/>
        </p:nvSpPr>
        <p:spPr>
          <a:xfrm>
            <a:off x="5231904" y="1195694"/>
            <a:ext cx="3682591" cy="408623"/>
          </a:xfrm>
          <a:prstGeom prst="round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生成式算法与机器学习集成算法</a:t>
            </a:r>
          </a:p>
        </p:txBody>
      </p:sp>
      <p:sp>
        <p:nvSpPr>
          <p:cNvPr id="17" name="文本框 16">
            <a:extLst>
              <a:ext uri="{FF2B5EF4-FFF2-40B4-BE49-F238E27FC236}">
                <a16:creationId xmlns:a16="http://schemas.microsoft.com/office/drawing/2014/main" id="{EBA95DF4-54F1-C161-5D5F-D418DEA298FC}"/>
              </a:ext>
            </a:extLst>
          </p:cNvPr>
          <p:cNvSpPr txBox="1"/>
          <p:nvPr/>
        </p:nvSpPr>
        <p:spPr>
          <a:xfrm>
            <a:off x="497321" y="4017774"/>
            <a:ext cx="3197340" cy="1077218"/>
          </a:xfrm>
          <a:prstGeom prst="rect">
            <a:avLst/>
          </a:prstGeom>
          <a:noFill/>
        </p:spPr>
        <p:txBody>
          <a:bodyPr wrap="square">
            <a:spAutoFit/>
          </a:bodyPr>
          <a:lstStyle>
            <a:defPPr>
              <a:defRPr lang="en-US"/>
            </a:defPPr>
            <a:lvl1pPr>
              <a:defRPr>
                <a:latin typeface="黑体" panose="02010609060101010101" pitchFamily="49" charset="-122"/>
                <a:ea typeface="黑体" panose="02010609060101010101" pitchFamily="49" charset="-122"/>
              </a:defRPr>
            </a:lvl1pPr>
          </a:lstStyle>
          <a:p>
            <a:pPr marL="285750" indent="-285750">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对高维、非线性数据分布拟合能力弱</a:t>
            </a:r>
            <a:endParaRPr lang="en-US" altLang="zh-CN" sz="16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对混合类型（数值 </a:t>
            </a:r>
            <a:r>
              <a:rPr lang="en-US" altLang="zh-CN" sz="1600" b="0" i="0" dirty="0">
                <a:effectLst/>
                <a:latin typeface="微软雅黑" panose="020B0503020204020204" pitchFamily="34" charset="-122"/>
                <a:ea typeface="微软雅黑" panose="020B0503020204020204" pitchFamily="34" charset="-122"/>
              </a:rPr>
              <a:t>+ </a:t>
            </a:r>
            <a:r>
              <a:rPr lang="zh-CN" altLang="en-US" sz="1600" b="0" i="0" dirty="0">
                <a:effectLst/>
                <a:latin typeface="微软雅黑" panose="020B0503020204020204" pitchFamily="34" charset="-122"/>
                <a:ea typeface="微软雅黑" panose="020B0503020204020204" pitchFamily="34" charset="-122"/>
              </a:rPr>
              <a:t>类别）的表格数据处理能力不足</a:t>
            </a:r>
            <a:endParaRPr lang="zh-CN" altLang="en-US" sz="160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45328703-E359-AC3F-8DE5-267E449999D9}"/>
              </a:ext>
            </a:extLst>
          </p:cNvPr>
          <p:cNvSpPr txBox="1"/>
          <p:nvPr/>
        </p:nvSpPr>
        <p:spPr>
          <a:xfrm>
            <a:off x="477401" y="1810830"/>
            <a:ext cx="1961934" cy="1077218"/>
          </a:xfrm>
          <a:prstGeom prst="rect">
            <a:avLst/>
          </a:prstGeom>
          <a:noFill/>
        </p:spPr>
        <p:txBody>
          <a:bodyPr wrap="square">
            <a:spAutoFit/>
          </a:bodyPr>
          <a:lstStyle>
            <a:defPPr>
              <a:defRPr lang="en-US"/>
            </a:defPPr>
            <a:lvl1pPr>
              <a:defRPr>
                <a:latin typeface="黑体" panose="02010609060101010101" pitchFamily="49" charset="-122"/>
                <a:ea typeface="黑体" panose="02010609060101010101" pitchFamily="49" charset="-122"/>
              </a:defRPr>
            </a:lvl1p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货车事故数不平衡问题突出</a:t>
            </a:r>
            <a:endParaRPr lang="en-US" altLang="zh-CN" sz="16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受伤及死亡事故研究价值高</a:t>
            </a:r>
          </a:p>
        </p:txBody>
      </p:sp>
      <p:sp>
        <p:nvSpPr>
          <p:cNvPr id="19" name="矩形: 圆角 18">
            <a:extLst>
              <a:ext uri="{FF2B5EF4-FFF2-40B4-BE49-F238E27FC236}">
                <a16:creationId xmlns:a16="http://schemas.microsoft.com/office/drawing/2014/main" id="{19384306-82D9-5C9A-E2E8-00512BFFB18F}"/>
              </a:ext>
            </a:extLst>
          </p:cNvPr>
          <p:cNvSpPr/>
          <p:nvPr/>
        </p:nvSpPr>
        <p:spPr>
          <a:xfrm>
            <a:off x="495193" y="3108207"/>
            <a:ext cx="3188686" cy="40862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传统过采样方法</a:t>
            </a:r>
          </a:p>
        </p:txBody>
      </p:sp>
      <p:pic>
        <p:nvPicPr>
          <p:cNvPr id="26" name="图片 25">
            <a:extLst>
              <a:ext uri="{FF2B5EF4-FFF2-40B4-BE49-F238E27FC236}">
                <a16:creationId xmlns:a16="http://schemas.microsoft.com/office/drawing/2014/main" id="{C05FF2E9-14D2-3172-4433-6B654314FADA}"/>
              </a:ext>
            </a:extLst>
          </p:cNvPr>
          <p:cNvPicPr>
            <a:picLocks noChangeAspect="1"/>
          </p:cNvPicPr>
          <p:nvPr/>
        </p:nvPicPr>
        <p:blipFill>
          <a:blip r:embed="rId3"/>
          <a:stretch>
            <a:fillRect/>
          </a:stretch>
        </p:blipFill>
        <p:spPr>
          <a:xfrm>
            <a:off x="2439335" y="1662535"/>
            <a:ext cx="1006930" cy="1320833"/>
          </a:xfrm>
          <a:prstGeom prst="rect">
            <a:avLst/>
          </a:prstGeom>
        </p:spPr>
      </p:pic>
      <p:pic>
        <p:nvPicPr>
          <p:cNvPr id="1028" name="Picture 4">
            <a:extLst>
              <a:ext uri="{FF2B5EF4-FFF2-40B4-BE49-F238E27FC236}">
                <a16:creationId xmlns:a16="http://schemas.microsoft.com/office/drawing/2014/main" id="{104F5237-6EDD-7B8C-ACF4-AA22904E92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401" y="5244616"/>
            <a:ext cx="3252714" cy="936104"/>
          </a:xfrm>
          <a:prstGeom prst="rect">
            <a:avLst/>
          </a:prstGeom>
          <a:noFill/>
          <a:extLst>
            <a:ext uri="{909E8E84-426E-40DD-AFC4-6F175D3DCCD1}">
              <a14:hiddenFill xmlns:a14="http://schemas.microsoft.com/office/drawing/2010/main">
                <a:solidFill>
                  <a:srgbClr val="FFFFFF"/>
                </a:solidFill>
              </a14:hiddenFill>
            </a:ext>
          </a:extLst>
        </p:spPr>
      </p:pic>
      <p:sp>
        <p:nvSpPr>
          <p:cNvPr id="27" name="矩形 26">
            <a:extLst>
              <a:ext uri="{FF2B5EF4-FFF2-40B4-BE49-F238E27FC236}">
                <a16:creationId xmlns:a16="http://schemas.microsoft.com/office/drawing/2014/main" id="{8D5D9181-3745-1AE2-4164-ABB321C592BA}"/>
              </a:ext>
            </a:extLst>
          </p:cNvPr>
          <p:cNvSpPr/>
          <p:nvPr/>
        </p:nvSpPr>
        <p:spPr>
          <a:xfrm>
            <a:off x="507924" y="3630257"/>
            <a:ext cx="1138141" cy="26679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随机过采样</a:t>
            </a:r>
          </a:p>
        </p:txBody>
      </p:sp>
      <p:sp>
        <p:nvSpPr>
          <p:cNvPr id="28" name="矩形 27">
            <a:extLst>
              <a:ext uri="{FF2B5EF4-FFF2-40B4-BE49-F238E27FC236}">
                <a16:creationId xmlns:a16="http://schemas.microsoft.com/office/drawing/2014/main" id="{5E95BF83-CFE6-1ED4-0B9F-3E3FD9CF0E79}"/>
              </a:ext>
            </a:extLst>
          </p:cNvPr>
          <p:cNvSpPr/>
          <p:nvPr/>
        </p:nvSpPr>
        <p:spPr>
          <a:xfrm>
            <a:off x="1746995" y="3630257"/>
            <a:ext cx="875432" cy="26679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SMOTE</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矩形 28">
            <a:extLst>
              <a:ext uri="{FF2B5EF4-FFF2-40B4-BE49-F238E27FC236}">
                <a16:creationId xmlns:a16="http://schemas.microsoft.com/office/drawing/2014/main" id="{BF984C8A-ACBA-4DF7-6D6F-4222D1F424D9}"/>
              </a:ext>
            </a:extLst>
          </p:cNvPr>
          <p:cNvSpPr/>
          <p:nvPr/>
        </p:nvSpPr>
        <p:spPr>
          <a:xfrm>
            <a:off x="2711180" y="3630257"/>
            <a:ext cx="967721" cy="26679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ADASYN</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矩形 32">
            <a:extLst>
              <a:ext uri="{FF2B5EF4-FFF2-40B4-BE49-F238E27FC236}">
                <a16:creationId xmlns:a16="http://schemas.microsoft.com/office/drawing/2014/main" id="{EDB5D543-2C27-DB2C-39F2-B4BB17E193E8}"/>
              </a:ext>
            </a:extLst>
          </p:cNvPr>
          <p:cNvSpPr/>
          <p:nvPr/>
        </p:nvSpPr>
        <p:spPr>
          <a:xfrm>
            <a:off x="4049408" y="1760111"/>
            <a:ext cx="3854647" cy="394723"/>
          </a:xfrm>
          <a:prstGeom prst="rect">
            <a:avLst/>
          </a:prstGeom>
          <a:solidFill>
            <a:schemeClr val="accent6">
              <a:lumMod val="20000"/>
              <a:lumOff val="80000"/>
            </a:schemeClr>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基于</a:t>
            </a:r>
            <a:r>
              <a:rPr lang="en-US" altLang="zh-CN"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PCA</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的特征工程</a:t>
            </a:r>
          </a:p>
        </p:txBody>
      </p:sp>
      <p:sp>
        <p:nvSpPr>
          <p:cNvPr id="60" name="矩形 59">
            <a:extLst>
              <a:ext uri="{FF2B5EF4-FFF2-40B4-BE49-F238E27FC236}">
                <a16:creationId xmlns:a16="http://schemas.microsoft.com/office/drawing/2014/main" id="{25EAAADA-330D-26A3-F597-D7D725CA493A}"/>
              </a:ext>
            </a:extLst>
          </p:cNvPr>
          <p:cNvSpPr/>
          <p:nvPr/>
        </p:nvSpPr>
        <p:spPr>
          <a:xfrm>
            <a:off x="4058566" y="2374052"/>
            <a:ext cx="3854648" cy="394723"/>
          </a:xfrm>
          <a:prstGeom prst="rect">
            <a:avLst/>
          </a:prstGeom>
          <a:solidFill>
            <a:schemeClr val="accent6">
              <a:lumMod val="20000"/>
              <a:lumOff val="80000"/>
            </a:schemeClr>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基于</a:t>
            </a:r>
            <a:r>
              <a:rPr lang="en-US" altLang="zh-CN"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CTGAN</a:t>
            </a: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TabDDPM</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的少样本增强</a:t>
            </a:r>
          </a:p>
        </p:txBody>
      </p:sp>
      <p:sp>
        <p:nvSpPr>
          <p:cNvPr id="61" name="矩形 60">
            <a:extLst>
              <a:ext uri="{FF2B5EF4-FFF2-40B4-BE49-F238E27FC236}">
                <a16:creationId xmlns:a16="http://schemas.microsoft.com/office/drawing/2014/main" id="{F67432F1-0262-8C87-371F-D1A2CDE02F01}"/>
              </a:ext>
            </a:extLst>
          </p:cNvPr>
          <p:cNvSpPr/>
          <p:nvPr/>
        </p:nvSpPr>
        <p:spPr>
          <a:xfrm>
            <a:off x="4058566" y="2975266"/>
            <a:ext cx="3854647" cy="394723"/>
          </a:xfrm>
          <a:prstGeom prst="rect">
            <a:avLst/>
          </a:prstGeom>
          <a:solidFill>
            <a:schemeClr val="accent6">
              <a:lumMod val="20000"/>
              <a:lumOff val="80000"/>
            </a:schemeClr>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基于</a:t>
            </a:r>
            <a:r>
              <a:rPr lang="en-US" altLang="zh-CN"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JS</a:t>
            </a: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散度值</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的生成平衡样本泛化评估</a:t>
            </a:r>
          </a:p>
        </p:txBody>
      </p:sp>
      <p:sp>
        <p:nvSpPr>
          <p:cNvPr id="62" name="矩形 61">
            <a:extLst>
              <a:ext uri="{FF2B5EF4-FFF2-40B4-BE49-F238E27FC236}">
                <a16:creationId xmlns:a16="http://schemas.microsoft.com/office/drawing/2014/main" id="{D039C69E-DC6E-DE1C-1F5B-235A51095F09}"/>
              </a:ext>
            </a:extLst>
          </p:cNvPr>
          <p:cNvSpPr/>
          <p:nvPr/>
        </p:nvSpPr>
        <p:spPr>
          <a:xfrm>
            <a:off x="4058566" y="4177693"/>
            <a:ext cx="3854078" cy="39472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基于</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SMOTE</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等的平衡样本效果对比</a:t>
            </a:r>
          </a:p>
        </p:txBody>
      </p:sp>
      <p:sp>
        <p:nvSpPr>
          <p:cNvPr id="63" name="矩形 62">
            <a:extLst>
              <a:ext uri="{FF2B5EF4-FFF2-40B4-BE49-F238E27FC236}">
                <a16:creationId xmlns:a16="http://schemas.microsoft.com/office/drawing/2014/main" id="{B3E180AC-007C-4D7D-23C5-C2B544506122}"/>
              </a:ext>
            </a:extLst>
          </p:cNvPr>
          <p:cNvSpPr/>
          <p:nvPr/>
        </p:nvSpPr>
        <p:spPr>
          <a:xfrm>
            <a:off x="4059064" y="3576480"/>
            <a:ext cx="3854077" cy="394723"/>
          </a:xfrm>
          <a:prstGeom prst="rect">
            <a:avLst/>
          </a:prstGeom>
          <a:solidFill>
            <a:schemeClr val="accent6">
              <a:lumMod val="20000"/>
              <a:lumOff val="80000"/>
            </a:schemeClr>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基于</a:t>
            </a:r>
            <a:r>
              <a:rPr lang="en-US" altLang="zh-CN"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Stacking</a:t>
            </a: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集成算法的</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事故分类识别</a:t>
            </a:r>
          </a:p>
        </p:txBody>
      </p:sp>
      <p:pic>
        <p:nvPicPr>
          <p:cNvPr id="1033" name="图片 1032">
            <a:extLst>
              <a:ext uri="{FF2B5EF4-FFF2-40B4-BE49-F238E27FC236}">
                <a16:creationId xmlns:a16="http://schemas.microsoft.com/office/drawing/2014/main" id="{D7BFC3B6-F4EB-8493-84F3-DCF4602FB889}"/>
              </a:ext>
            </a:extLst>
          </p:cNvPr>
          <p:cNvPicPr>
            <a:picLocks noChangeAspect="1"/>
          </p:cNvPicPr>
          <p:nvPr/>
        </p:nvPicPr>
        <p:blipFill>
          <a:blip r:embed="rId5"/>
          <a:stretch>
            <a:fillRect/>
          </a:stretch>
        </p:blipFill>
        <p:spPr>
          <a:xfrm>
            <a:off x="4058566" y="4866665"/>
            <a:ext cx="2581754" cy="1503462"/>
          </a:xfrm>
          <a:prstGeom prst="rect">
            <a:avLst/>
          </a:prstGeom>
        </p:spPr>
      </p:pic>
      <p:cxnSp>
        <p:nvCxnSpPr>
          <p:cNvPr id="1037" name="直接箭头连接符 1036">
            <a:extLst>
              <a:ext uri="{FF2B5EF4-FFF2-40B4-BE49-F238E27FC236}">
                <a16:creationId xmlns:a16="http://schemas.microsoft.com/office/drawing/2014/main" id="{6EB85B67-7F0F-D1A0-9B2E-E6ECEAFB6AD8}"/>
              </a:ext>
            </a:extLst>
          </p:cNvPr>
          <p:cNvCxnSpPr>
            <a:cxnSpLocks/>
            <a:stCxn id="33" idx="2"/>
            <a:endCxn id="60" idx="0"/>
          </p:cNvCxnSpPr>
          <p:nvPr/>
        </p:nvCxnSpPr>
        <p:spPr>
          <a:xfrm>
            <a:off x="5976732" y="2154834"/>
            <a:ext cx="9158" cy="2192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8" name="直接箭头连接符 1037">
            <a:extLst>
              <a:ext uri="{FF2B5EF4-FFF2-40B4-BE49-F238E27FC236}">
                <a16:creationId xmlns:a16="http://schemas.microsoft.com/office/drawing/2014/main" id="{303C64E9-C194-241C-B422-5351EF41DD80}"/>
              </a:ext>
            </a:extLst>
          </p:cNvPr>
          <p:cNvCxnSpPr>
            <a:cxnSpLocks/>
            <a:stCxn id="60" idx="2"/>
            <a:endCxn id="61" idx="0"/>
          </p:cNvCxnSpPr>
          <p:nvPr/>
        </p:nvCxnSpPr>
        <p:spPr>
          <a:xfrm>
            <a:off x="5985890" y="2768775"/>
            <a:ext cx="0" cy="2064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2" name="直接箭头连接符 1041">
            <a:extLst>
              <a:ext uri="{FF2B5EF4-FFF2-40B4-BE49-F238E27FC236}">
                <a16:creationId xmlns:a16="http://schemas.microsoft.com/office/drawing/2014/main" id="{C9645923-3BCF-E13B-FB56-1D9A12FC2EEB}"/>
              </a:ext>
            </a:extLst>
          </p:cNvPr>
          <p:cNvCxnSpPr>
            <a:cxnSpLocks/>
            <a:stCxn id="61" idx="2"/>
            <a:endCxn id="63" idx="0"/>
          </p:cNvCxnSpPr>
          <p:nvPr/>
        </p:nvCxnSpPr>
        <p:spPr>
          <a:xfrm>
            <a:off x="5985890" y="3369989"/>
            <a:ext cx="213" cy="2064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50" name="Picture 6">
            <a:extLst>
              <a:ext uri="{FF2B5EF4-FFF2-40B4-BE49-F238E27FC236}">
                <a16:creationId xmlns:a16="http://schemas.microsoft.com/office/drawing/2014/main" id="{821858FE-779D-4663-2E18-38DA640950A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20417"/>
          <a:stretch/>
        </p:blipFill>
        <p:spPr bwMode="auto">
          <a:xfrm>
            <a:off x="6696011" y="4874789"/>
            <a:ext cx="3398936" cy="1583369"/>
          </a:xfrm>
          <a:prstGeom prst="rect">
            <a:avLst/>
          </a:prstGeom>
          <a:noFill/>
          <a:extLst>
            <a:ext uri="{909E8E84-426E-40DD-AFC4-6F175D3DCCD1}">
              <a14:hiddenFill xmlns:a14="http://schemas.microsoft.com/office/drawing/2010/main">
                <a:solidFill>
                  <a:srgbClr val="FFFFFF"/>
                </a:solidFill>
              </a14:hiddenFill>
            </a:ext>
          </a:extLst>
        </p:spPr>
      </p:pic>
      <p:pic>
        <p:nvPicPr>
          <p:cNvPr id="1052" name="图片 1051">
            <a:extLst>
              <a:ext uri="{FF2B5EF4-FFF2-40B4-BE49-F238E27FC236}">
                <a16:creationId xmlns:a16="http://schemas.microsoft.com/office/drawing/2014/main" id="{F86C2BA3-C489-3DA2-CE5E-7582BA2BBCBA}"/>
              </a:ext>
            </a:extLst>
          </p:cNvPr>
          <p:cNvPicPr>
            <a:picLocks noChangeAspect="1"/>
          </p:cNvPicPr>
          <p:nvPr/>
        </p:nvPicPr>
        <p:blipFill>
          <a:blip r:embed="rId7"/>
          <a:srcRect r="6163"/>
          <a:stretch/>
        </p:blipFill>
        <p:spPr>
          <a:xfrm>
            <a:off x="8047104" y="1663697"/>
            <a:ext cx="1937328" cy="2991874"/>
          </a:xfrm>
          <a:prstGeom prst="rect">
            <a:avLst/>
          </a:prstGeom>
        </p:spPr>
      </p:pic>
      <p:sp>
        <p:nvSpPr>
          <p:cNvPr id="1054" name="矩形 1053">
            <a:extLst>
              <a:ext uri="{FF2B5EF4-FFF2-40B4-BE49-F238E27FC236}">
                <a16:creationId xmlns:a16="http://schemas.microsoft.com/office/drawing/2014/main" id="{DD034F0D-4317-101B-12AC-F8EA984D66CF}"/>
              </a:ext>
            </a:extLst>
          </p:cNvPr>
          <p:cNvSpPr/>
          <p:nvPr/>
        </p:nvSpPr>
        <p:spPr>
          <a:xfrm>
            <a:off x="5104157" y="6393566"/>
            <a:ext cx="936104" cy="266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CTGAN</a:t>
            </a:r>
            <a:endParaRPr lang="zh-CN" altLang="en-US" sz="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55" name="矩形 1054">
            <a:extLst>
              <a:ext uri="{FF2B5EF4-FFF2-40B4-BE49-F238E27FC236}">
                <a16:creationId xmlns:a16="http://schemas.microsoft.com/office/drawing/2014/main" id="{CFEA68FC-E86F-9F60-CB86-C671AF8D192D}"/>
              </a:ext>
            </a:extLst>
          </p:cNvPr>
          <p:cNvSpPr/>
          <p:nvPr/>
        </p:nvSpPr>
        <p:spPr>
          <a:xfrm>
            <a:off x="7886504" y="6379170"/>
            <a:ext cx="1152128" cy="2425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TabDDPM</a:t>
            </a:r>
            <a:endParaRPr lang="zh-CN" altLang="en-US" sz="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64" name="直接箭头连接符 1063">
            <a:extLst>
              <a:ext uri="{FF2B5EF4-FFF2-40B4-BE49-F238E27FC236}">
                <a16:creationId xmlns:a16="http://schemas.microsoft.com/office/drawing/2014/main" id="{36CBD633-0742-62A1-D0B4-8E7CB9C22FCA}"/>
              </a:ext>
            </a:extLst>
          </p:cNvPr>
          <p:cNvCxnSpPr>
            <a:cxnSpLocks/>
            <a:stCxn id="62" idx="0"/>
            <a:endCxn id="63" idx="2"/>
          </p:cNvCxnSpPr>
          <p:nvPr/>
        </p:nvCxnSpPr>
        <p:spPr>
          <a:xfrm flipV="1">
            <a:off x="5985605" y="3971203"/>
            <a:ext cx="498" cy="20649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066" name="矩形 1065">
            <a:extLst>
              <a:ext uri="{FF2B5EF4-FFF2-40B4-BE49-F238E27FC236}">
                <a16:creationId xmlns:a16="http://schemas.microsoft.com/office/drawing/2014/main" id="{0D9D83E3-1A50-24B5-C18E-714E3627F328}"/>
              </a:ext>
            </a:extLst>
          </p:cNvPr>
          <p:cNvSpPr/>
          <p:nvPr/>
        </p:nvSpPr>
        <p:spPr>
          <a:xfrm>
            <a:off x="8395479" y="4554614"/>
            <a:ext cx="1152128" cy="2425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算法伪代码</a:t>
            </a:r>
          </a:p>
        </p:txBody>
      </p:sp>
      <p:sp>
        <p:nvSpPr>
          <p:cNvPr id="1067" name="文本框 1066">
            <a:extLst>
              <a:ext uri="{FF2B5EF4-FFF2-40B4-BE49-F238E27FC236}">
                <a16:creationId xmlns:a16="http://schemas.microsoft.com/office/drawing/2014/main" id="{FF638DC0-CFAE-2C6D-7F88-6EDC9A325E0B}"/>
              </a:ext>
            </a:extLst>
          </p:cNvPr>
          <p:cNvSpPr txBox="1"/>
          <p:nvPr/>
        </p:nvSpPr>
        <p:spPr>
          <a:xfrm>
            <a:off x="10436631" y="1772816"/>
            <a:ext cx="1394334" cy="1320833"/>
          </a:xfrm>
          <a:prstGeom prst="roundRect">
            <a:avLst>
              <a:gd name="adj" fmla="val 6549"/>
            </a:avLst>
          </a:prstGeom>
          <a:solidFill>
            <a:schemeClr val="bg1">
              <a:lumMod val="9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nSpc>
                <a:spcPct val="120000"/>
              </a:lnSpc>
              <a:defRPr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600" b="0" dirty="0">
                <a:solidFill>
                  <a:schemeClr val="tx1"/>
                </a:solidFill>
              </a:rPr>
              <a:t>高效处理高维混合类型少样本数据</a:t>
            </a:r>
          </a:p>
        </p:txBody>
      </p:sp>
      <p:sp>
        <p:nvSpPr>
          <p:cNvPr id="1070" name="文本框 1069">
            <a:extLst>
              <a:ext uri="{FF2B5EF4-FFF2-40B4-BE49-F238E27FC236}">
                <a16:creationId xmlns:a16="http://schemas.microsoft.com/office/drawing/2014/main" id="{9699FD87-6851-0426-523F-83CD84A27820}"/>
              </a:ext>
            </a:extLst>
          </p:cNvPr>
          <p:cNvSpPr txBox="1"/>
          <p:nvPr/>
        </p:nvSpPr>
        <p:spPr>
          <a:xfrm>
            <a:off x="10435483" y="4923360"/>
            <a:ext cx="1394334" cy="1385960"/>
          </a:xfrm>
          <a:prstGeom prst="roundRect">
            <a:avLst>
              <a:gd name="adj" fmla="val 6549"/>
            </a:avLst>
          </a:prstGeom>
          <a:solidFill>
            <a:schemeClr val="bg1">
              <a:lumMod val="9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nSpc>
                <a:spcPct val="120000"/>
              </a:lnSpc>
              <a:defRPr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600" b="0" dirty="0">
                <a:solidFill>
                  <a:schemeClr val="tx1"/>
                </a:solidFill>
              </a:rPr>
              <a:t>为后续研究受伤</a:t>
            </a:r>
            <a:r>
              <a:rPr lang="en-US" altLang="zh-CN" sz="1600" b="0" dirty="0">
                <a:solidFill>
                  <a:schemeClr val="tx1"/>
                </a:solidFill>
              </a:rPr>
              <a:t>/</a:t>
            </a:r>
            <a:r>
              <a:rPr lang="zh-CN" altLang="en-US" sz="1600" b="0" dirty="0">
                <a:solidFill>
                  <a:schemeClr val="tx1"/>
                </a:solidFill>
              </a:rPr>
              <a:t>死亡事故关键因素奠定基础</a:t>
            </a:r>
          </a:p>
        </p:txBody>
      </p:sp>
      <p:sp>
        <p:nvSpPr>
          <p:cNvPr id="1072" name="文本框 1071">
            <a:extLst>
              <a:ext uri="{FF2B5EF4-FFF2-40B4-BE49-F238E27FC236}">
                <a16:creationId xmlns:a16="http://schemas.microsoft.com/office/drawing/2014/main" id="{E2876027-F2FB-A118-E343-495BE38211A6}"/>
              </a:ext>
            </a:extLst>
          </p:cNvPr>
          <p:cNvSpPr txBox="1"/>
          <p:nvPr/>
        </p:nvSpPr>
        <p:spPr>
          <a:xfrm>
            <a:off x="10426630" y="3225392"/>
            <a:ext cx="1403188" cy="1555540"/>
          </a:xfrm>
          <a:prstGeom prst="roundRect">
            <a:avLst>
              <a:gd name="adj" fmla="val 8380"/>
            </a:avLst>
          </a:prstGeom>
          <a:solidFill>
            <a:schemeClr val="bg1">
              <a:lumMod val="9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r">
              <a:lnSpc>
                <a:spcPct val="120000"/>
              </a:lnSpc>
              <a:defRPr b="0">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sz="1600" dirty="0">
                <a:solidFill>
                  <a:schemeClr val="tx1"/>
                </a:solidFill>
              </a:rPr>
              <a:t>显著提升事故数据增强质量与少样本识别精度</a:t>
            </a:r>
          </a:p>
        </p:txBody>
      </p:sp>
      <p:sp>
        <p:nvSpPr>
          <p:cNvPr id="1075" name="箭头: 右 1074">
            <a:extLst>
              <a:ext uri="{FF2B5EF4-FFF2-40B4-BE49-F238E27FC236}">
                <a16:creationId xmlns:a16="http://schemas.microsoft.com/office/drawing/2014/main" id="{95BC6BB8-70EA-75C2-8EAC-F7AA2200A86A}"/>
              </a:ext>
            </a:extLst>
          </p:cNvPr>
          <p:cNvSpPr/>
          <p:nvPr/>
        </p:nvSpPr>
        <p:spPr>
          <a:xfrm>
            <a:off x="10064026" y="3576480"/>
            <a:ext cx="249287" cy="3983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7" name="矩形: 圆角 1076">
            <a:extLst>
              <a:ext uri="{FF2B5EF4-FFF2-40B4-BE49-F238E27FC236}">
                <a16:creationId xmlns:a16="http://schemas.microsoft.com/office/drawing/2014/main" id="{8190DBB8-36E8-B888-A8A9-5C8A0839208A}"/>
              </a:ext>
            </a:extLst>
          </p:cNvPr>
          <p:cNvSpPr/>
          <p:nvPr/>
        </p:nvSpPr>
        <p:spPr>
          <a:xfrm>
            <a:off x="10428680" y="1195694"/>
            <a:ext cx="1401137" cy="408622"/>
          </a:xfrm>
          <a:prstGeom prst="round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微软雅黑" panose="020B0503020204020204" pitchFamily="34" charset="-122"/>
                <a:ea typeface="微软雅黑" panose="020B0503020204020204" pitchFamily="34" charset="-122"/>
              </a:rPr>
              <a:t>主要贡献</a:t>
            </a:r>
          </a:p>
        </p:txBody>
      </p:sp>
    </p:spTree>
    <p:extLst>
      <p:ext uri="{BB962C8B-B14F-4D97-AF65-F5344CB8AC3E}">
        <p14:creationId xmlns:p14="http://schemas.microsoft.com/office/powerpoint/2010/main" val="1165611509"/>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8" name="矩形: 圆角 3137">
            <a:extLst>
              <a:ext uri="{FF2B5EF4-FFF2-40B4-BE49-F238E27FC236}">
                <a16:creationId xmlns:a16="http://schemas.microsoft.com/office/drawing/2014/main" id="{6AA5535A-ABFF-57E0-D129-4E4DF0E35205}"/>
              </a:ext>
            </a:extLst>
          </p:cNvPr>
          <p:cNvSpPr/>
          <p:nvPr/>
        </p:nvSpPr>
        <p:spPr>
          <a:xfrm>
            <a:off x="10148903" y="1053500"/>
            <a:ext cx="1610328" cy="5435837"/>
          </a:xfrm>
          <a:prstGeom prst="roundRect">
            <a:avLst>
              <a:gd name="adj" fmla="val 11246"/>
            </a:avLst>
          </a:prstGeom>
          <a:solidFill>
            <a:schemeClr val="bg1"/>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2" name="文本框 4"/>
          <p:cNvSpPr txBox="1"/>
          <p:nvPr/>
        </p:nvSpPr>
        <p:spPr>
          <a:xfrm>
            <a:off x="119336" y="188640"/>
            <a:ext cx="9073008"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研究内容二：考虑货车异质性的事故致因定性定量分析</a:t>
            </a:r>
            <a:endParaRPr lang="zh-CN" altLang="en-US" dirty="0">
              <a:solidFill>
                <a:srgbClr val="FFC000"/>
              </a:solidFill>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709F56F1-7647-1AD9-CA0D-DE9F859478DA}"/>
              </a:ext>
            </a:extLst>
          </p:cNvPr>
          <p:cNvSpPr/>
          <p:nvPr/>
        </p:nvSpPr>
        <p:spPr>
          <a:xfrm>
            <a:off x="678250" y="1812577"/>
            <a:ext cx="3401526" cy="115212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5AC826C0-3DFA-70F8-6BFE-2402C80DB91A}"/>
              </a:ext>
            </a:extLst>
          </p:cNvPr>
          <p:cNvSpPr/>
          <p:nvPr/>
        </p:nvSpPr>
        <p:spPr>
          <a:xfrm>
            <a:off x="551384" y="1054265"/>
            <a:ext cx="3672408" cy="5435073"/>
          </a:xfrm>
          <a:prstGeom prst="roundRect">
            <a:avLst>
              <a:gd name="adj" fmla="val 4110"/>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40FE4DBC-761A-F0DD-9781-A46ED7D1EF50}"/>
              </a:ext>
            </a:extLst>
          </p:cNvPr>
          <p:cNvSpPr txBox="1"/>
          <p:nvPr/>
        </p:nvSpPr>
        <p:spPr>
          <a:xfrm>
            <a:off x="634232" y="1171292"/>
            <a:ext cx="3445544" cy="401479"/>
          </a:xfrm>
          <a:prstGeom prst="roundRect">
            <a:avLst>
              <a:gd name="adj" fmla="val 14826"/>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US"/>
            </a:defPPr>
            <a:lvl1pPr algn="ctr">
              <a:defRPr b="1">
                <a:solidFill>
                  <a:schemeClr val="lt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3</a:t>
            </a:r>
            <a:r>
              <a:rPr lang="zh-CN" altLang="en-US" dirty="0"/>
              <a:t>类货车属性</a:t>
            </a:r>
          </a:p>
        </p:txBody>
      </p:sp>
      <p:sp>
        <p:nvSpPr>
          <p:cNvPr id="20" name="矩形 19">
            <a:extLst>
              <a:ext uri="{FF2B5EF4-FFF2-40B4-BE49-F238E27FC236}">
                <a16:creationId xmlns:a16="http://schemas.microsoft.com/office/drawing/2014/main" id="{CE933DCC-05CF-4A0C-9AD0-7C6984C5EAC9}"/>
              </a:ext>
            </a:extLst>
          </p:cNvPr>
          <p:cNvSpPr/>
          <p:nvPr/>
        </p:nvSpPr>
        <p:spPr>
          <a:xfrm>
            <a:off x="1793335" y="1671328"/>
            <a:ext cx="1127338" cy="26679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动力类型</a:t>
            </a:r>
          </a:p>
        </p:txBody>
      </p:sp>
      <p:pic>
        <p:nvPicPr>
          <p:cNvPr id="3074" name="Picture 2" descr="4米2纯电动拉货车-河南嘉林新能源汽车有限公司">
            <a:extLst>
              <a:ext uri="{FF2B5EF4-FFF2-40B4-BE49-F238E27FC236}">
                <a16:creationId xmlns:a16="http://schemas.microsoft.com/office/drawing/2014/main" id="{EDAD8E5C-34AE-1B97-AC68-531322A6A3A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277" t="-569" r="29745" b="696"/>
          <a:stretch/>
        </p:blipFill>
        <p:spPr bwMode="auto">
          <a:xfrm>
            <a:off x="1121082" y="2003344"/>
            <a:ext cx="850349" cy="67856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小型货车图片-白色背景上的白色小型货车素材-高清图片-摄影照片-寻图免费打包下载">
            <a:extLst>
              <a:ext uri="{FF2B5EF4-FFF2-40B4-BE49-F238E27FC236}">
                <a16:creationId xmlns:a16="http://schemas.microsoft.com/office/drawing/2014/main" id="{2D4596BB-D01E-18F4-B3A5-F1E2B8357EC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366" t="6920" r="12201" b="13123"/>
          <a:stretch/>
        </p:blipFill>
        <p:spPr bwMode="auto">
          <a:xfrm flipH="1">
            <a:off x="2755019" y="2035496"/>
            <a:ext cx="850349" cy="577556"/>
          </a:xfrm>
          <a:prstGeom prst="rect">
            <a:avLst/>
          </a:prstGeom>
          <a:noFill/>
          <a:extLst>
            <a:ext uri="{909E8E84-426E-40DD-AFC4-6F175D3DCCD1}">
              <a14:hiddenFill xmlns:a14="http://schemas.microsoft.com/office/drawing/2010/main">
                <a:solidFill>
                  <a:srgbClr val="FFFFFF"/>
                </a:solidFill>
              </a14:hiddenFill>
            </a:ext>
          </a:extLst>
        </p:spPr>
      </p:pic>
      <p:sp>
        <p:nvSpPr>
          <p:cNvPr id="34" name="文本框 33">
            <a:extLst>
              <a:ext uri="{FF2B5EF4-FFF2-40B4-BE49-F238E27FC236}">
                <a16:creationId xmlns:a16="http://schemas.microsoft.com/office/drawing/2014/main" id="{2347D588-C89D-9735-0667-FD183D9F4B9B}"/>
              </a:ext>
            </a:extLst>
          </p:cNvPr>
          <p:cNvSpPr txBox="1"/>
          <p:nvPr/>
        </p:nvSpPr>
        <p:spPr>
          <a:xfrm>
            <a:off x="1373497" y="2636912"/>
            <a:ext cx="543739"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电动</a:t>
            </a:r>
          </a:p>
        </p:txBody>
      </p:sp>
      <p:sp>
        <p:nvSpPr>
          <p:cNvPr id="35" name="文本框 34">
            <a:extLst>
              <a:ext uri="{FF2B5EF4-FFF2-40B4-BE49-F238E27FC236}">
                <a16:creationId xmlns:a16="http://schemas.microsoft.com/office/drawing/2014/main" id="{F8F75428-18D7-3185-44C6-630A32CF2D14}"/>
              </a:ext>
            </a:extLst>
          </p:cNvPr>
          <p:cNvSpPr txBox="1"/>
          <p:nvPr/>
        </p:nvSpPr>
        <p:spPr>
          <a:xfrm>
            <a:off x="2959973" y="2636912"/>
            <a:ext cx="543739"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燃油</a:t>
            </a:r>
          </a:p>
        </p:txBody>
      </p:sp>
      <p:pic>
        <p:nvPicPr>
          <p:cNvPr id="3078" name="Picture 6" descr="【图】长安轻型车 睿行EM80 2018款 2.9T 4.81米纯电动对开门高顶封闭货车48.4kWh_实拍图片_670593_卡车之家">
            <a:extLst>
              <a:ext uri="{FF2B5EF4-FFF2-40B4-BE49-F238E27FC236}">
                <a16:creationId xmlns:a16="http://schemas.microsoft.com/office/drawing/2014/main" id="{9AE3A843-ED2A-74E8-1D9F-D24C5DE1DB1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7530" t="5129"/>
          <a:stretch/>
        </p:blipFill>
        <p:spPr bwMode="auto">
          <a:xfrm>
            <a:off x="678250" y="3492980"/>
            <a:ext cx="1145723" cy="78364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什么是中型货车？">
            <a:extLst>
              <a:ext uri="{FF2B5EF4-FFF2-40B4-BE49-F238E27FC236}">
                <a16:creationId xmlns:a16="http://schemas.microsoft.com/office/drawing/2014/main" id="{21D5F1B7-70F2-54BC-9E2D-7CA13F3AC8F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0025" t="6650"/>
          <a:stretch/>
        </p:blipFill>
        <p:spPr bwMode="auto">
          <a:xfrm>
            <a:off x="1887115" y="3487068"/>
            <a:ext cx="1054174" cy="785122"/>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图】中国重汽 HOWO T7H重卡 540马力 8X4 8.8米 国五 自卸车(ZZ3317V486HE1)_车型图片_卡车网">
            <a:extLst>
              <a:ext uri="{FF2B5EF4-FFF2-40B4-BE49-F238E27FC236}">
                <a16:creationId xmlns:a16="http://schemas.microsoft.com/office/drawing/2014/main" id="{7226FA7A-A929-B839-1CB8-E8FF8BCE19A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2669" b="4112"/>
          <a:stretch/>
        </p:blipFill>
        <p:spPr bwMode="auto">
          <a:xfrm>
            <a:off x="3010522" y="3479772"/>
            <a:ext cx="1069254" cy="782197"/>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C8CB6C5D-0123-BE70-D503-F0FC9C084524}"/>
              </a:ext>
            </a:extLst>
          </p:cNvPr>
          <p:cNvSpPr txBox="1"/>
          <p:nvPr/>
        </p:nvSpPr>
        <p:spPr>
          <a:xfrm>
            <a:off x="967598" y="4273351"/>
            <a:ext cx="543739"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轻型</a:t>
            </a:r>
          </a:p>
        </p:txBody>
      </p:sp>
      <p:sp>
        <p:nvSpPr>
          <p:cNvPr id="37" name="文本框 36">
            <a:extLst>
              <a:ext uri="{FF2B5EF4-FFF2-40B4-BE49-F238E27FC236}">
                <a16:creationId xmlns:a16="http://schemas.microsoft.com/office/drawing/2014/main" id="{86C2F95A-1569-1585-6533-81AE445E88AD}"/>
              </a:ext>
            </a:extLst>
          </p:cNvPr>
          <p:cNvSpPr txBox="1"/>
          <p:nvPr/>
        </p:nvSpPr>
        <p:spPr>
          <a:xfrm>
            <a:off x="2130689" y="4273351"/>
            <a:ext cx="543739"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中型</a:t>
            </a:r>
          </a:p>
        </p:txBody>
      </p:sp>
      <p:sp>
        <p:nvSpPr>
          <p:cNvPr id="38" name="文本框 37">
            <a:extLst>
              <a:ext uri="{FF2B5EF4-FFF2-40B4-BE49-F238E27FC236}">
                <a16:creationId xmlns:a16="http://schemas.microsoft.com/office/drawing/2014/main" id="{34AAE441-DB5F-ED13-CC58-997405B659FA}"/>
              </a:ext>
            </a:extLst>
          </p:cNvPr>
          <p:cNvSpPr txBox="1"/>
          <p:nvPr/>
        </p:nvSpPr>
        <p:spPr>
          <a:xfrm>
            <a:off x="3248005" y="4273351"/>
            <a:ext cx="543739"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重型</a:t>
            </a:r>
          </a:p>
        </p:txBody>
      </p:sp>
      <p:sp>
        <p:nvSpPr>
          <p:cNvPr id="40" name="矩形 39">
            <a:extLst>
              <a:ext uri="{FF2B5EF4-FFF2-40B4-BE49-F238E27FC236}">
                <a16:creationId xmlns:a16="http://schemas.microsoft.com/office/drawing/2014/main" id="{206031FE-2189-9EE6-7F60-628AA4C0C96B}"/>
              </a:ext>
            </a:extLst>
          </p:cNvPr>
          <p:cNvSpPr/>
          <p:nvPr/>
        </p:nvSpPr>
        <p:spPr>
          <a:xfrm>
            <a:off x="678250" y="3212263"/>
            <a:ext cx="3401526" cy="135974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DF31BE4-BA7D-BBC7-2AF0-C9563A2CE216}"/>
              </a:ext>
            </a:extLst>
          </p:cNvPr>
          <p:cNvSpPr/>
          <p:nvPr/>
        </p:nvSpPr>
        <p:spPr>
          <a:xfrm>
            <a:off x="1793335" y="3068960"/>
            <a:ext cx="1127338" cy="26679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货车载重</a:t>
            </a:r>
          </a:p>
        </p:txBody>
      </p:sp>
      <p:sp>
        <p:nvSpPr>
          <p:cNvPr id="41" name="矩形 40">
            <a:extLst>
              <a:ext uri="{FF2B5EF4-FFF2-40B4-BE49-F238E27FC236}">
                <a16:creationId xmlns:a16="http://schemas.microsoft.com/office/drawing/2014/main" id="{83030ABB-B015-D4DD-9137-CE9639424D2E}"/>
              </a:ext>
            </a:extLst>
          </p:cNvPr>
          <p:cNvSpPr/>
          <p:nvPr/>
        </p:nvSpPr>
        <p:spPr>
          <a:xfrm>
            <a:off x="678250" y="4839109"/>
            <a:ext cx="3401526" cy="1542219"/>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48D8150-AFED-A50F-6172-0D7ADBB159E3}"/>
              </a:ext>
            </a:extLst>
          </p:cNvPr>
          <p:cNvSpPr/>
          <p:nvPr/>
        </p:nvSpPr>
        <p:spPr>
          <a:xfrm>
            <a:off x="1793335" y="4725144"/>
            <a:ext cx="1127338" cy="26679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车厢类型</a:t>
            </a:r>
          </a:p>
        </p:txBody>
      </p:sp>
      <p:pic>
        <p:nvPicPr>
          <p:cNvPr id="46" name="图片 45" descr="蓝色的卡车&#10;&#10;描述已自动生成">
            <a:extLst>
              <a:ext uri="{FF2B5EF4-FFF2-40B4-BE49-F238E27FC236}">
                <a16:creationId xmlns:a16="http://schemas.microsoft.com/office/drawing/2014/main" id="{78B6B21F-10EE-1BE7-4309-42288913A61A}"/>
              </a:ext>
            </a:extLst>
          </p:cNvPr>
          <p:cNvPicPr>
            <a:picLocks noChangeAspect="1"/>
          </p:cNvPicPr>
          <p:nvPr/>
        </p:nvPicPr>
        <p:blipFill>
          <a:blip r:embed="rId8" cstate="print">
            <a:extLst>
              <a:ext uri="{28A0092B-C50C-407E-A947-70E740481C1C}">
                <a14:useLocalDpi xmlns:a14="http://schemas.microsoft.com/office/drawing/2010/main" val="0"/>
              </a:ext>
            </a:extLst>
          </a:blip>
          <a:srcRect l="3114" t="18424" r="5202" b="14132"/>
          <a:stretch/>
        </p:blipFill>
        <p:spPr>
          <a:xfrm>
            <a:off x="824202" y="5193972"/>
            <a:ext cx="755425" cy="555702"/>
          </a:xfrm>
          <a:prstGeom prst="rect">
            <a:avLst/>
          </a:prstGeom>
        </p:spPr>
      </p:pic>
      <p:pic>
        <p:nvPicPr>
          <p:cNvPr id="48" name="图片 47" descr="绿色的卡车&#10;&#10;描述已自动生成">
            <a:extLst>
              <a:ext uri="{FF2B5EF4-FFF2-40B4-BE49-F238E27FC236}">
                <a16:creationId xmlns:a16="http://schemas.microsoft.com/office/drawing/2014/main" id="{A6E57051-C5C2-334D-880D-10EB7BE1D123}"/>
              </a:ext>
            </a:extLst>
          </p:cNvPr>
          <p:cNvPicPr>
            <a:picLocks noChangeAspect="1"/>
          </p:cNvPicPr>
          <p:nvPr/>
        </p:nvPicPr>
        <p:blipFill>
          <a:blip r:embed="rId9" cstate="print">
            <a:extLst>
              <a:ext uri="{28A0092B-C50C-407E-A947-70E740481C1C}">
                <a14:useLocalDpi xmlns:a14="http://schemas.microsoft.com/office/drawing/2010/main" val="0"/>
              </a:ext>
            </a:extLst>
          </a:blip>
          <a:srcRect l="3699" t="22700" r="4851" b="22701"/>
          <a:stretch/>
        </p:blipFill>
        <p:spPr>
          <a:xfrm>
            <a:off x="1614353" y="5193972"/>
            <a:ext cx="930767" cy="555702"/>
          </a:xfrm>
          <a:prstGeom prst="rect">
            <a:avLst/>
          </a:prstGeom>
        </p:spPr>
      </p:pic>
      <p:pic>
        <p:nvPicPr>
          <p:cNvPr id="52" name="图片 51" descr="卡车停在路边&#10;&#10;描述已自动生成">
            <a:extLst>
              <a:ext uri="{FF2B5EF4-FFF2-40B4-BE49-F238E27FC236}">
                <a16:creationId xmlns:a16="http://schemas.microsoft.com/office/drawing/2014/main" id="{4B95F347-362A-DA13-4855-41ABB60D5DE6}"/>
              </a:ext>
            </a:extLst>
          </p:cNvPr>
          <p:cNvPicPr>
            <a:picLocks noChangeAspect="1"/>
          </p:cNvPicPr>
          <p:nvPr/>
        </p:nvPicPr>
        <p:blipFill>
          <a:blip r:embed="rId10" cstate="print">
            <a:extLst>
              <a:ext uri="{28A0092B-C50C-407E-A947-70E740481C1C}">
                <a14:useLocalDpi xmlns:a14="http://schemas.microsoft.com/office/drawing/2010/main" val="0"/>
              </a:ext>
            </a:extLst>
          </a:blip>
          <a:srcRect t="19551" r="4851" b="6950"/>
          <a:stretch/>
        </p:blipFill>
        <p:spPr>
          <a:xfrm>
            <a:off x="860234" y="5771445"/>
            <a:ext cx="719393" cy="555702"/>
          </a:xfrm>
          <a:prstGeom prst="rect">
            <a:avLst/>
          </a:prstGeom>
        </p:spPr>
      </p:pic>
      <p:pic>
        <p:nvPicPr>
          <p:cNvPr id="54" name="图片 53" descr="卡车停在一起&#10;&#10;中度可信度描述已自动生成">
            <a:extLst>
              <a:ext uri="{FF2B5EF4-FFF2-40B4-BE49-F238E27FC236}">
                <a16:creationId xmlns:a16="http://schemas.microsoft.com/office/drawing/2014/main" id="{5C5DD581-0F24-E023-C322-C30F5E66405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602774" y="5172509"/>
            <a:ext cx="631226" cy="631226"/>
          </a:xfrm>
          <a:prstGeom prst="rect">
            <a:avLst/>
          </a:prstGeom>
        </p:spPr>
      </p:pic>
      <p:pic>
        <p:nvPicPr>
          <p:cNvPr id="56" name="图片 55" descr="卡车行驶在路上&#10;&#10;低可信度描述已自动生成">
            <a:extLst>
              <a:ext uri="{FF2B5EF4-FFF2-40B4-BE49-F238E27FC236}">
                <a16:creationId xmlns:a16="http://schemas.microsoft.com/office/drawing/2014/main" id="{CFEDB3D6-0ED5-EEB2-4EA6-9BD8C10A78D2}"/>
              </a:ext>
            </a:extLst>
          </p:cNvPr>
          <p:cNvPicPr>
            <a:picLocks noChangeAspect="1"/>
          </p:cNvPicPr>
          <p:nvPr/>
        </p:nvPicPr>
        <p:blipFill>
          <a:blip r:embed="rId12" cstate="print">
            <a:extLst>
              <a:ext uri="{28A0092B-C50C-407E-A947-70E740481C1C}">
                <a14:useLocalDpi xmlns:a14="http://schemas.microsoft.com/office/drawing/2010/main" val="0"/>
              </a:ext>
            </a:extLst>
          </a:blip>
          <a:srcRect l="8935" t="13250" r="4152" b="6951"/>
          <a:stretch/>
        </p:blipFill>
        <p:spPr>
          <a:xfrm>
            <a:off x="1637281" y="5771444"/>
            <a:ext cx="907839" cy="537875"/>
          </a:xfrm>
          <a:prstGeom prst="rect">
            <a:avLst/>
          </a:prstGeom>
        </p:spPr>
      </p:pic>
      <p:pic>
        <p:nvPicPr>
          <p:cNvPr id="58" name="图片 57" descr="紫色的卡车&#10;&#10;描述已自动生成">
            <a:extLst>
              <a:ext uri="{FF2B5EF4-FFF2-40B4-BE49-F238E27FC236}">
                <a16:creationId xmlns:a16="http://schemas.microsoft.com/office/drawing/2014/main" id="{67CCEF18-12F1-B70B-A85A-DC8D4CB279E4}"/>
              </a:ext>
            </a:extLst>
          </p:cNvPr>
          <p:cNvPicPr>
            <a:picLocks noChangeAspect="1"/>
          </p:cNvPicPr>
          <p:nvPr/>
        </p:nvPicPr>
        <p:blipFill>
          <a:blip r:embed="rId13" cstate="print">
            <a:extLst>
              <a:ext uri="{28A0092B-C50C-407E-A947-70E740481C1C}">
                <a14:useLocalDpi xmlns:a14="http://schemas.microsoft.com/office/drawing/2010/main" val="0"/>
              </a:ext>
            </a:extLst>
          </a:blip>
          <a:srcRect t="9483" b="9051"/>
          <a:stretch/>
        </p:blipFill>
        <p:spPr>
          <a:xfrm>
            <a:off x="2587147" y="5776544"/>
            <a:ext cx="646853" cy="526972"/>
          </a:xfrm>
          <a:prstGeom prst="rect">
            <a:avLst/>
          </a:prstGeom>
        </p:spPr>
      </p:pic>
      <p:sp>
        <p:nvSpPr>
          <p:cNvPr id="62" name="文本框 61">
            <a:extLst>
              <a:ext uri="{FF2B5EF4-FFF2-40B4-BE49-F238E27FC236}">
                <a16:creationId xmlns:a16="http://schemas.microsoft.com/office/drawing/2014/main" id="{D4B05B26-6C4B-F932-3F02-8DE47214908F}"/>
              </a:ext>
            </a:extLst>
          </p:cNvPr>
          <p:cNvSpPr txBox="1"/>
          <p:nvPr/>
        </p:nvSpPr>
        <p:spPr>
          <a:xfrm>
            <a:off x="3287688" y="5013176"/>
            <a:ext cx="786423" cy="1384995"/>
          </a:xfrm>
          <a:prstGeom prst="rect">
            <a:avLst/>
          </a:prstGeom>
          <a:noFill/>
        </p:spPr>
        <p:txBody>
          <a:bodyPr wrap="square" rtlCol="0">
            <a:spAutoFit/>
          </a:bodyPr>
          <a:lstStyle>
            <a:defPPr>
              <a:defRPr lang="en-US"/>
            </a:defPPr>
            <a:lvl1pPr>
              <a:defRPr sz="1600">
                <a:latin typeface="微软雅黑" panose="020B0503020204020204" pitchFamily="34" charset="-122"/>
                <a:ea typeface="微软雅黑" panose="020B0503020204020204" pitchFamily="34" charset="-122"/>
              </a:defRPr>
            </a:lvl1pPr>
          </a:lstStyle>
          <a:p>
            <a:r>
              <a:rPr lang="zh-CN" altLang="zh-CN" sz="1400" dirty="0"/>
              <a:t>厢式</a:t>
            </a:r>
          </a:p>
          <a:p>
            <a:r>
              <a:rPr lang="zh-CN" altLang="zh-CN" sz="1400" dirty="0"/>
              <a:t>封闭式</a:t>
            </a:r>
          </a:p>
          <a:p>
            <a:r>
              <a:rPr lang="zh-CN" altLang="zh-CN" sz="1400" dirty="0"/>
              <a:t>栏板</a:t>
            </a:r>
            <a:r>
              <a:rPr lang="zh-CN" altLang="en-US" sz="1400" dirty="0"/>
              <a:t>式</a:t>
            </a:r>
            <a:endParaRPr lang="zh-CN" altLang="zh-CN" sz="1400" dirty="0"/>
          </a:p>
          <a:p>
            <a:r>
              <a:rPr lang="zh-CN" altLang="zh-CN" sz="1400" dirty="0"/>
              <a:t>自卸</a:t>
            </a:r>
            <a:r>
              <a:rPr lang="zh-CN" altLang="en-US" sz="1400" dirty="0"/>
              <a:t>式</a:t>
            </a:r>
            <a:endParaRPr lang="zh-CN" altLang="zh-CN" sz="1400" dirty="0"/>
          </a:p>
          <a:p>
            <a:r>
              <a:rPr lang="zh-CN" altLang="zh-CN" sz="1400" dirty="0"/>
              <a:t>作业</a:t>
            </a:r>
            <a:r>
              <a:rPr lang="zh-CN" altLang="en-US" sz="1400" dirty="0"/>
              <a:t>车</a:t>
            </a:r>
            <a:endParaRPr lang="zh-CN" altLang="zh-CN" sz="1400" dirty="0"/>
          </a:p>
          <a:p>
            <a:r>
              <a:rPr lang="zh-CN" altLang="zh-CN" sz="1400" dirty="0"/>
              <a:t>其他</a:t>
            </a:r>
          </a:p>
        </p:txBody>
      </p:sp>
      <p:sp>
        <p:nvSpPr>
          <p:cNvPr id="63" name="文本框 62">
            <a:extLst>
              <a:ext uri="{FF2B5EF4-FFF2-40B4-BE49-F238E27FC236}">
                <a16:creationId xmlns:a16="http://schemas.microsoft.com/office/drawing/2014/main" id="{51E5A790-7538-9867-0822-59C95A0BAE53}"/>
              </a:ext>
            </a:extLst>
          </p:cNvPr>
          <p:cNvSpPr txBox="1"/>
          <p:nvPr/>
        </p:nvSpPr>
        <p:spPr>
          <a:xfrm>
            <a:off x="5321698" y="1134512"/>
            <a:ext cx="3445544" cy="401479"/>
          </a:xfrm>
          <a:prstGeom prst="roundRect">
            <a:avLst>
              <a:gd name="adj" fmla="val 14826"/>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事故致因分类识别</a:t>
            </a:r>
          </a:p>
        </p:txBody>
      </p:sp>
      <p:sp>
        <p:nvSpPr>
          <p:cNvPr id="3072" name="矩形 3071">
            <a:extLst>
              <a:ext uri="{FF2B5EF4-FFF2-40B4-BE49-F238E27FC236}">
                <a16:creationId xmlns:a16="http://schemas.microsoft.com/office/drawing/2014/main" id="{6E9EF087-E24B-4F6D-FE75-94C8AE99EA13}"/>
              </a:ext>
            </a:extLst>
          </p:cNvPr>
          <p:cNvSpPr/>
          <p:nvPr/>
        </p:nvSpPr>
        <p:spPr>
          <a:xfrm>
            <a:off x="8500550" y="1694276"/>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贝叶斯优化</a:t>
            </a:r>
          </a:p>
        </p:txBody>
      </p:sp>
      <p:sp>
        <p:nvSpPr>
          <p:cNvPr id="3073" name="矩形 3072">
            <a:extLst>
              <a:ext uri="{FF2B5EF4-FFF2-40B4-BE49-F238E27FC236}">
                <a16:creationId xmlns:a16="http://schemas.microsoft.com/office/drawing/2014/main" id="{C96F5C7D-9676-CF4E-D967-795D40F1481B}"/>
              </a:ext>
            </a:extLst>
          </p:cNvPr>
          <p:cNvSpPr/>
          <p:nvPr/>
        </p:nvSpPr>
        <p:spPr>
          <a:xfrm>
            <a:off x="8500550" y="2166888"/>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K</a:t>
            </a: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折检验</a:t>
            </a:r>
          </a:p>
        </p:txBody>
      </p:sp>
      <p:sp>
        <p:nvSpPr>
          <p:cNvPr id="3075" name="矩形 3074">
            <a:extLst>
              <a:ext uri="{FF2B5EF4-FFF2-40B4-BE49-F238E27FC236}">
                <a16:creationId xmlns:a16="http://schemas.microsoft.com/office/drawing/2014/main" id="{03ED7AD0-267F-FDBC-8068-89B8DCAAB5D0}"/>
              </a:ext>
            </a:extLst>
          </p:cNvPr>
          <p:cNvSpPr/>
          <p:nvPr/>
        </p:nvSpPr>
        <p:spPr>
          <a:xfrm>
            <a:off x="8500550" y="3107354"/>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对比分析</a:t>
            </a:r>
          </a:p>
        </p:txBody>
      </p:sp>
      <p:sp>
        <p:nvSpPr>
          <p:cNvPr id="3077" name="矩形 3076">
            <a:extLst>
              <a:ext uri="{FF2B5EF4-FFF2-40B4-BE49-F238E27FC236}">
                <a16:creationId xmlns:a16="http://schemas.microsoft.com/office/drawing/2014/main" id="{BDE1FB4B-D88B-6553-F04B-5CC46E4DDDE4}"/>
              </a:ext>
            </a:extLst>
          </p:cNvPr>
          <p:cNvSpPr/>
          <p:nvPr/>
        </p:nvSpPr>
        <p:spPr>
          <a:xfrm>
            <a:off x="8500550" y="2637121"/>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性能评估</a:t>
            </a:r>
          </a:p>
        </p:txBody>
      </p:sp>
      <p:sp>
        <p:nvSpPr>
          <p:cNvPr id="3081" name="矩形 3080">
            <a:extLst>
              <a:ext uri="{FF2B5EF4-FFF2-40B4-BE49-F238E27FC236}">
                <a16:creationId xmlns:a16="http://schemas.microsoft.com/office/drawing/2014/main" id="{82E7B353-43F7-BBCB-A9B6-64BEEA4967ED}"/>
              </a:ext>
            </a:extLst>
          </p:cNvPr>
          <p:cNvSpPr/>
          <p:nvPr/>
        </p:nvSpPr>
        <p:spPr>
          <a:xfrm>
            <a:off x="7166673" y="1699894"/>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err="1">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LightGBM</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83" name="矩形 3082">
            <a:extLst>
              <a:ext uri="{FF2B5EF4-FFF2-40B4-BE49-F238E27FC236}">
                <a16:creationId xmlns:a16="http://schemas.microsoft.com/office/drawing/2014/main" id="{59608AB2-7764-90CB-CC97-32A86B95DDF5}"/>
              </a:ext>
            </a:extLst>
          </p:cNvPr>
          <p:cNvSpPr/>
          <p:nvPr/>
        </p:nvSpPr>
        <p:spPr>
          <a:xfrm>
            <a:off x="7166673" y="2172506"/>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err="1">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Catboost</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84" name="矩形 3083">
            <a:extLst>
              <a:ext uri="{FF2B5EF4-FFF2-40B4-BE49-F238E27FC236}">
                <a16:creationId xmlns:a16="http://schemas.microsoft.com/office/drawing/2014/main" id="{B2788E83-9694-5B37-1817-A4B78ADC66DB}"/>
              </a:ext>
            </a:extLst>
          </p:cNvPr>
          <p:cNvSpPr/>
          <p:nvPr/>
        </p:nvSpPr>
        <p:spPr>
          <a:xfrm>
            <a:off x="7166673" y="3112972"/>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RF</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85" name="矩形 3084">
            <a:extLst>
              <a:ext uri="{FF2B5EF4-FFF2-40B4-BE49-F238E27FC236}">
                <a16:creationId xmlns:a16="http://schemas.microsoft.com/office/drawing/2014/main" id="{BCA9EE23-D475-1738-40B8-A81044ABAE45}"/>
              </a:ext>
            </a:extLst>
          </p:cNvPr>
          <p:cNvSpPr/>
          <p:nvPr/>
        </p:nvSpPr>
        <p:spPr>
          <a:xfrm>
            <a:off x="7166673" y="2642739"/>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SVM</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88" name="文本框 3087">
            <a:extLst>
              <a:ext uri="{FF2B5EF4-FFF2-40B4-BE49-F238E27FC236}">
                <a16:creationId xmlns:a16="http://schemas.microsoft.com/office/drawing/2014/main" id="{017EF4FB-7B32-9CB7-3071-C48ECE382B1F}"/>
              </a:ext>
            </a:extLst>
          </p:cNvPr>
          <p:cNvSpPr txBox="1"/>
          <p:nvPr/>
        </p:nvSpPr>
        <p:spPr>
          <a:xfrm>
            <a:off x="5389496" y="3804917"/>
            <a:ext cx="3445544" cy="401479"/>
          </a:xfrm>
          <a:prstGeom prst="roundRect">
            <a:avLst>
              <a:gd name="adj" fmla="val 14826"/>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SHAP</a:t>
            </a:r>
            <a:r>
              <a:rPr lang="zh-CN" altLang="en-US" dirty="0"/>
              <a:t>定性定量解释</a:t>
            </a:r>
          </a:p>
        </p:txBody>
      </p:sp>
      <p:sp>
        <p:nvSpPr>
          <p:cNvPr id="3089" name="矩形: 圆角 3088">
            <a:extLst>
              <a:ext uri="{FF2B5EF4-FFF2-40B4-BE49-F238E27FC236}">
                <a16:creationId xmlns:a16="http://schemas.microsoft.com/office/drawing/2014/main" id="{50EFBD66-76CD-5BD7-6CB9-65B98F463C18}"/>
              </a:ext>
            </a:extLst>
          </p:cNvPr>
          <p:cNvSpPr/>
          <p:nvPr/>
        </p:nvSpPr>
        <p:spPr>
          <a:xfrm>
            <a:off x="4312112" y="1053501"/>
            <a:ext cx="5496584" cy="2519516"/>
          </a:xfrm>
          <a:prstGeom prst="roundRect">
            <a:avLst>
              <a:gd name="adj" fmla="val 4110"/>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090" name="矩形: 圆角 3089">
            <a:extLst>
              <a:ext uri="{FF2B5EF4-FFF2-40B4-BE49-F238E27FC236}">
                <a16:creationId xmlns:a16="http://schemas.microsoft.com/office/drawing/2014/main" id="{84D42755-AE47-5A31-FBDA-A2E19128F417}"/>
              </a:ext>
            </a:extLst>
          </p:cNvPr>
          <p:cNvSpPr/>
          <p:nvPr/>
        </p:nvSpPr>
        <p:spPr>
          <a:xfrm>
            <a:off x="4331100" y="3687794"/>
            <a:ext cx="5496584" cy="2801544"/>
          </a:xfrm>
          <a:prstGeom prst="roundRect">
            <a:avLst>
              <a:gd name="adj" fmla="val 4110"/>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091" name="矩形 3090">
            <a:extLst>
              <a:ext uri="{FF2B5EF4-FFF2-40B4-BE49-F238E27FC236}">
                <a16:creationId xmlns:a16="http://schemas.microsoft.com/office/drawing/2014/main" id="{36DF5D5D-5401-E804-EABF-3CB4AB63EFD7}"/>
              </a:ext>
            </a:extLst>
          </p:cNvPr>
          <p:cNvSpPr/>
          <p:nvPr/>
        </p:nvSpPr>
        <p:spPr>
          <a:xfrm>
            <a:off x="4466229" y="4423095"/>
            <a:ext cx="3970042" cy="394723"/>
          </a:xfrm>
          <a:prstGeom prst="rect">
            <a:avLst/>
          </a:prstGeom>
          <a:solidFill>
            <a:schemeClr val="accent6">
              <a:lumMod val="20000"/>
              <a:lumOff val="80000"/>
            </a:schemeClr>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融合</a:t>
            </a: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特征重要度与蜂巢摘要图</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的全局分析</a:t>
            </a:r>
          </a:p>
        </p:txBody>
      </p:sp>
      <p:sp>
        <p:nvSpPr>
          <p:cNvPr id="3092" name="矩形 3091">
            <a:extLst>
              <a:ext uri="{FF2B5EF4-FFF2-40B4-BE49-F238E27FC236}">
                <a16:creationId xmlns:a16="http://schemas.microsoft.com/office/drawing/2014/main" id="{C990CE30-11CA-CD26-0648-FDE7496ECE8C}"/>
              </a:ext>
            </a:extLst>
          </p:cNvPr>
          <p:cNvSpPr/>
          <p:nvPr/>
        </p:nvSpPr>
        <p:spPr>
          <a:xfrm>
            <a:off x="4466449" y="5813747"/>
            <a:ext cx="3969603" cy="394723"/>
          </a:xfrm>
          <a:prstGeom prst="rect">
            <a:avLst/>
          </a:prstGeom>
          <a:solidFill>
            <a:schemeClr val="accent6">
              <a:lumMod val="20000"/>
              <a:lumOff val="80000"/>
            </a:schemeClr>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结合</a:t>
            </a:r>
            <a:r>
              <a:rPr lang="en-US" altLang="zh-CN"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3D</a:t>
            </a: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可视化</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的多因子交互作用分析</a:t>
            </a:r>
          </a:p>
        </p:txBody>
      </p:sp>
      <p:sp>
        <p:nvSpPr>
          <p:cNvPr id="3095" name="矩形 3094">
            <a:extLst>
              <a:ext uri="{FF2B5EF4-FFF2-40B4-BE49-F238E27FC236}">
                <a16:creationId xmlns:a16="http://schemas.microsoft.com/office/drawing/2014/main" id="{1831D005-0217-2F0C-4B60-879234EECED7}"/>
              </a:ext>
            </a:extLst>
          </p:cNvPr>
          <p:cNvSpPr/>
          <p:nvPr/>
        </p:nvSpPr>
        <p:spPr>
          <a:xfrm>
            <a:off x="4466449" y="5118421"/>
            <a:ext cx="3969603" cy="394723"/>
          </a:xfrm>
          <a:prstGeom prst="rect">
            <a:avLst/>
          </a:prstGeom>
          <a:solidFill>
            <a:schemeClr val="accent6">
              <a:lumMod val="20000"/>
              <a:lumOff val="80000"/>
            </a:schemeClr>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结合</a:t>
            </a:r>
            <a:r>
              <a:rPr lang="en-US" altLang="zh-CN"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LOWSS</a:t>
            </a:r>
            <a:r>
              <a:rPr lang="zh-CN" altLang="en-US" sz="16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曲线</a:t>
            </a:r>
            <a:r>
              <a:rPr lang="zh-CN" altLang="en-US"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拟合、标点的单因子分析</a:t>
            </a:r>
          </a:p>
        </p:txBody>
      </p:sp>
      <p:sp>
        <p:nvSpPr>
          <p:cNvPr id="3103" name="矩形 3102">
            <a:extLst>
              <a:ext uri="{FF2B5EF4-FFF2-40B4-BE49-F238E27FC236}">
                <a16:creationId xmlns:a16="http://schemas.microsoft.com/office/drawing/2014/main" id="{D81A9072-92EA-6CD6-36D2-C597CB810722}"/>
              </a:ext>
            </a:extLst>
          </p:cNvPr>
          <p:cNvSpPr/>
          <p:nvPr/>
        </p:nvSpPr>
        <p:spPr>
          <a:xfrm>
            <a:off x="7114115" y="1657152"/>
            <a:ext cx="1236035" cy="185430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04" name="矩形 3103">
            <a:extLst>
              <a:ext uri="{FF2B5EF4-FFF2-40B4-BE49-F238E27FC236}">
                <a16:creationId xmlns:a16="http://schemas.microsoft.com/office/drawing/2014/main" id="{07E3B7A2-4559-13D5-DFDD-EDAE3A3E4F7A}"/>
              </a:ext>
            </a:extLst>
          </p:cNvPr>
          <p:cNvSpPr/>
          <p:nvPr/>
        </p:nvSpPr>
        <p:spPr>
          <a:xfrm>
            <a:off x="8443092" y="1651999"/>
            <a:ext cx="1253308" cy="185430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07" name="矩形 3106">
            <a:extLst>
              <a:ext uri="{FF2B5EF4-FFF2-40B4-BE49-F238E27FC236}">
                <a16:creationId xmlns:a16="http://schemas.microsoft.com/office/drawing/2014/main" id="{086D871D-4C65-92A7-456A-7684A79D0D81}"/>
              </a:ext>
            </a:extLst>
          </p:cNvPr>
          <p:cNvSpPr/>
          <p:nvPr/>
        </p:nvSpPr>
        <p:spPr>
          <a:xfrm>
            <a:off x="5135668" y="1702308"/>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整体数据集</a:t>
            </a:r>
          </a:p>
        </p:txBody>
      </p:sp>
      <p:sp>
        <p:nvSpPr>
          <p:cNvPr id="3108" name="矩形 3107">
            <a:extLst>
              <a:ext uri="{FF2B5EF4-FFF2-40B4-BE49-F238E27FC236}">
                <a16:creationId xmlns:a16="http://schemas.microsoft.com/office/drawing/2014/main" id="{D7C1A9FD-43E3-E499-1359-89D695E1AD76}"/>
              </a:ext>
            </a:extLst>
          </p:cNvPr>
          <p:cNvSpPr/>
          <p:nvPr/>
        </p:nvSpPr>
        <p:spPr>
          <a:xfrm>
            <a:off x="5148724" y="2644140"/>
            <a:ext cx="1127338" cy="35545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电动与燃油</a:t>
            </a:r>
          </a:p>
        </p:txBody>
      </p:sp>
      <p:sp>
        <p:nvSpPr>
          <p:cNvPr id="3109" name="文本框 3108">
            <a:extLst>
              <a:ext uri="{FF2B5EF4-FFF2-40B4-BE49-F238E27FC236}">
                <a16:creationId xmlns:a16="http://schemas.microsoft.com/office/drawing/2014/main" id="{5B3C9B65-EEB7-F729-99EC-7E781608C498}"/>
              </a:ext>
            </a:extLst>
          </p:cNvPr>
          <p:cNvSpPr txBox="1"/>
          <p:nvPr/>
        </p:nvSpPr>
        <p:spPr>
          <a:xfrm>
            <a:off x="4375561" y="2034221"/>
            <a:ext cx="2765258"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货车异质性对货车安全的重要性</a:t>
            </a:r>
          </a:p>
        </p:txBody>
      </p:sp>
      <p:sp>
        <p:nvSpPr>
          <p:cNvPr id="3110" name="文本框 3109">
            <a:extLst>
              <a:ext uri="{FF2B5EF4-FFF2-40B4-BE49-F238E27FC236}">
                <a16:creationId xmlns:a16="http://schemas.microsoft.com/office/drawing/2014/main" id="{6E411415-6966-730D-FF73-9169C63BCDFC}"/>
              </a:ext>
            </a:extLst>
          </p:cNvPr>
          <p:cNvSpPr txBox="1"/>
          <p:nvPr/>
        </p:nvSpPr>
        <p:spPr>
          <a:xfrm>
            <a:off x="4439816" y="2984369"/>
            <a:ext cx="2604654" cy="523220"/>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对比讨论两类货车的致因不同与防控重点</a:t>
            </a:r>
          </a:p>
        </p:txBody>
      </p:sp>
      <p:cxnSp>
        <p:nvCxnSpPr>
          <p:cNvPr id="3112" name="直接箭头连接符 3111">
            <a:extLst>
              <a:ext uri="{FF2B5EF4-FFF2-40B4-BE49-F238E27FC236}">
                <a16:creationId xmlns:a16="http://schemas.microsoft.com/office/drawing/2014/main" id="{F65F4A45-7676-AD9F-EAC8-AEB69CDB01DA}"/>
              </a:ext>
            </a:extLst>
          </p:cNvPr>
          <p:cNvCxnSpPr>
            <a:cxnSpLocks/>
          </p:cNvCxnSpPr>
          <p:nvPr/>
        </p:nvCxnSpPr>
        <p:spPr>
          <a:xfrm>
            <a:off x="5663952" y="2332573"/>
            <a:ext cx="0" cy="2454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14" name="矩形 3113">
            <a:extLst>
              <a:ext uri="{FF2B5EF4-FFF2-40B4-BE49-F238E27FC236}">
                <a16:creationId xmlns:a16="http://schemas.microsoft.com/office/drawing/2014/main" id="{74725D71-1AF7-FF9A-EC4B-EEF4D9371163}"/>
              </a:ext>
            </a:extLst>
          </p:cNvPr>
          <p:cNvSpPr/>
          <p:nvPr/>
        </p:nvSpPr>
        <p:spPr>
          <a:xfrm>
            <a:off x="4416758" y="1646958"/>
            <a:ext cx="2559104" cy="68561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15" name="矩形 3114">
            <a:extLst>
              <a:ext uri="{FF2B5EF4-FFF2-40B4-BE49-F238E27FC236}">
                <a16:creationId xmlns:a16="http://schemas.microsoft.com/office/drawing/2014/main" id="{BCB03A03-4BED-737D-C591-FEE67FC71124}"/>
              </a:ext>
            </a:extLst>
          </p:cNvPr>
          <p:cNvSpPr/>
          <p:nvPr/>
        </p:nvSpPr>
        <p:spPr>
          <a:xfrm>
            <a:off x="4410446" y="2568770"/>
            <a:ext cx="2559104" cy="91100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16" name="图片 3115" descr="图表&#10;&#10;描述已自动生成">
            <a:extLst>
              <a:ext uri="{FF2B5EF4-FFF2-40B4-BE49-F238E27FC236}">
                <a16:creationId xmlns:a16="http://schemas.microsoft.com/office/drawing/2014/main" id="{DE0D7001-589D-AE55-BCAA-CA0C3C2B7EE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580068" y="4330229"/>
            <a:ext cx="1136787" cy="906595"/>
          </a:xfrm>
          <a:prstGeom prst="rect">
            <a:avLst/>
          </a:prstGeom>
        </p:spPr>
      </p:pic>
      <p:pic>
        <p:nvPicPr>
          <p:cNvPr id="3117" name="图片 3116" descr="道路类型_vs_动力类型_interaction_3d">
            <a:extLst>
              <a:ext uri="{FF2B5EF4-FFF2-40B4-BE49-F238E27FC236}">
                <a16:creationId xmlns:a16="http://schemas.microsoft.com/office/drawing/2014/main" id="{DDEEFE1A-BD9D-38F6-B0F7-3BC01C23CCDF}"/>
              </a:ext>
            </a:extLst>
          </p:cNvPr>
          <p:cNvPicPr>
            <a:picLocks noChangeAspect="1"/>
          </p:cNvPicPr>
          <p:nvPr/>
        </p:nvPicPr>
        <p:blipFill>
          <a:blip r:embed="rId15"/>
          <a:stretch>
            <a:fillRect/>
          </a:stretch>
        </p:blipFill>
        <p:spPr>
          <a:xfrm>
            <a:off x="8621694" y="5306413"/>
            <a:ext cx="1141299" cy="989226"/>
          </a:xfrm>
          <a:prstGeom prst="rect">
            <a:avLst/>
          </a:prstGeom>
        </p:spPr>
      </p:pic>
      <p:sp>
        <p:nvSpPr>
          <p:cNvPr id="3123" name="文本框 3122">
            <a:extLst>
              <a:ext uri="{FF2B5EF4-FFF2-40B4-BE49-F238E27FC236}">
                <a16:creationId xmlns:a16="http://schemas.microsoft.com/office/drawing/2014/main" id="{CBD76AFB-E61C-34EC-B288-4702C76428C5}"/>
              </a:ext>
            </a:extLst>
          </p:cNvPr>
          <p:cNvSpPr txBox="1"/>
          <p:nvPr/>
        </p:nvSpPr>
        <p:spPr>
          <a:xfrm>
            <a:off x="4990150" y="4814764"/>
            <a:ext cx="146589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变量相对重要度</a:t>
            </a:r>
          </a:p>
        </p:txBody>
      </p:sp>
      <p:sp>
        <p:nvSpPr>
          <p:cNvPr id="3124" name="文本框 3123">
            <a:extLst>
              <a:ext uri="{FF2B5EF4-FFF2-40B4-BE49-F238E27FC236}">
                <a16:creationId xmlns:a16="http://schemas.microsoft.com/office/drawing/2014/main" id="{F866481F-1F9B-7432-33D9-72B97587B995}"/>
              </a:ext>
            </a:extLst>
          </p:cNvPr>
          <p:cNvSpPr txBox="1"/>
          <p:nvPr/>
        </p:nvSpPr>
        <p:spPr>
          <a:xfrm>
            <a:off x="6528048" y="4818964"/>
            <a:ext cx="1875918"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多类别事故关键因子</a:t>
            </a:r>
          </a:p>
        </p:txBody>
      </p:sp>
      <p:sp>
        <p:nvSpPr>
          <p:cNvPr id="3125" name="文本框 3124">
            <a:extLst>
              <a:ext uri="{FF2B5EF4-FFF2-40B4-BE49-F238E27FC236}">
                <a16:creationId xmlns:a16="http://schemas.microsoft.com/office/drawing/2014/main" id="{B111B66E-9877-511B-02EC-7039196CE45A}"/>
              </a:ext>
            </a:extLst>
          </p:cNvPr>
          <p:cNvSpPr txBox="1"/>
          <p:nvPr/>
        </p:nvSpPr>
        <p:spPr>
          <a:xfrm>
            <a:off x="5723183" y="5509557"/>
            <a:ext cx="732857" cy="307777"/>
          </a:xfrm>
          <a:prstGeom prst="rect">
            <a:avLst/>
          </a:prstGeom>
          <a:noFill/>
        </p:spPr>
        <p:txBody>
          <a:bodyPr wrap="square" rtlCol="0">
            <a:spAutoFit/>
          </a:bodyPr>
          <a:lstStyle/>
          <a:p>
            <a:pPr algn="r"/>
            <a:r>
              <a:rPr lang="zh-CN" altLang="en-US" sz="1400" dirty="0">
                <a:latin typeface="微软雅黑" panose="020B0503020204020204" pitchFamily="34" charset="-122"/>
                <a:ea typeface="微软雅黑" panose="020B0503020204020204" pitchFamily="34" charset="-122"/>
              </a:rPr>
              <a:t>观测点</a:t>
            </a:r>
          </a:p>
        </p:txBody>
      </p:sp>
      <p:sp>
        <p:nvSpPr>
          <p:cNvPr id="3126" name="文本框 3125">
            <a:extLst>
              <a:ext uri="{FF2B5EF4-FFF2-40B4-BE49-F238E27FC236}">
                <a16:creationId xmlns:a16="http://schemas.microsoft.com/office/drawing/2014/main" id="{A5F853C0-E8DB-475C-0DD0-AF8D31E8BF60}"/>
              </a:ext>
            </a:extLst>
          </p:cNvPr>
          <p:cNvSpPr txBox="1"/>
          <p:nvPr/>
        </p:nvSpPr>
        <p:spPr>
          <a:xfrm>
            <a:off x="6405065" y="5509557"/>
            <a:ext cx="1059087"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变化趋势</a:t>
            </a:r>
          </a:p>
        </p:txBody>
      </p:sp>
      <p:cxnSp>
        <p:nvCxnSpPr>
          <p:cNvPr id="3128" name="直接箭头连接符 3127">
            <a:extLst>
              <a:ext uri="{FF2B5EF4-FFF2-40B4-BE49-F238E27FC236}">
                <a16:creationId xmlns:a16="http://schemas.microsoft.com/office/drawing/2014/main" id="{5487D437-CAE1-402C-91D6-0674EF738317}"/>
              </a:ext>
            </a:extLst>
          </p:cNvPr>
          <p:cNvCxnSpPr>
            <a:stCxn id="3091" idx="2"/>
            <a:endCxn id="3095" idx="0"/>
          </p:cNvCxnSpPr>
          <p:nvPr/>
        </p:nvCxnSpPr>
        <p:spPr>
          <a:xfrm>
            <a:off x="6451250" y="4817818"/>
            <a:ext cx="1" cy="30060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129" name="直接箭头连接符 3128">
            <a:extLst>
              <a:ext uri="{FF2B5EF4-FFF2-40B4-BE49-F238E27FC236}">
                <a16:creationId xmlns:a16="http://schemas.microsoft.com/office/drawing/2014/main" id="{834D2119-6D81-1735-DEDC-D868205A675A}"/>
              </a:ext>
            </a:extLst>
          </p:cNvPr>
          <p:cNvCxnSpPr>
            <a:cxnSpLocks/>
            <a:endCxn id="3092" idx="0"/>
          </p:cNvCxnSpPr>
          <p:nvPr/>
        </p:nvCxnSpPr>
        <p:spPr>
          <a:xfrm>
            <a:off x="6448320" y="5509557"/>
            <a:ext cx="2931" cy="30419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135" name="文本框 3134">
            <a:extLst>
              <a:ext uri="{FF2B5EF4-FFF2-40B4-BE49-F238E27FC236}">
                <a16:creationId xmlns:a16="http://schemas.microsoft.com/office/drawing/2014/main" id="{50FA6AD8-4B75-A05E-6A6D-196822E80503}"/>
              </a:ext>
            </a:extLst>
          </p:cNvPr>
          <p:cNvSpPr txBox="1"/>
          <p:nvPr/>
        </p:nvSpPr>
        <p:spPr>
          <a:xfrm>
            <a:off x="10244912" y="1679602"/>
            <a:ext cx="1394334" cy="2115897"/>
          </a:xfrm>
          <a:prstGeom prst="roundRect">
            <a:avLst>
              <a:gd name="adj" fmla="val 6549"/>
            </a:avLst>
          </a:prstGeom>
          <a:solidFill>
            <a:schemeClr val="bg1">
              <a:lumMod val="9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nSpc>
                <a:spcPct val="120000"/>
              </a:lnSpc>
              <a:defRPr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600" b="0" dirty="0">
                <a:solidFill>
                  <a:schemeClr val="tx1"/>
                </a:solidFill>
              </a:rPr>
              <a:t>提出多类别货车发生多类别事故严重程度的关键影响因素</a:t>
            </a:r>
          </a:p>
        </p:txBody>
      </p:sp>
      <p:sp>
        <p:nvSpPr>
          <p:cNvPr id="3136" name="文本框 3135">
            <a:extLst>
              <a:ext uri="{FF2B5EF4-FFF2-40B4-BE49-F238E27FC236}">
                <a16:creationId xmlns:a16="http://schemas.microsoft.com/office/drawing/2014/main" id="{DFEAC12E-6602-830D-F6A3-4D2E66C6188D}"/>
              </a:ext>
            </a:extLst>
          </p:cNvPr>
          <p:cNvSpPr txBox="1"/>
          <p:nvPr/>
        </p:nvSpPr>
        <p:spPr>
          <a:xfrm>
            <a:off x="10244912" y="3953173"/>
            <a:ext cx="1394334" cy="2396293"/>
          </a:xfrm>
          <a:prstGeom prst="roundRect">
            <a:avLst>
              <a:gd name="adj" fmla="val 6549"/>
            </a:avLst>
          </a:prstGeom>
          <a:solidFill>
            <a:schemeClr val="bg1">
              <a:lumMod val="9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nSpc>
                <a:spcPct val="120000"/>
              </a:lnSpc>
              <a:defRPr b="1">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600" b="0" dirty="0">
                <a:solidFill>
                  <a:schemeClr val="tx1"/>
                </a:solidFill>
              </a:rPr>
              <a:t>从货车驾驶员、货车企业和城市管理者三维角度提出货车安全防控改善意见</a:t>
            </a:r>
          </a:p>
        </p:txBody>
      </p:sp>
      <p:sp>
        <p:nvSpPr>
          <p:cNvPr id="3137" name="矩形: 圆角 3136">
            <a:extLst>
              <a:ext uri="{FF2B5EF4-FFF2-40B4-BE49-F238E27FC236}">
                <a16:creationId xmlns:a16="http://schemas.microsoft.com/office/drawing/2014/main" id="{8F37D061-4A14-1952-5FF1-ED453F9D45CF}"/>
              </a:ext>
            </a:extLst>
          </p:cNvPr>
          <p:cNvSpPr/>
          <p:nvPr/>
        </p:nvSpPr>
        <p:spPr>
          <a:xfrm>
            <a:off x="10236976" y="1134512"/>
            <a:ext cx="1401137" cy="408622"/>
          </a:xfrm>
          <a:prstGeom prst="round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微软雅黑" panose="020B0503020204020204" pitchFamily="34" charset="-122"/>
                <a:ea typeface="微软雅黑" panose="020B0503020204020204" pitchFamily="34" charset="-122"/>
              </a:rPr>
              <a:t>主要贡献</a:t>
            </a:r>
          </a:p>
        </p:txBody>
      </p:sp>
      <p:sp>
        <p:nvSpPr>
          <p:cNvPr id="3139" name="箭头: 右 3138">
            <a:extLst>
              <a:ext uri="{FF2B5EF4-FFF2-40B4-BE49-F238E27FC236}">
                <a16:creationId xmlns:a16="http://schemas.microsoft.com/office/drawing/2014/main" id="{94FD53AB-86A8-78A8-AFB0-06FD7B5D9CFC}"/>
              </a:ext>
            </a:extLst>
          </p:cNvPr>
          <p:cNvSpPr/>
          <p:nvPr/>
        </p:nvSpPr>
        <p:spPr>
          <a:xfrm>
            <a:off x="9865555" y="3441833"/>
            <a:ext cx="249287" cy="3983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39552164"/>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一种高速公路关键路段交通风险动态预警系统及研判方法">
            <a:extLst>
              <a:ext uri="{FF2B5EF4-FFF2-40B4-BE49-F238E27FC236}">
                <a16:creationId xmlns:a16="http://schemas.microsoft.com/office/drawing/2014/main" id="{E7D3C821-7E8D-2F06-CBE7-64B5F3AF201B}"/>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5850" t="9391"/>
          <a:stretch/>
        </p:blipFill>
        <p:spPr bwMode="auto">
          <a:xfrm>
            <a:off x="9316433" y="3415173"/>
            <a:ext cx="1561815" cy="898939"/>
          </a:xfrm>
          <a:prstGeom prst="rect">
            <a:avLst/>
          </a:prstGeom>
          <a:noFill/>
          <a:extLst>
            <a:ext uri="{909E8E84-426E-40DD-AFC4-6F175D3DCCD1}">
              <a14:hiddenFill xmlns:a14="http://schemas.microsoft.com/office/drawing/2010/main">
                <a:solidFill>
                  <a:srgbClr val="FFFFFF"/>
                </a:solidFill>
              </a14:hiddenFill>
            </a:ext>
          </a:extLst>
        </p:spPr>
      </p:pic>
      <p:sp>
        <p:nvSpPr>
          <p:cNvPr id="26" name="矩形: 圆角 25">
            <a:extLst>
              <a:ext uri="{FF2B5EF4-FFF2-40B4-BE49-F238E27FC236}">
                <a16:creationId xmlns:a16="http://schemas.microsoft.com/office/drawing/2014/main" id="{C907D378-F771-EDBF-5FAA-6D9BC292D18F}"/>
              </a:ext>
            </a:extLst>
          </p:cNvPr>
          <p:cNvSpPr/>
          <p:nvPr/>
        </p:nvSpPr>
        <p:spPr>
          <a:xfrm>
            <a:off x="673087" y="1325643"/>
            <a:ext cx="10751505" cy="4278722"/>
          </a:xfrm>
          <a:prstGeom prst="roundRect">
            <a:avLst>
              <a:gd name="adj" fmla="val 4110"/>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28" name="图片 27">
            <a:extLst>
              <a:ext uri="{FF2B5EF4-FFF2-40B4-BE49-F238E27FC236}">
                <a16:creationId xmlns:a16="http://schemas.microsoft.com/office/drawing/2014/main" id="{EF7947E1-6334-9D1A-D3DC-D5EA5CE47B4B}"/>
              </a:ext>
            </a:extLst>
          </p:cNvPr>
          <p:cNvPicPr/>
          <p:nvPr>
            <p:custDataLst>
              <p:tags r:id="rId1"/>
            </p:custDataLst>
          </p:nvPr>
        </p:nvPicPr>
        <p:blipFill>
          <a:blip r:embed="rId7"/>
          <a:stretch>
            <a:fillRect/>
          </a:stretch>
        </p:blipFill>
        <p:spPr>
          <a:xfrm>
            <a:off x="1090954" y="4328159"/>
            <a:ext cx="1700794" cy="675195"/>
          </a:xfrm>
          <a:prstGeom prst="rect">
            <a:avLst/>
          </a:prstGeom>
          <a:noFill/>
          <a:ln w="9525">
            <a:noFill/>
          </a:ln>
        </p:spPr>
      </p:pic>
      <p:sp>
        <p:nvSpPr>
          <p:cNvPr id="40" name="矩形 39">
            <a:extLst>
              <a:ext uri="{FF2B5EF4-FFF2-40B4-BE49-F238E27FC236}">
                <a16:creationId xmlns:a16="http://schemas.microsoft.com/office/drawing/2014/main" id="{0DFFE9AE-33F3-4092-0AAA-51A03E7DE0AF}"/>
              </a:ext>
            </a:extLst>
          </p:cNvPr>
          <p:cNvSpPr/>
          <p:nvPr/>
        </p:nvSpPr>
        <p:spPr>
          <a:xfrm>
            <a:off x="1087114" y="4420847"/>
            <a:ext cx="1697460" cy="582507"/>
          </a:xfrm>
          <a:prstGeom prst="rect">
            <a:avLst/>
          </a:prstGeom>
          <a:noFill/>
          <a:ln w="12700" cap="flat" cmpd="sng" algn="ctr">
            <a:solidFill>
              <a:sysClr val="windowText" lastClr="000000"/>
            </a:solid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 name="流程图: 过程 3">
            <a:extLst>
              <a:ext uri="{FF2B5EF4-FFF2-40B4-BE49-F238E27FC236}">
                <a16:creationId xmlns:a16="http://schemas.microsoft.com/office/drawing/2014/main" id="{60643DE9-70C9-CA51-DC75-9F37AB2E546A}"/>
              </a:ext>
            </a:extLst>
          </p:cNvPr>
          <p:cNvSpPr/>
          <p:nvPr/>
        </p:nvSpPr>
        <p:spPr>
          <a:xfrm>
            <a:off x="1088555" y="1810542"/>
            <a:ext cx="1703193" cy="432048"/>
          </a:xfrm>
          <a:prstGeom prst="flowChartProcess">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交互模块</a:t>
            </a:r>
          </a:p>
        </p:txBody>
      </p:sp>
      <p:sp>
        <p:nvSpPr>
          <p:cNvPr id="6" name="流程图: 过程 5">
            <a:extLst>
              <a:ext uri="{FF2B5EF4-FFF2-40B4-BE49-F238E27FC236}">
                <a16:creationId xmlns:a16="http://schemas.microsoft.com/office/drawing/2014/main" id="{201EFAB6-4AEE-1A98-EB38-2D9E4A7B8C80}"/>
              </a:ext>
            </a:extLst>
          </p:cNvPr>
          <p:cNvSpPr/>
          <p:nvPr/>
        </p:nvSpPr>
        <p:spPr>
          <a:xfrm>
            <a:off x="9245745" y="1867001"/>
            <a:ext cx="1703193" cy="432048"/>
          </a:xfrm>
          <a:prstGeom prst="flowChartProcess">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风险评估模块</a:t>
            </a:r>
          </a:p>
        </p:txBody>
      </p:sp>
      <p:sp>
        <p:nvSpPr>
          <p:cNvPr id="9" name="文本框 8">
            <a:extLst>
              <a:ext uri="{FF2B5EF4-FFF2-40B4-BE49-F238E27FC236}">
                <a16:creationId xmlns:a16="http://schemas.microsoft.com/office/drawing/2014/main" id="{68FD4C18-4A35-6A64-739B-536305502A4C}"/>
              </a:ext>
            </a:extLst>
          </p:cNvPr>
          <p:cNvSpPr txBox="1"/>
          <p:nvPr/>
        </p:nvSpPr>
        <p:spPr>
          <a:xfrm>
            <a:off x="984263" y="4990156"/>
            <a:ext cx="1889747" cy="418191"/>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多源数据融合</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矩形 10">
            <a:extLst>
              <a:ext uri="{FF2B5EF4-FFF2-40B4-BE49-F238E27FC236}">
                <a16:creationId xmlns:a16="http://schemas.microsoft.com/office/drawing/2014/main" id="{46BF7BB3-2F32-EEFB-5F24-527BC2B15753}"/>
              </a:ext>
            </a:extLst>
          </p:cNvPr>
          <p:cNvSpPr/>
          <p:nvPr/>
        </p:nvSpPr>
        <p:spPr>
          <a:xfrm>
            <a:off x="9036410" y="1683102"/>
            <a:ext cx="2151084" cy="379942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A2581901-6C64-377F-B8A0-CF6D024B915C}"/>
              </a:ext>
            </a:extLst>
          </p:cNvPr>
          <p:cNvSpPr txBox="1"/>
          <p:nvPr/>
        </p:nvSpPr>
        <p:spPr>
          <a:xfrm>
            <a:off x="1927170" y="1153592"/>
            <a:ext cx="8044154" cy="40320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US"/>
            </a:defPPr>
            <a:lvl1pPr algn="ctr">
              <a:defRPr b="1">
                <a:solidFill>
                  <a:schemeClr val="lt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提出了考虑驾驶员异质性的</a:t>
            </a:r>
            <a:r>
              <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ST-H-GCN</a:t>
            </a: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的出行风险动态预测框架</a:t>
            </a:r>
          </a:p>
        </p:txBody>
      </p:sp>
      <p:sp>
        <p:nvSpPr>
          <p:cNvPr id="15" name="矩形 14">
            <a:extLst>
              <a:ext uri="{FF2B5EF4-FFF2-40B4-BE49-F238E27FC236}">
                <a16:creationId xmlns:a16="http://schemas.microsoft.com/office/drawing/2014/main" id="{8956FFBF-9254-0121-BFB8-43E8BD14AD30}"/>
              </a:ext>
            </a:extLst>
          </p:cNvPr>
          <p:cNvSpPr/>
          <p:nvPr/>
        </p:nvSpPr>
        <p:spPr>
          <a:xfrm>
            <a:off x="932585" y="1664520"/>
            <a:ext cx="2014441" cy="381800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左箭头 82">
            <a:extLst>
              <a:ext uri="{FF2B5EF4-FFF2-40B4-BE49-F238E27FC236}">
                <a16:creationId xmlns:a16="http://schemas.microsoft.com/office/drawing/2014/main" id="{B4E140F8-981D-842E-2B29-0919BF435149}"/>
              </a:ext>
            </a:extLst>
          </p:cNvPr>
          <p:cNvSpPr/>
          <p:nvPr/>
        </p:nvSpPr>
        <p:spPr>
          <a:xfrm rot="10800000">
            <a:off x="2986205" y="3015144"/>
            <a:ext cx="568851" cy="70011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7" name="文本框 16">
            <a:extLst>
              <a:ext uri="{FF2B5EF4-FFF2-40B4-BE49-F238E27FC236}">
                <a16:creationId xmlns:a16="http://schemas.microsoft.com/office/drawing/2014/main" id="{F997A76B-6A69-58FB-EDE3-036D97C723EA}"/>
              </a:ext>
            </a:extLst>
          </p:cNvPr>
          <p:cNvSpPr txBox="1"/>
          <p:nvPr/>
        </p:nvSpPr>
        <p:spPr>
          <a:xfrm>
            <a:off x="9200721" y="4990308"/>
            <a:ext cx="1822462" cy="418191"/>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行车风险动态研判</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流程图: 过程 17">
            <a:extLst>
              <a:ext uri="{FF2B5EF4-FFF2-40B4-BE49-F238E27FC236}">
                <a16:creationId xmlns:a16="http://schemas.microsoft.com/office/drawing/2014/main" id="{EAE4B65C-C69A-39D7-155C-ED83018C577E}"/>
              </a:ext>
            </a:extLst>
          </p:cNvPr>
          <p:cNvSpPr/>
          <p:nvPr/>
        </p:nvSpPr>
        <p:spPr>
          <a:xfrm>
            <a:off x="3791746" y="1810542"/>
            <a:ext cx="4484262" cy="432048"/>
          </a:xfrm>
          <a:prstGeom prst="flowChartProcess">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意图模块</a:t>
            </a:r>
          </a:p>
        </p:txBody>
      </p:sp>
      <p:sp>
        <p:nvSpPr>
          <p:cNvPr id="22" name="左箭头 82">
            <a:extLst>
              <a:ext uri="{FF2B5EF4-FFF2-40B4-BE49-F238E27FC236}">
                <a16:creationId xmlns:a16="http://schemas.microsoft.com/office/drawing/2014/main" id="{E1ECF368-CDD2-BB27-CFBA-48A26038A94B}"/>
              </a:ext>
            </a:extLst>
          </p:cNvPr>
          <p:cNvSpPr/>
          <p:nvPr/>
        </p:nvSpPr>
        <p:spPr>
          <a:xfrm rot="10800000">
            <a:off x="8558444" y="3086290"/>
            <a:ext cx="431454" cy="62897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5" name="文本框 4">
            <a:extLst>
              <a:ext uri="{FF2B5EF4-FFF2-40B4-BE49-F238E27FC236}">
                <a16:creationId xmlns:a16="http://schemas.microsoft.com/office/drawing/2014/main" id="{26FD8DFC-107D-E7D3-A0AB-1AF73B9B8CD9}"/>
              </a:ext>
            </a:extLst>
          </p:cNvPr>
          <p:cNvSpPr txBox="1"/>
          <p:nvPr/>
        </p:nvSpPr>
        <p:spPr>
          <a:xfrm>
            <a:off x="119336" y="188640"/>
            <a:ext cx="9073008"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研究内容三：考虑驾驶员异质性的</a:t>
            </a:r>
            <a:r>
              <a:rPr lang="en-US" altLang="zh-CN" sz="2400" b="1" dirty="0">
                <a:solidFill>
                  <a:srgbClr val="FFC000"/>
                </a:solidFill>
                <a:latin typeface="微软雅黑" panose="020B0503020204020204" pitchFamily="34" charset="-122"/>
                <a:ea typeface="微软雅黑" panose="020B0503020204020204" pitchFamily="34" charset="-122"/>
              </a:rPr>
              <a:t>ST-H-GCN</a:t>
            </a:r>
            <a:r>
              <a:rPr lang="zh-CN" altLang="en-US" sz="2400" b="1" dirty="0">
                <a:solidFill>
                  <a:srgbClr val="FFC000"/>
                </a:solidFill>
                <a:latin typeface="微软雅黑" panose="020B0503020204020204" pitchFamily="34" charset="-122"/>
                <a:ea typeface="微软雅黑" panose="020B0503020204020204" pitchFamily="34" charset="-122"/>
              </a:rPr>
              <a:t>货车出行风险预测</a:t>
            </a:r>
            <a:endParaRPr lang="zh-CN" altLang="en-US" dirty="0">
              <a:solidFill>
                <a:srgbClr val="FFC000"/>
              </a:solidFill>
              <a:latin typeface="微软雅黑" panose="020B0503020204020204" pitchFamily="34" charset="-122"/>
              <a:ea typeface="微软雅黑" panose="020B0503020204020204" pitchFamily="34" charset="-122"/>
            </a:endParaRPr>
          </a:p>
        </p:txBody>
      </p:sp>
      <p:pic>
        <p:nvPicPr>
          <p:cNvPr id="27" name="图片 3">
            <a:extLst>
              <a:ext uri="{FF2B5EF4-FFF2-40B4-BE49-F238E27FC236}">
                <a16:creationId xmlns:a16="http://schemas.microsoft.com/office/drawing/2014/main" id="{3FDD8C56-17CB-790B-6B21-76FA7812016A}"/>
              </a:ext>
            </a:extLst>
          </p:cNvPr>
          <p:cNvPicPr>
            <a:picLocks noChangeAspect="1"/>
          </p:cNvPicPr>
          <p:nvPr>
            <p:custDataLst>
              <p:tags r:id="rId2"/>
            </p:custDataLst>
          </p:nvPr>
        </p:nvPicPr>
        <p:blipFill>
          <a:blip r:embed="rId8"/>
          <a:srcRect l="-609"/>
          <a:stretch>
            <a:fillRect/>
          </a:stretch>
        </p:blipFill>
        <p:spPr>
          <a:xfrm>
            <a:off x="1087114" y="2708897"/>
            <a:ext cx="1688836" cy="586351"/>
          </a:xfrm>
          <a:prstGeom prst="rect">
            <a:avLst/>
          </a:prstGeom>
          <a:noFill/>
          <a:ln>
            <a:noFill/>
          </a:ln>
        </p:spPr>
      </p:pic>
      <p:pic>
        <p:nvPicPr>
          <p:cNvPr id="29" name="图片 10">
            <a:extLst>
              <a:ext uri="{FF2B5EF4-FFF2-40B4-BE49-F238E27FC236}">
                <a16:creationId xmlns:a16="http://schemas.microsoft.com/office/drawing/2014/main" id="{CCE60B56-6CB9-A7CD-3B63-2A54B8B8F993}"/>
              </a:ext>
            </a:extLst>
          </p:cNvPr>
          <p:cNvPicPr>
            <a:picLocks noChangeAspect="1"/>
          </p:cNvPicPr>
          <p:nvPr>
            <p:custDataLst>
              <p:tags r:id="rId3"/>
            </p:custDataLst>
          </p:nvPr>
        </p:nvPicPr>
        <p:blipFill>
          <a:blip r:embed="rId9"/>
          <a:stretch>
            <a:fillRect/>
          </a:stretch>
        </p:blipFill>
        <p:spPr>
          <a:xfrm>
            <a:off x="1484329" y="3523374"/>
            <a:ext cx="1307420" cy="636130"/>
          </a:xfrm>
          <a:prstGeom prst="rect">
            <a:avLst/>
          </a:prstGeom>
        </p:spPr>
      </p:pic>
      <p:sp>
        <p:nvSpPr>
          <p:cNvPr id="30" name="矩形 29">
            <a:extLst>
              <a:ext uri="{FF2B5EF4-FFF2-40B4-BE49-F238E27FC236}">
                <a16:creationId xmlns:a16="http://schemas.microsoft.com/office/drawing/2014/main" id="{D84EF687-4BA0-31AA-142F-782022BDA701}"/>
              </a:ext>
            </a:extLst>
          </p:cNvPr>
          <p:cNvSpPr/>
          <p:nvPr/>
        </p:nvSpPr>
        <p:spPr>
          <a:xfrm>
            <a:off x="1087116" y="2759187"/>
            <a:ext cx="1697460" cy="524239"/>
          </a:xfrm>
          <a:prstGeom prst="rect">
            <a:avLst/>
          </a:prstGeom>
          <a:noFill/>
          <a:ln w="12700" cap="flat" cmpd="sng" algn="ctr">
            <a:solidFill>
              <a:sysClr val="windowText" lastClr="000000"/>
            </a:solid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04684657-CC21-2732-E3EF-EA20E193066E}"/>
              </a:ext>
            </a:extLst>
          </p:cNvPr>
          <p:cNvSpPr txBox="1"/>
          <p:nvPr/>
        </p:nvSpPr>
        <p:spPr>
          <a:xfrm>
            <a:off x="1087115" y="2458190"/>
            <a:ext cx="1697460" cy="30099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b="1">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车辆信息</a:t>
            </a:r>
          </a:p>
        </p:txBody>
      </p:sp>
      <p:pic>
        <p:nvPicPr>
          <p:cNvPr id="35" name="图片 34" descr="图片1">
            <a:extLst>
              <a:ext uri="{FF2B5EF4-FFF2-40B4-BE49-F238E27FC236}">
                <a16:creationId xmlns:a16="http://schemas.microsoft.com/office/drawing/2014/main" id="{14F75802-E520-2EB6-24FF-6914D6156216}"/>
              </a:ext>
            </a:extLst>
          </p:cNvPr>
          <p:cNvPicPr>
            <a:picLocks noChangeAspect="1"/>
          </p:cNvPicPr>
          <p:nvPr/>
        </p:nvPicPr>
        <p:blipFill>
          <a:blip r:embed="rId10"/>
          <a:srcRect l="4671" r="36624"/>
          <a:stretch>
            <a:fillRect/>
          </a:stretch>
        </p:blipFill>
        <p:spPr>
          <a:xfrm>
            <a:off x="1085658" y="3551275"/>
            <a:ext cx="403435" cy="582508"/>
          </a:xfrm>
          <a:prstGeom prst="rect">
            <a:avLst/>
          </a:prstGeom>
        </p:spPr>
      </p:pic>
      <p:sp>
        <p:nvSpPr>
          <p:cNvPr id="37" name="文本框 36">
            <a:extLst>
              <a:ext uri="{FF2B5EF4-FFF2-40B4-BE49-F238E27FC236}">
                <a16:creationId xmlns:a16="http://schemas.microsoft.com/office/drawing/2014/main" id="{D9D0F378-AB9E-79DC-138E-C3462B454095}"/>
              </a:ext>
            </a:extLst>
          </p:cNvPr>
          <p:cNvSpPr txBox="1"/>
          <p:nvPr/>
        </p:nvSpPr>
        <p:spPr>
          <a:xfrm>
            <a:off x="1087115" y="3250278"/>
            <a:ext cx="1697460" cy="30099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b="1">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告警视频信息</a:t>
            </a:r>
          </a:p>
        </p:txBody>
      </p:sp>
      <p:sp>
        <p:nvSpPr>
          <p:cNvPr id="39" name="矩形 38">
            <a:extLst>
              <a:ext uri="{FF2B5EF4-FFF2-40B4-BE49-F238E27FC236}">
                <a16:creationId xmlns:a16="http://schemas.microsoft.com/office/drawing/2014/main" id="{47EF6A0A-2239-6FCC-23C7-0CF8DD890D44}"/>
              </a:ext>
            </a:extLst>
          </p:cNvPr>
          <p:cNvSpPr/>
          <p:nvPr/>
        </p:nvSpPr>
        <p:spPr>
          <a:xfrm>
            <a:off x="1087115" y="3740262"/>
            <a:ext cx="1697460" cy="535298"/>
          </a:xfrm>
          <a:prstGeom prst="rect">
            <a:avLst/>
          </a:prstGeom>
          <a:noFill/>
          <a:ln w="12700" cap="flat" cmpd="sng" algn="ctr">
            <a:solidFill>
              <a:sysClr val="windowText" lastClr="000000"/>
            </a:solidFill>
            <a:prstDash val="solid"/>
            <a:miter lim="800000"/>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4819DB2E-B9FF-1B89-573D-09B482369F1D}"/>
              </a:ext>
            </a:extLst>
          </p:cNvPr>
          <p:cNvSpPr/>
          <p:nvPr/>
        </p:nvSpPr>
        <p:spPr>
          <a:xfrm>
            <a:off x="1087116" y="4114374"/>
            <a:ext cx="1697459" cy="31224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运输轨迹</a:t>
            </a:r>
          </a:p>
        </p:txBody>
      </p:sp>
      <p:pic>
        <p:nvPicPr>
          <p:cNvPr id="5122" name="Picture 2">
            <a:extLst>
              <a:ext uri="{FF2B5EF4-FFF2-40B4-BE49-F238E27FC236}">
                <a16:creationId xmlns:a16="http://schemas.microsoft.com/office/drawing/2014/main" id="{1A8AFC5C-FBD9-0BBA-3B91-BF5118AAD5EA}"/>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t="2750" b="43670"/>
          <a:stretch/>
        </p:blipFill>
        <p:spPr bwMode="auto">
          <a:xfrm>
            <a:off x="3696713" y="3023604"/>
            <a:ext cx="4682809" cy="2510874"/>
          </a:xfrm>
          <a:prstGeom prst="rect">
            <a:avLst/>
          </a:prstGeom>
          <a:noFill/>
          <a:extLst>
            <a:ext uri="{909E8E84-426E-40DD-AFC4-6F175D3DCCD1}">
              <a14:hiddenFill xmlns:a14="http://schemas.microsoft.com/office/drawing/2010/main">
                <a:solidFill>
                  <a:srgbClr val="FFFFFF"/>
                </a:solidFill>
              </a14:hiddenFill>
            </a:ext>
          </a:extLst>
        </p:spPr>
      </p:pic>
      <p:sp>
        <p:nvSpPr>
          <p:cNvPr id="43" name="矩形: 圆角 42">
            <a:extLst>
              <a:ext uri="{FF2B5EF4-FFF2-40B4-BE49-F238E27FC236}">
                <a16:creationId xmlns:a16="http://schemas.microsoft.com/office/drawing/2014/main" id="{F315300F-C04F-E998-A927-5077D2522286}"/>
              </a:ext>
            </a:extLst>
          </p:cNvPr>
          <p:cNvSpPr/>
          <p:nvPr/>
        </p:nvSpPr>
        <p:spPr>
          <a:xfrm rot="10800000" flipV="1">
            <a:off x="673086" y="5956089"/>
            <a:ext cx="10751505" cy="569254"/>
          </a:xfrm>
          <a:prstGeom prst="roundRect">
            <a:avLst>
              <a:gd name="adj" fmla="val 0"/>
            </a:avLst>
          </a:prstGeom>
          <a:solidFill>
            <a:schemeClr val="accent6">
              <a:lumMod val="20000"/>
              <a:lumOff val="80000"/>
            </a:schemeClr>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可将框架搭载在长途运输货车车载设备，实现考虑驾驶员异质性的出行风险动态实时评估。</a:t>
            </a:r>
          </a:p>
        </p:txBody>
      </p:sp>
      <p:sp>
        <p:nvSpPr>
          <p:cNvPr id="45" name="文本框 44">
            <a:extLst>
              <a:ext uri="{FF2B5EF4-FFF2-40B4-BE49-F238E27FC236}">
                <a16:creationId xmlns:a16="http://schemas.microsoft.com/office/drawing/2014/main" id="{C464BD38-99E9-785F-49A7-3C6A0E974215}"/>
              </a:ext>
            </a:extLst>
          </p:cNvPr>
          <p:cNvSpPr txBox="1"/>
          <p:nvPr/>
        </p:nvSpPr>
        <p:spPr>
          <a:xfrm>
            <a:off x="3791745" y="2714148"/>
            <a:ext cx="1368151" cy="30099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b="1">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时间图卷积层</a:t>
            </a:r>
          </a:p>
        </p:txBody>
      </p:sp>
      <p:sp>
        <p:nvSpPr>
          <p:cNvPr id="46" name="文本框 45">
            <a:extLst>
              <a:ext uri="{FF2B5EF4-FFF2-40B4-BE49-F238E27FC236}">
                <a16:creationId xmlns:a16="http://schemas.microsoft.com/office/drawing/2014/main" id="{3F64FA32-D55D-E2CA-F237-F0129DD4F897}"/>
              </a:ext>
            </a:extLst>
          </p:cNvPr>
          <p:cNvSpPr txBox="1"/>
          <p:nvPr/>
        </p:nvSpPr>
        <p:spPr>
          <a:xfrm>
            <a:off x="5231905" y="2718132"/>
            <a:ext cx="1368151" cy="30099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b="1">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空间图卷积层</a:t>
            </a:r>
          </a:p>
        </p:txBody>
      </p:sp>
      <p:sp>
        <p:nvSpPr>
          <p:cNvPr id="47" name="文本框 46">
            <a:extLst>
              <a:ext uri="{FF2B5EF4-FFF2-40B4-BE49-F238E27FC236}">
                <a16:creationId xmlns:a16="http://schemas.microsoft.com/office/drawing/2014/main" id="{0B46F1B5-D907-D0D1-29A9-470248A2B997}"/>
              </a:ext>
            </a:extLst>
          </p:cNvPr>
          <p:cNvSpPr txBox="1"/>
          <p:nvPr/>
        </p:nvSpPr>
        <p:spPr>
          <a:xfrm>
            <a:off x="6666839" y="2717838"/>
            <a:ext cx="1609169" cy="30099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400" b="1">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时空融合和输出层</a:t>
            </a:r>
          </a:p>
        </p:txBody>
      </p:sp>
      <p:sp>
        <p:nvSpPr>
          <p:cNvPr id="49" name="左箭头 82">
            <a:extLst>
              <a:ext uri="{FF2B5EF4-FFF2-40B4-BE49-F238E27FC236}">
                <a16:creationId xmlns:a16="http://schemas.microsoft.com/office/drawing/2014/main" id="{AAB10AED-0A4D-C83F-102F-A622913C4DBC}"/>
              </a:ext>
            </a:extLst>
          </p:cNvPr>
          <p:cNvSpPr/>
          <p:nvPr/>
        </p:nvSpPr>
        <p:spPr>
          <a:xfrm rot="16200000">
            <a:off x="5819108" y="5086253"/>
            <a:ext cx="272841" cy="136155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50" name="文本框 49">
            <a:extLst>
              <a:ext uri="{FF2B5EF4-FFF2-40B4-BE49-F238E27FC236}">
                <a16:creationId xmlns:a16="http://schemas.microsoft.com/office/drawing/2014/main" id="{5D5803AC-AC79-E143-59F6-61556BC51044}"/>
              </a:ext>
            </a:extLst>
          </p:cNvPr>
          <p:cNvSpPr txBox="1"/>
          <p:nvPr/>
        </p:nvSpPr>
        <p:spPr>
          <a:xfrm>
            <a:off x="5626081" y="5559852"/>
            <a:ext cx="646331" cy="369332"/>
          </a:xfrm>
          <a:prstGeom prst="rect">
            <a:avLst/>
          </a:prstGeom>
          <a:noFill/>
        </p:spPr>
        <p:txBody>
          <a:bodyPr wrap="non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应用</a:t>
            </a:r>
          </a:p>
        </p:txBody>
      </p:sp>
      <p:cxnSp>
        <p:nvCxnSpPr>
          <p:cNvPr id="54" name="直接箭头连接符 53">
            <a:extLst>
              <a:ext uri="{FF2B5EF4-FFF2-40B4-BE49-F238E27FC236}">
                <a16:creationId xmlns:a16="http://schemas.microsoft.com/office/drawing/2014/main" id="{2968D37D-8231-D0F8-5DD6-FF502814D6F2}"/>
              </a:ext>
            </a:extLst>
          </p:cNvPr>
          <p:cNvCxnSpPr>
            <a:cxnSpLocks/>
            <a:stCxn id="45" idx="2"/>
          </p:cNvCxnSpPr>
          <p:nvPr/>
        </p:nvCxnSpPr>
        <p:spPr>
          <a:xfrm>
            <a:off x="4475821" y="3015145"/>
            <a:ext cx="919866" cy="528986"/>
          </a:xfrm>
          <a:prstGeom prst="straightConnector1">
            <a:avLst/>
          </a:prstGeom>
          <a:ln>
            <a:prstDash val="dashDot"/>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a:extLst>
              <a:ext uri="{FF2B5EF4-FFF2-40B4-BE49-F238E27FC236}">
                <a16:creationId xmlns:a16="http://schemas.microsoft.com/office/drawing/2014/main" id="{F461890C-9E3A-1FD5-AECD-D07C4A79E9DD}"/>
              </a:ext>
            </a:extLst>
          </p:cNvPr>
          <p:cNvCxnSpPr>
            <a:cxnSpLocks/>
            <a:stCxn id="45" idx="2"/>
          </p:cNvCxnSpPr>
          <p:nvPr/>
        </p:nvCxnSpPr>
        <p:spPr>
          <a:xfrm>
            <a:off x="4475821" y="3015145"/>
            <a:ext cx="942890" cy="1569810"/>
          </a:xfrm>
          <a:prstGeom prst="straightConnector1">
            <a:avLst/>
          </a:prstGeom>
          <a:ln>
            <a:prstDash val="dashDot"/>
            <a:tailEnd type="triangle"/>
          </a:ln>
        </p:spPr>
        <p:style>
          <a:lnRef idx="1">
            <a:schemeClr val="dk1"/>
          </a:lnRef>
          <a:fillRef idx="0">
            <a:schemeClr val="dk1"/>
          </a:fillRef>
          <a:effectRef idx="0">
            <a:schemeClr val="dk1"/>
          </a:effectRef>
          <a:fontRef idx="minor">
            <a:schemeClr val="tx1"/>
          </a:fontRef>
        </p:style>
      </p:cxnSp>
      <p:cxnSp>
        <p:nvCxnSpPr>
          <p:cNvPr id="58" name="直接箭头连接符 57">
            <a:extLst>
              <a:ext uri="{FF2B5EF4-FFF2-40B4-BE49-F238E27FC236}">
                <a16:creationId xmlns:a16="http://schemas.microsoft.com/office/drawing/2014/main" id="{9B796C4C-5645-6160-B8A4-4BE007833439}"/>
              </a:ext>
            </a:extLst>
          </p:cNvPr>
          <p:cNvCxnSpPr>
            <a:cxnSpLocks/>
          </p:cNvCxnSpPr>
          <p:nvPr/>
        </p:nvCxnSpPr>
        <p:spPr>
          <a:xfrm flipH="1">
            <a:off x="6384032" y="3007145"/>
            <a:ext cx="47572" cy="1008786"/>
          </a:xfrm>
          <a:prstGeom prst="straightConnector1">
            <a:avLst/>
          </a:prstGeom>
          <a:ln>
            <a:prstDash val="dashDot"/>
            <a:tailEnd type="triangle"/>
          </a:ln>
        </p:spPr>
        <p:style>
          <a:lnRef idx="1">
            <a:schemeClr val="dk1"/>
          </a:lnRef>
          <a:fillRef idx="0">
            <a:schemeClr val="dk1"/>
          </a:fillRef>
          <a:effectRef idx="0">
            <a:schemeClr val="dk1"/>
          </a:effectRef>
          <a:fontRef idx="minor">
            <a:schemeClr val="tx1"/>
          </a:fontRef>
        </p:style>
      </p:cxnSp>
      <p:sp>
        <p:nvSpPr>
          <p:cNvPr id="62" name="矩形 61">
            <a:extLst>
              <a:ext uri="{FF2B5EF4-FFF2-40B4-BE49-F238E27FC236}">
                <a16:creationId xmlns:a16="http://schemas.microsoft.com/office/drawing/2014/main" id="{0911157E-3B8C-C1EE-DDD2-2EA96293CAD0}"/>
              </a:ext>
            </a:extLst>
          </p:cNvPr>
          <p:cNvSpPr/>
          <p:nvPr/>
        </p:nvSpPr>
        <p:spPr>
          <a:xfrm>
            <a:off x="9245745" y="2430653"/>
            <a:ext cx="1703193" cy="30082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碰撞时间</a:t>
            </a: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(TTC)</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3" name="矩形 62">
            <a:extLst>
              <a:ext uri="{FF2B5EF4-FFF2-40B4-BE49-F238E27FC236}">
                <a16:creationId xmlns:a16="http://schemas.microsoft.com/office/drawing/2014/main" id="{1670ABE6-D5C6-ABE3-CD61-01E78BF12CF3}"/>
              </a:ext>
            </a:extLst>
          </p:cNvPr>
          <p:cNvSpPr/>
          <p:nvPr/>
        </p:nvSpPr>
        <p:spPr>
          <a:xfrm>
            <a:off x="9254000" y="2794597"/>
            <a:ext cx="1694938" cy="30082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避撞减速率</a:t>
            </a: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(DRAC)</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120" name="矩形 5119">
            <a:extLst>
              <a:ext uri="{FF2B5EF4-FFF2-40B4-BE49-F238E27FC236}">
                <a16:creationId xmlns:a16="http://schemas.microsoft.com/office/drawing/2014/main" id="{1F98E331-DC30-3B4C-B13B-A699E1AD6506}"/>
              </a:ext>
            </a:extLst>
          </p:cNvPr>
          <p:cNvSpPr/>
          <p:nvPr/>
        </p:nvSpPr>
        <p:spPr>
          <a:xfrm>
            <a:off x="9254000" y="3163678"/>
            <a:ext cx="1694938" cy="28749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安全边际 </a:t>
            </a: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(SM)</a:t>
            </a:r>
            <a:endPar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125" name="Picture 4" descr="王建强教授面上项目获评国家自然科学基金优秀结题项目-清华大学车辆与运载学院">
            <a:extLst>
              <a:ext uri="{FF2B5EF4-FFF2-40B4-BE49-F238E27FC236}">
                <a16:creationId xmlns:a16="http://schemas.microsoft.com/office/drawing/2014/main" id="{7158E1C5-722B-C23A-BED3-9B8210DA693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102890" y="4343839"/>
            <a:ext cx="2018124" cy="794636"/>
          </a:xfrm>
          <a:prstGeom prst="rect">
            <a:avLst/>
          </a:prstGeom>
          <a:noFill/>
          <a:extLst>
            <a:ext uri="{909E8E84-426E-40DD-AFC4-6F175D3DCCD1}">
              <a14:hiddenFill xmlns:a14="http://schemas.microsoft.com/office/drawing/2010/main">
                <a:solidFill>
                  <a:srgbClr val="FFFFFF"/>
                </a:solidFill>
              </a14:hiddenFill>
            </a:ext>
          </a:extLst>
        </p:spPr>
      </p:pic>
      <p:sp>
        <p:nvSpPr>
          <p:cNvPr id="5136" name="矩形 5135">
            <a:extLst>
              <a:ext uri="{FF2B5EF4-FFF2-40B4-BE49-F238E27FC236}">
                <a16:creationId xmlns:a16="http://schemas.microsoft.com/office/drawing/2014/main" id="{027A740E-D4E4-2E6B-D853-3E1611BCA2A0}"/>
              </a:ext>
            </a:extLst>
          </p:cNvPr>
          <p:cNvSpPr/>
          <p:nvPr/>
        </p:nvSpPr>
        <p:spPr>
          <a:xfrm>
            <a:off x="6096000" y="2317233"/>
            <a:ext cx="1055413" cy="30082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驾驶风格</a:t>
            </a:r>
          </a:p>
        </p:txBody>
      </p:sp>
      <p:sp>
        <p:nvSpPr>
          <p:cNvPr id="5137" name="矩形 5136">
            <a:extLst>
              <a:ext uri="{FF2B5EF4-FFF2-40B4-BE49-F238E27FC236}">
                <a16:creationId xmlns:a16="http://schemas.microsoft.com/office/drawing/2014/main" id="{40A39CCD-8C9F-008B-7A8E-CD848617E158}"/>
              </a:ext>
            </a:extLst>
          </p:cNvPr>
          <p:cNvSpPr/>
          <p:nvPr/>
        </p:nvSpPr>
        <p:spPr>
          <a:xfrm>
            <a:off x="4737236" y="2317554"/>
            <a:ext cx="989338"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疲劳指数</a:t>
            </a:r>
          </a:p>
        </p:txBody>
      </p:sp>
      <p:cxnSp>
        <p:nvCxnSpPr>
          <p:cNvPr id="5141" name="连接符: 肘形 5140">
            <a:extLst>
              <a:ext uri="{FF2B5EF4-FFF2-40B4-BE49-F238E27FC236}">
                <a16:creationId xmlns:a16="http://schemas.microsoft.com/office/drawing/2014/main" id="{A1CB1075-3955-E230-BCDB-3C7FA905B4D4}"/>
              </a:ext>
            </a:extLst>
          </p:cNvPr>
          <p:cNvCxnSpPr>
            <a:stCxn id="5137" idx="1"/>
            <a:endCxn id="45" idx="0"/>
          </p:cNvCxnSpPr>
          <p:nvPr/>
        </p:nvCxnSpPr>
        <p:spPr>
          <a:xfrm rot="10800000" flipV="1">
            <a:off x="4475822" y="2471442"/>
            <a:ext cx="261415" cy="242705"/>
          </a:xfrm>
          <a:prstGeom prst="bentConnector2">
            <a:avLst/>
          </a:prstGeom>
          <a:ln>
            <a:prstDash val="dashDot"/>
            <a:tailEnd type="triangle"/>
          </a:ln>
        </p:spPr>
        <p:style>
          <a:lnRef idx="1">
            <a:schemeClr val="dk1"/>
          </a:lnRef>
          <a:fillRef idx="0">
            <a:schemeClr val="dk1"/>
          </a:fillRef>
          <a:effectRef idx="0">
            <a:schemeClr val="dk1"/>
          </a:effectRef>
          <a:fontRef idx="minor">
            <a:schemeClr val="tx1"/>
          </a:fontRef>
        </p:style>
      </p:cxnSp>
      <p:cxnSp>
        <p:nvCxnSpPr>
          <p:cNvPr id="5142" name="连接符: 肘形 5141">
            <a:extLst>
              <a:ext uri="{FF2B5EF4-FFF2-40B4-BE49-F238E27FC236}">
                <a16:creationId xmlns:a16="http://schemas.microsoft.com/office/drawing/2014/main" id="{9E4C203A-5033-F090-0D21-129612F32BE6}"/>
              </a:ext>
            </a:extLst>
          </p:cNvPr>
          <p:cNvCxnSpPr>
            <a:cxnSpLocks/>
            <a:stCxn id="5136" idx="1"/>
            <a:endCxn id="46" idx="0"/>
          </p:cNvCxnSpPr>
          <p:nvPr/>
        </p:nvCxnSpPr>
        <p:spPr>
          <a:xfrm rot="10800000" flipV="1">
            <a:off x="5915982" y="2467644"/>
            <a:ext cx="180019" cy="250487"/>
          </a:xfrm>
          <a:prstGeom prst="bentConnector2">
            <a:avLst/>
          </a:prstGeom>
          <a:ln>
            <a:prstDash val="dashDot"/>
            <a:tailEnd type="triangle"/>
          </a:ln>
        </p:spPr>
        <p:style>
          <a:lnRef idx="1">
            <a:schemeClr val="dk1"/>
          </a:lnRef>
          <a:fillRef idx="0">
            <a:schemeClr val="dk1"/>
          </a:fillRef>
          <a:effectRef idx="0">
            <a:schemeClr val="dk1"/>
          </a:effectRef>
          <a:fontRef idx="minor">
            <a:schemeClr val="tx1"/>
          </a:fontRef>
        </p:style>
      </p:cxnSp>
      <p:sp>
        <p:nvSpPr>
          <p:cNvPr id="13" name="矩形 12">
            <a:extLst>
              <a:ext uri="{FF2B5EF4-FFF2-40B4-BE49-F238E27FC236}">
                <a16:creationId xmlns:a16="http://schemas.microsoft.com/office/drawing/2014/main" id="{32AF9014-07D4-23BD-5FDA-BDEE2753003E}"/>
              </a:ext>
            </a:extLst>
          </p:cNvPr>
          <p:cNvSpPr/>
          <p:nvPr/>
        </p:nvSpPr>
        <p:spPr>
          <a:xfrm>
            <a:off x="3580168" y="1664520"/>
            <a:ext cx="4888216" cy="381800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45" name="文本框 5144">
            <a:extLst>
              <a:ext uri="{FF2B5EF4-FFF2-40B4-BE49-F238E27FC236}">
                <a16:creationId xmlns:a16="http://schemas.microsoft.com/office/drawing/2014/main" id="{C39E75A0-5DE9-E6EC-0A6E-32D74F39AC43}"/>
              </a:ext>
            </a:extLst>
          </p:cNvPr>
          <p:cNvSpPr txBox="1"/>
          <p:nvPr/>
        </p:nvSpPr>
        <p:spPr>
          <a:xfrm>
            <a:off x="2880504" y="3215596"/>
            <a:ext cx="723275" cy="307777"/>
          </a:xfrm>
          <a:prstGeom prst="rect">
            <a:avLst/>
          </a:prstGeom>
          <a:noFill/>
        </p:spPr>
        <p:txBody>
          <a:bodyPr wrap="none" rtlCol="0">
            <a:spAutoFit/>
          </a:bodyPr>
          <a:lstStyle>
            <a:defPPr>
              <a:defRPr lang="en-US"/>
            </a:defPPr>
            <a:lvl1pPr>
              <a:defRPr sz="1400">
                <a:latin typeface="微软雅黑" panose="020B0503020204020204" pitchFamily="34" charset="-122"/>
                <a:ea typeface="微软雅黑" panose="020B0503020204020204" pitchFamily="34" charset="-122"/>
              </a:defRPr>
            </a:lvl1pPr>
          </a:lstStyle>
          <a:p>
            <a:r>
              <a:rPr lang="zh-CN" altLang="en-US" b="1" dirty="0">
                <a:solidFill>
                  <a:schemeClr val="bg1"/>
                </a:solidFill>
              </a:rPr>
              <a:t>分车型</a:t>
            </a:r>
          </a:p>
        </p:txBody>
      </p:sp>
    </p:spTree>
    <p:extLst>
      <p:ext uri="{BB962C8B-B14F-4D97-AF65-F5344CB8AC3E}">
        <p14:creationId xmlns:p14="http://schemas.microsoft.com/office/powerpoint/2010/main" val="3309049007"/>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文本框 4">
            <a:extLst>
              <a:ext uri="{FF2B5EF4-FFF2-40B4-BE49-F238E27FC236}">
                <a16:creationId xmlns:a16="http://schemas.microsoft.com/office/drawing/2014/main" id="{8AEFA4B6-2FD7-4BF1-9CEE-ABB8FDDA41BB}"/>
              </a:ext>
            </a:extLst>
          </p:cNvPr>
          <p:cNvSpPr txBox="1"/>
          <p:nvPr/>
        </p:nvSpPr>
        <p:spPr>
          <a:xfrm>
            <a:off x="407368" y="188641"/>
            <a:ext cx="7767863"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章节关联</a:t>
            </a:r>
          </a:p>
        </p:txBody>
      </p:sp>
      <p:sp>
        <p:nvSpPr>
          <p:cNvPr id="2067" name="矩形 2066">
            <a:extLst>
              <a:ext uri="{FF2B5EF4-FFF2-40B4-BE49-F238E27FC236}">
                <a16:creationId xmlns:a16="http://schemas.microsoft.com/office/drawing/2014/main" id="{ED892EEA-7951-8C7D-F2F6-C109A9524735}"/>
              </a:ext>
            </a:extLst>
          </p:cNvPr>
          <p:cNvSpPr/>
          <p:nvPr/>
        </p:nvSpPr>
        <p:spPr>
          <a:xfrm>
            <a:off x="4969943" y="1196752"/>
            <a:ext cx="2232248" cy="1277574"/>
          </a:xfrm>
          <a:prstGeom prst="rect">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068" name="矩形 2067">
            <a:extLst>
              <a:ext uri="{FF2B5EF4-FFF2-40B4-BE49-F238E27FC236}">
                <a16:creationId xmlns:a16="http://schemas.microsoft.com/office/drawing/2014/main" id="{952421E8-EE2E-C37B-55BE-047C902FBA1E}"/>
              </a:ext>
            </a:extLst>
          </p:cNvPr>
          <p:cNvSpPr/>
          <p:nvPr/>
        </p:nvSpPr>
        <p:spPr>
          <a:xfrm>
            <a:off x="4969943" y="1623798"/>
            <a:ext cx="1136922"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事故数据</a:t>
            </a:r>
          </a:p>
        </p:txBody>
      </p:sp>
      <p:sp>
        <p:nvSpPr>
          <p:cNvPr id="2069" name="文本框 2068">
            <a:extLst>
              <a:ext uri="{FF2B5EF4-FFF2-40B4-BE49-F238E27FC236}">
                <a16:creationId xmlns:a16="http://schemas.microsoft.com/office/drawing/2014/main" id="{AB5B99BA-D1F6-55AC-5E7C-9A52C233108A}"/>
              </a:ext>
            </a:extLst>
          </p:cNvPr>
          <p:cNvSpPr txBox="1"/>
          <p:nvPr/>
        </p:nvSpPr>
        <p:spPr>
          <a:xfrm>
            <a:off x="5301237" y="1215657"/>
            <a:ext cx="1569660"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多源数据融合</a:t>
            </a:r>
          </a:p>
        </p:txBody>
      </p:sp>
      <p:sp>
        <p:nvSpPr>
          <p:cNvPr id="2070" name="矩形 2069">
            <a:extLst>
              <a:ext uri="{FF2B5EF4-FFF2-40B4-BE49-F238E27FC236}">
                <a16:creationId xmlns:a16="http://schemas.microsoft.com/office/drawing/2014/main" id="{A2824F48-C5D7-4B9D-BF9D-95773BE820FA}"/>
              </a:ext>
            </a:extLst>
          </p:cNvPr>
          <p:cNvSpPr/>
          <p:nvPr/>
        </p:nvSpPr>
        <p:spPr>
          <a:xfrm>
            <a:off x="4969943" y="2022920"/>
            <a:ext cx="2232248"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时空特征统计分析</a:t>
            </a:r>
          </a:p>
        </p:txBody>
      </p:sp>
      <p:sp>
        <p:nvSpPr>
          <p:cNvPr id="2071" name="矩形 2070">
            <a:extLst>
              <a:ext uri="{FF2B5EF4-FFF2-40B4-BE49-F238E27FC236}">
                <a16:creationId xmlns:a16="http://schemas.microsoft.com/office/drawing/2014/main" id="{148F2BE1-40EB-77BB-5609-E718DE82AFDC}"/>
              </a:ext>
            </a:extLst>
          </p:cNvPr>
          <p:cNvSpPr/>
          <p:nvPr/>
        </p:nvSpPr>
        <p:spPr>
          <a:xfrm>
            <a:off x="4912771" y="3031951"/>
            <a:ext cx="2376000" cy="1277574"/>
          </a:xfrm>
          <a:prstGeom prst="rect">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072" name="矩形 2071">
            <a:extLst>
              <a:ext uri="{FF2B5EF4-FFF2-40B4-BE49-F238E27FC236}">
                <a16:creationId xmlns:a16="http://schemas.microsoft.com/office/drawing/2014/main" id="{130B0EB5-6DB5-D6D6-F98C-7070AA37BD07}"/>
              </a:ext>
            </a:extLst>
          </p:cNvPr>
          <p:cNvSpPr/>
          <p:nvPr/>
        </p:nvSpPr>
        <p:spPr>
          <a:xfrm>
            <a:off x="4912771" y="3458997"/>
            <a:ext cx="2376000"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考虑货车异质性关键变量</a:t>
            </a:r>
          </a:p>
        </p:txBody>
      </p:sp>
      <p:sp>
        <p:nvSpPr>
          <p:cNvPr id="2073" name="文本框 2072">
            <a:extLst>
              <a:ext uri="{FF2B5EF4-FFF2-40B4-BE49-F238E27FC236}">
                <a16:creationId xmlns:a16="http://schemas.microsoft.com/office/drawing/2014/main" id="{2FA19669-5AE8-5421-3FDB-5D05F8147E0C}"/>
              </a:ext>
            </a:extLst>
          </p:cNvPr>
          <p:cNvSpPr txBox="1"/>
          <p:nvPr/>
        </p:nvSpPr>
        <p:spPr>
          <a:xfrm>
            <a:off x="5518058" y="3051553"/>
            <a:ext cx="1216081"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被动安全</a:t>
            </a:r>
          </a:p>
        </p:txBody>
      </p:sp>
      <p:sp>
        <p:nvSpPr>
          <p:cNvPr id="2074" name="矩形 2073">
            <a:extLst>
              <a:ext uri="{FF2B5EF4-FFF2-40B4-BE49-F238E27FC236}">
                <a16:creationId xmlns:a16="http://schemas.microsoft.com/office/drawing/2014/main" id="{63525549-896A-510E-1A78-3ED8B4FFE7DD}"/>
              </a:ext>
            </a:extLst>
          </p:cNvPr>
          <p:cNvSpPr/>
          <p:nvPr/>
        </p:nvSpPr>
        <p:spPr>
          <a:xfrm>
            <a:off x="4912771" y="3858119"/>
            <a:ext cx="2376000"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量化关键致因影响程度</a:t>
            </a:r>
          </a:p>
        </p:txBody>
      </p:sp>
      <p:sp>
        <p:nvSpPr>
          <p:cNvPr id="2075" name="矩形 2074">
            <a:extLst>
              <a:ext uri="{FF2B5EF4-FFF2-40B4-BE49-F238E27FC236}">
                <a16:creationId xmlns:a16="http://schemas.microsoft.com/office/drawing/2014/main" id="{03F32334-5AB7-9DB7-DE06-2990E2AF1BB1}"/>
              </a:ext>
            </a:extLst>
          </p:cNvPr>
          <p:cNvSpPr/>
          <p:nvPr/>
        </p:nvSpPr>
        <p:spPr>
          <a:xfrm>
            <a:off x="6106865" y="1623797"/>
            <a:ext cx="1087723"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出行数据</a:t>
            </a:r>
          </a:p>
        </p:txBody>
      </p:sp>
      <p:sp>
        <p:nvSpPr>
          <p:cNvPr id="2076" name="矩形 2075">
            <a:extLst>
              <a:ext uri="{FF2B5EF4-FFF2-40B4-BE49-F238E27FC236}">
                <a16:creationId xmlns:a16="http://schemas.microsoft.com/office/drawing/2014/main" id="{AFE3E3B3-2FE1-79C4-5535-6EC32897FFB1}"/>
              </a:ext>
            </a:extLst>
          </p:cNvPr>
          <p:cNvSpPr/>
          <p:nvPr/>
        </p:nvSpPr>
        <p:spPr>
          <a:xfrm>
            <a:off x="1909603" y="3036734"/>
            <a:ext cx="2376000" cy="1277574"/>
          </a:xfrm>
          <a:prstGeom prst="rect">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077" name="矩形 2076">
            <a:extLst>
              <a:ext uri="{FF2B5EF4-FFF2-40B4-BE49-F238E27FC236}">
                <a16:creationId xmlns:a16="http://schemas.microsoft.com/office/drawing/2014/main" id="{9C80CACD-ED7D-C6DB-AA7D-E8B536D7C24E}"/>
              </a:ext>
            </a:extLst>
          </p:cNvPr>
          <p:cNvSpPr/>
          <p:nvPr/>
        </p:nvSpPr>
        <p:spPr>
          <a:xfrm>
            <a:off x="1909603" y="3463780"/>
            <a:ext cx="2376000"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强化关键事故数据</a:t>
            </a:r>
          </a:p>
        </p:txBody>
      </p:sp>
      <p:sp>
        <p:nvSpPr>
          <p:cNvPr id="2078" name="文本框 2077">
            <a:extLst>
              <a:ext uri="{FF2B5EF4-FFF2-40B4-BE49-F238E27FC236}">
                <a16:creationId xmlns:a16="http://schemas.microsoft.com/office/drawing/2014/main" id="{1F7C4FB7-D53C-AA34-8262-01933B448282}"/>
              </a:ext>
            </a:extLst>
          </p:cNvPr>
          <p:cNvSpPr txBox="1"/>
          <p:nvPr/>
        </p:nvSpPr>
        <p:spPr>
          <a:xfrm>
            <a:off x="2356313" y="3072454"/>
            <a:ext cx="1353490"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少样本增强</a:t>
            </a:r>
          </a:p>
        </p:txBody>
      </p:sp>
      <p:sp>
        <p:nvSpPr>
          <p:cNvPr id="2079" name="矩形 2078">
            <a:extLst>
              <a:ext uri="{FF2B5EF4-FFF2-40B4-BE49-F238E27FC236}">
                <a16:creationId xmlns:a16="http://schemas.microsoft.com/office/drawing/2014/main" id="{E32CCFD0-7B64-E2E1-15DB-F044025D2B86}"/>
              </a:ext>
            </a:extLst>
          </p:cNvPr>
          <p:cNvSpPr/>
          <p:nvPr/>
        </p:nvSpPr>
        <p:spPr>
          <a:xfrm>
            <a:off x="1909603" y="3862902"/>
            <a:ext cx="2376000"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解决样本不均衡问题</a:t>
            </a:r>
          </a:p>
        </p:txBody>
      </p:sp>
      <p:sp>
        <p:nvSpPr>
          <p:cNvPr id="2080" name="矩形 2079">
            <a:extLst>
              <a:ext uri="{FF2B5EF4-FFF2-40B4-BE49-F238E27FC236}">
                <a16:creationId xmlns:a16="http://schemas.microsoft.com/office/drawing/2014/main" id="{55653DCD-CCCD-2D14-449D-107AF20A66C3}"/>
              </a:ext>
            </a:extLst>
          </p:cNvPr>
          <p:cNvSpPr/>
          <p:nvPr/>
        </p:nvSpPr>
        <p:spPr>
          <a:xfrm>
            <a:off x="7958275" y="3031951"/>
            <a:ext cx="2376000" cy="1277574"/>
          </a:xfrm>
          <a:prstGeom prst="rect">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081" name="矩形 2080">
            <a:extLst>
              <a:ext uri="{FF2B5EF4-FFF2-40B4-BE49-F238E27FC236}">
                <a16:creationId xmlns:a16="http://schemas.microsoft.com/office/drawing/2014/main" id="{6AF883EC-1176-5DCA-2641-B4E1D66345C9}"/>
              </a:ext>
            </a:extLst>
          </p:cNvPr>
          <p:cNvSpPr/>
          <p:nvPr/>
        </p:nvSpPr>
        <p:spPr>
          <a:xfrm>
            <a:off x="7958275" y="3458997"/>
            <a:ext cx="2376000"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分车型考虑驾驶员异质性</a:t>
            </a:r>
          </a:p>
        </p:txBody>
      </p:sp>
      <p:sp>
        <p:nvSpPr>
          <p:cNvPr id="2082" name="文本框 2081">
            <a:extLst>
              <a:ext uri="{FF2B5EF4-FFF2-40B4-BE49-F238E27FC236}">
                <a16:creationId xmlns:a16="http://schemas.microsoft.com/office/drawing/2014/main" id="{53D33516-44F6-FD1C-EA4C-9B58E35A314D}"/>
              </a:ext>
            </a:extLst>
          </p:cNvPr>
          <p:cNvSpPr txBox="1"/>
          <p:nvPr/>
        </p:nvSpPr>
        <p:spPr>
          <a:xfrm>
            <a:off x="8592409" y="3065591"/>
            <a:ext cx="1310082"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主动安全</a:t>
            </a:r>
          </a:p>
        </p:txBody>
      </p:sp>
      <p:sp>
        <p:nvSpPr>
          <p:cNvPr id="2083" name="矩形 2082">
            <a:extLst>
              <a:ext uri="{FF2B5EF4-FFF2-40B4-BE49-F238E27FC236}">
                <a16:creationId xmlns:a16="http://schemas.microsoft.com/office/drawing/2014/main" id="{6E918C91-44B2-1C21-D26D-2016E11D7830}"/>
              </a:ext>
            </a:extLst>
          </p:cNvPr>
          <p:cNvSpPr/>
          <p:nvPr/>
        </p:nvSpPr>
        <p:spPr>
          <a:xfrm>
            <a:off x="7958275" y="3858119"/>
            <a:ext cx="2376000"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提出出行风险动态预测框架</a:t>
            </a:r>
          </a:p>
        </p:txBody>
      </p:sp>
      <p:cxnSp>
        <p:nvCxnSpPr>
          <p:cNvPr id="2087" name="连接符: 肘形 2086">
            <a:extLst>
              <a:ext uri="{FF2B5EF4-FFF2-40B4-BE49-F238E27FC236}">
                <a16:creationId xmlns:a16="http://schemas.microsoft.com/office/drawing/2014/main" id="{C7C94200-D5AD-5C19-8480-78352008A0CA}"/>
              </a:ext>
            </a:extLst>
          </p:cNvPr>
          <p:cNvCxnSpPr>
            <a:stCxn id="2067" idx="2"/>
            <a:endCxn id="2076" idx="0"/>
          </p:cNvCxnSpPr>
          <p:nvPr/>
        </p:nvCxnSpPr>
        <p:spPr>
          <a:xfrm rot="5400000">
            <a:off x="4310631" y="1261298"/>
            <a:ext cx="562408" cy="298846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89" name="连接符: 肘形 2088">
            <a:extLst>
              <a:ext uri="{FF2B5EF4-FFF2-40B4-BE49-F238E27FC236}">
                <a16:creationId xmlns:a16="http://schemas.microsoft.com/office/drawing/2014/main" id="{646F0353-C758-8AB0-A65E-EFF20E9ECA71}"/>
              </a:ext>
            </a:extLst>
          </p:cNvPr>
          <p:cNvCxnSpPr>
            <a:cxnSpLocks/>
            <a:stCxn id="2067" idx="2"/>
            <a:endCxn id="2071" idx="0"/>
          </p:cNvCxnSpPr>
          <p:nvPr/>
        </p:nvCxnSpPr>
        <p:spPr>
          <a:xfrm rot="16200000" flipH="1">
            <a:off x="5814607" y="2745786"/>
            <a:ext cx="557625" cy="1470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090" name="连接符: 肘形 2089">
            <a:extLst>
              <a:ext uri="{FF2B5EF4-FFF2-40B4-BE49-F238E27FC236}">
                <a16:creationId xmlns:a16="http://schemas.microsoft.com/office/drawing/2014/main" id="{CFDC9D04-8F06-4A69-E45A-F858139B9210}"/>
              </a:ext>
            </a:extLst>
          </p:cNvPr>
          <p:cNvCxnSpPr>
            <a:cxnSpLocks/>
            <a:stCxn id="2067" idx="2"/>
            <a:endCxn id="2080" idx="0"/>
          </p:cNvCxnSpPr>
          <p:nvPr/>
        </p:nvCxnSpPr>
        <p:spPr>
          <a:xfrm rot="16200000" flipH="1">
            <a:off x="7337359" y="1223034"/>
            <a:ext cx="557625" cy="30602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095" name="矩形 2094">
            <a:extLst>
              <a:ext uri="{FF2B5EF4-FFF2-40B4-BE49-F238E27FC236}">
                <a16:creationId xmlns:a16="http://schemas.microsoft.com/office/drawing/2014/main" id="{61DF4EB8-8134-ED4E-CCD7-E4EAF0389A75}"/>
              </a:ext>
            </a:extLst>
          </p:cNvPr>
          <p:cNvSpPr/>
          <p:nvPr/>
        </p:nvSpPr>
        <p:spPr>
          <a:xfrm>
            <a:off x="5638557" y="2586210"/>
            <a:ext cx="951566" cy="2563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数据支持</a:t>
            </a:r>
          </a:p>
        </p:txBody>
      </p:sp>
      <p:cxnSp>
        <p:nvCxnSpPr>
          <p:cNvPr id="2103" name="连接符: 肘形 2102">
            <a:extLst>
              <a:ext uri="{FF2B5EF4-FFF2-40B4-BE49-F238E27FC236}">
                <a16:creationId xmlns:a16="http://schemas.microsoft.com/office/drawing/2014/main" id="{534C09A5-75C4-54D5-DF22-B41C25C2EE57}"/>
              </a:ext>
            </a:extLst>
          </p:cNvPr>
          <p:cNvCxnSpPr>
            <a:cxnSpLocks/>
          </p:cNvCxnSpPr>
          <p:nvPr/>
        </p:nvCxnSpPr>
        <p:spPr>
          <a:xfrm rot="5400000" flipH="1" flipV="1">
            <a:off x="4416908" y="2810333"/>
            <a:ext cx="4783" cy="3003168"/>
          </a:xfrm>
          <a:prstGeom prst="bentConnector3">
            <a:avLst>
              <a:gd name="adj1" fmla="val -4779427"/>
            </a:avLst>
          </a:prstGeom>
          <a:ln>
            <a:tailEnd type="triangle"/>
          </a:ln>
        </p:spPr>
        <p:style>
          <a:lnRef idx="1">
            <a:schemeClr val="dk1"/>
          </a:lnRef>
          <a:fillRef idx="0">
            <a:schemeClr val="dk1"/>
          </a:fillRef>
          <a:effectRef idx="0">
            <a:schemeClr val="dk1"/>
          </a:effectRef>
          <a:fontRef idx="minor">
            <a:schemeClr val="tx1"/>
          </a:fontRef>
        </p:style>
      </p:cxnSp>
      <p:sp>
        <p:nvSpPr>
          <p:cNvPr id="2104" name="矩形 2103">
            <a:extLst>
              <a:ext uri="{FF2B5EF4-FFF2-40B4-BE49-F238E27FC236}">
                <a16:creationId xmlns:a16="http://schemas.microsoft.com/office/drawing/2014/main" id="{F6E6DF25-F128-8D88-ECAC-8767AD0EA22A}"/>
              </a:ext>
            </a:extLst>
          </p:cNvPr>
          <p:cNvSpPr/>
          <p:nvPr/>
        </p:nvSpPr>
        <p:spPr>
          <a:xfrm>
            <a:off x="3865714" y="4400870"/>
            <a:ext cx="1257592" cy="2563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数据平衡基础</a:t>
            </a:r>
          </a:p>
        </p:txBody>
      </p:sp>
      <p:cxnSp>
        <p:nvCxnSpPr>
          <p:cNvPr id="2106" name="连接符: 肘形 2105">
            <a:extLst>
              <a:ext uri="{FF2B5EF4-FFF2-40B4-BE49-F238E27FC236}">
                <a16:creationId xmlns:a16="http://schemas.microsoft.com/office/drawing/2014/main" id="{74CF640C-5B1A-B8D2-1376-4232CBDE648E}"/>
              </a:ext>
            </a:extLst>
          </p:cNvPr>
          <p:cNvCxnSpPr>
            <a:cxnSpLocks/>
          </p:cNvCxnSpPr>
          <p:nvPr/>
        </p:nvCxnSpPr>
        <p:spPr>
          <a:xfrm rot="16200000" flipH="1">
            <a:off x="7797325" y="2786773"/>
            <a:ext cx="12700" cy="3045504"/>
          </a:xfrm>
          <a:prstGeom prst="bent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2111" name="矩形 2110">
            <a:extLst>
              <a:ext uri="{FF2B5EF4-FFF2-40B4-BE49-F238E27FC236}">
                <a16:creationId xmlns:a16="http://schemas.microsoft.com/office/drawing/2014/main" id="{E832C24B-6348-144E-696F-8851723B9DCF}"/>
              </a:ext>
            </a:extLst>
          </p:cNvPr>
          <p:cNvSpPr/>
          <p:nvPr/>
        </p:nvSpPr>
        <p:spPr>
          <a:xfrm>
            <a:off x="6802628" y="4387284"/>
            <a:ext cx="1627086" cy="2563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车辆致因理论支持</a:t>
            </a:r>
          </a:p>
        </p:txBody>
      </p:sp>
      <p:sp>
        <p:nvSpPr>
          <p:cNvPr id="9" name="矩形 8">
            <a:extLst>
              <a:ext uri="{FF2B5EF4-FFF2-40B4-BE49-F238E27FC236}">
                <a16:creationId xmlns:a16="http://schemas.microsoft.com/office/drawing/2014/main" id="{7D5D859A-CF43-0C33-9201-109196E042A4}"/>
              </a:ext>
            </a:extLst>
          </p:cNvPr>
          <p:cNvSpPr/>
          <p:nvPr/>
        </p:nvSpPr>
        <p:spPr>
          <a:xfrm>
            <a:off x="1775520" y="1052736"/>
            <a:ext cx="8703035" cy="375809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4A86B8-8CB1-F1E2-C55A-38728612C343}"/>
              </a:ext>
            </a:extLst>
          </p:cNvPr>
          <p:cNvSpPr/>
          <p:nvPr/>
        </p:nvSpPr>
        <p:spPr>
          <a:xfrm>
            <a:off x="1775520" y="5014370"/>
            <a:ext cx="8703035" cy="14240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355D2100-408F-03C9-F4A1-07C3C3AEE349}"/>
              </a:ext>
            </a:extLst>
          </p:cNvPr>
          <p:cNvSpPr/>
          <p:nvPr/>
        </p:nvSpPr>
        <p:spPr>
          <a:xfrm>
            <a:off x="4934203" y="5088788"/>
            <a:ext cx="2376000" cy="1277574"/>
          </a:xfrm>
          <a:prstGeom prst="rect">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204D1C02-52AC-258C-1045-8BEE69D94622}"/>
              </a:ext>
            </a:extLst>
          </p:cNvPr>
          <p:cNvSpPr/>
          <p:nvPr/>
        </p:nvSpPr>
        <p:spPr>
          <a:xfrm>
            <a:off x="4934203" y="5515834"/>
            <a:ext cx="2376000"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“人</a:t>
            </a: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车</a:t>
            </a: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路”</a:t>
            </a:r>
          </a:p>
        </p:txBody>
      </p:sp>
      <p:sp>
        <p:nvSpPr>
          <p:cNvPr id="13" name="文本框 12">
            <a:extLst>
              <a:ext uri="{FF2B5EF4-FFF2-40B4-BE49-F238E27FC236}">
                <a16:creationId xmlns:a16="http://schemas.microsoft.com/office/drawing/2014/main" id="{50AA3D19-0ABF-8E06-0361-CBDD78F5C7FB}"/>
              </a:ext>
            </a:extLst>
          </p:cNvPr>
          <p:cNvSpPr txBox="1"/>
          <p:nvPr/>
        </p:nvSpPr>
        <p:spPr>
          <a:xfrm>
            <a:off x="5077955" y="5112797"/>
            <a:ext cx="2098530"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提升运输车辆安全</a:t>
            </a:r>
          </a:p>
        </p:txBody>
      </p:sp>
      <p:sp>
        <p:nvSpPr>
          <p:cNvPr id="14" name="矩形 13">
            <a:extLst>
              <a:ext uri="{FF2B5EF4-FFF2-40B4-BE49-F238E27FC236}">
                <a16:creationId xmlns:a16="http://schemas.microsoft.com/office/drawing/2014/main" id="{6EA9DABC-2ECA-9A27-ED1F-26B09D21C7C8}"/>
              </a:ext>
            </a:extLst>
          </p:cNvPr>
          <p:cNvSpPr/>
          <p:nvPr/>
        </p:nvSpPr>
        <p:spPr>
          <a:xfrm>
            <a:off x="4934203" y="5914956"/>
            <a:ext cx="2376000" cy="30777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“主动</a:t>
            </a:r>
            <a:r>
              <a:rPr lang="en-US" altLang="zh-CN"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被动”</a:t>
            </a:r>
          </a:p>
        </p:txBody>
      </p:sp>
      <p:sp>
        <p:nvSpPr>
          <p:cNvPr id="19" name="箭头: V 形 18">
            <a:extLst>
              <a:ext uri="{FF2B5EF4-FFF2-40B4-BE49-F238E27FC236}">
                <a16:creationId xmlns:a16="http://schemas.microsoft.com/office/drawing/2014/main" id="{718D7A9B-D274-3F0D-A91E-3796EC32EF5E}"/>
              </a:ext>
            </a:extLst>
          </p:cNvPr>
          <p:cNvSpPr/>
          <p:nvPr/>
        </p:nvSpPr>
        <p:spPr>
          <a:xfrm rot="5400000">
            <a:off x="6003475" y="4795944"/>
            <a:ext cx="165183" cy="20660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46578784"/>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A074C22D-F164-40FC-8DEE-CE3AF6DC05B1}"/>
              </a:ext>
            </a:extLst>
          </p:cNvPr>
          <p:cNvSpPr/>
          <p:nvPr/>
        </p:nvSpPr>
        <p:spPr>
          <a:xfrm>
            <a:off x="834136" y="2211001"/>
            <a:ext cx="2849357" cy="874448"/>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1DC17EAF-FA78-4681-8DC0-360DD344C0E7}"/>
              </a:ext>
            </a:extLst>
          </p:cNvPr>
          <p:cNvSpPr/>
          <p:nvPr/>
        </p:nvSpPr>
        <p:spPr>
          <a:xfrm>
            <a:off x="846562" y="3419939"/>
            <a:ext cx="2836932" cy="1737250"/>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EFC4257B-D459-4B89-A36E-62B14FC13847}"/>
              </a:ext>
            </a:extLst>
          </p:cNvPr>
          <p:cNvSpPr/>
          <p:nvPr/>
        </p:nvSpPr>
        <p:spPr>
          <a:xfrm>
            <a:off x="851155" y="5368408"/>
            <a:ext cx="2852989" cy="1012917"/>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3CD9014D-381B-41E8-9AEC-51C2070BB547}"/>
              </a:ext>
            </a:extLst>
          </p:cNvPr>
          <p:cNvSpPr/>
          <p:nvPr/>
        </p:nvSpPr>
        <p:spPr>
          <a:xfrm>
            <a:off x="325776" y="1793256"/>
            <a:ext cx="3411706" cy="4660080"/>
          </a:xfrm>
          <a:prstGeom prst="rect">
            <a:avLst/>
          </a:prstGeom>
          <a:noFill/>
          <a:ln w="19050">
            <a:solidFill>
              <a:srgbClr val="1B3F8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DFD09AE6-32CB-4C96-AA14-25BE9191D4C6}"/>
              </a:ext>
            </a:extLst>
          </p:cNvPr>
          <p:cNvSpPr/>
          <p:nvPr/>
        </p:nvSpPr>
        <p:spPr>
          <a:xfrm>
            <a:off x="325776" y="1793256"/>
            <a:ext cx="403009" cy="4660077"/>
          </a:xfrm>
          <a:prstGeom prst="rect">
            <a:avLst/>
          </a:prstGeom>
          <a:solidFill>
            <a:srgbClr val="1B3F85"/>
          </a:solidFill>
          <a:ln>
            <a:solidFill>
              <a:srgbClr val="1B3F85"/>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文本框 20">
            <a:extLst>
              <a:ext uri="{FF2B5EF4-FFF2-40B4-BE49-F238E27FC236}">
                <a16:creationId xmlns:a16="http://schemas.microsoft.com/office/drawing/2014/main" id="{C9DC503A-6C05-42DF-B237-9B687C6E392A}"/>
              </a:ext>
            </a:extLst>
          </p:cNvPr>
          <p:cNvSpPr txBox="1"/>
          <p:nvPr/>
        </p:nvSpPr>
        <p:spPr>
          <a:xfrm>
            <a:off x="288753" y="2683480"/>
            <a:ext cx="477054" cy="2400657"/>
          </a:xfrm>
          <a:prstGeom prst="rect">
            <a:avLst/>
          </a:prstGeom>
          <a:noFill/>
        </p:spPr>
        <p:txBody>
          <a:bodyPr vert="eaVert" wrap="square" rtlCol="0">
            <a:spAutoFit/>
          </a:bodyPr>
          <a:lstStyle/>
          <a:p>
            <a:pPr algn="ctr"/>
            <a:r>
              <a:rPr lang="zh-CN" altLang="en-US" sz="1900" b="1" spc="100" dirty="0">
                <a:solidFill>
                  <a:schemeClr val="bg1"/>
                </a:solidFill>
              </a:rPr>
              <a:t>解决问题</a:t>
            </a:r>
          </a:p>
        </p:txBody>
      </p:sp>
      <p:sp>
        <p:nvSpPr>
          <p:cNvPr id="23" name="矩形 22">
            <a:extLst>
              <a:ext uri="{FF2B5EF4-FFF2-40B4-BE49-F238E27FC236}">
                <a16:creationId xmlns:a16="http://schemas.microsoft.com/office/drawing/2014/main" id="{2A361E5D-0716-4160-A79F-CB4DC84A313D}"/>
              </a:ext>
            </a:extLst>
          </p:cNvPr>
          <p:cNvSpPr/>
          <p:nvPr/>
        </p:nvSpPr>
        <p:spPr bwMode="auto">
          <a:xfrm>
            <a:off x="821468" y="1859912"/>
            <a:ext cx="2862025" cy="365472"/>
          </a:xfrm>
          <a:prstGeom prst="rect">
            <a:avLst/>
          </a:prstGeom>
          <a:solidFill>
            <a:srgbClr val="C6D9F1"/>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kern="100" dirty="0">
                <a:solidFill>
                  <a:prstClr val="black"/>
                </a:solidFill>
                <a:latin typeface="微软雅黑" panose="020B0503020204020204" pitchFamily="34" charset="-122"/>
                <a:ea typeface="微软雅黑" panose="020B0503020204020204" pitchFamily="34" charset="-122"/>
              </a:rPr>
              <a:t>事故</a:t>
            </a:r>
            <a:r>
              <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数据不平衡</a:t>
            </a:r>
          </a:p>
        </p:txBody>
      </p:sp>
      <p:sp>
        <p:nvSpPr>
          <p:cNvPr id="24" name="文本框 23">
            <a:extLst>
              <a:ext uri="{FF2B5EF4-FFF2-40B4-BE49-F238E27FC236}">
                <a16:creationId xmlns:a16="http://schemas.microsoft.com/office/drawing/2014/main" id="{09E1814C-FA4C-4F2B-BB03-AA3FAA937404}"/>
              </a:ext>
            </a:extLst>
          </p:cNvPr>
          <p:cNvSpPr txBox="1"/>
          <p:nvPr/>
        </p:nvSpPr>
        <p:spPr>
          <a:xfrm>
            <a:off x="838197" y="2243315"/>
            <a:ext cx="2813871" cy="769093"/>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致死事故与非致死事故的不平衡，导致机器学习模型对关键少样本识别效果不佳</a:t>
            </a:r>
            <a:endParaRPr lang="en-US" altLang="zh-CN" sz="1400" dirty="0">
              <a:latin typeface="微软雅黑" panose="020B0503020204020204" pitchFamily="34" charset="-122"/>
              <a:ea typeface="微软雅黑" panose="020B0503020204020204" pitchFamily="34" charset="-122"/>
              <a:cs typeface="仿宋_GB2312"/>
            </a:endParaRPr>
          </a:p>
        </p:txBody>
      </p:sp>
      <p:sp>
        <p:nvSpPr>
          <p:cNvPr id="25" name="矩形 24">
            <a:extLst>
              <a:ext uri="{FF2B5EF4-FFF2-40B4-BE49-F238E27FC236}">
                <a16:creationId xmlns:a16="http://schemas.microsoft.com/office/drawing/2014/main" id="{D004213E-C2F2-4E32-AB35-53F9375E6D10}"/>
              </a:ext>
            </a:extLst>
          </p:cNvPr>
          <p:cNvSpPr/>
          <p:nvPr/>
        </p:nvSpPr>
        <p:spPr bwMode="auto">
          <a:xfrm>
            <a:off x="842119" y="3146821"/>
            <a:ext cx="2862025" cy="365472"/>
          </a:xfrm>
          <a:prstGeom prst="rect">
            <a:avLst/>
          </a:prstGeom>
          <a:solidFill>
            <a:srgbClr val="FFF1D5"/>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kern="100" dirty="0">
                <a:solidFill>
                  <a:prstClr val="black"/>
                </a:solidFill>
                <a:latin typeface="微软雅黑" panose="020B0503020204020204" pitchFamily="34" charset="-122"/>
                <a:ea typeface="微软雅黑" panose="020B0503020204020204" pitchFamily="34" charset="-122"/>
              </a:rPr>
              <a:t>已有过采样方法的不足</a:t>
            </a:r>
            <a:endPar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6" name="矩形 25">
            <a:extLst>
              <a:ext uri="{FF2B5EF4-FFF2-40B4-BE49-F238E27FC236}">
                <a16:creationId xmlns:a16="http://schemas.microsoft.com/office/drawing/2014/main" id="{940BA18A-ADA4-406B-8103-6CD37B4FB011}"/>
              </a:ext>
            </a:extLst>
          </p:cNvPr>
          <p:cNvSpPr/>
          <p:nvPr/>
        </p:nvSpPr>
        <p:spPr bwMode="auto">
          <a:xfrm>
            <a:off x="842119" y="5232935"/>
            <a:ext cx="2862025" cy="365472"/>
          </a:xfrm>
          <a:prstGeom prst="rect">
            <a:avLst/>
          </a:prstGeom>
          <a:solidFill>
            <a:srgbClr val="EBF1DE"/>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机器学习受数据局限</a:t>
            </a:r>
          </a:p>
        </p:txBody>
      </p:sp>
      <p:sp>
        <p:nvSpPr>
          <p:cNvPr id="27" name="文本框 26">
            <a:extLst>
              <a:ext uri="{FF2B5EF4-FFF2-40B4-BE49-F238E27FC236}">
                <a16:creationId xmlns:a16="http://schemas.microsoft.com/office/drawing/2014/main" id="{C6368033-9625-4523-A8B7-74C02DC790D3}"/>
              </a:ext>
            </a:extLst>
          </p:cNvPr>
          <p:cNvSpPr txBox="1"/>
          <p:nvPr/>
        </p:nvSpPr>
        <p:spPr>
          <a:xfrm>
            <a:off x="825912" y="3535591"/>
            <a:ext cx="2857581" cy="1621598"/>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kumimoji="0" lang="zh-CN" altLang="en-US"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目前过采样方法主要有随机过采样、</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SMOTE</a:t>
            </a:r>
            <a:r>
              <a:rPr kumimoji="0" lang="zh-CN" altLang="en-US"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ADASYN</a:t>
            </a:r>
            <a:r>
              <a:rPr lang="zh-CN" altLang="en-US" sz="1400" dirty="0">
                <a:latin typeface="微软雅黑" panose="020B0503020204020204" pitchFamily="34" charset="-122"/>
                <a:ea typeface="微软雅黑" panose="020B0503020204020204" pitchFamily="34" charset="-122"/>
                <a:cs typeface="仿宋_GB2312"/>
              </a:rPr>
              <a:t>等，根据已有的少样本数据生成近似点，但不会学习到原始数据分布特征，特征分布相似度较差，缺少对生成数据泛化性的考虑</a:t>
            </a:r>
            <a:endPar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p:txBody>
      </p:sp>
      <p:sp>
        <p:nvSpPr>
          <p:cNvPr id="28" name="文本框 27">
            <a:extLst>
              <a:ext uri="{FF2B5EF4-FFF2-40B4-BE49-F238E27FC236}">
                <a16:creationId xmlns:a16="http://schemas.microsoft.com/office/drawing/2014/main" id="{ACAEE418-D22A-457B-9F9B-B251AC763651}"/>
              </a:ext>
            </a:extLst>
          </p:cNvPr>
          <p:cNvSpPr txBox="1"/>
          <p:nvPr/>
        </p:nvSpPr>
        <p:spPr>
          <a:xfrm>
            <a:off x="846852" y="5607332"/>
            <a:ext cx="2887010" cy="846001"/>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kumimoji="0" lang="zh-CN" altLang="en-US"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很多预测模型受数据不平衡影响，对事故致因机理的理解不全面，偏向多样本的影响</a:t>
            </a:r>
          </a:p>
        </p:txBody>
      </p:sp>
      <p:sp>
        <p:nvSpPr>
          <p:cNvPr id="30" name="矩形 29">
            <a:extLst>
              <a:ext uri="{FF2B5EF4-FFF2-40B4-BE49-F238E27FC236}">
                <a16:creationId xmlns:a16="http://schemas.microsoft.com/office/drawing/2014/main" id="{DB4D1A0B-6DAC-4C00-9AD8-C3DF755C137A}"/>
              </a:ext>
            </a:extLst>
          </p:cNvPr>
          <p:cNvSpPr/>
          <p:nvPr/>
        </p:nvSpPr>
        <p:spPr>
          <a:xfrm>
            <a:off x="325776" y="1052737"/>
            <a:ext cx="11546056" cy="577108"/>
          </a:xfrm>
          <a:prstGeom prst="rect">
            <a:avLst/>
          </a:prstGeom>
          <a:solidFill>
            <a:srgbClr val="FFFBF3"/>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000" b="1" dirty="0">
                <a:solidFill>
                  <a:schemeClr val="tx1"/>
                </a:solidFill>
                <a:latin typeface="微软雅黑" panose="020B0503020204020204" pitchFamily="34" charset="-122"/>
                <a:ea typeface="微软雅黑" panose="020B0503020204020204" pitchFamily="34" charset="-122"/>
              </a:rPr>
              <a:t>基于</a:t>
            </a:r>
            <a:r>
              <a:rPr lang="en-US" altLang="zh-CN" sz="2000" b="1" dirty="0">
                <a:solidFill>
                  <a:schemeClr val="tx1"/>
                </a:solidFill>
                <a:latin typeface="微软雅黑" panose="020B0503020204020204" pitchFamily="34" charset="-122"/>
                <a:ea typeface="微软雅黑" panose="020B0503020204020204" pitchFamily="34" charset="-122"/>
              </a:rPr>
              <a:t>CTGAN-Sampling</a:t>
            </a:r>
            <a:r>
              <a:rPr lang="zh-CN" altLang="en-US" sz="2000" b="1" dirty="0">
                <a:solidFill>
                  <a:schemeClr val="tx1"/>
                </a:solidFill>
                <a:latin typeface="微软雅黑" panose="020B0503020204020204" pitchFamily="34" charset="-122"/>
                <a:ea typeface="微软雅黑" panose="020B0503020204020204" pitchFamily="34" charset="-122"/>
              </a:rPr>
              <a:t>的事故数据不平衡处理方法</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31" name="矩形 30">
            <a:extLst>
              <a:ext uri="{FF2B5EF4-FFF2-40B4-BE49-F238E27FC236}">
                <a16:creationId xmlns:a16="http://schemas.microsoft.com/office/drawing/2014/main" id="{2905B126-DB14-487D-A8A0-C03BE1E2CDDF}"/>
              </a:ext>
            </a:extLst>
          </p:cNvPr>
          <p:cNvSpPr/>
          <p:nvPr>
            <p:custDataLst>
              <p:tags r:id="rId1"/>
            </p:custDataLst>
          </p:nvPr>
        </p:nvSpPr>
        <p:spPr>
          <a:xfrm>
            <a:off x="6400037" y="1793255"/>
            <a:ext cx="5471795" cy="4660078"/>
          </a:xfrm>
          <a:prstGeom prst="rect">
            <a:avLst/>
          </a:prstGeom>
          <a:noFill/>
          <a:ln w="19050">
            <a:solidFill>
              <a:srgbClr val="1B3F8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29CAC453-1264-4BFD-9F76-352BF99A5B7D}"/>
              </a:ext>
            </a:extLst>
          </p:cNvPr>
          <p:cNvSpPr/>
          <p:nvPr/>
        </p:nvSpPr>
        <p:spPr>
          <a:xfrm>
            <a:off x="3931157" y="1793256"/>
            <a:ext cx="2396490" cy="4660079"/>
          </a:xfrm>
          <a:prstGeom prst="rect">
            <a:avLst/>
          </a:prstGeom>
          <a:noFill/>
          <a:ln w="19050">
            <a:solidFill>
              <a:srgbClr val="1B3F8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B8A9040D-47DD-43DC-9578-273C4107BC86}"/>
              </a:ext>
            </a:extLst>
          </p:cNvPr>
          <p:cNvSpPr txBox="1"/>
          <p:nvPr/>
        </p:nvSpPr>
        <p:spPr>
          <a:xfrm>
            <a:off x="4121974" y="5488396"/>
            <a:ext cx="2014855" cy="316865"/>
          </a:xfrm>
          <a:prstGeom prst="rect">
            <a:avLst/>
          </a:prstGeom>
        </p:spPr>
        <p:txBody>
          <a:bodyPr wrap="square">
            <a:noAutofit/>
          </a:bodyPr>
          <a:lstStyle/>
          <a:p>
            <a:pPr marL="0" indent="0" algn="ctr" defTabSz="266700">
              <a:spcBef>
                <a:spcPct val="0"/>
              </a:spcBef>
              <a:spcAft>
                <a:spcPct val="0"/>
              </a:spcAft>
            </a:pPr>
            <a:r>
              <a:rPr lang="zh-CN" altLang="en-US" sz="1600" b="1" baseline="30000" dirty="0">
                <a:latin typeface="Times New Roman" panose="02020603050405020304"/>
                <a:ea typeface="宋体" panose="02010600030101010101" pitchFamily="2" charset="-122"/>
              </a:rPr>
              <a:t>损失曲线</a:t>
            </a:r>
          </a:p>
        </p:txBody>
      </p:sp>
      <p:sp>
        <p:nvSpPr>
          <p:cNvPr id="48" name="文本框 47">
            <a:extLst>
              <a:ext uri="{FF2B5EF4-FFF2-40B4-BE49-F238E27FC236}">
                <a16:creationId xmlns:a16="http://schemas.microsoft.com/office/drawing/2014/main" id="{FE2A0AE9-FE83-4F88-A0FA-0D1D47AC9563}"/>
              </a:ext>
            </a:extLst>
          </p:cNvPr>
          <p:cNvSpPr txBox="1"/>
          <p:nvPr/>
        </p:nvSpPr>
        <p:spPr>
          <a:xfrm>
            <a:off x="10022791" y="5538760"/>
            <a:ext cx="1642110"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平衡后数据事故致因分析</a:t>
            </a:r>
            <a:endParaRPr lang="zh-CN" altLang="en-US" sz="1000" b="1" dirty="0">
              <a:latin typeface="Times New Roman" panose="02020603050405020304"/>
              <a:ea typeface="宋体" panose="02010600030101010101" pitchFamily="2" charset="-122"/>
            </a:endParaRPr>
          </a:p>
        </p:txBody>
      </p:sp>
      <p:sp>
        <p:nvSpPr>
          <p:cNvPr id="49" name="文本框 48">
            <a:extLst>
              <a:ext uri="{FF2B5EF4-FFF2-40B4-BE49-F238E27FC236}">
                <a16:creationId xmlns:a16="http://schemas.microsoft.com/office/drawing/2014/main" id="{163D8131-EA33-45BC-9C47-32E76A729D08}"/>
              </a:ext>
            </a:extLst>
          </p:cNvPr>
          <p:cNvSpPr txBox="1"/>
          <p:nvPr/>
        </p:nvSpPr>
        <p:spPr>
          <a:xfrm>
            <a:off x="6458638" y="5805261"/>
            <a:ext cx="5354592" cy="553152"/>
          </a:xfrm>
          <a:prstGeom prst="rect">
            <a:avLst/>
          </a:prstGeom>
          <a:solidFill>
            <a:srgbClr val="1B3F85"/>
          </a:solidFill>
        </p:spPr>
        <p:txBody>
          <a:bodyPr wrap="square" rtlCol="0" anchor="t">
            <a:noAutofit/>
          </a:bodyPr>
          <a:lstStyle/>
          <a:p>
            <a:pPr indent="0">
              <a:lnSpc>
                <a:spcPct val="110000"/>
              </a:lnSpc>
              <a:spcAft>
                <a:spcPts val="300"/>
              </a:spcAft>
              <a:buFont typeface="Arial" panose="020B0604020202020204" pitchFamily="34" charset="0"/>
              <a:buNone/>
            </a:pPr>
            <a:r>
              <a:rPr lang="zh-CN" altLang="en-US" sz="1200" dirty="0">
                <a:solidFill>
                  <a:schemeClr val="bg1"/>
                </a:solidFill>
                <a:latin typeface="微软雅黑" panose="020B0503020204020204" pitchFamily="34" charset="-122"/>
                <a:ea typeface="微软雅黑" panose="020B0503020204020204" pitchFamily="34" charset="-122"/>
                <a:sym typeface="+mn-ea"/>
              </a:rPr>
              <a:t>生成样本与真实样本各特征分布相似度极佳，各特征</a:t>
            </a:r>
            <a:r>
              <a:rPr lang="en-US" altLang="zh-CN" sz="1200" dirty="0">
                <a:solidFill>
                  <a:schemeClr val="bg1"/>
                </a:solidFill>
                <a:latin typeface="微软雅黑" panose="020B0503020204020204" pitchFamily="34" charset="-122"/>
                <a:ea typeface="微软雅黑" panose="020B0503020204020204" pitchFamily="34" charset="-122"/>
                <a:sym typeface="+mn-ea"/>
              </a:rPr>
              <a:t>JS</a:t>
            </a:r>
            <a:r>
              <a:rPr lang="zh-CN" altLang="en-US" sz="1200" dirty="0">
                <a:solidFill>
                  <a:schemeClr val="bg1"/>
                </a:solidFill>
                <a:latin typeface="微软雅黑" panose="020B0503020204020204" pitchFamily="34" charset="-122"/>
                <a:ea typeface="微软雅黑" panose="020B0503020204020204" pitchFamily="34" charset="-122"/>
                <a:sym typeface="+mn-ea"/>
              </a:rPr>
              <a:t>散度值在</a:t>
            </a:r>
            <a:r>
              <a:rPr lang="en-US" altLang="zh-CN" sz="1200" dirty="0">
                <a:solidFill>
                  <a:schemeClr val="bg1"/>
                </a:solidFill>
                <a:latin typeface="微软雅黑" panose="020B0503020204020204" pitchFamily="34" charset="-122"/>
                <a:ea typeface="微软雅黑" panose="020B0503020204020204" pitchFamily="34" charset="-122"/>
                <a:sym typeface="+mn-ea"/>
              </a:rPr>
              <a:t>10</a:t>
            </a:r>
            <a:r>
              <a:rPr lang="en-US" altLang="zh-CN" sz="1200" baseline="30000" dirty="0">
                <a:solidFill>
                  <a:schemeClr val="bg1"/>
                </a:solidFill>
                <a:latin typeface="微软雅黑" panose="020B0503020204020204" pitchFamily="34" charset="-122"/>
                <a:ea typeface="微软雅黑" panose="020B0503020204020204" pitchFamily="34" charset="-122"/>
                <a:sym typeface="+mn-ea"/>
              </a:rPr>
              <a:t>-5</a:t>
            </a:r>
            <a:r>
              <a:rPr lang="zh-CN" altLang="en-US" sz="1200" dirty="0">
                <a:solidFill>
                  <a:schemeClr val="bg1"/>
                </a:solidFill>
                <a:latin typeface="微软雅黑" panose="020B0503020204020204" pitchFamily="34" charset="-122"/>
                <a:ea typeface="微软雅黑" panose="020B0503020204020204" pitchFamily="34" charset="-122"/>
                <a:sym typeface="+mn-ea"/>
              </a:rPr>
              <a:t>左右；</a:t>
            </a:r>
            <a:endParaRPr lang="en-US" altLang="zh-CN" sz="1200" dirty="0">
              <a:solidFill>
                <a:schemeClr val="bg1"/>
              </a:solidFill>
              <a:latin typeface="微软雅黑" panose="020B0503020204020204" pitchFamily="34" charset="-122"/>
              <a:ea typeface="微软雅黑" panose="020B0503020204020204" pitchFamily="34" charset="-122"/>
              <a:sym typeface="+mn-ea"/>
            </a:endParaRPr>
          </a:p>
          <a:p>
            <a:pPr indent="0">
              <a:lnSpc>
                <a:spcPct val="110000"/>
              </a:lnSpc>
              <a:spcAft>
                <a:spcPts val="300"/>
              </a:spcAft>
              <a:buFont typeface="Arial" panose="020B0604020202020204" pitchFamily="34" charset="0"/>
              <a:buNone/>
            </a:pPr>
            <a:r>
              <a:rPr lang="zh-CN" altLang="en-US" sz="1200" dirty="0">
                <a:solidFill>
                  <a:schemeClr val="bg1"/>
                </a:solidFill>
                <a:latin typeface="微软雅黑" panose="020B0503020204020204" pitchFamily="34" charset="-122"/>
                <a:ea typeface="微软雅黑" panose="020B0503020204020204" pitchFamily="34" charset="-122"/>
                <a:sym typeface="+mn-ea"/>
              </a:rPr>
              <a:t>生成样本平衡后，对少样本的学习精确率提升</a:t>
            </a:r>
            <a:r>
              <a:rPr lang="en-US" altLang="zh-CN" sz="1200" dirty="0">
                <a:solidFill>
                  <a:schemeClr val="bg1"/>
                </a:solidFill>
                <a:latin typeface="微软雅黑" panose="020B0503020204020204" pitchFamily="34" charset="-122"/>
                <a:ea typeface="微软雅黑" panose="020B0503020204020204" pitchFamily="34" charset="-122"/>
                <a:sym typeface="+mn-ea"/>
              </a:rPr>
              <a:t>3.4%</a:t>
            </a:r>
            <a:r>
              <a:rPr lang="zh-CN" altLang="en-US" sz="1200" dirty="0">
                <a:solidFill>
                  <a:schemeClr val="bg1"/>
                </a:solidFill>
                <a:latin typeface="微软雅黑" panose="020B0503020204020204" pitchFamily="34" charset="-122"/>
                <a:ea typeface="微软雅黑" panose="020B0503020204020204" pitchFamily="34" charset="-122"/>
                <a:sym typeface="+mn-ea"/>
              </a:rPr>
              <a:t>，整体模型</a:t>
            </a:r>
            <a:r>
              <a:rPr lang="en-US" altLang="zh-CN" sz="1200" dirty="0">
                <a:solidFill>
                  <a:schemeClr val="bg1"/>
                </a:solidFill>
                <a:latin typeface="微软雅黑" panose="020B0503020204020204" pitchFamily="34" charset="-122"/>
                <a:ea typeface="微软雅黑" panose="020B0503020204020204" pitchFamily="34" charset="-122"/>
                <a:sym typeface="+mn-ea"/>
              </a:rPr>
              <a:t>AUC</a:t>
            </a:r>
            <a:r>
              <a:rPr lang="zh-CN" altLang="en-US" sz="1200" dirty="0">
                <a:solidFill>
                  <a:schemeClr val="bg1"/>
                </a:solidFill>
                <a:latin typeface="微软雅黑" panose="020B0503020204020204" pitchFamily="34" charset="-122"/>
                <a:ea typeface="微软雅黑" panose="020B0503020204020204" pitchFamily="34" charset="-122"/>
                <a:sym typeface="+mn-ea"/>
              </a:rPr>
              <a:t>值提升</a:t>
            </a:r>
            <a:r>
              <a:rPr lang="en-US" altLang="zh-CN" sz="1200" dirty="0">
                <a:solidFill>
                  <a:schemeClr val="bg1"/>
                </a:solidFill>
                <a:latin typeface="微软雅黑" panose="020B0503020204020204" pitchFamily="34" charset="-122"/>
                <a:ea typeface="微软雅黑" panose="020B0503020204020204" pitchFamily="34" charset="-122"/>
                <a:sym typeface="+mn-ea"/>
              </a:rPr>
              <a:t>5%</a:t>
            </a:r>
            <a:r>
              <a:rPr lang="zh-CN" altLang="en-US" sz="1200" dirty="0">
                <a:solidFill>
                  <a:schemeClr val="bg1"/>
                </a:solidFill>
                <a:latin typeface="微软雅黑" panose="020B0503020204020204" pitchFamily="34" charset="-122"/>
                <a:ea typeface="微软雅黑" panose="020B0503020204020204" pitchFamily="34" charset="-122"/>
                <a:sym typeface="+mn-ea"/>
              </a:rPr>
              <a:t>。</a:t>
            </a:r>
          </a:p>
        </p:txBody>
      </p:sp>
      <p:sp>
        <p:nvSpPr>
          <p:cNvPr id="51" name="文本框 50">
            <a:extLst>
              <a:ext uri="{FF2B5EF4-FFF2-40B4-BE49-F238E27FC236}">
                <a16:creationId xmlns:a16="http://schemas.microsoft.com/office/drawing/2014/main" id="{B7A4D5B4-3E72-4433-8100-4704EC7F7080}"/>
              </a:ext>
            </a:extLst>
          </p:cNvPr>
          <p:cNvSpPr txBox="1"/>
          <p:nvPr/>
        </p:nvSpPr>
        <p:spPr>
          <a:xfrm>
            <a:off x="3974337" y="3442143"/>
            <a:ext cx="2296562" cy="497205"/>
          </a:xfrm>
          <a:prstGeom prst="rect">
            <a:avLst/>
          </a:prstGeom>
          <a:solidFill>
            <a:srgbClr val="1B3F85"/>
          </a:solidFill>
        </p:spPr>
        <p:txBody>
          <a:bodyPr wrap="square" rtlCol="0" anchor="t">
            <a:noAutofit/>
          </a:bodyPr>
          <a:lstStyle/>
          <a:p>
            <a:pPr indent="0">
              <a:lnSpc>
                <a:spcPct val="110000"/>
              </a:lnSpc>
              <a:spcAft>
                <a:spcPts val="300"/>
              </a:spcAft>
              <a:buFont typeface="Arial" panose="020B0604020202020204" pitchFamily="34" charset="0"/>
              <a:buNone/>
            </a:pPr>
            <a:r>
              <a:rPr lang="zh-CN" altLang="en-US" sz="1200" dirty="0">
                <a:solidFill>
                  <a:schemeClr val="bg1"/>
                </a:solidFill>
                <a:latin typeface="微软雅黑" panose="020B0503020204020204" pitchFamily="34" charset="-122"/>
                <a:ea typeface="微软雅黑" panose="020B0503020204020204" pitchFamily="34" charset="-122"/>
                <a:sym typeface="+mn-ea"/>
              </a:rPr>
              <a:t>生成器与判别器互相博弈；生成数据以</a:t>
            </a:r>
            <a:r>
              <a:rPr lang="en-US" altLang="zh-CN" sz="1200" dirty="0">
                <a:solidFill>
                  <a:schemeClr val="bg1"/>
                </a:solidFill>
                <a:latin typeface="微软雅黑" panose="020B0503020204020204" pitchFamily="34" charset="-122"/>
                <a:ea typeface="微软雅黑" panose="020B0503020204020204" pitchFamily="34" charset="-122"/>
                <a:sym typeface="+mn-ea"/>
              </a:rPr>
              <a:t>JS</a:t>
            </a:r>
            <a:r>
              <a:rPr lang="zh-CN" altLang="en-US" sz="1200" dirty="0">
                <a:solidFill>
                  <a:schemeClr val="bg1"/>
                </a:solidFill>
                <a:latin typeface="微软雅黑" panose="020B0503020204020204" pitchFamily="34" charset="-122"/>
                <a:ea typeface="微软雅黑" panose="020B0503020204020204" pitchFamily="34" charset="-122"/>
                <a:sym typeface="+mn-ea"/>
              </a:rPr>
              <a:t>散度作为内核调节</a:t>
            </a:r>
          </a:p>
        </p:txBody>
      </p:sp>
      <p:sp>
        <p:nvSpPr>
          <p:cNvPr id="52" name="文本框 51">
            <a:extLst>
              <a:ext uri="{FF2B5EF4-FFF2-40B4-BE49-F238E27FC236}">
                <a16:creationId xmlns:a16="http://schemas.microsoft.com/office/drawing/2014/main" id="{3C0CE332-DCFD-4BD6-B0D5-210436270375}"/>
              </a:ext>
            </a:extLst>
          </p:cNvPr>
          <p:cNvSpPr txBox="1"/>
          <p:nvPr/>
        </p:nvSpPr>
        <p:spPr>
          <a:xfrm>
            <a:off x="3991356" y="5678365"/>
            <a:ext cx="2298065" cy="697080"/>
          </a:xfrm>
          <a:prstGeom prst="rect">
            <a:avLst/>
          </a:prstGeom>
          <a:solidFill>
            <a:srgbClr val="1B3F85"/>
          </a:solidFill>
        </p:spPr>
        <p:txBody>
          <a:bodyPr wrap="square" rtlCol="0" anchor="t">
            <a:noAutofit/>
          </a:bodyPr>
          <a:lstStyle/>
          <a:p>
            <a:pPr indent="0">
              <a:lnSpc>
                <a:spcPct val="110000"/>
              </a:lnSpc>
              <a:spcAft>
                <a:spcPts val="300"/>
              </a:spcAft>
              <a:buFont typeface="Arial" panose="020B0604020202020204" pitchFamily="34" charset="0"/>
              <a:buNone/>
            </a:pPr>
            <a:r>
              <a:rPr lang="en-US" sz="1200" dirty="0">
                <a:solidFill>
                  <a:schemeClr val="bg1"/>
                </a:solidFill>
                <a:latin typeface="微软雅黑" panose="020B0503020204020204" pitchFamily="34" charset="-122"/>
                <a:ea typeface="微软雅黑" panose="020B0503020204020204" pitchFamily="34" charset="-122"/>
                <a:sym typeface="+mn-ea"/>
              </a:rPr>
              <a:t>CTGAN</a:t>
            </a:r>
            <a:r>
              <a:rPr lang="zh-CN" altLang="en-US" sz="1200" dirty="0">
                <a:solidFill>
                  <a:schemeClr val="bg1"/>
                </a:solidFill>
                <a:latin typeface="微软雅黑" panose="020B0503020204020204" pitchFamily="34" charset="-122"/>
                <a:ea typeface="微软雅黑" panose="020B0503020204020204" pitchFamily="34" charset="-122"/>
                <a:sym typeface="+mn-ea"/>
              </a:rPr>
              <a:t>生成器和判别器训练中损失曲线在</a:t>
            </a:r>
            <a:r>
              <a:rPr lang="en-US" altLang="zh-CN" sz="1200" dirty="0">
                <a:solidFill>
                  <a:schemeClr val="bg1"/>
                </a:solidFill>
                <a:latin typeface="微软雅黑" panose="020B0503020204020204" pitchFamily="34" charset="-122"/>
                <a:ea typeface="微软雅黑" panose="020B0503020204020204" pitchFamily="34" charset="-122"/>
                <a:sym typeface="+mn-ea"/>
              </a:rPr>
              <a:t>0</a:t>
            </a:r>
            <a:r>
              <a:rPr lang="zh-CN" altLang="en-US" sz="1200" dirty="0">
                <a:solidFill>
                  <a:schemeClr val="bg1"/>
                </a:solidFill>
                <a:latin typeface="微软雅黑" panose="020B0503020204020204" pitchFamily="34" charset="-122"/>
                <a:ea typeface="微软雅黑" panose="020B0503020204020204" pitchFamily="34" charset="-122"/>
                <a:sym typeface="+mn-ea"/>
              </a:rPr>
              <a:t>值附近波动，效果达到最优。</a:t>
            </a:r>
          </a:p>
        </p:txBody>
      </p:sp>
      <p:sp>
        <p:nvSpPr>
          <p:cNvPr id="53" name="下箭头 26">
            <a:extLst>
              <a:ext uri="{FF2B5EF4-FFF2-40B4-BE49-F238E27FC236}">
                <a16:creationId xmlns:a16="http://schemas.microsoft.com/office/drawing/2014/main" id="{896805A8-B620-4D38-9445-0D366B7D49BD}"/>
              </a:ext>
            </a:extLst>
          </p:cNvPr>
          <p:cNvSpPr/>
          <p:nvPr/>
        </p:nvSpPr>
        <p:spPr>
          <a:xfrm rot="16200000">
            <a:off x="3315249" y="4053701"/>
            <a:ext cx="1034398" cy="187549"/>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BF99701A-942B-4A6E-9B6D-DD30AA04AD75}"/>
              </a:ext>
            </a:extLst>
          </p:cNvPr>
          <p:cNvSpPr txBox="1"/>
          <p:nvPr/>
        </p:nvSpPr>
        <p:spPr>
          <a:xfrm>
            <a:off x="4435347" y="1791063"/>
            <a:ext cx="2433955" cy="337185"/>
          </a:xfrm>
          <a:prstGeom prst="rect">
            <a:avLst/>
          </a:prstGeom>
          <a:noFill/>
        </p:spPr>
        <p:txBody>
          <a:bodyPr wrap="square" rtlCol="0" anchor="t">
            <a:spAutoFit/>
          </a:bodyPr>
          <a:lstStyle/>
          <a:p>
            <a:r>
              <a:rPr lang="en-US" altLang="zh-CN" sz="1600" b="1" dirty="0">
                <a:latin typeface="微软雅黑" panose="020B0503020204020204" pitchFamily="34" charset="-122"/>
                <a:ea typeface="微软雅黑" panose="020B0503020204020204" pitchFamily="34" charset="-122"/>
                <a:sym typeface="+mn-ea"/>
              </a:rPr>
              <a:t>CTGAN</a:t>
            </a:r>
            <a:r>
              <a:rPr lang="zh-CN" altLang="en-US" sz="1600" b="1" dirty="0">
                <a:latin typeface="微软雅黑" panose="020B0503020204020204" pitchFamily="34" charset="-122"/>
                <a:ea typeface="微软雅黑" panose="020B0503020204020204" pitchFamily="34" charset="-122"/>
                <a:sym typeface="+mn-ea"/>
              </a:rPr>
              <a:t>模型</a:t>
            </a:r>
          </a:p>
        </p:txBody>
      </p:sp>
      <p:sp>
        <p:nvSpPr>
          <p:cNvPr id="55" name="文本框 54">
            <a:extLst>
              <a:ext uri="{FF2B5EF4-FFF2-40B4-BE49-F238E27FC236}">
                <a16:creationId xmlns:a16="http://schemas.microsoft.com/office/drawing/2014/main" id="{CB2C01FC-21DB-4256-AAB4-1F7135CA25CE}"/>
              </a:ext>
            </a:extLst>
          </p:cNvPr>
          <p:cNvSpPr txBox="1"/>
          <p:nvPr/>
        </p:nvSpPr>
        <p:spPr>
          <a:xfrm>
            <a:off x="8327010" y="1782759"/>
            <a:ext cx="3031490" cy="337185"/>
          </a:xfrm>
          <a:prstGeom prst="rect">
            <a:avLst/>
          </a:prstGeom>
          <a:noFill/>
        </p:spPr>
        <p:txBody>
          <a:bodyPr wrap="square" rtlCol="0" anchor="t">
            <a:spAutoFit/>
          </a:bodyPr>
          <a:lstStyle/>
          <a:p>
            <a:r>
              <a:rPr lang="zh-CN" altLang="en-US" sz="1600" b="1" dirty="0">
                <a:latin typeface="微软雅黑" panose="020B0503020204020204" pitchFamily="34" charset="-122"/>
                <a:ea typeface="微软雅黑" panose="020B0503020204020204" pitchFamily="34" charset="-122"/>
                <a:sym typeface="+mn-ea"/>
              </a:rPr>
              <a:t>研究结果分析</a:t>
            </a:r>
          </a:p>
        </p:txBody>
      </p:sp>
      <p:sp>
        <p:nvSpPr>
          <p:cNvPr id="46" name="文本框 45">
            <a:extLst>
              <a:ext uri="{FF2B5EF4-FFF2-40B4-BE49-F238E27FC236}">
                <a16:creationId xmlns:a16="http://schemas.microsoft.com/office/drawing/2014/main" id="{F3B93077-949F-44E4-80DC-5E848477E8EA}"/>
              </a:ext>
            </a:extLst>
          </p:cNvPr>
          <p:cNvSpPr txBox="1"/>
          <p:nvPr/>
        </p:nvSpPr>
        <p:spPr>
          <a:xfrm>
            <a:off x="7178926" y="5541074"/>
            <a:ext cx="1957008"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Times New Roman" panose="02020603050405020304"/>
                <a:ea typeface="宋体" panose="02010600030101010101" pitchFamily="2" charset="-122"/>
              </a:rPr>
              <a:t>生成数据与原始数据分布相似</a:t>
            </a:r>
          </a:p>
        </p:txBody>
      </p:sp>
      <p:grpSp>
        <p:nvGrpSpPr>
          <p:cNvPr id="4" name="组合 3">
            <a:extLst>
              <a:ext uri="{FF2B5EF4-FFF2-40B4-BE49-F238E27FC236}">
                <a16:creationId xmlns:a16="http://schemas.microsoft.com/office/drawing/2014/main" id="{15AF6898-110B-4D38-9931-92E55406ABFE}"/>
              </a:ext>
            </a:extLst>
          </p:cNvPr>
          <p:cNvGrpSpPr/>
          <p:nvPr/>
        </p:nvGrpSpPr>
        <p:grpSpPr>
          <a:xfrm>
            <a:off x="10009670" y="2146809"/>
            <a:ext cx="1702954" cy="1240813"/>
            <a:chOff x="9755638" y="2143554"/>
            <a:chExt cx="2032040" cy="1524031"/>
          </a:xfrm>
        </p:grpSpPr>
        <p:pic>
          <p:nvPicPr>
            <p:cNvPr id="9" name="图片 8" descr="图表, 折线图&#10;&#10;描述已自动生成">
              <a:extLst>
                <a:ext uri="{FF2B5EF4-FFF2-40B4-BE49-F238E27FC236}">
                  <a16:creationId xmlns:a16="http://schemas.microsoft.com/office/drawing/2014/main" id="{FBA4A57B-2B88-4F0B-911A-E3A87E507C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5638" y="2143554"/>
              <a:ext cx="2032040" cy="1524031"/>
            </a:xfrm>
            <a:prstGeom prst="rect">
              <a:avLst/>
            </a:prstGeom>
          </p:spPr>
        </p:pic>
        <p:sp>
          <p:nvSpPr>
            <p:cNvPr id="2" name="矩形 1">
              <a:extLst>
                <a:ext uri="{FF2B5EF4-FFF2-40B4-BE49-F238E27FC236}">
                  <a16:creationId xmlns:a16="http://schemas.microsoft.com/office/drawing/2014/main" id="{7FB4A6D8-E8C1-4579-BBB2-16B36856A369}"/>
                </a:ext>
              </a:extLst>
            </p:cNvPr>
            <p:cNvSpPr/>
            <p:nvPr/>
          </p:nvSpPr>
          <p:spPr>
            <a:xfrm>
              <a:off x="10485266" y="3286326"/>
              <a:ext cx="1070037"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 name="图片 6">
            <a:extLst>
              <a:ext uri="{FF2B5EF4-FFF2-40B4-BE49-F238E27FC236}">
                <a16:creationId xmlns:a16="http://schemas.microsoft.com/office/drawing/2014/main" id="{0AA7B947-A698-471E-8881-3F0ACB7BF7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90405" y="2217461"/>
            <a:ext cx="3299940" cy="3299940"/>
          </a:xfrm>
          <a:prstGeom prst="rect">
            <a:avLst/>
          </a:prstGeom>
        </p:spPr>
      </p:pic>
      <p:pic>
        <p:nvPicPr>
          <p:cNvPr id="10" name="图片 9" descr="图表&#10;&#10;描述已自动生成">
            <a:extLst>
              <a:ext uri="{FF2B5EF4-FFF2-40B4-BE49-F238E27FC236}">
                <a16:creationId xmlns:a16="http://schemas.microsoft.com/office/drawing/2014/main" id="{18DBDFE0-8723-49B3-A04A-4049C5FD4AD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99879" y="3442143"/>
            <a:ext cx="1695444" cy="2021059"/>
          </a:xfrm>
          <a:prstGeom prst="rect">
            <a:avLst/>
          </a:prstGeom>
        </p:spPr>
      </p:pic>
      <p:grpSp>
        <p:nvGrpSpPr>
          <p:cNvPr id="11" name="组合 10">
            <a:extLst>
              <a:ext uri="{FF2B5EF4-FFF2-40B4-BE49-F238E27FC236}">
                <a16:creationId xmlns:a16="http://schemas.microsoft.com/office/drawing/2014/main" id="{606F67CB-24F6-45EE-9C39-AF61DD0F8952}"/>
              </a:ext>
            </a:extLst>
          </p:cNvPr>
          <p:cNvGrpSpPr/>
          <p:nvPr/>
        </p:nvGrpSpPr>
        <p:grpSpPr>
          <a:xfrm>
            <a:off x="3971293" y="3987942"/>
            <a:ext cx="2234513" cy="1523065"/>
            <a:chOff x="3977309" y="4038767"/>
            <a:chExt cx="2234513" cy="1523065"/>
          </a:xfrm>
        </p:grpSpPr>
        <p:pic>
          <p:nvPicPr>
            <p:cNvPr id="3" name="图片 2" descr="图表, 折线图, 直方图&#10;&#10;描述已自动生成">
              <a:extLst>
                <a:ext uri="{FF2B5EF4-FFF2-40B4-BE49-F238E27FC236}">
                  <a16:creationId xmlns:a16="http://schemas.microsoft.com/office/drawing/2014/main" id="{29E7F7E5-EBD1-4C6F-A645-AE7871721B29}"/>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82" t="399" r="22829" b="-399"/>
            <a:stretch/>
          </p:blipFill>
          <p:spPr>
            <a:xfrm>
              <a:off x="3977309" y="4038767"/>
              <a:ext cx="2221813" cy="1523065"/>
            </a:xfrm>
            <a:prstGeom prst="rect">
              <a:avLst/>
            </a:prstGeom>
          </p:spPr>
        </p:pic>
        <p:pic>
          <p:nvPicPr>
            <p:cNvPr id="37" name="图片 36" descr="图表, 折线图, 直方图&#10;&#10;描述已自动生成">
              <a:extLst>
                <a:ext uri="{FF2B5EF4-FFF2-40B4-BE49-F238E27FC236}">
                  <a16:creationId xmlns:a16="http://schemas.microsoft.com/office/drawing/2014/main" id="{F0FBBAFB-F100-4216-A199-B03F38B3D18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76451" t="9600" r="-1658" b="73251"/>
            <a:stretch/>
          </p:blipFill>
          <p:spPr>
            <a:xfrm>
              <a:off x="5491534" y="4198301"/>
              <a:ext cx="720288" cy="261185"/>
            </a:xfrm>
            <a:prstGeom prst="rect">
              <a:avLst/>
            </a:prstGeom>
          </p:spPr>
        </p:pic>
      </p:grpSp>
      <p:pic>
        <p:nvPicPr>
          <p:cNvPr id="38" name="图片 37">
            <a:extLst>
              <a:ext uri="{FF2B5EF4-FFF2-40B4-BE49-F238E27FC236}">
                <a16:creationId xmlns:a16="http://schemas.microsoft.com/office/drawing/2014/main" id="{25705B40-9334-48F3-98AD-14DDAAAD17AA}"/>
              </a:ext>
            </a:extLst>
          </p:cNvPr>
          <p:cNvPicPr>
            <a:picLocks noChangeAspect="1"/>
          </p:cNvPicPr>
          <p:nvPr/>
        </p:nvPicPr>
        <p:blipFill>
          <a:blip r:embed="rId7"/>
          <a:srcRect t="16106"/>
          <a:stretch>
            <a:fillRect/>
          </a:stretch>
        </p:blipFill>
        <p:spPr>
          <a:xfrm>
            <a:off x="4039369" y="2119943"/>
            <a:ext cx="2207535" cy="1244310"/>
          </a:xfrm>
          <a:prstGeom prst="rect">
            <a:avLst/>
          </a:prstGeom>
        </p:spPr>
      </p:pic>
      <p:sp>
        <p:nvSpPr>
          <p:cNvPr id="39" name="文本框 4">
            <a:extLst>
              <a:ext uri="{FF2B5EF4-FFF2-40B4-BE49-F238E27FC236}">
                <a16:creationId xmlns:a16="http://schemas.microsoft.com/office/drawing/2014/main" id="{9D6C159D-0E09-4AEF-9CD0-391A1A9D60AF}"/>
              </a:ext>
            </a:extLst>
          </p:cNvPr>
          <p:cNvSpPr txBox="1"/>
          <p:nvPr/>
        </p:nvSpPr>
        <p:spPr>
          <a:xfrm>
            <a:off x="407368" y="188641"/>
            <a:ext cx="7767863"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研究进度及成果</a:t>
            </a:r>
            <a:endParaRPr lang="zh-CN" altLang="en-US" sz="2400"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87739401"/>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A074C22D-F164-40FC-8DEE-CE3AF6DC05B1}"/>
              </a:ext>
            </a:extLst>
          </p:cNvPr>
          <p:cNvSpPr/>
          <p:nvPr/>
        </p:nvSpPr>
        <p:spPr>
          <a:xfrm>
            <a:off x="815742" y="2105514"/>
            <a:ext cx="2849357" cy="1176337"/>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1DC17EAF-FA78-4681-8DC0-360DD344C0E7}"/>
              </a:ext>
            </a:extLst>
          </p:cNvPr>
          <p:cNvSpPr/>
          <p:nvPr/>
        </p:nvSpPr>
        <p:spPr>
          <a:xfrm>
            <a:off x="828168" y="3743476"/>
            <a:ext cx="2836932" cy="1170297"/>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EFC4257B-D459-4B89-A36E-62B14FC13847}"/>
              </a:ext>
            </a:extLst>
          </p:cNvPr>
          <p:cNvSpPr/>
          <p:nvPr/>
        </p:nvSpPr>
        <p:spPr>
          <a:xfrm>
            <a:off x="832761" y="5251737"/>
            <a:ext cx="2852989" cy="1057583"/>
          </a:xfrm>
          <a:prstGeom prst="rect">
            <a:avLst/>
          </a:prstGeom>
          <a:noFill/>
          <a:ln>
            <a:solidFill>
              <a:schemeClr val="bg1">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3CD9014D-381B-41E8-9AEC-51C2070BB547}"/>
              </a:ext>
            </a:extLst>
          </p:cNvPr>
          <p:cNvSpPr/>
          <p:nvPr/>
        </p:nvSpPr>
        <p:spPr>
          <a:xfrm>
            <a:off x="331792" y="1937275"/>
            <a:ext cx="3411706" cy="4451344"/>
          </a:xfrm>
          <a:prstGeom prst="rect">
            <a:avLst/>
          </a:prstGeom>
          <a:noFill/>
          <a:ln w="19050">
            <a:solidFill>
              <a:srgbClr val="1B3F8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DFD09AE6-32CB-4C96-AA14-25BE9191D4C6}"/>
              </a:ext>
            </a:extLst>
          </p:cNvPr>
          <p:cNvSpPr/>
          <p:nvPr/>
        </p:nvSpPr>
        <p:spPr>
          <a:xfrm>
            <a:off x="331792" y="1937275"/>
            <a:ext cx="403009" cy="4451344"/>
          </a:xfrm>
          <a:prstGeom prst="rect">
            <a:avLst/>
          </a:prstGeom>
          <a:solidFill>
            <a:srgbClr val="1B3F85"/>
          </a:solidFill>
          <a:ln>
            <a:solidFill>
              <a:srgbClr val="1B3F85"/>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1" name="文本框 20">
            <a:extLst>
              <a:ext uri="{FF2B5EF4-FFF2-40B4-BE49-F238E27FC236}">
                <a16:creationId xmlns:a16="http://schemas.microsoft.com/office/drawing/2014/main" id="{C9DC503A-6C05-42DF-B237-9B687C6E392A}"/>
              </a:ext>
            </a:extLst>
          </p:cNvPr>
          <p:cNvSpPr txBox="1"/>
          <p:nvPr/>
        </p:nvSpPr>
        <p:spPr>
          <a:xfrm>
            <a:off x="294769" y="2827499"/>
            <a:ext cx="477054" cy="2400657"/>
          </a:xfrm>
          <a:prstGeom prst="rect">
            <a:avLst/>
          </a:prstGeom>
          <a:noFill/>
        </p:spPr>
        <p:txBody>
          <a:bodyPr vert="eaVert" wrap="square" rtlCol="0">
            <a:spAutoFit/>
          </a:bodyPr>
          <a:lstStyle/>
          <a:p>
            <a:pPr algn="ctr"/>
            <a:r>
              <a:rPr lang="zh-CN" altLang="en-US" sz="1900" b="1" spc="100" dirty="0">
                <a:solidFill>
                  <a:schemeClr val="bg1"/>
                </a:solidFill>
              </a:rPr>
              <a:t>解决问题</a:t>
            </a:r>
          </a:p>
        </p:txBody>
      </p:sp>
      <p:sp>
        <p:nvSpPr>
          <p:cNvPr id="23" name="矩形 22">
            <a:extLst>
              <a:ext uri="{FF2B5EF4-FFF2-40B4-BE49-F238E27FC236}">
                <a16:creationId xmlns:a16="http://schemas.microsoft.com/office/drawing/2014/main" id="{2A361E5D-0716-4160-A79F-CB4DC84A313D}"/>
              </a:ext>
            </a:extLst>
          </p:cNvPr>
          <p:cNvSpPr/>
          <p:nvPr/>
        </p:nvSpPr>
        <p:spPr bwMode="auto">
          <a:xfrm>
            <a:off x="809407" y="2060848"/>
            <a:ext cx="2862025" cy="365472"/>
          </a:xfrm>
          <a:prstGeom prst="rect">
            <a:avLst/>
          </a:prstGeom>
          <a:solidFill>
            <a:srgbClr val="C6D9F1"/>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kern="100" dirty="0">
                <a:solidFill>
                  <a:prstClr val="black"/>
                </a:solidFill>
                <a:latin typeface="微软雅黑" panose="020B0503020204020204" pitchFamily="34" charset="-122"/>
                <a:ea typeface="微软雅黑" panose="020B0503020204020204" pitchFamily="34" charset="-122"/>
              </a:rPr>
              <a:t>事故</a:t>
            </a:r>
            <a:r>
              <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数据源局限</a:t>
            </a:r>
          </a:p>
        </p:txBody>
      </p:sp>
      <p:sp>
        <p:nvSpPr>
          <p:cNvPr id="24" name="文本框 23">
            <a:extLst>
              <a:ext uri="{FF2B5EF4-FFF2-40B4-BE49-F238E27FC236}">
                <a16:creationId xmlns:a16="http://schemas.microsoft.com/office/drawing/2014/main" id="{09E1814C-FA4C-4F2B-BB03-AA3FAA937404}"/>
              </a:ext>
            </a:extLst>
          </p:cNvPr>
          <p:cNvSpPr txBox="1"/>
          <p:nvPr/>
        </p:nvSpPr>
        <p:spPr>
          <a:xfrm>
            <a:off x="770121" y="2492896"/>
            <a:ext cx="1425444" cy="846001"/>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事故特征数据</a:t>
            </a:r>
            <a:endPar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a:p>
            <a:pPr marR="0" lvl="0" defTabSz="457200" rtl="0" eaLnBrk="1" fontAlgn="auto" latinLnBrk="0" hangingPunct="1">
              <a:lnSpc>
                <a:spcPct val="120000"/>
              </a:lnSpc>
              <a:spcBef>
                <a:spcPts val="0"/>
              </a:spcBef>
              <a:spcAft>
                <a:spcPts val="0"/>
              </a:spcAft>
              <a:buClrTx/>
              <a:buSzTx/>
              <a:tabLst/>
              <a:defRPr/>
            </a:pPr>
            <a:r>
              <a:rPr lang="en-US" altLang="zh-CN" sz="1400" b="1" dirty="0">
                <a:latin typeface="微软雅黑" panose="020B0503020204020204" pitchFamily="34" charset="-122"/>
                <a:ea typeface="微软雅黑" panose="020B0503020204020204" pitchFamily="34" charset="-122"/>
                <a:cs typeface="仿宋_GB2312"/>
              </a:rPr>
              <a:t>·</a:t>
            </a:r>
            <a:r>
              <a:rPr lang="en-US" altLang="zh-CN" sz="1400" dirty="0">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气候数据</a:t>
            </a:r>
            <a:endParaRPr lang="en-US" altLang="zh-CN" sz="1400" dirty="0">
              <a:latin typeface="微软雅黑" panose="020B0503020204020204" pitchFamily="34" charset="-122"/>
              <a:ea typeface="微软雅黑" panose="020B0503020204020204" pitchFamily="34" charset="-122"/>
              <a:cs typeface="仿宋_GB2312"/>
            </a:endParaRPr>
          </a:p>
          <a:p>
            <a:pPr marR="0" lvl="0" defTabSz="457200" rtl="0" eaLnBrk="1" fontAlgn="auto" latinLnBrk="0" hangingPunct="1">
              <a:lnSpc>
                <a:spcPct val="120000"/>
              </a:lnSpc>
              <a:spcBef>
                <a:spcPts val="0"/>
              </a:spcBef>
              <a:spcAft>
                <a:spcPts val="0"/>
              </a:spcAft>
              <a:buClrTx/>
              <a:buSzTx/>
              <a:tabLst/>
              <a:defRPr/>
            </a:pPr>
            <a:endParaRPr lang="en-US" altLang="zh-CN" sz="1400" dirty="0">
              <a:latin typeface="微软雅黑" panose="020B0503020204020204" pitchFamily="34" charset="-122"/>
              <a:ea typeface="微软雅黑" panose="020B0503020204020204" pitchFamily="34" charset="-122"/>
              <a:cs typeface="仿宋_GB2312"/>
            </a:endParaRPr>
          </a:p>
        </p:txBody>
      </p:sp>
      <p:sp>
        <p:nvSpPr>
          <p:cNvPr id="25" name="矩形 24">
            <a:extLst>
              <a:ext uri="{FF2B5EF4-FFF2-40B4-BE49-F238E27FC236}">
                <a16:creationId xmlns:a16="http://schemas.microsoft.com/office/drawing/2014/main" id="{D004213E-C2F2-4E32-AB35-53F9375E6D10}"/>
              </a:ext>
            </a:extLst>
          </p:cNvPr>
          <p:cNvSpPr/>
          <p:nvPr/>
        </p:nvSpPr>
        <p:spPr bwMode="auto">
          <a:xfrm>
            <a:off x="823725" y="3426497"/>
            <a:ext cx="2862025" cy="365472"/>
          </a:xfrm>
          <a:prstGeom prst="rect">
            <a:avLst/>
          </a:prstGeom>
          <a:solidFill>
            <a:srgbClr val="FFF1D5"/>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kern="100" dirty="0">
                <a:solidFill>
                  <a:prstClr val="black"/>
                </a:solidFill>
                <a:latin typeface="微软雅黑" panose="020B0503020204020204" pitchFamily="34" charset="-122"/>
                <a:ea typeface="微软雅黑" panose="020B0503020204020204" pitchFamily="34" charset="-122"/>
              </a:rPr>
              <a:t>货车变量局限</a:t>
            </a:r>
            <a:endPar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6" name="矩形 25">
            <a:extLst>
              <a:ext uri="{FF2B5EF4-FFF2-40B4-BE49-F238E27FC236}">
                <a16:creationId xmlns:a16="http://schemas.microsoft.com/office/drawing/2014/main" id="{940BA18A-ADA4-406B-8103-6CD37B4FB011}"/>
              </a:ext>
            </a:extLst>
          </p:cNvPr>
          <p:cNvSpPr/>
          <p:nvPr/>
        </p:nvSpPr>
        <p:spPr bwMode="auto">
          <a:xfrm>
            <a:off x="823725" y="5078863"/>
            <a:ext cx="2862025" cy="365472"/>
          </a:xfrm>
          <a:prstGeom prst="rect">
            <a:avLst/>
          </a:prstGeom>
          <a:solidFill>
            <a:srgbClr val="EBF1DE"/>
          </a:solidFill>
          <a:ln w="9525" cap="flat" cmpd="sng" algn="ctr">
            <a:solidFill>
              <a:srgbClr val="5B5BFF"/>
            </a:solidFill>
            <a:prstDash val="solid"/>
          </a:ln>
          <a:effectLst>
            <a:outerShdw blurRad="40000" dist="23000" dir="5400000" rotWithShape="0">
              <a:srgbClr val="000000">
                <a:alpha val="35000"/>
              </a:srgbClr>
            </a:outerShdw>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kern="100" dirty="0">
                <a:solidFill>
                  <a:prstClr val="black"/>
                </a:solidFill>
                <a:latin typeface="微软雅黑" panose="020B0503020204020204" pitchFamily="34" charset="-122"/>
                <a:ea typeface="微软雅黑" panose="020B0503020204020204" pitchFamily="34" charset="-122"/>
              </a:rPr>
              <a:t>机器学习定量解释局限</a:t>
            </a:r>
            <a:endParaRPr kumimoji="0" lang="zh-CN" altLang="en-US" sz="16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C6368033-9625-4523-A8B7-74C02DC790D3}"/>
              </a:ext>
            </a:extLst>
          </p:cNvPr>
          <p:cNvSpPr txBox="1"/>
          <p:nvPr/>
        </p:nvSpPr>
        <p:spPr>
          <a:xfrm>
            <a:off x="767408" y="3798495"/>
            <a:ext cx="2987714" cy="1104533"/>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kumimoji="0" lang="zh-CN" altLang="en-US"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目前较少研究提出电动燃油货车混行的事故致因分析与风险场景识别；</a:t>
            </a:r>
            <a:endPar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较少提出针对不同事故严重程度的分级防控策略</a:t>
            </a:r>
          </a:p>
        </p:txBody>
      </p:sp>
      <p:sp>
        <p:nvSpPr>
          <p:cNvPr id="28" name="文本框 27">
            <a:extLst>
              <a:ext uri="{FF2B5EF4-FFF2-40B4-BE49-F238E27FC236}">
                <a16:creationId xmlns:a16="http://schemas.microsoft.com/office/drawing/2014/main" id="{ACAEE418-D22A-457B-9F9B-B251AC763651}"/>
              </a:ext>
            </a:extLst>
          </p:cNvPr>
          <p:cNvSpPr txBox="1"/>
          <p:nvPr/>
        </p:nvSpPr>
        <p:spPr>
          <a:xfrm>
            <a:off x="816967" y="5453827"/>
            <a:ext cx="2775872" cy="846001"/>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SHAP</a:t>
            </a:r>
            <a:r>
              <a:rPr kumimoji="0" lang="zh-CN" altLang="en-US"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值定量化变量贡献作用</a:t>
            </a:r>
            <a:endPar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lang="zh-CN" altLang="en-US" sz="1400" dirty="0">
                <a:latin typeface="微软雅黑" panose="020B0503020204020204" pitchFamily="34" charset="-122"/>
                <a:ea typeface="微软雅黑" panose="020B0503020204020204" pitchFamily="34" charset="-122"/>
                <a:cs typeface="仿宋_GB2312"/>
              </a:rPr>
              <a:t>调节性比较高，不同类事故；不同类变量效果都能定量化描述</a:t>
            </a:r>
            <a:endParaRPr kumimoji="0" lang="zh-CN" altLang="en-US"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p:txBody>
      </p:sp>
      <p:sp>
        <p:nvSpPr>
          <p:cNvPr id="29" name="文本框 28">
            <a:extLst>
              <a:ext uri="{FF2B5EF4-FFF2-40B4-BE49-F238E27FC236}">
                <a16:creationId xmlns:a16="http://schemas.microsoft.com/office/drawing/2014/main" id="{624361EC-B1AF-4B81-A4AA-FDDE57DE24BA}"/>
              </a:ext>
            </a:extLst>
          </p:cNvPr>
          <p:cNvSpPr txBox="1"/>
          <p:nvPr/>
        </p:nvSpPr>
        <p:spPr>
          <a:xfrm>
            <a:off x="2288304" y="2527602"/>
            <a:ext cx="1419975" cy="587469"/>
          </a:xfrm>
          <a:prstGeom prst="rect">
            <a:avLst/>
          </a:prstGeom>
          <a:noFill/>
        </p:spPr>
        <p:txBody>
          <a:bodyPr wrap="square">
            <a:spAutoFit/>
          </a:bodyPr>
          <a:lstStyle/>
          <a:p>
            <a:pPr marR="0" lvl="0" defTabSz="457200" rtl="0" eaLnBrk="1" fontAlgn="auto" latinLnBrk="0" hangingPunct="1">
              <a:lnSpc>
                <a:spcPct val="120000"/>
              </a:lnSpc>
              <a:spcBef>
                <a:spcPts val="0"/>
              </a:spcBef>
              <a:spcAft>
                <a:spcPts val="0"/>
              </a:spcAft>
              <a:buClrTx/>
              <a:buSzTx/>
              <a:tabLst/>
              <a:defRPr/>
            </a:pP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a:t>
            </a:r>
            <a:r>
              <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 </a:t>
            </a:r>
            <a:r>
              <a:rPr kumimoji="0" lang="zh-CN" altLang="en-US"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rPr>
              <a:t>道路信息数据</a:t>
            </a:r>
            <a:endParaRPr kumimoji="0" lang="en-US" altLang="zh-CN" sz="1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仿宋_GB2312"/>
            </a:endParaRPr>
          </a:p>
          <a:p>
            <a:pPr marR="0" lvl="0" defTabSz="457200" rtl="0" eaLnBrk="1" fontAlgn="auto" latinLnBrk="0" hangingPunct="1">
              <a:lnSpc>
                <a:spcPct val="120000"/>
              </a:lnSpc>
              <a:spcBef>
                <a:spcPts val="0"/>
              </a:spcBef>
              <a:spcAft>
                <a:spcPts val="0"/>
              </a:spcAft>
              <a:buClrTx/>
              <a:buSzTx/>
              <a:tabLst/>
              <a:defRPr/>
            </a:pPr>
            <a:r>
              <a:rPr lang="en-US" altLang="zh-CN" sz="1400" b="1" dirty="0">
                <a:latin typeface="微软雅黑" panose="020B0503020204020204" pitchFamily="34" charset="-122"/>
                <a:ea typeface="微软雅黑" panose="020B0503020204020204" pitchFamily="34" charset="-122"/>
                <a:cs typeface="仿宋_GB2312"/>
              </a:rPr>
              <a:t>·</a:t>
            </a:r>
            <a:r>
              <a:rPr lang="zh-CN" altLang="en-US" sz="1400" dirty="0">
                <a:latin typeface="微软雅黑" panose="020B0503020204020204" pitchFamily="34" charset="-122"/>
                <a:ea typeface="微软雅黑" panose="020B0503020204020204" pitchFamily="34" charset="-122"/>
                <a:cs typeface="仿宋_GB2312"/>
              </a:rPr>
              <a:t> 街道路网数据</a:t>
            </a:r>
            <a:endParaRPr lang="en-US" altLang="zh-CN" sz="1400" dirty="0">
              <a:latin typeface="微软雅黑" panose="020B0503020204020204" pitchFamily="34" charset="-122"/>
              <a:ea typeface="微软雅黑" panose="020B0503020204020204" pitchFamily="34" charset="-122"/>
              <a:cs typeface="仿宋_GB2312"/>
            </a:endParaRPr>
          </a:p>
        </p:txBody>
      </p:sp>
      <p:sp>
        <p:nvSpPr>
          <p:cNvPr id="30" name="矩形 29">
            <a:extLst>
              <a:ext uri="{FF2B5EF4-FFF2-40B4-BE49-F238E27FC236}">
                <a16:creationId xmlns:a16="http://schemas.microsoft.com/office/drawing/2014/main" id="{DB4D1A0B-6DAC-4C00-9AD8-C3DF755C137A}"/>
              </a:ext>
            </a:extLst>
          </p:cNvPr>
          <p:cNvSpPr/>
          <p:nvPr/>
        </p:nvSpPr>
        <p:spPr>
          <a:xfrm>
            <a:off x="331793" y="1052736"/>
            <a:ext cx="11524848" cy="689171"/>
          </a:xfrm>
          <a:prstGeom prst="rect">
            <a:avLst/>
          </a:prstGeom>
          <a:solidFill>
            <a:srgbClr val="FFFBF3"/>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2000" b="1" dirty="0">
                <a:solidFill>
                  <a:schemeClr val="tx1"/>
                </a:solidFill>
                <a:latin typeface="微软雅黑" panose="020B0503020204020204" pitchFamily="34" charset="-122"/>
                <a:ea typeface="微软雅黑" panose="020B0503020204020204" pitchFamily="34" charset="-122"/>
              </a:rPr>
              <a:t>提出基于可解释</a:t>
            </a:r>
            <a:r>
              <a:rPr lang="en-US" altLang="zh-CN" sz="2000" b="1" dirty="0" err="1">
                <a:solidFill>
                  <a:schemeClr val="tx1"/>
                </a:solidFill>
                <a:latin typeface="微软雅黑" panose="020B0503020204020204" pitchFamily="34" charset="-122"/>
                <a:ea typeface="微软雅黑" panose="020B0503020204020204" pitchFamily="34" charset="-122"/>
              </a:rPr>
              <a:t>LightGBM</a:t>
            </a:r>
            <a:r>
              <a:rPr lang="zh-CN" altLang="en-US" sz="2000" b="1" dirty="0">
                <a:solidFill>
                  <a:schemeClr val="tx1"/>
                </a:solidFill>
                <a:latin typeface="微软雅黑" panose="020B0503020204020204" pitchFamily="34" charset="-122"/>
                <a:ea typeface="微软雅黑" panose="020B0503020204020204" pitchFamily="34" charset="-122"/>
              </a:rPr>
              <a:t>的多类别货车事故特征与严重程度致因分级量化分析</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53" name="下箭头 26">
            <a:extLst>
              <a:ext uri="{FF2B5EF4-FFF2-40B4-BE49-F238E27FC236}">
                <a16:creationId xmlns:a16="http://schemas.microsoft.com/office/drawing/2014/main" id="{896805A8-B620-4D38-9445-0D366B7D49BD}"/>
              </a:ext>
            </a:extLst>
          </p:cNvPr>
          <p:cNvSpPr/>
          <p:nvPr/>
        </p:nvSpPr>
        <p:spPr>
          <a:xfrm rot="16200000">
            <a:off x="3363845" y="4071666"/>
            <a:ext cx="973455" cy="182561"/>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7282A35F-F685-4C99-B5DF-06DE55DAFEA0}"/>
              </a:ext>
            </a:extLst>
          </p:cNvPr>
          <p:cNvSpPr/>
          <p:nvPr/>
        </p:nvSpPr>
        <p:spPr>
          <a:xfrm>
            <a:off x="3954992" y="1947780"/>
            <a:ext cx="4493512" cy="4440839"/>
          </a:xfrm>
          <a:prstGeom prst="rect">
            <a:avLst/>
          </a:prstGeom>
          <a:noFill/>
          <a:ln w="19050">
            <a:solidFill>
              <a:srgbClr val="49659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57" name="圆角矩形 28">
            <a:extLst>
              <a:ext uri="{FF2B5EF4-FFF2-40B4-BE49-F238E27FC236}">
                <a16:creationId xmlns:a16="http://schemas.microsoft.com/office/drawing/2014/main" id="{0B49CB31-E63D-40D3-9093-A16851E539C0}"/>
              </a:ext>
            </a:extLst>
          </p:cNvPr>
          <p:cNvSpPr/>
          <p:nvPr/>
        </p:nvSpPr>
        <p:spPr>
          <a:xfrm>
            <a:off x="4113681" y="2105514"/>
            <a:ext cx="4229735" cy="580390"/>
          </a:xfrm>
          <a:prstGeom prst="roundRect">
            <a:avLst/>
          </a:prstGeom>
          <a:ln>
            <a:solidFill>
              <a:srgbClr val="49659D"/>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457200" rtl="0" eaLnBrk="1" fontAlgn="base"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1">
              <a:ln>
                <a:noFill/>
              </a:ln>
              <a:solidFill>
                <a:prstClr val="black"/>
              </a:solidFill>
              <a:effectLst/>
              <a:uLnTx/>
              <a:uFillTx/>
              <a:latin typeface="Calibri"/>
              <a:ea typeface="等线" panose="02010600030101010101" pitchFamily="2" charset="-122"/>
              <a:cs typeface="+mn-cs"/>
            </a:endParaRPr>
          </a:p>
        </p:txBody>
      </p:sp>
      <p:cxnSp>
        <p:nvCxnSpPr>
          <p:cNvPr id="59" name="直接箭头连接符 58">
            <a:extLst>
              <a:ext uri="{FF2B5EF4-FFF2-40B4-BE49-F238E27FC236}">
                <a16:creationId xmlns:a16="http://schemas.microsoft.com/office/drawing/2014/main" id="{982CF786-F843-46DF-9F8F-637B10D836D7}"/>
              </a:ext>
            </a:extLst>
          </p:cNvPr>
          <p:cNvCxnSpPr>
            <a:cxnSpLocks/>
          </p:cNvCxnSpPr>
          <p:nvPr/>
        </p:nvCxnSpPr>
        <p:spPr>
          <a:xfrm>
            <a:off x="6225026" y="2685587"/>
            <a:ext cx="0" cy="239357"/>
          </a:xfrm>
          <a:prstGeom prst="straightConnector1">
            <a:avLst/>
          </a:prstGeom>
          <a:ln w="31750">
            <a:solidFill>
              <a:srgbClr val="49659D"/>
            </a:solidFill>
            <a:tailEnd type="arrow" w="med" len="med"/>
          </a:ln>
        </p:spPr>
        <p:style>
          <a:lnRef idx="3">
            <a:schemeClr val="accent1"/>
          </a:lnRef>
          <a:fillRef idx="0">
            <a:srgbClr val="FFFFFF"/>
          </a:fillRef>
          <a:effectRef idx="0">
            <a:srgbClr val="FFFFFF"/>
          </a:effectRef>
          <a:fontRef idx="minor">
            <a:schemeClr val="tx1"/>
          </a:fontRef>
        </p:style>
      </p:cxnSp>
      <p:cxnSp>
        <p:nvCxnSpPr>
          <p:cNvPr id="60" name="肘形连接符 32">
            <a:extLst>
              <a:ext uri="{FF2B5EF4-FFF2-40B4-BE49-F238E27FC236}">
                <a16:creationId xmlns:a16="http://schemas.microsoft.com/office/drawing/2014/main" id="{0015F01B-3EC6-47AA-81F2-3DFEF1C46E4A}"/>
              </a:ext>
            </a:extLst>
          </p:cNvPr>
          <p:cNvCxnSpPr>
            <a:cxnSpLocks/>
            <a:stCxn id="61" idx="0"/>
            <a:endCxn id="63" idx="0"/>
          </p:cNvCxnSpPr>
          <p:nvPr/>
        </p:nvCxnSpPr>
        <p:spPr>
          <a:xfrm rot="5400000" flipH="1" flipV="1">
            <a:off x="6199854" y="1512597"/>
            <a:ext cx="3175" cy="3270718"/>
          </a:xfrm>
          <a:prstGeom prst="bentConnector3">
            <a:avLst>
              <a:gd name="adj1" fmla="val 6119591"/>
            </a:avLst>
          </a:prstGeom>
          <a:ln w="31750">
            <a:solidFill>
              <a:srgbClr val="49659D"/>
            </a:solidFill>
          </a:ln>
        </p:spPr>
        <p:style>
          <a:lnRef idx="3">
            <a:schemeClr val="accent1"/>
          </a:lnRef>
          <a:fillRef idx="0">
            <a:srgbClr val="FFFFFF"/>
          </a:fillRef>
          <a:effectRef idx="0">
            <a:srgbClr val="FFFFFF"/>
          </a:effectRef>
          <a:fontRef idx="minor">
            <a:schemeClr val="tx1"/>
          </a:fontRef>
        </p:style>
      </p:cxnSp>
      <p:sp>
        <p:nvSpPr>
          <p:cNvPr id="61" name="圆角矩形 33">
            <a:extLst>
              <a:ext uri="{FF2B5EF4-FFF2-40B4-BE49-F238E27FC236}">
                <a16:creationId xmlns:a16="http://schemas.microsoft.com/office/drawing/2014/main" id="{9773DE65-8852-49A6-94C2-348215B82568}"/>
              </a:ext>
            </a:extLst>
          </p:cNvPr>
          <p:cNvSpPr/>
          <p:nvPr/>
        </p:nvSpPr>
        <p:spPr>
          <a:xfrm>
            <a:off x="4107367" y="3149543"/>
            <a:ext cx="917430" cy="307778"/>
          </a:xfrm>
          <a:prstGeom prst="roundRect">
            <a:avLst/>
          </a:prstGeom>
          <a:ln>
            <a:solidFill>
              <a:srgbClr val="49659D"/>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457200" rtl="0" eaLnBrk="1" fontAlgn="base"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1">
              <a:ln>
                <a:noFill/>
              </a:ln>
              <a:solidFill>
                <a:prstClr val="black"/>
              </a:solidFill>
              <a:effectLst/>
              <a:uLnTx/>
              <a:uFillTx/>
              <a:latin typeface="Calibri"/>
              <a:ea typeface="等线" panose="02010600030101010101" pitchFamily="2" charset="-122"/>
              <a:cs typeface="+mn-cs"/>
            </a:endParaRPr>
          </a:p>
        </p:txBody>
      </p:sp>
      <p:sp>
        <p:nvSpPr>
          <p:cNvPr id="62" name="圆角矩形 35">
            <a:extLst>
              <a:ext uri="{FF2B5EF4-FFF2-40B4-BE49-F238E27FC236}">
                <a16:creationId xmlns:a16="http://schemas.microsoft.com/office/drawing/2014/main" id="{8335AE91-8C8B-45D2-8409-818878CFEE05}"/>
              </a:ext>
            </a:extLst>
          </p:cNvPr>
          <p:cNvSpPr/>
          <p:nvPr/>
        </p:nvSpPr>
        <p:spPr>
          <a:xfrm>
            <a:off x="5183798" y="3155090"/>
            <a:ext cx="983815" cy="296915"/>
          </a:xfrm>
          <a:prstGeom prst="roundRect">
            <a:avLst/>
          </a:prstGeom>
          <a:ln>
            <a:solidFill>
              <a:srgbClr val="49659D"/>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457200" rtl="0" eaLnBrk="1" fontAlgn="base"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1">
              <a:ln>
                <a:noFill/>
              </a:ln>
              <a:solidFill>
                <a:prstClr val="black"/>
              </a:solidFill>
              <a:effectLst/>
              <a:uLnTx/>
              <a:uFillTx/>
              <a:latin typeface="Calibri"/>
              <a:ea typeface="等线" panose="02010600030101010101" pitchFamily="2" charset="-122"/>
              <a:cs typeface="+mn-cs"/>
            </a:endParaRPr>
          </a:p>
        </p:txBody>
      </p:sp>
      <p:sp>
        <p:nvSpPr>
          <p:cNvPr id="63" name="圆角矩形 36">
            <a:extLst>
              <a:ext uri="{FF2B5EF4-FFF2-40B4-BE49-F238E27FC236}">
                <a16:creationId xmlns:a16="http://schemas.microsoft.com/office/drawing/2014/main" id="{09052330-6499-4D46-9EA2-74CC733CC3CC}"/>
              </a:ext>
            </a:extLst>
          </p:cNvPr>
          <p:cNvSpPr/>
          <p:nvPr/>
        </p:nvSpPr>
        <p:spPr>
          <a:xfrm>
            <a:off x="7333706" y="3146368"/>
            <a:ext cx="1006187" cy="305638"/>
          </a:xfrm>
          <a:prstGeom prst="roundRect">
            <a:avLst/>
          </a:prstGeom>
          <a:ln>
            <a:solidFill>
              <a:srgbClr val="49659D"/>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457200" rtl="0" eaLnBrk="1" fontAlgn="base"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1">
              <a:ln>
                <a:noFill/>
              </a:ln>
              <a:solidFill>
                <a:prstClr val="black"/>
              </a:solidFill>
              <a:effectLst/>
              <a:uLnTx/>
              <a:uFillTx/>
              <a:latin typeface="Calibri"/>
              <a:ea typeface="等线" panose="02010600030101010101" pitchFamily="2" charset="-122"/>
              <a:cs typeface="+mn-cs"/>
            </a:endParaRPr>
          </a:p>
        </p:txBody>
      </p:sp>
      <p:sp>
        <p:nvSpPr>
          <p:cNvPr id="64" name="文本框 13">
            <a:extLst>
              <a:ext uri="{FF2B5EF4-FFF2-40B4-BE49-F238E27FC236}">
                <a16:creationId xmlns:a16="http://schemas.microsoft.com/office/drawing/2014/main" id="{F58F6CA5-D8E1-478D-AEE2-8056DBEC2514}"/>
              </a:ext>
            </a:extLst>
          </p:cNvPr>
          <p:cNvSpPr txBox="1"/>
          <p:nvPr/>
        </p:nvSpPr>
        <p:spPr>
          <a:xfrm>
            <a:off x="4170737" y="3147404"/>
            <a:ext cx="706594" cy="307777"/>
          </a:xfrm>
          <a:prstGeom prst="rect">
            <a:avLst/>
          </a:prstGeom>
          <a:noFill/>
          <a:ln w="9525">
            <a:noFill/>
          </a:ln>
        </p:spPr>
        <p:txBody>
          <a:bodyPr wrap="square"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人</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5" name="文本框 15">
            <a:extLst>
              <a:ext uri="{FF2B5EF4-FFF2-40B4-BE49-F238E27FC236}">
                <a16:creationId xmlns:a16="http://schemas.microsoft.com/office/drawing/2014/main" id="{B1DE7528-3F7E-4984-B156-3A9EE395E12E}"/>
              </a:ext>
            </a:extLst>
          </p:cNvPr>
          <p:cNvSpPr txBox="1"/>
          <p:nvPr/>
        </p:nvSpPr>
        <p:spPr>
          <a:xfrm>
            <a:off x="5300971" y="3147403"/>
            <a:ext cx="734895" cy="307777"/>
          </a:xfrm>
          <a:prstGeom prst="rect">
            <a:avLst/>
          </a:prstGeom>
          <a:noFill/>
          <a:ln w="9525">
            <a:noFill/>
          </a:ln>
        </p:spPr>
        <p:txBody>
          <a:bodyPr wrap="square"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车</a:t>
            </a:r>
          </a:p>
        </p:txBody>
      </p:sp>
      <p:sp>
        <p:nvSpPr>
          <p:cNvPr id="66" name="文本框 16">
            <a:extLst>
              <a:ext uri="{FF2B5EF4-FFF2-40B4-BE49-F238E27FC236}">
                <a16:creationId xmlns:a16="http://schemas.microsoft.com/office/drawing/2014/main" id="{5CFD211D-2210-4DB4-8A41-76EE99D1E70B}"/>
              </a:ext>
            </a:extLst>
          </p:cNvPr>
          <p:cNvSpPr txBox="1"/>
          <p:nvPr/>
        </p:nvSpPr>
        <p:spPr>
          <a:xfrm>
            <a:off x="7571919" y="3160365"/>
            <a:ext cx="594322" cy="307777"/>
          </a:xfrm>
          <a:prstGeom prst="rect">
            <a:avLst/>
          </a:prstGeom>
          <a:noFill/>
          <a:ln w="9525">
            <a:noFill/>
          </a:ln>
        </p:spPr>
        <p:txBody>
          <a:bodyPr wrap="square"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环境</a:t>
            </a:r>
          </a:p>
        </p:txBody>
      </p:sp>
      <p:cxnSp>
        <p:nvCxnSpPr>
          <p:cNvPr id="67" name="直接箭头连接符 66">
            <a:extLst>
              <a:ext uri="{FF2B5EF4-FFF2-40B4-BE49-F238E27FC236}">
                <a16:creationId xmlns:a16="http://schemas.microsoft.com/office/drawing/2014/main" id="{78E5ADAB-209D-4298-A522-D9BFA4B8FC6F}"/>
              </a:ext>
            </a:extLst>
          </p:cNvPr>
          <p:cNvCxnSpPr>
            <a:cxnSpLocks/>
          </p:cNvCxnSpPr>
          <p:nvPr/>
        </p:nvCxnSpPr>
        <p:spPr>
          <a:xfrm>
            <a:off x="6262081" y="4008238"/>
            <a:ext cx="0" cy="302738"/>
          </a:xfrm>
          <a:prstGeom prst="straightConnector1">
            <a:avLst/>
          </a:prstGeom>
          <a:ln w="31750">
            <a:solidFill>
              <a:srgbClr val="49659D"/>
            </a:solidFill>
            <a:tailEnd type="arrow" w="med" len="med"/>
          </a:ln>
        </p:spPr>
        <p:style>
          <a:lnRef idx="3">
            <a:schemeClr val="accent1"/>
          </a:lnRef>
          <a:fillRef idx="0">
            <a:srgbClr val="FFFFFF"/>
          </a:fillRef>
          <a:effectRef idx="0">
            <a:srgbClr val="FFFFFF"/>
          </a:effectRef>
          <a:fontRef idx="minor">
            <a:schemeClr val="tx1"/>
          </a:fontRef>
        </p:style>
      </p:cxnSp>
      <p:sp>
        <p:nvSpPr>
          <p:cNvPr id="68" name="圆角矩形 43">
            <a:extLst>
              <a:ext uri="{FF2B5EF4-FFF2-40B4-BE49-F238E27FC236}">
                <a16:creationId xmlns:a16="http://schemas.microsoft.com/office/drawing/2014/main" id="{0BF10229-994A-4858-815D-E150F1494AA5}"/>
              </a:ext>
            </a:extLst>
          </p:cNvPr>
          <p:cNvSpPr/>
          <p:nvPr/>
        </p:nvSpPr>
        <p:spPr>
          <a:xfrm>
            <a:off x="4113682" y="4309451"/>
            <a:ext cx="4229734" cy="915423"/>
          </a:xfrm>
          <a:prstGeom prst="roundRect">
            <a:avLst/>
          </a:prstGeom>
          <a:ln>
            <a:solidFill>
              <a:srgbClr val="49659D"/>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457200" rtl="0" eaLnBrk="1" fontAlgn="base"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1">
              <a:ln>
                <a:noFill/>
              </a:ln>
              <a:solidFill>
                <a:prstClr val="black"/>
              </a:solidFill>
              <a:effectLst/>
              <a:uLnTx/>
              <a:uFillTx/>
              <a:latin typeface="Calibri"/>
              <a:ea typeface="等线" panose="02010600030101010101" pitchFamily="2" charset="-122"/>
              <a:cs typeface="+mn-cs"/>
            </a:endParaRPr>
          </a:p>
        </p:txBody>
      </p:sp>
      <p:sp>
        <p:nvSpPr>
          <p:cNvPr id="69" name="文本框 19">
            <a:extLst>
              <a:ext uri="{FF2B5EF4-FFF2-40B4-BE49-F238E27FC236}">
                <a16:creationId xmlns:a16="http://schemas.microsoft.com/office/drawing/2014/main" id="{BAABDC25-59E9-4B9D-9D7A-FE97B2CDFC86}"/>
              </a:ext>
            </a:extLst>
          </p:cNvPr>
          <p:cNvSpPr txBox="1"/>
          <p:nvPr/>
        </p:nvSpPr>
        <p:spPr>
          <a:xfrm>
            <a:off x="4212491" y="4400632"/>
            <a:ext cx="4025070" cy="653658"/>
          </a:xfrm>
          <a:prstGeom prst="rect">
            <a:avLst/>
          </a:prstGeom>
          <a:noFill/>
          <a:ln w="9525">
            <a:noFill/>
          </a:ln>
        </p:spPr>
        <p:txBody>
          <a:bodyPr wrap="square"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由于数据因素较多，进行先前筛选可能不能充分挖掘变量机理，选择对特征间共线性具有鲁棒性的</a:t>
            </a:r>
            <a:r>
              <a:rPr lang="en-US" altLang="zh-CN" sz="1400" b="1" dirty="0" err="1">
                <a:solidFill>
                  <a:prstClr val="black"/>
                </a:solidFill>
                <a:latin typeface="微软雅黑" panose="020B0503020204020204" pitchFamily="34" charset="-122"/>
                <a:ea typeface="微软雅黑" panose="020B0503020204020204" pitchFamily="34" charset="-122"/>
              </a:rPr>
              <a:t>LightGBM</a:t>
            </a:r>
            <a:r>
              <a:rPr lang="zh-CN" altLang="en-US" sz="1400" b="1" dirty="0">
                <a:solidFill>
                  <a:prstClr val="black"/>
                </a:solidFill>
                <a:latin typeface="微软雅黑" panose="020B0503020204020204" pitchFamily="34" charset="-122"/>
                <a:ea typeface="微软雅黑" panose="020B0503020204020204" pitchFamily="34" charset="-122"/>
              </a:rPr>
              <a:t>模型，同时选择其他模型对比</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71" name="直接箭头连接符 70">
            <a:extLst>
              <a:ext uri="{FF2B5EF4-FFF2-40B4-BE49-F238E27FC236}">
                <a16:creationId xmlns:a16="http://schemas.microsoft.com/office/drawing/2014/main" id="{F296A2CE-7F86-47C6-91D4-87BA66F49556}"/>
              </a:ext>
            </a:extLst>
          </p:cNvPr>
          <p:cNvCxnSpPr>
            <a:cxnSpLocks/>
          </p:cNvCxnSpPr>
          <p:nvPr/>
        </p:nvCxnSpPr>
        <p:spPr>
          <a:xfrm>
            <a:off x="8448504" y="3303883"/>
            <a:ext cx="273238" cy="0"/>
          </a:xfrm>
          <a:prstGeom prst="straightConnector1">
            <a:avLst/>
          </a:prstGeom>
          <a:ln w="31750" cap="flat" cmpd="sng" algn="ctr">
            <a:solidFill>
              <a:srgbClr val="49659D"/>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72" name="文本框 15">
            <a:extLst>
              <a:ext uri="{FF2B5EF4-FFF2-40B4-BE49-F238E27FC236}">
                <a16:creationId xmlns:a16="http://schemas.microsoft.com/office/drawing/2014/main" id="{4F422130-56D8-41A8-9718-C7D05343945D}"/>
              </a:ext>
            </a:extLst>
          </p:cNvPr>
          <p:cNvSpPr txBox="1"/>
          <p:nvPr/>
        </p:nvSpPr>
        <p:spPr>
          <a:xfrm>
            <a:off x="4427051" y="2132856"/>
            <a:ext cx="3845269" cy="523220"/>
          </a:xfrm>
          <a:prstGeom prst="rect">
            <a:avLst/>
          </a:prstGeom>
          <a:noFill/>
          <a:ln w="9525">
            <a:noFill/>
          </a:ln>
        </p:spPr>
        <p:txBody>
          <a:bodyPr wrap="square"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融合道路、天气、街道路网等多源数据</a:t>
            </a:r>
            <a:endParaRPr lang="en-US" altLang="zh-CN" sz="1400" b="1"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扩展货车运输相关变量</a:t>
            </a:r>
            <a:r>
              <a:rPr lang="en-US" altLang="zh-CN" sz="1400" b="1" dirty="0">
                <a:solidFill>
                  <a:prstClr val="black"/>
                </a:solidFill>
                <a:latin typeface="微软雅黑" panose="020B0503020204020204" pitchFamily="34" charset="-122"/>
                <a:ea typeface="微软雅黑" panose="020B0503020204020204" pitchFamily="34" charset="-122"/>
              </a:rPr>
              <a:t>25</a:t>
            </a:r>
            <a:r>
              <a:rPr lang="zh-CN" altLang="en-US" sz="1400" b="1" dirty="0">
                <a:solidFill>
                  <a:prstClr val="black"/>
                </a:solidFill>
                <a:latin typeface="微软雅黑" panose="020B0503020204020204" pitchFamily="34" charset="-122"/>
                <a:ea typeface="微软雅黑" panose="020B0503020204020204" pitchFamily="34" charset="-122"/>
              </a:rPr>
              <a:t>个</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3" name="圆角矩形 35">
            <a:extLst>
              <a:ext uri="{FF2B5EF4-FFF2-40B4-BE49-F238E27FC236}">
                <a16:creationId xmlns:a16="http://schemas.microsoft.com/office/drawing/2014/main" id="{704B69C9-0F77-4999-857C-BC8DE8490FE1}"/>
              </a:ext>
            </a:extLst>
          </p:cNvPr>
          <p:cNvSpPr/>
          <p:nvPr/>
        </p:nvSpPr>
        <p:spPr>
          <a:xfrm>
            <a:off x="6246052" y="3140969"/>
            <a:ext cx="983815" cy="307777"/>
          </a:xfrm>
          <a:prstGeom prst="roundRect">
            <a:avLst/>
          </a:prstGeom>
          <a:ln>
            <a:solidFill>
              <a:srgbClr val="49659D"/>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457200" rtl="0" eaLnBrk="1" fontAlgn="base"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1">
              <a:ln>
                <a:noFill/>
              </a:ln>
              <a:solidFill>
                <a:prstClr val="black"/>
              </a:solidFill>
              <a:effectLst/>
              <a:uLnTx/>
              <a:uFillTx/>
              <a:latin typeface="Calibri"/>
              <a:ea typeface="等线" panose="02010600030101010101" pitchFamily="2" charset="-122"/>
              <a:cs typeface="+mn-cs"/>
            </a:endParaRPr>
          </a:p>
        </p:txBody>
      </p:sp>
      <p:sp>
        <p:nvSpPr>
          <p:cNvPr id="74" name="文本框 15">
            <a:extLst>
              <a:ext uri="{FF2B5EF4-FFF2-40B4-BE49-F238E27FC236}">
                <a16:creationId xmlns:a16="http://schemas.microsoft.com/office/drawing/2014/main" id="{2AB33C50-72F2-4485-BF46-EA3951F1778F}"/>
              </a:ext>
            </a:extLst>
          </p:cNvPr>
          <p:cNvSpPr txBox="1"/>
          <p:nvPr/>
        </p:nvSpPr>
        <p:spPr>
          <a:xfrm>
            <a:off x="6351971" y="3140968"/>
            <a:ext cx="734895" cy="307777"/>
          </a:xfrm>
          <a:prstGeom prst="rect">
            <a:avLst/>
          </a:prstGeom>
          <a:noFill/>
          <a:ln w="9525">
            <a:noFill/>
          </a:ln>
        </p:spPr>
        <p:txBody>
          <a:bodyPr wrap="square"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路</a:t>
            </a:r>
          </a:p>
        </p:txBody>
      </p:sp>
      <p:sp>
        <p:nvSpPr>
          <p:cNvPr id="12" name="文本框 11">
            <a:extLst>
              <a:ext uri="{FF2B5EF4-FFF2-40B4-BE49-F238E27FC236}">
                <a16:creationId xmlns:a16="http://schemas.microsoft.com/office/drawing/2014/main" id="{D1FAAD00-104B-41DB-8426-67454DEE2F8F}"/>
              </a:ext>
            </a:extLst>
          </p:cNvPr>
          <p:cNvSpPr txBox="1"/>
          <p:nvPr/>
        </p:nvSpPr>
        <p:spPr>
          <a:xfrm>
            <a:off x="4277812" y="3455824"/>
            <a:ext cx="492443" cy="461665"/>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年龄</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性别</a:t>
            </a:r>
          </a:p>
        </p:txBody>
      </p:sp>
      <p:sp>
        <p:nvSpPr>
          <p:cNvPr id="75" name="文本框 74">
            <a:extLst>
              <a:ext uri="{FF2B5EF4-FFF2-40B4-BE49-F238E27FC236}">
                <a16:creationId xmlns:a16="http://schemas.microsoft.com/office/drawing/2014/main" id="{3B9B2B7B-2589-4C1F-8AEB-E79EAA706039}"/>
              </a:ext>
            </a:extLst>
          </p:cNvPr>
          <p:cNvSpPr txBox="1"/>
          <p:nvPr/>
        </p:nvSpPr>
        <p:spPr>
          <a:xfrm>
            <a:off x="5137987" y="3448745"/>
            <a:ext cx="1107996" cy="830997"/>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货车车厢类型</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动力类型</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载重</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sp>
        <p:nvSpPr>
          <p:cNvPr id="76" name="文本框 75">
            <a:extLst>
              <a:ext uri="{FF2B5EF4-FFF2-40B4-BE49-F238E27FC236}">
                <a16:creationId xmlns:a16="http://schemas.microsoft.com/office/drawing/2014/main" id="{312441E2-3B2B-48F4-B301-085B6A3B18C1}"/>
              </a:ext>
            </a:extLst>
          </p:cNvPr>
          <p:cNvSpPr txBox="1"/>
          <p:nvPr/>
        </p:nvSpPr>
        <p:spPr>
          <a:xfrm>
            <a:off x="6360911" y="3436527"/>
            <a:ext cx="800219" cy="1015663"/>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道路等级</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隔离形式</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路侧停车</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路幅类型</a:t>
            </a:r>
            <a:endParaRPr lang="en-US" altLang="zh-CN"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p:txBody>
      </p:sp>
      <p:sp>
        <p:nvSpPr>
          <p:cNvPr id="78" name="文本框 77">
            <a:extLst>
              <a:ext uri="{FF2B5EF4-FFF2-40B4-BE49-F238E27FC236}">
                <a16:creationId xmlns:a16="http://schemas.microsoft.com/office/drawing/2014/main" id="{39473544-4B07-4F71-911B-4D3347F22052}"/>
              </a:ext>
            </a:extLst>
          </p:cNvPr>
          <p:cNvSpPr txBox="1"/>
          <p:nvPr/>
        </p:nvSpPr>
        <p:spPr>
          <a:xfrm>
            <a:off x="7417481" y="3448745"/>
            <a:ext cx="800219" cy="830997"/>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时段</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管界</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位置类型</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sp>
        <p:nvSpPr>
          <p:cNvPr id="79" name="圆角矩形 43">
            <a:extLst>
              <a:ext uri="{FF2B5EF4-FFF2-40B4-BE49-F238E27FC236}">
                <a16:creationId xmlns:a16="http://schemas.microsoft.com/office/drawing/2014/main" id="{31F511CF-96F6-4F78-9EEC-45E2B3C7A531}"/>
              </a:ext>
            </a:extLst>
          </p:cNvPr>
          <p:cNvSpPr/>
          <p:nvPr/>
        </p:nvSpPr>
        <p:spPr>
          <a:xfrm>
            <a:off x="4110159" y="5516147"/>
            <a:ext cx="4229734" cy="307778"/>
          </a:xfrm>
          <a:prstGeom prst="roundRect">
            <a:avLst/>
          </a:prstGeom>
          <a:ln>
            <a:solidFill>
              <a:srgbClr val="49659D"/>
            </a:solidFill>
          </a:ln>
        </p:spPr>
        <p:style>
          <a:lnRef idx="2">
            <a:schemeClr val="accent1"/>
          </a:lnRef>
          <a:fillRef idx="0">
            <a:srgbClr val="FFFFFF"/>
          </a:fillRef>
          <a:effectRef idx="0">
            <a:srgbClr val="FFFFFF"/>
          </a:effectRef>
          <a:fontRef idx="minor">
            <a:schemeClr val="tx1"/>
          </a:fontRef>
        </p:style>
        <p:txBody>
          <a:bodyPr rtlCol="0" anchor="ctr"/>
          <a:lstStyle/>
          <a:p>
            <a:pPr marL="0" marR="0" lvl="0" indent="0" algn="ctr" defTabSz="457200" rtl="0" eaLnBrk="1" fontAlgn="base"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1">
              <a:ln>
                <a:noFill/>
              </a:ln>
              <a:solidFill>
                <a:prstClr val="black"/>
              </a:solidFill>
              <a:effectLst/>
              <a:uLnTx/>
              <a:uFillTx/>
              <a:latin typeface="Calibri"/>
              <a:ea typeface="等线" panose="02010600030101010101" pitchFamily="2" charset="-122"/>
              <a:cs typeface="+mn-cs"/>
            </a:endParaRPr>
          </a:p>
        </p:txBody>
      </p:sp>
      <p:sp>
        <p:nvSpPr>
          <p:cNvPr id="80" name="文本框 19">
            <a:extLst>
              <a:ext uri="{FF2B5EF4-FFF2-40B4-BE49-F238E27FC236}">
                <a16:creationId xmlns:a16="http://schemas.microsoft.com/office/drawing/2014/main" id="{460CF2EC-94F5-40D5-862F-8F01A05B16D5}"/>
              </a:ext>
            </a:extLst>
          </p:cNvPr>
          <p:cNvSpPr txBox="1"/>
          <p:nvPr/>
        </p:nvSpPr>
        <p:spPr>
          <a:xfrm>
            <a:off x="5505541" y="5514006"/>
            <a:ext cx="1515166" cy="307778"/>
          </a:xfrm>
          <a:prstGeom prst="rect">
            <a:avLst/>
          </a:prstGeom>
          <a:noFill/>
          <a:ln w="9525">
            <a:noFill/>
          </a:ln>
        </p:spPr>
        <p:txBody>
          <a:bodyPr wrap="square"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400" b="1" dirty="0">
                <a:solidFill>
                  <a:prstClr val="black"/>
                </a:solidFill>
                <a:latin typeface="微软雅黑" panose="020B0503020204020204" pitchFamily="34" charset="-122"/>
                <a:ea typeface="微软雅黑" panose="020B0503020204020204" pitchFamily="34" charset="-122"/>
              </a:rPr>
              <a:t>SHAP</a:t>
            </a:r>
            <a:r>
              <a:rPr lang="zh-CN" altLang="en-US" sz="1400" b="1" dirty="0">
                <a:solidFill>
                  <a:prstClr val="black"/>
                </a:solidFill>
                <a:latin typeface="微软雅黑" panose="020B0503020204020204" pitchFamily="34" charset="-122"/>
                <a:ea typeface="微软雅黑" panose="020B0503020204020204" pitchFamily="34" charset="-122"/>
              </a:rPr>
              <a:t>定量解释</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2" name="文本框 81">
            <a:extLst>
              <a:ext uri="{FF2B5EF4-FFF2-40B4-BE49-F238E27FC236}">
                <a16:creationId xmlns:a16="http://schemas.microsoft.com/office/drawing/2014/main" id="{53012E9E-927C-428C-80D2-4CB353845652}"/>
              </a:ext>
            </a:extLst>
          </p:cNvPr>
          <p:cNvSpPr txBox="1"/>
          <p:nvPr/>
        </p:nvSpPr>
        <p:spPr>
          <a:xfrm>
            <a:off x="4845599" y="5847655"/>
            <a:ext cx="2800767" cy="461665"/>
          </a:xfrm>
          <a:prstGeom prst="rect">
            <a:avLst/>
          </a:prstGeom>
          <a:noFill/>
        </p:spPr>
        <p:txBody>
          <a:bodyPr wrap="none" rtlCol="0">
            <a:spAutoFit/>
          </a:bodyPr>
          <a:lstStyle/>
          <a:p>
            <a:pPr algn="ctr"/>
            <a:r>
              <a:rPr lang="zh-CN" altLang="en-US" sz="1200" dirty="0">
                <a:latin typeface="微软雅黑" panose="020B0503020204020204" pitchFamily="34" charset="-122"/>
                <a:ea typeface="微软雅黑" panose="020B0503020204020204" pitchFamily="34" charset="-122"/>
              </a:rPr>
              <a:t>不同事故严重程度关键特征对比解释</a:t>
            </a:r>
            <a:endParaRPr lang="en-US" altLang="zh-CN" sz="1200" dirty="0">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死亡事故单因子与多因子交互效应解释</a:t>
            </a:r>
          </a:p>
        </p:txBody>
      </p:sp>
      <p:cxnSp>
        <p:nvCxnSpPr>
          <p:cNvPr id="84" name="直接箭头连接符 83">
            <a:extLst>
              <a:ext uri="{FF2B5EF4-FFF2-40B4-BE49-F238E27FC236}">
                <a16:creationId xmlns:a16="http://schemas.microsoft.com/office/drawing/2014/main" id="{01059474-7037-49BD-985A-39D8A2D61A9C}"/>
              </a:ext>
            </a:extLst>
          </p:cNvPr>
          <p:cNvCxnSpPr>
            <a:cxnSpLocks/>
          </p:cNvCxnSpPr>
          <p:nvPr/>
        </p:nvCxnSpPr>
        <p:spPr>
          <a:xfrm flipH="1">
            <a:off x="6308501" y="5227015"/>
            <a:ext cx="3523" cy="289132"/>
          </a:xfrm>
          <a:prstGeom prst="straightConnector1">
            <a:avLst/>
          </a:prstGeom>
          <a:ln w="31750">
            <a:solidFill>
              <a:srgbClr val="49659D"/>
            </a:solidFill>
            <a:tailEnd type="arrow" w="med" len="med"/>
          </a:ln>
        </p:spPr>
        <p:style>
          <a:lnRef idx="3">
            <a:schemeClr val="accent1"/>
          </a:lnRef>
          <a:fillRef idx="0">
            <a:srgbClr val="FFFFFF"/>
          </a:fillRef>
          <a:effectRef idx="0">
            <a:srgbClr val="FFFFFF"/>
          </a:effectRef>
          <a:fontRef idx="minor">
            <a:schemeClr val="tx1"/>
          </a:fontRef>
        </p:style>
      </p:cxnSp>
      <p:pic>
        <p:nvPicPr>
          <p:cNvPr id="95" name="图片 94" descr="图表, 旭日形&#10;&#10;描述已自动生成">
            <a:extLst>
              <a:ext uri="{FF2B5EF4-FFF2-40B4-BE49-F238E27FC236}">
                <a16:creationId xmlns:a16="http://schemas.microsoft.com/office/drawing/2014/main" id="{EA3CDF5D-C8C4-440C-B2B4-03CD80244DA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1626" t="11151" r="20260" b="14583"/>
          <a:stretch/>
        </p:blipFill>
        <p:spPr>
          <a:xfrm>
            <a:off x="10390614" y="2024361"/>
            <a:ext cx="1381011" cy="1351074"/>
          </a:xfrm>
          <a:prstGeom prst="rect">
            <a:avLst/>
          </a:prstGeom>
        </p:spPr>
      </p:pic>
      <p:sp>
        <p:nvSpPr>
          <p:cNvPr id="97" name="矩形 96">
            <a:extLst>
              <a:ext uri="{FF2B5EF4-FFF2-40B4-BE49-F238E27FC236}">
                <a16:creationId xmlns:a16="http://schemas.microsoft.com/office/drawing/2014/main" id="{53D946CA-B4FC-499B-9CBC-80A413DF2420}"/>
              </a:ext>
            </a:extLst>
          </p:cNvPr>
          <p:cNvSpPr/>
          <p:nvPr/>
        </p:nvSpPr>
        <p:spPr>
          <a:xfrm>
            <a:off x="8695960" y="1955067"/>
            <a:ext cx="3160680" cy="4433551"/>
          </a:xfrm>
          <a:prstGeom prst="rect">
            <a:avLst/>
          </a:prstGeom>
          <a:noFill/>
          <a:ln w="19050">
            <a:solidFill>
              <a:srgbClr val="1B3F8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a:extLst>
              <a:ext uri="{FF2B5EF4-FFF2-40B4-BE49-F238E27FC236}">
                <a16:creationId xmlns:a16="http://schemas.microsoft.com/office/drawing/2014/main" id="{5A3F387D-E2EF-40DB-81FC-EDB6BB08A98C}"/>
              </a:ext>
            </a:extLst>
          </p:cNvPr>
          <p:cNvSpPr txBox="1"/>
          <p:nvPr/>
        </p:nvSpPr>
        <p:spPr>
          <a:xfrm>
            <a:off x="8872144" y="3375361"/>
            <a:ext cx="2854791" cy="256480"/>
          </a:xfrm>
          <a:prstGeom prst="rect">
            <a:avLst/>
          </a:prstGeom>
        </p:spPr>
        <p:txBody>
          <a:bodyPr wrap="square">
            <a:spAutoFit/>
          </a:bodyPr>
          <a:lstStyle/>
          <a:p>
            <a:pPr marL="0" indent="0" algn="ctr" defTabSz="266700">
              <a:spcBef>
                <a:spcPct val="0"/>
              </a:spcBef>
              <a:spcAft>
                <a:spcPct val="0"/>
              </a:spcAft>
            </a:pPr>
            <a:r>
              <a:rPr lang="zh-CN" altLang="en-US" sz="1600" b="1" baseline="30000" dirty="0">
                <a:latin typeface="Times New Roman" panose="02020603050405020304"/>
                <a:ea typeface="宋体" panose="02010600030101010101" pitchFamily="2" charset="-122"/>
              </a:rPr>
              <a:t>货车事故时间分布和占比图</a:t>
            </a:r>
          </a:p>
        </p:txBody>
      </p:sp>
      <p:sp>
        <p:nvSpPr>
          <p:cNvPr id="100" name="文本框 99">
            <a:extLst>
              <a:ext uri="{FF2B5EF4-FFF2-40B4-BE49-F238E27FC236}">
                <a16:creationId xmlns:a16="http://schemas.microsoft.com/office/drawing/2014/main" id="{54E73AA6-2168-4F52-A066-FBE7D30CA856}"/>
              </a:ext>
            </a:extLst>
          </p:cNvPr>
          <p:cNvSpPr txBox="1"/>
          <p:nvPr/>
        </p:nvSpPr>
        <p:spPr>
          <a:xfrm>
            <a:off x="8807047" y="5523169"/>
            <a:ext cx="2937304" cy="316865"/>
          </a:xfrm>
          <a:prstGeom prst="rect">
            <a:avLst/>
          </a:prstGeom>
        </p:spPr>
        <p:txBody>
          <a:bodyPr wrap="square">
            <a:noAutofit/>
          </a:bodyPr>
          <a:lstStyle/>
          <a:p>
            <a:pPr marL="0" indent="0" algn="ctr" defTabSz="266700">
              <a:spcBef>
                <a:spcPct val="0"/>
              </a:spcBef>
              <a:spcAft>
                <a:spcPct val="0"/>
              </a:spcAft>
            </a:pPr>
            <a:r>
              <a:rPr lang="zh-CN" altLang="en-US" sz="1600" b="1" baseline="30000" dirty="0">
                <a:latin typeface="Times New Roman" panose="02020603050405020304"/>
                <a:ea typeface="宋体" panose="02010600030101010101" pitchFamily="2" charset="-122"/>
              </a:rPr>
              <a:t>货车事故空间分布情况</a:t>
            </a:r>
          </a:p>
        </p:txBody>
      </p:sp>
      <p:sp>
        <p:nvSpPr>
          <p:cNvPr id="101" name="文本框 100">
            <a:extLst>
              <a:ext uri="{FF2B5EF4-FFF2-40B4-BE49-F238E27FC236}">
                <a16:creationId xmlns:a16="http://schemas.microsoft.com/office/drawing/2014/main" id="{2091F7FA-76A3-4A81-A4D8-7E1339B17966}"/>
              </a:ext>
            </a:extLst>
          </p:cNvPr>
          <p:cNvSpPr txBox="1"/>
          <p:nvPr/>
        </p:nvSpPr>
        <p:spPr>
          <a:xfrm>
            <a:off x="8720038" y="3603954"/>
            <a:ext cx="3117500" cy="728831"/>
          </a:xfrm>
          <a:prstGeom prst="rect">
            <a:avLst/>
          </a:prstGeom>
          <a:solidFill>
            <a:srgbClr val="1B3F85"/>
          </a:solidFill>
        </p:spPr>
        <p:txBody>
          <a:bodyPr wrap="square" rtlCol="0" anchor="t">
            <a:noAutofit/>
          </a:bodyPr>
          <a:lstStyle/>
          <a:p>
            <a:pPr indent="0">
              <a:lnSpc>
                <a:spcPct val="110000"/>
              </a:lnSpc>
              <a:spcAft>
                <a:spcPts val="300"/>
              </a:spcAft>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sym typeface="+mn-ea"/>
              </a:rPr>
              <a:t>·</a:t>
            </a:r>
            <a:r>
              <a:rPr lang="en-US" altLang="zh-CN" sz="1200" dirty="0">
                <a:solidFill>
                  <a:schemeClr val="bg1"/>
                </a:solidFill>
                <a:latin typeface="微软雅黑" panose="020B0503020204020204" pitchFamily="34" charset="-122"/>
                <a:ea typeface="微软雅黑" panose="020B0503020204020204" pitchFamily="34" charset="-122"/>
                <a:sym typeface="+mn-ea"/>
              </a:rPr>
              <a:t> </a:t>
            </a:r>
            <a:r>
              <a:rPr lang="zh-CN" altLang="en-US" sz="1200" dirty="0">
                <a:solidFill>
                  <a:schemeClr val="bg1"/>
                </a:solidFill>
                <a:latin typeface="微软雅黑" panose="020B0503020204020204" pitchFamily="34" charset="-122"/>
                <a:ea typeface="微软雅黑" panose="020B0503020204020204" pitchFamily="34" charset="-122"/>
                <a:sym typeface="+mn-ea"/>
              </a:rPr>
              <a:t>全天总体趋势近似</a:t>
            </a:r>
            <a:r>
              <a:rPr lang="en-US" altLang="zh-CN" sz="1200" dirty="0">
                <a:solidFill>
                  <a:schemeClr val="bg1"/>
                </a:solidFill>
                <a:latin typeface="微软雅黑" panose="020B0503020204020204" pitchFamily="34" charset="-122"/>
                <a:ea typeface="微软雅黑" panose="020B0503020204020204" pitchFamily="34" charset="-122"/>
                <a:sym typeface="+mn-ea"/>
              </a:rPr>
              <a:t>3“M”</a:t>
            </a:r>
            <a:r>
              <a:rPr lang="zh-CN" altLang="en-US" sz="1200" dirty="0">
                <a:solidFill>
                  <a:schemeClr val="bg1"/>
                </a:solidFill>
                <a:latin typeface="微软雅黑" panose="020B0503020204020204" pitchFamily="34" charset="-122"/>
                <a:ea typeface="微软雅黑" panose="020B0503020204020204" pitchFamily="34" charset="-122"/>
                <a:sym typeface="+mn-ea"/>
              </a:rPr>
              <a:t>结构；</a:t>
            </a:r>
            <a:endParaRPr lang="en-US" altLang="zh-CN" sz="1200" dirty="0">
              <a:solidFill>
                <a:schemeClr val="bg1"/>
              </a:solidFill>
              <a:latin typeface="微软雅黑" panose="020B0503020204020204" pitchFamily="34" charset="-122"/>
              <a:ea typeface="微软雅黑" panose="020B0503020204020204" pitchFamily="34" charset="-122"/>
              <a:sym typeface="+mn-ea"/>
            </a:endParaRPr>
          </a:p>
          <a:p>
            <a:pPr indent="0">
              <a:lnSpc>
                <a:spcPct val="110000"/>
              </a:lnSpc>
              <a:spcAft>
                <a:spcPts val="300"/>
              </a:spcAft>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sym typeface="+mn-ea"/>
              </a:rPr>
              <a:t>· </a:t>
            </a:r>
            <a:r>
              <a:rPr lang="zh-CN" altLang="en-US" sz="1200" dirty="0">
                <a:solidFill>
                  <a:schemeClr val="bg1"/>
                </a:solidFill>
                <a:latin typeface="微软雅黑" panose="020B0503020204020204" pitchFamily="34" charset="-122"/>
                <a:ea typeface="微软雅黑" panose="020B0503020204020204" pitchFamily="34" charset="-122"/>
                <a:sym typeface="+mn-ea"/>
              </a:rPr>
              <a:t>凌晨段（</a:t>
            </a:r>
            <a:r>
              <a:rPr lang="en-US" altLang="zh-CN" sz="1200" dirty="0">
                <a:solidFill>
                  <a:schemeClr val="bg1"/>
                </a:solidFill>
                <a:latin typeface="微软雅黑" panose="020B0503020204020204" pitchFamily="34" charset="-122"/>
                <a:ea typeface="微软雅黑" panose="020B0503020204020204" pitchFamily="34" charset="-122"/>
                <a:sym typeface="+mn-ea"/>
              </a:rPr>
              <a:t>0</a:t>
            </a:r>
            <a:r>
              <a:rPr lang="zh-CN" altLang="en-US" sz="1200" dirty="0">
                <a:solidFill>
                  <a:schemeClr val="bg1"/>
                </a:solidFill>
                <a:latin typeface="微软雅黑" panose="020B0503020204020204" pitchFamily="34" charset="-122"/>
                <a:ea typeface="微软雅黑" panose="020B0503020204020204" pitchFamily="34" charset="-122"/>
                <a:sym typeface="+mn-ea"/>
              </a:rPr>
              <a:t>点</a:t>
            </a:r>
            <a:r>
              <a:rPr lang="en-US" altLang="zh-CN" sz="1200" dirty="0">
                <a:solidFill>
                  <a:schemeClr val="bg1"/>
                </a:solidFill>
                <a:latin typeface="微软雅黑" panose="020B0503020204020204" pitchFamily="34" charset="-122"/>
                <a:ea typeface="微软雅黑" panose="020B0503020204020204" pitchFamily="34" charset="-122"/>
                <a:sym typeface="+mn-ea"/>
              </a:rPr>
              <a:t>-6</a:t>
            </a:r>
            <a:r>
              <a:rPr lang="zh-CN" altLang="en-US" sz="1200" dirty="0">
                <a:solidFill>
                  <a:schemeClr val="bg1"/>
                </a:solidFill>
                <a:latin typeface="微软雅黑" panose="020B0503020204020204" pitchFamily="34" charset="-122"/>
                <a:ea typeface="微软雅黑" panose="020B0503020204020204" pitchFamily="34" charset="-122"/>
                <a:sym typeface="+mn-ea"/>
              </a:rPr>
              <a:t>点）死亡事故和受伤事故的占比远超白天其他时间段</a:t>
            </a:r>
          </a:p>
        </p:txBody>
      </p:sp>
      <p:sp>
        <p:nvSpPr>
          <p:cNvPr id="102" name="文本框 101">
            <a:extLst>
              <a:ext uri="{FF2B5EF4-FFF2-40B4-BE49-F238E27FC236}">
                <a16:creationId xmlns:a16="http://schemas.microsoft.com/office/drawing/2014/main" id="{FC70196F-E052-4ED7-BBE4-1C3431ACD0BF}"/>
              </a:ext>
            </a:extLst>
          </p:cNvPr>
          <p:cNvSpPr txBox="1"/>
          <p:nvPr/>
        </p:nvSpPr>
        <p:spPr>
          <a:xfrm>
            <a:off x="8706153" y="5692998"/>
            <a:ext cx="3139091" cy="695619"/>
          </a:xfrm>
          <a:prstGeom prst="rect">
            <a:avLst/>
          </a:prstGeom>
          <a:solidFill>
            <a:srgbClr val="1B3F85"/>
          </a:solidFill>
        </p:spPr>
        <p:txBody>
          <a:bodyPr wrap="square" rtlCol="0" anchor="t">
            <a:noAutofit/>
          </a:bodyPr>
          <a:lstStyle/>
          <a:p>
            <a:pPr indent="0">
              <a:lnSpc>
                <a:spcPct val="110000"/>
              </a:lnSpc>
              <a:spcAft>
                <a:spcPts val="300"/>
              </a:spcAft>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sym typeface="+mn-ea"/>
              </a:rPr>
              <a:t>· </a:t>
            </a:r>
            <a:r>
              <a:rPr lang="zh-CN" altLang="en-US" sz="1200" dirty="0">
                <a:solidFill>
                  <a:schemeClr val="bg1"/>
                </a:solidFill>
                <a:latin typeface="微软雅黑" panose="020B0503020204020204" pitchFamily="34" charset="-122"/>
                <a:ea typeface="微软雅黑" panose="020B0503020204020204" pitchFamily="34" charset="-122"/>
                <a:sym typeface="+mn-ea"/>
              </a:rPr>
              <a:t>北京东北区域围绕首都国际机场重点发展航空物流，货车事故较多；</a:t>
            </a:r>
            <a:endParaRPr lang="en-US" altLang="zh-CN" sz="1200" dirty="0">
              <a:solidFill>
                <a:schemeClr val="bg1"/>
              </a:solidFill>
              <a:latin typeface="微软雅黑" panose="020B0503020204020204" pitchFamily="34" charset="-122"/>
              <a:ea typeface="微软雅黑" panose="020B0503020204020204" pitchFamily="34" charset="-122"/>
              <a:sym typeface="+mn-ea"/>
            </a:endParaRPr>
          </a:p>
          <a:p>
            <a:pPr indent="0">
              <a:lnSpc>
                <a:spcPct val="110000"/>
              </a:lnSpc>
              <a:spcAft>
                <a:spcPts val="300"/>
              </a:spcAft>
              <a:buFont typeface="Arial" panose="020B0604020202020204" pitchFamily="34" charset="0"/>
              <a:buNone/>
            </a:pPr>
            <a:r>
              <a:rPr lang="en-US" altLang="zh-CN" sz="1200" b="1" dirty="0">
                <a:solidFill>
                  <a:schemeClr val="bg1"/>
                </a:solidFill>
                <a:latin typeface="微软雅黑" panose="020B0503020204020204" pitchFamily="34" charset="-122"/>
                <a:ea typeface="微软雅黑" panose="020B0503020204020204" pitchFamily="34" charset="-122"/>
                <a:sym typeface="+mn-ea"/>
              </a:rPr>
              <a:t>· </a:t>
            </a:r>
            <a:r>
              <a:rPr lang="zh-CN" altLang="en-US" sz="1200" dirty="0">
                <a:solidFill>
                  <a:schemeClr val="bg1"/>
                </a:solidFill>
                <a:latin typeface="微软雅黑" panose="020B0503020204020204" pitchFamily="34" charset="-122"/>
                <a:ea typeface="微软雅黑" panose="020B0503020204020204" pitchFamily="34" charset="-122"/>
                <a:sym typeface="+mn-ea"/>
              </a:rPr>
              <a:t>冬季环境恶劣，事故较多</a:t>
            </a:r>
          </a:p>
        </p:txBody>
      </p:sp>
      <p:pic>
        <p:nvPicPr>
          <p:cNvPr id="103" name="图片 102" descr="事故发生时间分布">
            <a:extLst>
              <a:ext uri="{FF2B5EF4-FFF2-40B4-BE49-F238E27FC236}">
                <a16:creationId xmlns:a16="http://schemas.microsoft.com/office/drawing/2014/main" id="{6D8007EC-FAF4-4C6C-A1FF-D1C9D85E5750}"/>
              </a:ext>
            </a:extLst>
          </p:cNvPr>
          <p:cNvPicPr>
            <a:picLocks noChangeAspect="1"/>
          </p:cNvPicPr>
          <p:nvPr/>
        </p:nvPicPr>
        <p:blipFill>
          <a:blip r:embed="rId3"/>
          <a:srcRect l="18591" t="12834" r="19988" b="15162"/>
          <a:stretch>
            <a:fillRect/>
          </a:stretch>
        </p:blipFill>
        <p:spPr>
          <a:xfrm>
            <a:off x="8861097" y="2017623"/>
            <a:ext cx="1444502" cy="1296630"/>
          </a:xfrm>
          <a:prstGeom prst="rect">
            <a:avLst/>
          </a:prstGeom>
        </p:spPr>
      </p:pic>
      <p:grpSp>
        <p:nvGrpSpPr>
          <p:cNvPr id="109" name="组合 108">
            <a:extLst>
              <a:ext uri="{FF2B5EF4-FFF2-40B4-BE49-F238E27FC236}">
                <a16:creationId xmlns:a16="http://schemas.microsoft.com/office/drawing/2014/main" id="{17512273-D685-4EA3-A02E-02B837747468}"/>
              </a:ext>
            </a:extLst>
          </p:cNvPr>
          <p:cNvGrpSpPr/>
          <p:nvPr/>
        </p:nvGrpSpPr>
        <p:grpSpPr>
          <a:xfrm>
            <a:off x="8807046" y="4386911"/>
            <a:ext cx="1541859" cy="1057424"/>
            <a:chOff x="9309550" y="4383050"/>
            <a:chExt cx="1701531" cy="1053724"/>
          </a:xfrm>
        </p:grpSpPr>
        <p:pic>
          <p:nvPicPr>
            <p:cNvPr id="96" name="图片 95" descr="地图&#10;&#10;描述已自动生成">
              <a:extLst>
                <a:ext uri="{FF2B5EF4-FFF2-40B4-BE49-F238E27FC236}">
                  <a16:creationId xmlns:a16="http://schemas.microsoft.com/office/drawing/2014/main" id="{B6FEDC21-F6AA-4D8F-A126-0E22A0ADE95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2365" t="1262" r="11028" b="9811"/>
            <a:stretch/>
          </p:blipFill>
          <p:spPr>
            <a:xfrm>
              <a:off x="9309550" y="4383050"/>
              <a:ext cx="1701531" cy="1053724"/>
            </a:xfrm>
            <a:prstGeom prst="rect">
              <a:avLst/>
            </a:prstGeom>
          </p:spPr>
        </p:pic>
        <p:sp>
          <p:nvSpPr>
            <p:cNvPr id="106" name="矩形 105">
              <a:extLst>
                <a:ext uri="{FF2B5EF4-FFF2-40B4-BE49-F238E27FC236}">
                  <a16:creationId xmlns:a16="http://schemas.microsoft.com/office/drawing/2014/main" id="{C54BE5B5-4FAF-4303-9D13-784410B51BBB}"/>
                </a:ext>
              </a:extLst>
            </p:cNvPr>
            <p:cNvSpPr/>
            <p:nvPr/>
          </p:nvSpPr>
          <p:spPr>
            <a:xfrm rot="2426532">
              <a:off x="10306188" y="4395830"/>
              <a:ext cx="216024" cy="62667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8" name="图片 107" descr="地图&#10;&#10;描述已自动生成">
            <a:extLst>
              <a:ext uri="{FF2B5EF4-FFF2-40B4-BE49-F238E27FC236}">
                <a16:creationId xmlns:a16="http://schemas.microsoft.com/office/drawing/2014/main" id="{18EA6791-A238-4FC9-AD69-4802454C2D8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8777" t="2341" r="16030" b="27827"/>
          <a:stretch/>
        </p:blipFill>
        <p:spPr>
          <a:xfrm>
            <a:off x="10367398" y="4390426"/>
            <a:ext cx="688472" cy="549680"/>
          </a:xfrm>
          <a:prstGeom prst="rect">
            <a:avLst/>
          </a:prstGeom>
        </p:spPr>
      </p:pic>
      <p:pic>
        <p:nvPicPr>
          <p:cNvPr id="111" name="图片 110" descr="地图&#10;&#10;描述已自动生成">
            <a:extLst>
              <a:ext uri="{FF2B5EF4-FFF2-40B4-BE49-F238E27FC236}">
                <a16:creationId xmlns:a16="http://schemas.microsoft.com/office/drawing/2014/main" id="{EF60A04C-D66A-4F1B-ADE4-723E734855D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40525" t="975" r="17857" b="37704"/>
          <a:stretch/>
        </p:blipFill>
        <p:spPr>
          <a:xfrm>
            <a:off x="11077200" y="4386911"/>
            <a:ext cx="694783" cy="549680"/>
          </a:xfrm>
          <a:prstGeom prst="rect">
            <a:avLst/>
          </a:prstGeom>
        </p:spPr>
      </p:pic>
      <p:pic>
        <p:nvPicPr>
          <p:cNvPr id="113" name="图片 112" descr="地图&#10;&#10;描述已自动生成">
            <a:extLst>
              <a:ext uri="{FF2B5EF4-FFF2-40B4-BE49-F238E27FC236}">
                <a16:creationId xmlns:a16="http://schemas.microsoft.com/office/drawing/2014/main" id="{6D19D37D-3472-4CC5-AF15-70CD58C27EF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7452" r="17857" b="37230"/>
          <a:stretch/>
        </p:blipFill>
        <p:spPr>
          <a:xfrm>
            <a:off x="10367398" y="4965002"/>
            <a:ext cx="688472" cy="479333"/>
          </a:xfrm>
          <a:prstGeom prst="rect">
            <a:avLst/>
          </a:prstGeom>
        </p:spPr>
      </p:pic>
      <p:pic>
        <p:nvPicPr>
          <p:cNvPr id="115" name="图片 114" descr="地图&#10;&#10;描述已自动生成">
            <a:extLst>
              <a:ext uri="{FF2B5EF4-FFF2-40B4-BE49-F238E27FC236}">
                <a16:creationId xmlns:a16="http://schemas.microsoft.com/office/drawing/2014/main" id="{B2220B63-2989-4401-9285-6A406F6B656A}"/>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36310" t="974" r="17858" b="27702"/>
          <a:stretch/>
        </p:blipFill>
        <p:spPr>
          <a:xfrm>
            <a:off x="11077975" y="4961487"/>
            <a:ext cx="688472" cy="479333"/>
          </a:xfrm>
          <a:prstGeom prst="rect">
            <a:avLst/>
          </a:prstGeom>
        </p:spPr>
      </p:pic>
      <p:sp>
        <p:nvSpPr>
          <p:cNvPr id="58" name="文本框 4">
            <a:extLst>
              <a:ext uri="{FF2B5EF4-FFF2-40B4-BE49-F238E27FC236}">
                <a16:creationId xmlns:a16="http://schemas.microsoft.com/office/drawing/2014/main" id="{41E408D7-80E9-4A94-81D9-87126CE432F3}"/>
              </a:ext>
            </a:extLst>
          </p:cNvPr>
          <p:cNvSpPr txBox="1"/>
          <p:nvPr/>
        </p:nvSpPr>
        <p:spPr>
          <a:xfrm>
            <a:off x="407368" y="188641"/>
            <a:ext cx="7767863"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研究进度及成果</a:t>
            </a:r>
            <a:endParaRPr lang="zh-CN" altLang="en-US"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50506507"/>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C7D27C9-AE69-4684-AE17-714FD7A11FDC}"/>
              </a:ext>
            </a:extLst>
          </p:cNvPr>
          <p:cNvSpPr/>
          <p:nvPr>
            <p:custDataLst>
              <p:tags r:id="rId1"/>
            </p:custDataLst>
          </p:nvPr>
        </p:nvSpPr>
        <p:spPr>
          <a:xfrm>
            <a:off x="6015220" y="986805"/>
            <a:ext cx="5471795" cy="4863529"/>
          </a:xfrm>
          <a:prstGeom prst="rect">
            <a:avLst/>
          </a:prstGeom>
          <a:noFill/>
          <a:ln w="19050">
            <a:solidFill>
              <a:srgbClr val="1B3F8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21EC76A7-AFC9-40B7-A3B2-3833C055DEC6}"/>
              </a:ext>
            </a:extLst>
          </p:cNvPr>
          <p:cNvSpPr txBox="1"/>
          <p:nvPr/>
        </p:nvSpPr>
        <p:spPr>
          <a:xfrm>
            <a:off x="3890027" y="3045962"/>
            <a:ext cx="685656" cy="256480"/>
          </a:xfrm>
          <a:prstGeom prst="rect">
            <a:avLst/>
          </a:prstGeom>
        </p:spPr>
        <p:txBody>
          <a:bodyPr wrap="square">
            <a:spAutoFit/>
          </a:bodyPr>
          <a:lstStyle/>
          <a:p>
            <a:pPr marL="0" indent="0" algn="ctr" defTabSz="266700">
              <a:spcBef>
                <a:spcPct val="0"/>
              </a:spcBef>
              <a:spcAft>
                <a:spcPct val="0"/>
              </a:spcAft>
            </a:pPr>
            <a:r>
              <a:rPr lang="zh-CN" altLang="en-US" sz="1600" b="1" baseline="30000" dirty="0">
                <a:latin typeface="Times New Roman" panose="02020603050405020304"/>
                <a:ea typeface="宋体" panose="02010600030101010101" pitchFamily="2" charset="-122"/>
              </a:rPr>
              <a:t>财损</a:t>
            </a:r>
          </a:p>
        </p:txBody>
      </p:sp>
      <p:sp>
        <p:nvSpPr>
          <p:cNvPr id="21" name="文本框 20">
            <a:extLst>
              <a:ext uri="{FF2B5EF4-FFF2-40B4-BE49-F238E27FC236}">
                <a16:creationId xmlns:a16="http://schemas.microsoft.com/office/drawing/2014/main" id="{65C8BF7A-5A32-4451-B10C-A60DDC2BAF5A}"/>
              </a:ext>
            </a:extLst>
          </p:cNvPr>
          <p:cNvSpPr txBox="1"/>
          <p:nvPr/>
        </p:nvSpPr>
        <p:spPr>
          <a:xfrm>
            <a:off x="6464882" y="3161116"/>
            <a:ext cx="927262"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死亡</a:t>
            </a:r>
            <a:endParaRPr lang="zh-CN" altLang="en-US" sz="1000" b="1" dirty="0">
              <a:latin typeface="Times New Roman" panose="02020603050405020304"/>
              <a:ea typeface="宋体" panose="02010600030101010101" pitchFamily="2" charset="-122"/>
            </a:endParaRPr>
          </a:p>
        </p:txBody>
      </p:sp>
      <p:sp>
        <p:nvSpPr>
          <p:cNvPr id="27" name="文本框 26">
            <a:extLst>
              <a:ext uri="{FF2B5EF4-FFF2-40B4-BE49-F238E27FC236}">
                <a16:creationId xmlns:a16="http://schemas.microsoft.com/office/drawing/2014/main" id="{531B4258-DF10-4F62-9AB9-EA810AC964FD}"/>
              </a:ext>
            </a:extLst>
          </p:cNvPr>
          <p:cNvSpPr txBox="1"/>
          <p:nvPr/>
        </p:nvSpPr>
        <p:spPr>
          <a:xfrm>
            <a:off x="6263189" y="5031300"/>
            <a:ext cx="1642110"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动力类型与车厢类型</a:t>
            </a:r>
            <a:endParaRPr lang="zh-CN" altLang="en-US" sz="1000" b="1" dirty="0">
              <a:latin typeface="Times New Roman" panose="02020603050405020304"/>
              <a:ea typeface="宋体" panose="02010600030101010101" pitchFamily="2" charset="-122"/>
            </a:endParaRPr>
          </a:p>
        </p:txBody>
      </p:sp>
      <p:sp>
        <p:nvSpPr>
          <p:cNvPr id="29" name="文本框 28">
            <a:extLst>
              <a:ext uri="{FF2B5EF4-FFF2-40B4-BE49-F238E27FC236}">
                <a16:creationId xmlns:a16="http://schemas.microsoft.com/office/drawing/2014/main" id="{1D73914A-E5A4-4346-B70F-80BBB5BDB828}"/>
              </a:ext>
            </a:extLst>
          </p:cNvPr>
          <p:cNvSpPr txBox="1"/>
          <p:nvPr/>
        </p:nvSpPr>
        <p:spPr>
          <a:xfrm>
            <a:off x="7957429" y="5031300"/>
            <a:ext cx="1642110"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动力类型与事故形态</a:t>
            </a:r>
            <a:endParaRPr lang="zh-CN" altLang="en-US" sz="1000" b="1" dirty="0">
              <a:latin typeface="Times New Roman" panose="02020603050405020304"/>
              <a:ea typeface="宋体" panose="02010600030101010101" pitchFamily="2" charset="-122"/>
            </a:endParaRPr>
          </a:p>
        </p:txBody>
      </p:sp>
      <p:sp>
        <p:nvSpPr>
          <p:cNvPr id="31" name="文本框 30">
            <a:extLst>
              <a:ext uri="{FF2B5EF4-FFF2-40B4-BE49-F238E27FC236}">
                <a16:creationId xmlns:a16="http://schemas.microsoft.com/office/drawing/2014/main" id="{8E2B292E-B4A3-4E5C-B427-38B3FAAFED4F}"/>
              </a:ext>
            </a:extLst>
          </p:cNvPr>
          <p:cNvSpPr txBox="1"/>
          <p:nvPr/>
        </p:nvSpPr>
        <p:spPr>
          <a:xfrm>
            <a:off x="9581986" y="5031300"/>
            <a:ext cx="1642110"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动力类型与道路类型</a:t>
            </a:r>
            <a:endParaRPr lang="zh-CN" altLang="en-US" sz="1000" b="1" dirty="0">
              <a:latin typeface="Times New Roman" panose="02020603050405020304"/>
              <a:ea typeface="宋体" panose="02010600030101010101" pitchFamily="2" charset="-122"/>
            </a:endParaRPr>
          </a:p>
        </p:txBody>
      </p:sp>
      <p:sp>
        <p:nvSpPr>
          <p:cNvPr id="32" name="文本框 31">
            <a:extLst>
              <a:ext uri="{FF2B5EF4-FFF2-40B4-BE49-F238E27FC236}">
                <a16:creationId xmlns:a16="http://schemas.microsoft.com/office/drawing/2014/main" id="{D5E2259A-B755-4241-B876-5BF4435E337F}"/>
              </a:ext>
            </a:extLst>
          </p:cNvPr>
          <p:cNvSpPr txBox="1"/>
          <p:nvPr/>
        </p:nvSpPr>
        <p:spPr>
          <a:xfrm>
            <a:off x="6096000" y="5280220"/>
            <a:ext cx="5328591" cy="508635"/>
          </a:xfrm>
          <a:prstGeom prst="rect">
            <a:avLst/>
          </a:prstGeom>
          <a:solidFill>
            <a:srgbClr val="1B3F85"/>
          </a:solidFill>
        </p:spPr>
        <p:txBody>
          <a:bodyPr wrap="square" rtlCol="0" anchor="t">
            <a:noAutofit/>
          </a:bodyPr>
          <a:lstStyle/>
          <a:p>
            <a:pPr indent="0">
              <a:lnSpc>
                <a:spcPct val="110000"/>
              </a:lnSpc>
              <a:spcAft>
                <a:spcPts val="300"/>
              </a:spcAft>
              <a:buFont typeface="Arial" panose="020B0604020202020204" pitchFamily="34" charset="0"/>
              <a:buNone/>
            </a:pPr>
            <a:r>
              <a:rPr lang="zh-CN" altLang="en-US" sz="1200" dirty="0">
                <a:solidFill>
                  <a:schemeClr val="bg1"/>
                </a:solidFill>
                <a:latin typeface="微软雅黑" panose="020B0503020204020204" pitchFamily="34" charset="-122"/>
                <a:ea typeface="微软雅黑" panose="020B0503020204020204" pitchFamily="34" charset="-122"/>
                <a:sym typeface="+mn-ea"/>
              </a:rPr>
              <a:t>燃油封闭式或栏板式货车的组合、燃油货车与行人或固定物的碰撞、以及燃油货车在一般城市道路上行驶的组合会显著增加死亡事故发生概率。</a:t>
            </a:r>
          </a:p>
        </p:txBody>
      </p:sp>
      <p:sp>
        <p:nvSpPr>
          <p:cNvPr id="33" name="文本框 32">
            <a:extLst>
              <a:ext uri="{FF2B5EF4-FFF2-40B4-BE49-F238E27FC236}">
                <a16:creationId xmlns:a16="http://schemas.microsoft.com/office/drawing/2014/main" id="{13AE90A8-BB1A-43D3-8C13-D3A622E3B00F}"/>
              </a:ext>
            </a:extLst>
          </p:cNvPr>
          <p:cNvSpPr txBox="1"/>
          <p:nvPr/>
        </p:nvSpPr>
        <p:spPr>
          <a:xfrm>
            <a:off x="6096000" y="3405459"/>
            <a:ext cx="5328592" cy="461665"/>
          </a:xfrm>
          <a:prstGeom prst="rect">
            <a:avLst/>
          </a:prstGeom>
          <a:solidFill>
            <a:srgbClr val="1B3F85"/>
          </a:solidFill>
        </p:spPr>
        <p:txBody>
          <a:bodyPr wrap="square" rtlCol="0" anchor="t">
            <a:spAutoFit/>
          </a:bodyPr>
          <a:lstStyle/>
          <a:p>
            <a:r>
              <a:rPr lang="zh-CN" altLang="en-US" sz="1200" dirty="0">
                <a:solidFill>
                  <a:schemeClr val="bg1"/>
                </a:solidFill>
                <a:latin typeface="微软雅黑" panose="020B0503020204020204" pitchFamily="34" charset="-122"/>
                <a:ea typeface="微软雅黑" panose="020B0503020204020204" pitchFamily="34" charset="-122"/>
                <a:sym typeface="+mn-ea"/>
              </a:rPr>
              <a:t>死亡事故受货车自身属性影响较大，车辆属性特征贡献度总和达</a:t>
            </a:r>
            <a:r>
              <a:rPr lang="en-US" altLang="zh-CN" sz="1200" dirty="0">
                <a:solidFill>
                  <a:schemeClr val="bg1"/>
                </a:solidFill>
                <a:latin typeface="微软雅黑" panose="020B0503020204020204" pitchFamily="34" charset="-122"/>
                <a:ea typeface="微软雅黑" panose="020B0503020204020204" pitchFamily="34" charset="-122"/>
                <a:sym typeface="+mn-ea"/>
              </a:rPr>
              <a:t>46.2%</a:t>
            </a:r>
            <a:r>
              <a:rPr lang="zh-CN" altLang="en-US" sz="1200" dirty="0">
                <a:solidFill>
                  <a:schemeClr val="bg1"/>
                </a:solidFill>
                <a:latin typeface="微软雅黑" panose="020B0503020204020204" pitchFamily="34" charset="-122"/>
                <a:ea typeface="微软雅黑" panose="020B0503020204020204" pitchFamily="34" charset="-122"/>
                <a:sym typeface="+mn-ea"/>
              </a:rPr>
              <a:t>；</a:t>
            </a:r>
            <a:endParaRPr lang="en-US" altLang="zh-CN" sz="1200" dirty="0">
              <a:solidFill>
                <a:schemeClr val="bg1"/>
              </a:solidFill>
              <a:latin typeface="微软雅黑" panose="020B0503020204020204" pitchFamily="34" charset="-122"/>
              <a:ea typeface="微软雅黑" panose="020B0503020204020204" pitchFamily="34" charset="-122"/>
              <a:sym typeface="+mn-ea"/>
            </a:endParaRPr>
          </a:p>
          <a:p>
            <a:r>
              <a:rPr lang="zh-CN" altLang="en-US" sz="1200" dirty="0">
                <a:solidFill>
                  <a:schemeClr val="bg1"/>
                </a:solidFill>
                <a:latin typeface="微软雅黑" panose="020B0503020204020204" pitchFamily="34" charset="-122"/>
                <a:ea typeface="微软雅黑" panose="020B0503020204020204" pitchFamily="34" charset="-122"/>
                <a:sym typeface="+mn-ea"/>
              </a:rPr>
              <a:t>燃油、重型、栏板货车或自卸货车能增加死亡事故发生的风险。</a:t>
            </a:r>
            <a:endParaRPr lang="en-US" altLang="zh-CN" sz="1200" dirty="0">
              <a:solidFill>
                <a:schemeClr val="bg1"/>
              </a:solidFill>
              <a:latin typeface="微软雅黑" panose="020B0503020204020204" pitchFamily="34" charset="-122"/>
              <a:ea typeface="微软雅黑" panose="020B0503020204020204" pitchFamily="34" charset="-122"/>
              <a:sym typeface="+mn-ea"/>
            </a:endParaRPr>
          </a:p>
        </p:txBody>
      </p:sp>
      <p:sp>
        <p:nvSpPr>
          <p:cNvPr id="35" name="文本框 34">
            <a:extLst>
              <a:ext uri="{FF2B5EF4-FFF2-40B4-BE49-F238E27FC236}">
                <a16:creationId xmlns:a16="http://schemas.microsoft.com/office/drawing/2014/main" id="{38476119-F533-4085-90A5-12E168AE8867}"/>
              </a:ext>
            </a:extLst>
          </p:cNvPr>
          <p:cNvSpPr txBox="1"/>
          <p:nvPr/>
        </p:nvSpPr>
        <p:spPr>
          <a:xfrm>
            <a:off x="3437296" y="5110028"/>
            <a:ext cx="2450289" cy="701312"/>
          </a:xfrm>
          <a:prstGeom prst="rect">
            <a:avLst/>
          </a:prstGeom>
          <a:solidFill>
            <a:srgbClr val="1B3F85"/>
          </a:solidFill>
        </p:spPr>
        <p:txBody>
          <a:bodyPr wrap="square" rtlCol="0" anchor="t">
            <a:noAutofit/>
          </a:bodyPr>
          <a:lstStyle/>
          <a:p>
            <a:pPr indent="0">
              <a:lnSpc>
                <a:spcPct val="110000"/>
              </a:lnSpc>
              <a:spcAft>
                <a:spcPts val="300"/>
              </a:spcAft>
              <a:buFont typeface="Arial" panose="020B0604020202020204" pitchFamily="34" charset="0"/>
              <a:buNone/>
            </a:pPr>
            <a:r>
              <a:rPr lang="zh-CN" altLang="en-US" sz="1200" dirty="0">
                <a:solidFill>
                  <a:schemeClr val="bg1"/>
                </a:solidFill>
                <a:latin typeface="微软雅黑" panose="020B0503020204020204" pitchFamily="34" charset="-122"/>
                <a:ea typeface="微软雅黑" panose="020B0503020204020204" pitchFamily="34" charset="-122"/>
                <a:sym typeface="+mn-ea"/>
              </a:rPr>
              <a:t>低密度路网尤其对受伤事故发生的影响程度最大，最高影响程度是其他两类事故的三倍</a:t>
            </a:r>
          </a:p>
        </p:txBody>
      </p:sp>
      <p:sp>
        <p:nvSpPr>
          <p:cNvPr id="36" name="文本框 35">
            <a:extLst>
              <a:ext uri="{FF2B5EF4-FFF2-40B4-BE49-F238E27FC236}">
                <a16:creationId xmlns:a16="http://schemas.microsoft.com/office/drawing/2014/main" id="{DB93BD48-B0DB-4B46-BC0E-81F3C2437EA1}"/>
              </a:ext>
            </a:extLst>
          </p:cNvPr>
          <p:cNvSpPr txBox="1"/>
          <p:nvPr/>
        </p:nvSpPr>
        <p:spPr>
          <a:xfrm>
            <a:off x="6940991" y="1007628"/>
            <a:ext cx="3985377" cy="338554"/>
          </a:xfrm>
          <a:prstGeom prst="rect">
            <a:avLst/>
          </a:prstGeom>
          <a:noFill/>
        </p:spPr>
        <p:txBody>
          <a:bodyPr wrap="square" rtlCol="0" anchor="t">
            <a:spAutoFit/>
          </a:bodyPr>
          <a:lstStyle/>
          <a:p>
            <a:r>
              <a:rPr lang="zh-CN" altLang="en-US" sz="1600" b="1" dirty="0">
                <a:latin typeface="微软雅黑" panose="020B0503020204020204" pitchFamily="34" charset="-122"/>
                <a:ea typeface="微软雅黑" panose="020B0503020204020204" pitchFamily="34" charset="-122"/>
                <a:sym typeface="+mn-ea"/>
              </a:rPr>
              <a:t>死亡事故重要特征分析与高风险场景识别</a:t>
            </a:r>
          </a:p>
        </p:txBody>
      </p:sp>
      <p:sp>
        <p:nvSpPr>
          <p:cNvPr id="37" name="文本框 36">
            <a:extLst>
              <a:ext uri="{FF2B5EF4-FFF2-40B4-BE49-F238E27FC236}">
                <a16:creationId xmlns:a16="http://schemas.microsoft.com/office/drawing/2014/main" id="{4E8933AA-68A8-430F-9EEF-7FF4ADB43703}"/>
              </a:ext>
            </a:extLst>
          </p:cNvPr>
          <p:cNvSpPr txBox="1"/>
          <p:nvPr/>
        </p:nvSpPr>
        <p:spPr>
          <a:xfrm>
            <a:off x="3359696" y="1008797"/>
            <a:ext cx="2685533" cy="338554"/>
          </a:xfrm>
          <a:prstGeom prst="rect">
            <a:avLst/>
          </a:prstGeom>
          <a:noFill/>
        </p:spPr>
        <p:txBody>
          <a:bodyPr wrap="square" rtlCol="0" anchor="t">
            <a:spAutoFit/>
          </a:bodyPr>
          <a:lstStyle/>
          <a:p>
            <a:r>
              <a:rPr lang="zh-CN" altLang="en-US" sz="1600" b="1" dirty="0">
                <a:latin typeface="微软雅黑" panose="020B0503020204020204" pitchFamily="34" charset="-122"/>
                <a:ea typeface="微软雅黑" panose="020B0503020204020204" pitchFamily="34" charset="-122"/>
                <a:sym typeface="+mn-ea"/>
              </a:rPr>
              <a:t>三类事故严重程度对比分析</a:t>
            </a:r>
          </a:p>
        </p:txBody>
      </p:sp>
      <p:pic>
        <p:nvPicPr>
          <p:cNvPr id="38" name="图片 37" descr="LightGBM_ROC_Curve">
            <a:extLst>
              <a:ext uri="{FF2B5EF4-FFF2-40B4-BE49-F238E27FC236}">
                <a16:creationId xmlns:a16="http://schemas.microsoft.com/office/drawing/2014/main" id="{3E37FEBB-36E6-4275-8A16-5FD414F13AB7}"/>
              </a:ext>
            </a:extLst>
          </p:cNvPr>
          <p:cNvPicPr>
            <a:picLocks noChangeAspect="1"/>
          </p:cNvPicPr>
          <p:nvPr/>
        </p:nvPicPr>
        <p:blipFill>
          <a:blip r:embed="rId3"/>
          <a:srcRect l="4725" t="7129" r="8864" b="3418"/>
          <a:stretch>
            <a:fillRect/>
          </a:stretch>
        </p:blipFill>
        <p:spPr>
          <a:xfrm>
            <a:off x="632152" y="1360256"/>
            <a:ext cx="2426914" cy="1885349"/>
          </a:xfrm>
          <a:prstGeom prst="rect">
            <a:avLst/>
          </a:prstGeom>
        </p:spPr>
      </p:pic>
      <p:sp>
        <p:nvSpPr>
          <p:cNvPr id="39" name="矩形 38">
            <a:extLst>
              <a:ext uri="{FF2B5EF4-FFF2-40B4-BE49-F238E27FC236}">
                <a16:creationId xmlns:a16="http://schemas.microsoft.com/office/drawing/2014/main" id="{B0E0AAE3-A373-4D80-A2EF-189F944D0605}"/>
              </a:ext>
            </a:extLst>
          </p:cNvPr>
          <p:cNvSpPr/>
          <p:nvPr/>
        </p:nvSpPr>
        <p:spPr>
          <a:xfrm>
            <a:off x="479376" y="986804"/>
            <a:ext cx="2838261" cy="4863530"/>
          </a:xfrm>
          <a:prstGeom prst="rect">
            <a:avLst/>
          </a:prstGeom>
          <a:noFill/>
          <a:ln w="19050">
            <a:solidFill>
              <a:srgbClr val="1B3F8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descr="XGBoost_ROC_Curve">
            <a:extLst>
              <a:ext uri="{FF2B5EF4-FFF2-40B4-BE49-F238E27FC236}">
                <a16:creationId xmlns:a16="http://schemas.microsoft.com/office/drawing/2014/main" id="{CD2E49D7-1FB1-4CF1-BAEE-4A431A8E92C3}"/>
              </a:ext>
            </a:extLst>
          </p:cNvPr>
          <p:cNvPicPr>
            <a:picLocks noChangeAspect="1"/>
          </p:cNvPicPr>
          <p:nvPr/>
        </p:nvPicPr>
        <p:blipFill>
          <a:blip r:embed="rId4"/>
          <a:srcRect l="5222" t="6259" r="8539" b="3529"/>
          <a:stretch>
            <a:fillRect/>
          </a:stretch>
        </p:blipFill>
        <p:spPr>
          <a:xfrm>
            <a:off x="606458" y="3291932"/>
            <a:ext cx="822940" cy="645615"/>
          </a:xfrm>
          <a:prstGeom prst="rect">
            <a:avLst/>
          </a:prstGeom>
        </p:spPr>
      </p:pic>
      <p:pic>
        <p:nvPicPr>
          <p:cNvPr id="41" name="图片 40" descr="RandomForest_ROC_Curve">
            <a:extLst>
              <a:ext uri="{FF2B5EF4-FFF2-40B4-BE49-F238E27FC236}">
                <a16:creationId xmlns:a16="http://schemas.microsoft.com/office/drawing/2014/main" id="{7C93D2EA-D62D-40E5-B6D7-13D1FCDEB552}"/>
              </a:ext>
            </a:extLst>
          </p:cNvPr>
          <p:cNvPicPr>
            <a:picLocks noChangeAspect="1"/>
          </p:cNvPicPr>
          <p:nvPr/>
        </p:nvPicPr>
        <p:blipFill>
          <a:blip r:embed="rId5"/>
          <a:srcRect l="5531" t="6543" r="8791" b="3662"/>
          <a:stretch>
            <a:fillRect/>
          </a:stretch>
        </p:blipFill>
        <p:spPr>
          <a:xfrm>
            <a:off x="1497727" y="3291932"/>
            <a:ext cx="822940" cy="647200"/>
          </a:xfrm>
          <a:prstGeom prst="rect">
            <a:avLst/>
          </a:prstGeom>
        </p:spPr>
      </p:pic>
      <p:pic>
        <p:nvPicPr>
          <p:cNvPr id="42" name="图片 41" descr="Neural_Network_ROC_Curve">
            <a:extLst>
              <a:ext uri="{FF2B5EF4-FFF2-40B4-BE49-F238E27FC236}">
                <a16:creationId xmlns:a16="http://schemas.microsoft.com/office/drawing/2014/main" id="{22AEE552-614B-43EB-A3CA-5A6A999A3178}"/>
              </a:ext>
            </a:extLst>
          </p:cNvPr>
          <p:cNvPicPr>
            <a:picLocks noChangeAspect="1"/>
          </p:cNvPicPr>
          <p:nvPr/>
        </p:nvPicPr>
        <p:blipFill>
          <a:blip r:embed="rId6"/>
          <a:srcRect l="5824" t="6899" r="7750" b="3569"/>
          <a:stretch>
            <a:fillRect/>
          </a:stretch>
        </p:blipFill>
        <p:spPr>
          <a:xfrm>
            <a:off x="2385142" y="3291932"/>
            <a:ext cx="830539" cy="647200"/>
          </a:xfrm>
          <a:prstGeom prst="rect">
            <a:avLst/>
          </a:prstGeom>
        </p:spPr>
      </p:pic>
      <p:graphicFrame>
        <p:nvGraphicFramePr>
          <p:cNvPr id="43" name="表格 42">
            <a:extLst>
              <a:ext uri="{FF2B5EF4-FFF2-40B4-BE49-F238E27FC236}">
                <a16:creationId xmlns:a16="http://schemas.microsoft.com/office/drawing/2014/main" id="{BCCAA0D8-0755-4D32-8B28-A215CD7DBB14}"/>
              </a:ext>
            </a:extLst>
          </p:cNvPr>
          <p:cNvGraphicFramePr>
            <a:graphicFrameLocks noGrp="1"/>
          </p:cNvGraphicFramePr>
          <p:nvPr/>
        </p:nvGraphicFramePr>
        <p:xfrm>
          <a:off x="524439" y="4051335"/>
          <a:ext cx="2750572" cy="1737360"/>
        </p:xfrm>
        <a:graphic>
          <a:graphicData uri="http://schemas.openxmlformats.org/drawingml/2006/table">
            <a:tbl>
              <a:tblPr firstRow="1">
                <a:tableStyleId>{FABFCF23-3B69-468F-B69F-88F6DE6A72F2}</a:tableStyleId>
              </a:tblPr>
              <a:tblGrid>
                <a:gridCol w="428929">
                  <a:extLst>
                    <a:ext uri="{9D8B030D-6E8A-4147-A177-3AD203B41FA5}">
                      <a16:colId xmlns:a16="http://schemas.microsoft.com/office/drawing/2014/main" val="3629244222"/>
                    </a:ext>
                  </a:extLst>
                </a:gridCol>
                <a:gridCol w="390197">
                  <a:extLst>
                    <a:ext uri="{9D8B030D-6E8A-4147-A177-3AD203B41FA5}">
                      <a16:colId xmlns:a16="http://schemas.microsoft.com/office/drawing/2014/main" val="1561883968"/>
                    </a:ext>
                  </a:extLst>
                </a:gridCol>
                <a:gridCol w="346811">
                  <a:extLst>
                    <a:ext uri="{9D8B030D-6E8A-4147-A177-3AD203B41FA5}">
                      <a16:colId xmlns:a16="http://schemas.microsoft.com/office/drawing/2014/main" val="3195741390"/>
                    </a:ext>
                  </a:extLst>
                </a:gridCol>
                <a:gridCol w="445184">
                  <a:extLst>
                    <a:ext uri="{9D8B030D-6E8A-4147-A177-3AD203B41FA5}">
                      <a16:colId xmlns:a16="http://schemas.microsoft.com/office/drawing/2014/main" val="223938643"/>
                    </a:ext>
                  </a:extLst>
                </a:gridCol>
                <a:gridCol w="432048">
                  <a:extLst>
                    <a:ext uri="{9D8B030D-6E8A-4147-A177-3AD203B41FA5}">
                      <a16:colId xmlns:a16="http://schemas.microsoft.com/office/drawing/2014/main" val="1007069770"/>
                    </a:ext>
                  </a:extLst>
                </a:gridCol>
                <a:gridCol w="360040">
                  <a:extLst>
                    <a:ext uri="{9D8B030D-6E8A-4147-A177-3AD203B41FA5}">
                      <a16:colId xmlns:a16="http://schemas.microsoft.com/office/drawing/2014/main" val="875255975"/>
                    </a:ext>
                  </a:extLst>
                </a:gridCol>
                <a:gridCol w="347363">
                  <a:extLst>
                    <a:ext uri="{9D8B030D-6E8A-4147-A177-3AD203B41FA5}">
                      <a16:colId xmlns:a16="http://schemas.microsoft.com/office/drawing/2014/main" val="911295407"/>
                    </a:ext>
                  </a:extLst>
                </a:gridCol>
              </a:tblGrid>
              <a:tr h="182880">
                <a:tc>
                  <a:txBody>
                    <a:bodyPr/>
                    <a:lstStyle/>
                    <a:p>
                      <a:pPr marL="0" marR="0" algn="ctr">
                        <a:spcBef>
                          <a:spcPts val="0"/>
                        </a:spcBef>
                        <a:spcAft>
                          <a:spcPts val="0"/>
                        </a:spcAft>
                      </a:pPr>
                      <a:endParaRPr lang="zh-CN" altLang="en-US" sz="900" i="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sz="900" kern="100" dirty="0">
                          <a:effectLst/>
                        </a:rPr>
                        <a:t>Accuracy</a:t>
                      </a:r>
                      <a:endParaRPr 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sz="900" kern="100">
                          <a:effectLst/>
                        </a:rPr>
                        <a:t>Precision</a:t>
                      </a:r>
                      <a:endParaRPr lang="en-US"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sz="900" kern="100">
                          <a:effectLst/>
                        </a:rPr>
                        <a:t>recall</a:t>
                      </a:r>
                      <a:endParaRPr lang="en-US"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sz="900" kern="100" dirty="0">
                          <a:effectLst/>
                        </a:rPr>
                        <a:t>F1 score</a:t>
                      </a:r>
                      <a:endParaRPr 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sz="900" kern="100">
                          <a:effectLst/>
                        </a:rPr>
                        <a:t>MCC</a:t>
                      </a:r>
                      <a:endParaRPr lang="en-US"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sz="900" kern="100">
                          <a:effectLst/>
                        </a:rPr>
                        <a:t>AUC</a:t>
                      </a:r>
                      <a:endParaRPr lang="en-US"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extLst>
                  <a:ext uri="{0D108BD9-81ED-4DB2-BD59-A6C34878D82A}">
                    <a16:rowId xmlns:a16="http://schemas.microsoft.com/office/drawing/2014/main" val="4134551419"/>
                  </a:ext>
                </a:extLst>
              </a:tr>
              <a:tr h="182880">
                <a:tc>
                  <a:txBody>
                    <a:bodyPr/>
                    <a:lstStyle/>
                    <a:p>
                      <a:pPr marL="0" marR="0" algn="ctr">
                        <a:spcBef>
                          <a:spcPts val="0"/>
                        </a:spcBef>
                        <a:spcAft>
                          <a:spcPts val="0"/>
                        </a:spcAft>
                      </a:pPr>
                      <a:r>
                        <a:rPr lang="en-US" sz="900" kern="100" dirty="0" err="1">
                          <a:effectLst/>
                        </a:rPr>
                        <a:t>XGboost</a:t>
                      </a:r>
                      <a:endParaRPr 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0.93</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0.91</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0.93</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0.90</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0.28</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0.91</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extLst>
                  <a:ext uri="{0D108BD9-81ED-4DB2-BD59-A6C34878D82A}">
                    <a16:rowId xmlns:a16="http://schemas.microsoft.com/office/drawing/2014/main" val="228814898"/>
                  </a:ext>
                </a:extLst>
              </a:tr>
              <a:tr h="182880">
                <a:tc>
                  <a:txBody>
                    <a:bodyPr/>
                    <a:lstStyle/>
                    <a:p>
                      <a:pPr marL="0" marR="0" algn="ctr">
                        <a:spcBef>
                          <a:spcPts val="0"/>
                        </a:spcBef>
                        <a:spcAft>
                          <a:spcPts val="0"/>
                        </a:spcAft>
                      </a:pPr>
                      <a:r>
                        <a:rPr lang="en-US" sz="900" kern="100" dirty="0" err="1">
                          <a:effectLst/>
                        </a:rPr>
                        <a:t>Randomforest</a:t>
                      </a:r>
                      <a:endParaRPr 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0.93</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0.91</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0.93</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0.91</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0.34</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kern="100" dirty="0">
                          <a:effectLst/>
                        </a:rPr>
                        <a:t>0.91</a:t>
                      </a:r>
                      <a:endParaRPr lang="zh-CN" alt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extLst>
                  <a:ext uri="{0D108BD9-81ED-4DB2-BD59-A6C34878D82A}">
                    <a16:rowId xmlns:a16="http://schemas.microsoft.com/office/drawing/2014/main" val="977783161"/>
                  </a:ext>
                </a:extLst>
              </a:tr>
              <a:tr h="182880">
                <a:tc>
                  <a:txBody>
                    <a:bodyPr/>
                    <a:lstStyle/>
                    <a:p>
                      <a:pPr marL="0" marR="0" algn="ctr">
                        <a:spcBef>
                          <a:spcPts val="0"/>
                        </a:spcBef>
                        <a:spcAft>
                          <a:spcPts val="0"/>
                        </a:spcAft>
                      </a:pPr>
                      <a:r>
                        <a:rPr lang="en-US" sz="900" b="1" kern="100" dirty="0" err="1">
                          <a:solidFill>
                            <a:schemeClr val="accent6">
                              <a:lumMod val="75000"/>
                            </a:schemeClr>
                          </a:solidFill>
                          <a:effectLst/>
                        </a:rPr>
                        <a:t>LightGBM</a:t>
                      </a:r>
                      <a:endParaRPr lang="en-US" sz="1050" b="1" kern="100" dirty="0">
                        <a:solidFill>
                          <a:schemeClr val="accent6">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b="1" kern="100" dirty="0">
                          <a:solidFill>
                            <a:schemeClr val="accent6">
                              <a:lumMod val="75000"/>
                            </a:schemeClr>
                          </a:solidFill>
                          <a:effectLst/>
                        </a:rPr>
                        <a:t>0.95</a:t>
                      </a:r>
                      <a:endParaRPr lang="zh-CN" altLang="en-US" sz="1050" b="1" kern="100" dirty="0">
                        <a:solidFill>
                          <a:schemeClr val="accent6">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b="1" kern="100" dirty="0">
                          <a:solidFill>
                            <a:schemeClr val="accent6">
                              <a:lumMod val="75000"/>
                            </a:schemeClr>
                          </a:solidFill>
                          <a:effectLst/>
                        </a:rPr>
                        <a:t>0.95</a:t>
                      </a:r>
                      <a:endParaRPr lang="zh-CN" altLang="en-US" sz="1050" b="1" kern="100" dirty="0">
                        <a:solidFill>
                          <a:schemeClr val="accent6">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b="1" kern="100" dirty="0">
                          <a:solidFill>
                            <a:schemeClr val="accent6">
                              <a:lumMod val="75000"/>
                            </a:schemeClr>
                          </a:solidFill>
                          <a:effectLst/>
                        </a:rPr>
                        <a:t>0.95</a:t>
                      </a:r>
                      <a:endParaRPr lang="zh-CN" altLang="en-US" sz="1050" b="1" kern="100" dirty="0">
                        <a:solidFill>
                          <a:schemeClr val="accent6">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b="1" kern="100" dirty="0">
                          <a:solidFill>
                            <a:schemeClr val="accent6">
                              <a:lumMod val="75000"/>
                            </a:schemeClr>
                          </a:solidFill>
                          <a:effectLst/>
                        </a:rPr>
                        <a:t>0.94</a:t>
                      </a:r>
                      <a:endParaRPr lang="zh-CN" altLang="en-US" sz="1050" b="1" kern="100" dirty="0">
                        <a:solidFill>
                          <a:schemeClr val="accent6">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b="1" kern="100" dirty="0">
                          <a:solidFill>
                            <a:schemeClr val="accent6">
                              <a:lumMod val="75000"/>
                            </a:schemeClr>
                          </a:solidFill>
                          <a:effectLst/>
                        </a:rPr>
                        <a:t>0.53</a:t>
                      </a:r>
                      <a:endParaRPr lang="zh-CN" altLang="en-US" sz="1050" b="1" kern="100" dirty="0">
                        <a:solidFill>
                          <a:schemeClr val="accent6">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tc>
                  <a:txBody>
                    <a:bodyPr/>
                    <a:lstStyle/>
                    <a:p>
                      <a:pPr marL="0" marR="0" algn="ctr">
                        <a:spcBef>
                          <a:spcPts val="0"/>
                        </a:spcBef>
                        <a:spcAft>
                          <a:spcPts val="0"/>
                        </a:spcAft>
                      </a:pPr>
                      <a:r>
                        <a:rPr lang="en-US" altLang="zh-CN" sz="900" b="1" kern="100" dirty="0">
                          <a:solidFill>
                            <a:schemeClr val="accent6">
                              <a:lumMod val="75000"/>
                            </a:schemeClr>
                          </a:solidFill>
                          <a:effectLst/>
                        </a:rPr>
                        <a:t>0.92</a:t>
                      </a:r>
                      <a:endParaRPr lang="zh-CN" altLang="en-US" sz="1050" b="1" kern="100" dirty="0">
                        <a:solidFill>
                          <a:schemeClr val="accent6">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tc>
                <a:extLst>
                  <a:ext uri="{0D108BD9-81ED-4DB2-BD59-A6C34878D82A}">
                    <a16:rowId xmlns:a16="http://schemas.microsoft.com/office/drawing/2014/main" val="482936363"/>
                  </a:ext>
                </a:extLst>
              </a:tr>
            </a:tbl>
          </a:graphicData>
        </a:graphic>
      </p:graphicFrame>
      <p:sp>
        <p:nvSpPr>
          <p:cNvPr id="44" name="文本框 43">
            <a:extLst>
              <a:ext uri="{FF2B5EF4-FFF2-40B4-BE49-F238E27FC236}">
                <a16:creationId xmlns:a16="http://schemas.microsoft.com/office/drawing/2014/main" id="{E1AEC562-041B-4BD3-B095-A799695DE790}"/>
              </a:ext>
            </a:extLst>
          </p:cNvPr>
          <p:cNvSpPr txBox="1"/>
          <p:nvPr/>
        </p:nvSpPr>
        <p:spPr>
          <a:xfrm>
            <a:off x="1034203" y="1008290"/>
            <a:ext cx="2685533" cy="338554"/>
          </a:xfrm>
          <a:prstGeom prst="rect">
            <a:avLst/>
          </a:prstGeom>
          <a:noFill/>
        </p:spPr>
        <p:txBody>
          <a:bodyPr wrap="square" rtlCol="0" anchor="t">
            <a:spAutoFit/>
          </a:bodyPr>
          <a:lstStyle/>
          <a:p>
            <a:r>
              <a:rPr lang="zh-CN" altLang="en-US" sz="1600" b="1" dirty="0">
                <a:latin typeface="微软雅黑" panose="020B0503020204020204" pitchFamily="34" charset="-122"/>
                <a:ea typeface="微软雅黑" panose="020B0503020204020204" pitchFamily="34" charset="-122"/>
                <a:sym typeface="+mn-ea"/>
              </a:rPr>
              <a:t>模型效果对比分析</a:t>
            </a:r>
          </a:p>
        </p:txBody>
      </p:sp>
      <p:pic>
        <p:nvPicPr>
          <p:cNvPr id="45" name="图片 44" descr="财损-全局">
            <a:extLst>
              <a:ext uri="{FF2B5EF4-FFF2-40B4-BE49-F238E27FC236}">
                <a16:creationId xmlns:a16="http://schemas.microsoft.com/office/drawing/2014/main" id="{166E237C-1E15-4DEE-911E-EEFEFF6F0B83}"/>
              </a:ext>
            </a:extLst>
          </p:cNvPr>
          <p:cNvPicPr>
            <a:picLocks noChangeAspect="1"/>
          </p:cNvPicPr>
          <p:nvPr/>
        </p:nvPicPr>
        <p:blipFill>
          <a:blip r:embed="rId7"/>
          <a:stretch>
            <a:fillRect/>
          </a:stretch>
        </p:blipFill>
        <p:spPr>
          <a:xfrm>
            <a:off x="3368494" y="1398797"/>
            <a:ext cx="1287346" cy="1604231"/>
          </a:xfrm>
          <a:prstGeom prst="rect">
            <a:avLst/>
          </a:prstGeom>
        </p:spPr>
      </p:pic>
      <p:pic>
        <p:nvPicPr>
          <p:cNvPr id="46" name="图片 45" descr="受伤-全局">
            <a:extLst>
              <a:ext uri="{FF2B5EF4-FFF2-40B4-BE49-F238E27FC236}">
                <a16:creationId xmlns:a16="http://schemas.microsoft.com/office/drawing/2014/main" id="{FE93C10A-F18B-4B24-8F87-2488053F8F68}"/>
              </a:ext>
            </a:extLst>
          </p:cNvPr>
          <p:cNvPicPr>
            <a:picLocks noChangeAspect="1"/>
          </p:cNvPicPr>
          <p:nvPr/>
        </p:nvPicPr>
        <p:blipFill>
          <a:blip r:embed="rId8"/>
          <a:stretch>
            <a:fillRect/>
          </a:stretch>
        </p:blipFill>
        <p:spPr>
          <a:xfrm>
            <a:off x="4566918" y="1379938"/>
            <a:ext cx="1302480" cy="1623090"/>
          </a:xfrm>
          <a:prstGeom prst="rect">
            <a:avLst/>
          </a:prstGeom>
        </p:spPr>
      </p:pic>
      <p:sp>
        <p:nvSpPr>
          <p:cNvPr id="47" name="文本框 46">
            <a:extLst>
              <a:ext uri="{FF2B5EF4-FFF2-40B4-BE49-F238E27FC236}">
                <a16:creationId xmlns:a16="http://schemas.microsoft.com/office/drawing/2014/main" id="{984FB16D-0AED-4232-BA5D-12E6C86555EA}"/>
              </a:ext>
            </a:extLst>
          </p:cNvPr>
          <p:cNvSpPr txBox="1"/>
          <p:nvPr/>
        </p:nvSpPr>
        <p:spPr>
          <a:xfrm>
            <a:off x="5014436" y="3017622"/>
            <a:ext cx="685656" cy="256480"/>
          </a:xfrm>
          <a:prstGeom prst="rect">
            <a:avLst/>
          </a:prstGeom>
        </p:spPr>
        <p:txBody>
          <a:bodyPr wrap="square">
            <a:spAutoFit/>
          </a:bodyPr>
          <a:lstStyle/>
          <a:p>
            <a:pPr marL="0" indent="0" algn="ctr" defTabSz="266700">
              <a:spcBef>
                <a:spcPct val="0"/>
              </a:spcBef>
              <a:spcAft>
                <a:spcPct val="0"/>
              </a:spcAft>
            </a:pPr>
            <a:r>
              <a:rPr lang="zh-CN" altLang="en-US" sz="1600" b="1" baseline="30000" dirty="0">
                <a:latin typeface="Times New Roman" panose="02020603050405020304"/>
                <a:ea typeface="宋体" panose="02010600030101010101" pitchFamily="2" charset="-122"/>
              </a:rPr>
              <a:t>受伤</a:t>
            </a:r>
          </a:p>
        </p:txBody>
      </p:sp>
      <p:sp>
        <p:nvSpPr>
          <p:cNvPr id="16" name="矩形 15">
            <a:extLst>
              <a:ext uri="{FF2B5EF4-FFF2-40B4-BE49-F238E27FC236}">
                <a16:creationId xmlns:a16="http://schemas.microsoft.com/office/drawing/2014/main" id="{BD69D248-C82D-4F78-AA07-E9D422A84A69}"/>
              </a:ext>
            </a:extLst>
          </p:cNvPr>
          <p:cNvSpPr/>
          <p:nvPr/>
        </p:nvSpPr>
        <p:spPr>
          <a:xfrm>
            <a:off x="3393324" y="986807"/>
            <a:ext cx="2549506" cy="4863530"/>
          </a:xfrm>
          <a:prstGeom prst="rect">
            <a:avLst/>
          </a:prstGeom>
          <a:noFill/>
          <a:ln w="19050">
            <a:solidFill>
              <a:srgbClr val="1B3F8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图片 47" descr="死亡-全局">
            <a:extLst>
              <a:ext uri="{FF2B5EF4-FFF2-40B4-BE49-F238E27FC236}">
                <a16:creationId xmlns:a16="http://schemas.microsoft.com/office/drawing/2014/main" id="{59013D9C-DA11-455E-88C9-35DE48CD1489}"/>
              </a:ext>
            </a:extLst>
          </p:cNvPr>
          <p:cNvPicPr>
            <a:picLocks noChangeAspect="1"/>
          </p:cNvPicPr>
          <p:nvPr/>
        </p:nvPicPr>
        <p:blipFill>
          <a:blip r:embed="rId9"/>
          <a:stretch>
            <a:fillRect/>
          </a:stretch>
        </p:blipFill>
        <p:spPr>
          <a:xfrm>
            <a:off x="6162141" y="1367004"/>
            <a:ext cx="1444864" cy="1800523"/>
          </a:xfrm>
          <a:prstGeom prst="rect">
            <a:avLst/>
          </a:prstGeom>
        </p:spPr>
      </p:pic>
      <p:pic>
        <p:nvPicPr>
          <p:cNvPr id="2052" name="Picture 4">
            <a:extLst>
              <a:ext uri="{FF2B5EF4-FFF2-40B4-BE49-F238E27FC236}">
                <a16:creationId xmlns:a16="http://schemas.microsoft.com/office/drawing/2014/main" id="{4A7934C1-CB99-4B42-9E68-F05F9637750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491426" y="4175177"/>
            <a:ext cx="748195" cy="6002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a:extLst>
              <a:ext uri="{FF2B5EF4-FFF2-40B4-BE49-F238E27FC236}">
                <a16:creationId xmlns:a16="http://schemas.microsoft.com/office/drawing/2014/main" id="{02DE7556-6475-416E-94F0-D33881E610C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259841" y="4166468"/>
            <a:ext cx="784531" cy="62934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7346762-C6B9-4EBC-A9D2-EAACC27740ED}"/>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095445" y="4155156"/>
            <a:ext cx="784531" cy="629349"/>
          </a:xfrm>
          <a:prstGeom prst="rect">
            <a:avLst/>
          </a:prstGeom>
          <a:noFill/>
          <a:extLst>
            <a:ext uri="{909E8E84-426E-40DD-AFC4-6F175D3DCCD1}">
              <a14:hiddenFill xmlns:a14="http://schemas.microsoft.com/office/drawing/2010/main">
                <a:solidFill>
                  <a:srgbClr val="FFFFFF"/>
                </a:solidFill>
              </a14:hiddenFill>
            </a:ext>
          </a:extLst>
        </p:spPr>
      </p:pic>
      <p:sp>
        <p:nvSpPr>
          <p:cNvPr id="58" name="文本框 57">
            <a:extLst>
              <a:ext uri="{FF2B5EF4-FFF2-40B4-BE49-F238E27FC236}">
                <a16:creationId xmlns:a16="http://schemas.microsoft.com/office/drawing/2014/main" id="{25E361FC-C8AF-4B04-B265-96D2CC6A822D}"/>
              </a:ext>
            </a:extLst>
          </p:cNvPr>
          <p:cNvSpPr txBox="1"/>
          <p:nvPr/>
        </p:nvSpPr>
        <p:spPr>
          <a:xfrm>
            <a:off x="3419448" y="4863300"/>
            <a:ext cx="2431987"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高速公路与快速路网密度单因子依赖图</a:t>
            </a:r>
            <a:endParaRPr lang="zh-CN" altLang="en-US" sz="1000" b="1" dirty="0">
              <a:latin typeface="Times New Roman" panose="02020603050405020304"/>
              <a:ea typeface="宋体" panose="02010600030101010101" pitchFamily="2" charset="-122"/>
            </a:endParaRPr>
          </a:p>
        </p:txBody>
      </p:sp>
      <p:sp>
        <p:nvSpPr>
          <p:cNvPr id="59" name="文本框 58">
            <a:extLst>
              <a:ext uri="{FF2B5EF4-FFF2-40B4-BE49-F238E27FC236}">
                <a16:creationId xmlns:a16="http://schemas.microsoft.com/office/drawing/2014/main" id="{5AE6796F-FEE4-4419-9CF3-39C0A0222C33}"/>
              </a:ext>
            </a:extLst>
          </p:cNvPr>
          <p:cNvSpPr txBox="1"/>
          <p:nvPr/>
        </p:nvSpPr>
        <p:spPr>
          <a:xfrm>
            <a:off x="3431704" y="3269731"/>
            <a:ext cx="2499147" cy="701312"/>
          </a:xfrm>
          <a:prstGeom prst="rect">
            <a:avLst/>
          </a:prstGeom>
          <a:solidFill>
            <a:srgbClr val="1B3F85"/>
          </a:solidFill>
        </p:spPr>
        <p:txBody>
          <a:bodyPr wrap="square" rtlCol="0" anchor="t">
            <a:noAutofit/>
          </a:bodyPr>
          <a:lstStyle/>
          <a:p>
            <a:pPr indent="0">
              <a:lnSpc>
                <a:spcPct val="110000"/>
              </a:lnSpc>
              <a:spcAft>
                <a:spcPts val="300"/>
              </a:spcAft>
              <a:buFont typeface="Arial" panose="020B0604020202020204" pitchFamily="34" charset="0"/>
              <a:buNone/>
            </a:pPr>
            <a:r>
              <a:rPr lang="zh-CN" altLang="en-US" sz="1200" dirty="0">
                <a:solidFill>
                  <a:schemeClr val="bg1"/>
                </a:solidFill>
                <a:latin typeface="微软雅黑" panose="020B0503020204020204" pitchFamily="34" charset="-122"/>
                <a:ea typeface="微软雅黑" panose="020B0503020204020204" pitchFamily="34" charset="-122"/>
                <a:sym typeface="+mn-ea"/>
              </a:rPr>
              <a:t>动力类型重要度排序综合最高，更易导致财损事故，不易发生受伤和死亡事故，相较燃油货车安全。</a:t>
            </a:r>
            <a:endParaRPr lang="en-US" altLang="zh-CN" sz="1200" dirty="0">
              <a:solidFill>
                <a:schemeClr val="bg1"/>
              </a:solidFill>
              <a:latin typeface="微软雅黑" panose="020B0503020204020204" pitchFamily="34" charset="-122"/>
              <a:ea typeface="微软雅黑" panose="020B0503020204020204" pitchFamily="34" charset="-122"/>
              <a:sym typeface="+mn-ea"/>
            </a:endParaRPr>
          </a:p>
        </p:txBody>
      </p:sp>
      <p:pic>
        <p:nvPicPr>
          <p:cNvPr id="60" name="图片 59" descr="车厢类型2">
            <a:extLst>
              <a:ext uri="{FF2B5EF4-FFF2-40B4-BE49-F238E27FC236}">
                <a16:creationId xmlns:a16="http://schemas.microsoft.com/office/drawing/2014/main" id="{21544431-6F54-431A-946C-945D3B205AEC}"/>
              </a:ext>
            </a:extLst>
          </p:cNvPr>
          <p:cNvPicPr>
            <a:picLocks noChangeAspect="1"/>
          </p:cNvPicPr>
          <p:nvPr/>
        </p:nvPicPr>
        <p:blipFill>
          <a:blip r:embed="rId13"/>
          <a:stretch>
            <a:fillRect/>
          </a:stretch>
        </p:blipFill>
        <p:spPr>
          <a:xfrm>
            <a:off x="8875839" y="1458081"/>
            <a:ext cx="974775" cy="811597"/>
          </a:xfrm>
          <a:prstGeom prst="rect">
            <a:avLst/>
          </a:prstGeom>
        </p:spPr>
      </p:pic>
      <p:pic>
        <p:nvPicPr>
          <p:cNvPr id="61" name="图片 60" descr="载重2">
            <a:extLst>
              <a:ext uri="{FF2B5EF4-FFF2-40B4-BE49-F238E27FC236}">
                <a16:creationId xmlns:a16="http://schemas.microsoft.com/office/drawing/2014/main" id="{8753078F-B581-4854-85BB-5909F9A47FF1}"/>
              </a:ext>
            </a:extLst>
          </p:cNvPr>
          <p:cNvPicPr>
            <a:picLocks noChangeAspect="1"/>
          </p:cNvPicPr>
          <p:nvPr/>
        </p:nvPicPr>
        <p:blipFill>
          <a:blip r:embed="rId14"/>
          <a:stretch>
            <a:fillRect/>
          </a:stretch>
        </p:blipFill>
        <p:spPr>
          <a:xfrm>
            <a:off x="10115493" y="1389622"/>
            <a:ext cx="1079088" cy="898448"/>
          </a:xfrm>
          <a:prstGeom prst="rect">
            <a:avLst/>
          </a:prstGeom>
        </p:spPr>
      </p:pic>
      <p:pic>
        <p:nvPicPr>
          <p:cNvPr id="65" name="图片 64" descr="车厢类型_vs_动力类型_interaction_3d">
            <a:extLst>
              <a:ext uri="{FF2B5EF4-FFF2-40B4-BE49-F238E27FC236}">
                <a16:creationId xmlns:a16="http://schemas.microsoft.com/office/drawing/2014/main" id="{DC34C5DD-D9D4-45CE-B900-38A218D95949}"/>
              </a:ext>
            </a:extLst>
          </p:cNvPr>
          <p:cNvPicPr>
            <a:picLocks noChangeAspect="1"/>
          </p:cNvPicPr>
          <p:nvPr/>
        </p:nvPicPr>
        <p:blipFill>
          <a:blip r:embed="rId15"/>
          <a:stretch>
            <a:fillRect/>
          </a:stretch>
        </p:blipFill>
        <p:spPr>
          <a:xfrm>
            <a:off x="6539914" y="3939132"/>
            <a:ext cx="1177940" cy="1021430"/>
          </a:xfrm>
          <a:prstGeom prst="rect">
            <a:avLst/>
          </a:prstGeom>
        </p:spPr>
      </p:pic>
      <p:pic>
        <p:nvPicPr>
          <p:cNvPr id="66" name="图片 65" descr="事故形态_vs_动力类型_interaction_3d">
            <a:extLst>
              <a:ext uri="{FF2B5EF4-FFF2-40B4-BE49-F238E27FC236}">
                <a16:creationId xmlns:a16="http://schemas.microsoft.com/office/drawing/2014/main" id="{1A16C3D3-D381-4ED7-83FD-AB625FAA914E}"/>
              </a:ext>
            </a:extLst>
          </p:cNvPr>
          <p:cNvPicPr>
            <a:picLocks noChangeAspect="1"/>
          </p:cNvPicPr>
          <p:nvPr/>
        </p:nvPicPr>
        <p:blipFill>
          <a:blip r:embed="rId16"/>
          <a:stretch>
            <a:fillRect/>
          </a:stretch>
        </p:blipFill>
        <p:spPr>
          <a:xfrm>
            <a:off x="8147263" y="3964515"/>
            <a:ext cx="1177940" cy="1021878"/>
          </a:xfrm>
          <a:prstGeom prst="rect">
            <a:avLst/>
          </a:prstGeom>
        </p:spPr>
      </p:pic>
      <p:pic>
        <p:nvPicPr>
          <p:cNvPr id="67" name="图片 66" descr="道路类型_vs_动力类型_interaction_3d">
            <a:extLst>
              <a:ext uri="{FF2B5EF4-FFF2-40B4-BE49-F238E27FC236}">
                <a16:creationId xmlns:a16="http://schemas.microsoft.com/office/drawing/2014/main" id="{3A0F646A-5076-4C77-9434-F8A204364425}"/>
              </a:ext>
            </a:extLst>
          </p:cNvPr>
          <p:cNvPicPr>
            <a:picLocks noChangeAspect="1"/>
          </p:cNvPicPr>
          <p:nvPr/>
        </p:nvPicPr>
        <p:blipFill>
          <a:blip r:embed="rId17"/>
          <a:stretch>
            <a:fillRect/>
          </a:stretch>
        </p:blipFill>
        <p:spPr>
          <a:xfrm>
            <a:off x="9768408" y="3947158"/>
            <a:ext cx="1224186" cy="1061068"/>
          </a:xfrm>
          <a:prstGeom prst="rect">
            <a:avLst/>
          </a:prstGeom>
        </p:spPr>
      </p:pic>
      <p:pic>
        <p:nvPicPr>
          <p:cNvPr id="68" name="图片 67" descr="时段2">
            <a:extLst>
              <a:ext uri="{FF2B5EF4-FFF2-40B4-BE49-F238E27FC236}">
                <a16:creationId xmlns:a16="http://schemas.microsoft.com/office/drawing/2014/main" id="{38B05814-5FC8-4A36-ACCF-2BF72B7255D2}"/>
              </a:ext>
            </a:extLst>
          </p:cNvPr>
          <p:cNvPicPr>
            <a:picLocks noChangeAspect="1"/>
          </p:cNvPicPr>
          <p:nvPr/>
        </p:nvPicPr>
        <p:blipFill>
          <a:blip r:embed="rId18"/>
          <a:stretch>
            <a:fillRect/>
          </a:stretch>
        </p:blipFill>
        <p:spPr>
          <a:xfrm>
            <a:off x="7783436" y="2414698"/>
            <a:ext cx="954378" cy="796294"/>
          </a:xfrm>
          <a:prstGeom prst="rect">
            <a:avLst/>
          </a:prstGeom>
        </p:spPr>
      </p:pic>
      <p:pic>
        <p:nvPicPr>
          <p:cNvPr id="69" name="图片 68" descr="位置类型2">
            <a:extLst>
              <a:ext uri="{FF2B5EF4-FFF2-40B4-BE49-F238E27FC236}">
                <a16:creationId xmlns:a16="http://schemas.microsoft.com/office/drawing/2014/main" id="{65FB6DA7-37DC-4A45-A62C-867BE80C01A9}"/>
              </a:ext>
            </a:extLst>
          </p:cNvPr>
          <p:cNvPicPr>
            <a:picLocks noChangeAspect="1"/>
          </p:cNvPicPr>
          <p:nvPr/>
        </p:nvPicPr>
        <p:blipFill>
          <a:blip r:embed="rId19"/>
          <a:stretch>
            <a:fillRect/>
          </a:stretch>
        </p:blipFill>
        <p:spPr>
          <a:xfrm>
            <a:off x="8883635" y="2354956"/>
            <a:ext cx="1030822" cy="859019"/>
          </a:xfrm>
          <a:prstGeom prst="rect">
            <a:avLst/>
          </a:prstGeom>
        </p:spPr>
      </p:pic>
      <p:pic>
        <p:nvPicPr>
          <p:cNvPr id="70" name="图片 69" descr="事故形态2">
            <a:extLst>
              <a:ext uri="{FF2B5EF4-FFF2-40B4-BE49-F238E27FC236}">
                <a16:creationId xmlns:a16="http://schemas.microsoft.com/office/drawing/2014/main" id="{ECFE932C-B091-44E7-8685-0DB6729A519C}"/>
              </a:ext>
            </a:extLst>
          </p:cNvPr>
          <p:cNvPicPr>
            <a:picLocks noChangeAspect="1"/>
          </p:cNvPicPr>
          <p:nvPr/>
        </p:nvPicPr>
        <p:blipFill>
          <a:blip r:embed="rId20"/>
          <a:stretch>
            <a:fillRect/>
          </a:stretch>
        </p:blipFill>
        <p:spPr>
          <a:xfrm>
            <a:off x="10144618" y="2363908"/>
            <a:ext cx="1030822" cy="859018"/>
          </a:xfrm>
          <a:prstGeom prst="rect">
            <a:avLst/>
          </a:prstGeom>
        </p:spPr>
      </p:pic>
      <p:pic>
        <p:nvPicPr>
          <p:cNvPr id="71" name="图片 70" descr="动力类型2">
            <a:extLst>
              <a:ext uri="{FF2B5EF4-FFF2-40B4-BE49-F238E27FC236}">
                <a16:creationId xmlns:a16="http://schemas.microsoft.com/office/drawing/2014/main" id="{6D524F74-0E85-48D0-9F3B-FC135DB993B8}"/>
              </a:ext>
            </a:extLst>
          </p:cNvPr>
          <p:cNvPicPr>
            <a:picLocks noChangeAspect="1"/>
          </p:cNvPicPr>
          <p:nvPr/>
        </p:nvPicPr>
        <p:blipFill>
          <a:blip r:embed="rId21"/>
          <a:stretch>
            <a:fillRect/>
          </a:stretch>
        </p:blipFill>
        <p:spPr>
          <a:xfrm>
            <a:off x="7752184" y="1454573"/>
            <a:ext cx="974775" cy="811497"/>
          </a:xfrm>
          <a:prstGeom prst="rect">
            <a:avLst/>
          </a:prstGeom>
        </p:spPr>
      </p:pic>
      <p:sp>
        <p:nvSpPr>
          <p:cNvPr id="72" name="文本框 71">
            <a:extLst>
              <a:ext uri="{FF2B5EF4-FFF2-40B4-BE49-F238E27FC236}">
                <a16:creationId xmlns:a16="http://schemas.microsoft.com/office/drawing/2014/main" id="{5325D220-97F0-4E9B-BA22-A7DAC9BC99D1}"/>
              </a:ext>
            </a:extLst>
          </p:cNvPr>
          <p:cNvSpPr txBox="1"/>
          <p:nvPr/>
        </p:nvSpPr>
        <p:spPr>
          <a:xfrm>
            <a:off x="7844057" y="2217273"/>
            <a:ext cx="927262"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动力类型</a:t>
            </a:r>
            <a:endParaRPr lang="zh-CN" altLang="en-US" sz="1000" b="1" dirty="0">
              <a:latin typeface="Times New Roman" panose="02020603050405020304"/>
              <a:ea typeface="宋体" panose="02010600030101010101" pitchFamily="2" charset="-122"/>
            </a:endParaRPr>
          </a:p>
        </p:txBody>
      </p:sp>
      <p:sp>
        <p:nvSpPr>
          <p:cNvPr id="73" name="文本框 72">
            <a:extLst>
              <a:ext uri="{FF2B5EF4-FFF2-40B4-BE49-F238E27FC236}">
                <a16:creationId xmlns:a16="http://schemas.microsoft.com/office/drawing/2014/main" id="{41495DD7-1CA4-4A4C-A9C4-97DC570DCF5E}"/>
              </a:ext>
            </a:extLst>
          </p:cNvPr>
          <p:cNvSpPr txBox="1"/>
          <p:nvPr/>
        </p:nvSpPr>
        <p:spPr>
          <a:xfrm>
            <a:off x="8935415" y="2212658"/>
            <a:ext cx="927262"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车辆类型</a:t>
            </a:r>
            <a:endParaRPr lang="zh-CN" altLang="en-US" sz="1000" b="1" dirty="0">
              <a:latin typeface="Times New Roman" panose="02020603050405020304"/>
              <a:ea typeface="宋体" panose="02010600030101010101" pitchFamily="2" charset="-122"/>
            </a:endParaRPr>
          </a:p>
        </p:txBody>
      </p:sp>
      <p:sp>
        <p:nvSpPr>
          <p:cNvPr id="74" name="文本框 73">
            <a:extLst>
              <a:ext uri="{FF2B5EF4-FFF2-40B4-BE49-F238E27FC236}">
                <a16:creationId xmlns:a16="http://schemas.microsoft.com/office/drawing/2014/main" id="{5839B4CC-1A74-45ED-AB1B-7D2030B8B042}"/>
              </a:ext>
            </a:extLst>
          </p:cNvPr>
          <p:cNvSpPr txBox="1"/>
          <p:nvPr/>
        </p:nvSpPr>
        <p:spPr>
          <a:xfrm>
            <a:off x="10267319" y="2212657"/>
            <a:ext cx="927262"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载重</a:t>
            </a:r>
            <a:endParaRPr lang="zh-CN" altLang="en-US" sz="1000" b="1" dirty="0">
              <a:latin typeface="Times New Roman" panose="02020603050405020304"/>
              <a:ea typeface="宋体" panose="02010600030101010101" pitchFamily="2" charset="-122"/>
            </a:endParaRPr>
          </a:p>
        </p:txBody>
      </p:sp>
      <p:sp>
        <p:nvSpPr>
          <p:cNvPr id="75" name="文本框 74">
            <a:extLst>
              <a:ext uri="{FF2B5EF4-FFF2-40B4-BE49-F238E27FC236}">
                <a16:creationId xmlns:a16="http://schemas.microsoft.com/office/drawing/2014/main" id="{89D5588E-9BB6-45CB-AA75-C634F9FE5E0A}"/>
              </a:ext>
            </a:extLst>
          </p:cNvPr>
          <p:cNvSpPr txBox="1"/>
          <p:nvPr/>
        </p:nvSpPr>
        <p:spPr>
          <a:xfrm>
            <a:off x="7851222" y="3131775"/>
            <a:ext cx="927262"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时段</a:t>
            </a:r>
            <a:endParaRPr lang="zh-CN" altLang="en-US" sz="1000" b="1" dirty="0">
              <a:latin typeface="Times New Roman" panose="02020603050405020304"/>
              <a:ea typeface="宋体" panose="02010600030101010101" pitchFamily="2" charset="-122"/>
            </a:endParaRPr>
          </a:p>
        </p:txBody>
      </p:sp>
      <p:sp>
        <p:nvSpPr>
          <p:cNvPr id="76" name="文本框 75">
            <a:extLst>
              <a:ext uri="{FF2B5EF4-FFF2-40B4-BE49-F238E27FC236}">
                <a16:creationId xmlns:a16="http://schemas.microsoft.com/office/drawing/2014/main" id="{90A3F366-DEF4-4B99-8E3E-F7A3F4640BE1}"/>
              </a:ext>
            </a:extLst>
          </p:cNvPr>
          <p:cNvSpPr txBox="1"/>
          <p:nvPr/>
        </p:nvSpPr>
        <p:spPr>
          <a:xfrm>
            <a:off x="9008654" y="3147454"/>
            <a:ext cx="927262"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位置类型</a:t>
            </a:r>
            <a:endParaRPr lang="zh-CN" altLang="en-US" sz="1000" b="1" dirty="0">
              <a:latin typeface="Times New Roman" panose="02020603050405020304"/>
              <a:ea typeface="宋体" panose="02010600030101010101" pitchFamily="2" charset="-122"/>
            </a:endParaRPr>
          </a:p>
        </p:txBody>
      </p:sp>
      <p:sp>
        <p:nvSpPr>
          <p:cNvPr id="77" name="文本框 76">
            <a:extLst>
              <a:ext uri="{FF2B5EF4-FFF2-40B4-BE49-F238E27FC236}">
                <a16:creationId xmlns:a16="http://schemas.microsoft.com/office/drawing/2014/main" id="{DFCF533D-3F61-4D7A-9B5F-8D704C119334}"/>
              </a:ext>
            </a:extLst>
          </p:cNvPr>
          <p:cNvSpPr txBox="1"/>
          <p:nvPr/>
        </p:nvSpPr>
        <p:spPr>
          <a:xfrm>
            <a:off x="10248178" y="3150991"/>
            <a:ext cx="927262" cy="246221"/>
          </a:xfrm>
          <a:prstGeom prst="rect">
            <a:avLst/>
          </a:prstGeom>
        </p:spPr>
        <p:txBody>
          <a:bodyPr wrap="square">
            <a:spAutoFit/>
          </a:bodyPr>
          <a:lstStyle/>
          <a:p>
            <a:pPr marL="0" indent="0" algn="ctr" defTabSz="266700">
              <a:spcBef>
                <a:spcPct val="0"/>
              </a:spcBef>
              <a:spcAft>
                <a:spcPct val="0"/>
              </a:spcAft>
            </a:pPr>
            <a:r>
              <a:rPr lang="zh-CN" altLang="en-US" sz="1000" b="1" dirty="0">
                <a:latin typeface="宋体" panose="02010600030101010101" pitchFamily="2" charset="-122"/>
                <a:ea typeface="宋体" panose="02010600030101010101" pitchFamily="2" charset="-122"/>
              </a:rPr>
              <a:t>事故形态</a:t>
            </a:r>
            <a:endParaRPr lang="zh-CN" altLang="en-US" sz="1000" b="1" dirty="0">
              <a:latin typeface="Times New Roman" panose="02020603050405020304"/>
              <a:ea typeface="宋体" panose="02010600030101010101" pitchFamily="2" charset="-122"/>
            </a:endParaRPr>
          </a:p>
        </p:txBody>
      </p:sp>
      <p:sp>
        <p:nvSpPr>
          <p:cNvPr id="78" name="矩形 77">
            <a:extLst>
              <a:ext uri="{FF2B5EF4-FFF2-40B4-BE49-F238E27FC236}">
                <a16:creationId xmlns:a16="http://schemas.microsoft.com/office/drawing/2014/main" id="{933BF6D8-07B7-407E-907D-7F29AF9137A6}"/>
              </a:ext>
            </a:extLst>
          </p:cNvPr>
          <p:cNvSpPr/>
          <p:nvPr/>
        </p:nvSpPr>
        <p:spPr>
          <a:xfrm>
            <a:off x="479376" y="5980189"/>
            <a:ext cx="11007639" cy="689171"/>
          </a:xfrm>
          <a:prstGeom prst="rect">
            <a:avLst/>
          </a:prstGeom>
          <a:solidFill>
            <a:srgbClr val="FFFBF3"/>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79" name="文本框 78">
            <a:extLst>
              <a:ext uri="{FF2B5EF4-FFF2-40B4-BE49-F238E27FC236}">
                <a16:creationId xmlns:a16="http://schemas.microsoft.com/office/drawing/2014/main" id="{CE367410-84E5-45B1-B073-6AAB7A6E61B5}"/>
              </a:ext>
            </a:extLst>
          </p:cNvPr>
          <p:cNvSpPr txBox="1"/>
          <p:nvPr/>
        </p:nvSpPr>
        <p:spPr>
          <a:xfrm>
            <a:off x="479376" y="6017254"/>
            <a:ext cx="10977162" cy="625171"/>
          </a:xfrm>
          <a:prstGeom prst="rect">
            <a:avLst/>
          </a:prstGeom>
          <a:noFill/>
        </p:spPr>
        <p:txBody>
          <a:bodyPr wrap="square">
            <a:spAutoFit/>
          </a:bodyPr>
          <a:lstStyle/>
          <a:p>
            <a:pPr marL="342900" indent="-342900" algn="just">
              <a:lnSpc>
                <a:spcPct val="130000"/>
              </a:lnSpc>
              <a:buClr>
                <a:srgbClr val="1B3F85"/>
              </a:buClr>
              <a:buSzPct val="100000"/>
              <a:buFont typeface="Wingdings" panose="05000000000000000000" pitchFamily="2" charset="2"/>
              <a:buChar char="n"/>
              <a:defRPr/>
            </a:pPr>
            <a:r>
              <a:rPr lang="zh-CN" altLang="en-US" sz="1400" b="1" dirty="0">
                <a:solidFill>
                  <a:srgbClr val="FF0000"/>
                </a:solidFill>
                <a:latin typeface="微软雅黑" panose="020B0503020204020204" pitchFamily="34" charset="-122"/>
                <a:ea typeface="微软雅黑" panose="020B0503020204020204" pitchFamily="34" charset="-122"/>
              </a:rPr>
              <a:t>高风险因素</a:t>
            </a:r>
            <a:r>
              <a:rPr lang="zh-CN" altLang="en-US" sz="1400" b="1" dirty="0">
                <a:latin typeface="微软雅黑" panose="020B0503020204020204" pitchFamily="34" charset="-122"/>
                <a:ea typeface="微软雅黑" panose="020B0503020204020204" pitchFamily="34" charset="-122"/>
              </a:rPr>
              <a:t>：当天最大温度高于</a:t>
            </a:r>
            <a:r>
              <a:rPr lang="en-US" altLang="zh-CN" sz="1400" b="1" dirty="0">
                <a:latin typeface="微软雅黑" panose="020B0503020204020204" pitchFamily="34" charset="-122"/>
                <a:ea typeface="微软雅黑" panose="020B0503020204020204" pitchFamily="34" charset="-122"/>
              </a:rPr>
              <a:t>28.6</a:t>
            </a:r>
            <a:r>
              <a:rPr lang="zh-CN" altLang="en-US" sz="1400" b="1" dirty="0">
                <a:latin typeface="微软雅黑" panose="020B0503020204020204" pitchFamily="34" charset="-122"/>
                <a:ea typeface="微软雅黑" panose="020B0503020204020204" pitchFamily="34" charset="-122"/>
              </a:rPr>
              <a:t>度、发生在夜间时段且位于桥梁或隧道时，中老年人驾驶传统燃油的重型栏板或自卸货车。</a:t>
            </a:r>
            <a:endParaRPr lang="en-US" altLang="zh-CN" sz="1400" b="1" dirty="0">
              <a:latin typeface="微软雅黑" panose="020B0503020204020204" pitchFamily="34" charset="-122"/>
              <a:ea typeface="微软雅黑" panose="020B0503020204020204" pitchFamily="34" charset="-122"/>
            </a:endParaRPr>
          </a:p>
          <a:p>
            <a:pPr marL="342900" indent="-342900" algn="just">
              <a:lnSpc>
                <a:spcPct val="130000"/>
              </a:lnSpc>
              <a:buClr>
                <a:srgbClr val="1B3F85"/>
              </a:buClr>
              <a:buSzPct val="100000"/>
              <a:buFont typeface="Wingdings" panose="05000000000000000000" pitchFamily="2" charset="2"/>
              <a:buChar char="n"/>
              <a:defRPr/>
            </a:pPr>
            <a:r>
              <a:rPr lang="zh-CN" altLang="en-US" sz="1400" b="1" dirty="0">
                <a:solidFill>
                  <a:srgbClr val="FF0000"/>
                </a:solidFill>
                <a:latin typeface="微软雅黑" panose="020B0503020204020204" pitchFamily="34" charset="-122"/>
                <a:ea typeface="微软雅黑" panose="020B0503020204020204" pitchFamily="34" charset="-122"/>
              </a:rPr>
              <a:t>措施</a:t>
            </a:r>
            <a:r>
              <a:rPr lang="zh-CN" altLang="en-US" sz="1400" b="1" dirty="0">
                <a:latin typeface="微软雅黑" panose="020B0503020204020204" pitchFamily="34" charset="-122"/>
                <a:ea typeface="微软雅黑" panose="020B0503020204020204" pitchFamily="34" charset="-122"/>
              </a:rPr>
              <a:t>：优先选择</a:t>
            </a:r>
            <a:r>
              <a:rPr lang="zh-CN" altLang="en-US" sz="1400" b="1" dirty="0">
                <a:solidFill>
                  <a:srgbClr val="C00000"/>
                </a:solidFill>
                <a:latin typeface="微软雅黑" panose="020B0503020204020204" pitchFamily="34" charset="-122"/>
                <a:ea typeface="微软雅黑" panose="020B0503020204020204" pitchFamily="34" charset="-122"/>
              </a:rPr>
              <a:t>电动货车</a:t>
            </a:r>
            <a:r>
              <a:rPr lang="zh-CN" altLang="en-US" sz="1400" b="1" dirty="0">
                <a:latin typeface="微软雅黑" panose="020B0503020204020204" pitchFamily="34" charset="-122"/>
                <a:ea typeface="微软雅黑" panose="020B0503020204020204" pitchFamily="34" charset="-122"/>
              </a:rPr>
              <a:t>；</a:t>
            </a:r>
            <a:r>
              <a:rPr kumimoji="0" lang="zh-CN" altLang="en-US"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优化电动货车起步的</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短时加速控制性能</a:t>
            </a:r>
            <a:r>
              <a:rPr kumimoji="0" lang="zh-CN" altLang="en-US"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；加强</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不同区域差异化</a:t>
            </a:r>
            <a:r>
              <a:rPr kumimoji="0" lang="zh-CN" altLang="en-US"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道路设计规范与管控将有效改善货车安全。</a:t>
            </a:r>
            <a:endPar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50" name="文本框 4">
            <a:extLst>
              <a:ext uri="{FF2B5EF4-FFF2-40B4-BE49-F238E27FC236}">
                <a16:creationId xmlns:a16="http://schemas.microsoft.com/office/drawing/2014/main" id="{8AEFA4B6-2FD7-4BF1-9CEE-ABB8FDDA41BB}"/>
              </a:ext>
            </a:extLst>
          </p:cNvPr>
          <p:cNvSpPr txBox="1"/>
          <p:nvPr/>
        </p:nvSpPr>
        <p:spPr>
          <a:xfrm>
            <a:off x="407368" y="188641"/>
            <a:ext cx="7767863"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研究进度及成果</a:t>
            </a:r>
            <a:endParaRPr lang="zh-CN" altLang="en-US" sz="2400"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90419009"/>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文本框 4">
            <a:extLst>
              <a:ext uri="{FF2B5EF4-FFF2-40B4-BE49-F238E27FC236}">
                <a16:creationId xmlns:a16="http://schemas.microsoft.com/office/drawing/2014/main" id="{8AEFA4B6-2FD7-4BF1-9CEE-ABB8FDDA41BB}"/>
              </a:ext>
            </a:extLst>
          </p:cNvPr>
          <p:cNvSpPr txBox="1"/>
          <p:nvPr/>
        </p:nvSpPr>
        <p:spPr>
          <a:xfrm>
            <a:off x="407368" y="188641"/>
            <a:ext cx="7767863" cy="461665"/>
          </a:xfrm>
          <a:prstGeom prst="rect">
            <a:avLst/>
          </a:prstGeom>
          <a:noFill/>
        </p:spPr>
        <p:txBody>
          <a:bodyPr wrap="square">
            <a:spAutoFit/>
          </a:bodyPr>
          <a:lstStyle/>
          <a:p>
            <a:r>
              <a:rPr lang="zh-CN" altLang="en-US" sz="2400" b="1" dirty="0">
                <a:solidFill>
                  <a:srgbClr val="FFC000"/>
                </a:solidFill>
                <a:latin typeface="微软雅黑" panose="020B0503020204020204" pitchFamily="34" charset="-122"/>
                <a:ea typeface="微软雅黑" panose="020B0503020204020204" pitchFamily="34" charset="-122"/>
              </a:rPr>
              <a:t>创新点</a:t>
            </a:r>
            <a:endParaRPr lang="zh-CN" altLang="en-US" sz="2400" dirty="0">
              <a:solidFill>
                <a:srgbClr val="FFC000"/>
              </a:solidFill>
              <a:latin typeface="微软雅黑" panose="020B0503020204020204" pitchFamily="34" charset="-122"/>
              <a:ea typeface="微软雅黑" panose="020B0503020204020204" pitchFamily="34" charset="-122"/>
            </a:endParaRPr>
          </a:p>
        </p:txBody>
      </p:sp>
      <p:sp>
        <p:nvSpPr>
          <p:cNvPr id="2113" name="文本框 2112">
            <a:extLst>
              <a:ext uri="{FF2B5EF4-FFF2-40B4-BE49-F238E27FC236}">
                <a16:creationId xmlns:a16="http://schemas.microsoft.com/office/drawing/2014/main" id="{2E46A837-0B09-312F-A143-F72BCB6018B3}"/>
              </a:ext>
            </a:extLst>
          </p:cNvPr>
          <p:cNvSpPr txBox="1"/>
          <p:nvPr/>
        </p:nvSpPr>
        <p:spPr>
          <a:xfrm>
            <a:off x="1955541" y="5171764"/>
            <a:ext cx="7848872" cy="1137556"/>
          </a:xfrm>
          <a:prstGeom prst="rect">
            <a:avLst/>
          </a:prstGeom>
          <a:noFill/>
        </p:spPr>
        <p:txBody>
          <a:bodyPr wrap="square">
            <a:spAutoFit/>
          </a:bodyPr>
          <a:lstStyle>
            <a:defPPr>
              <a:defRPr lang="en-US"/>
            </a:defPPr>
            <a:lvl1pPr marL="342900" indent="-342900">
              <a:lnSpc>
                <a:spcPct val="130000"/>
              </a:lnSpc>
              <a:buFont typeface="Wingdings" panose="05000000000000000000" pitchFamily="2" charset="2"/>
              <a:buChar char="p"/>
              <a:defRPr>
                <a:latin typeface="微软雅黑" panose="020B0503020204020204" pitchFamily="34" charset="-122"/>
                <a:ea typeface="微软雅黑" panose="020B0503020204020204" pitchFamily="34" charset="-122"/>
              </a:defRPr>
            </a:lvl1pPr>
          </a:lstStyle>
          <a:p>
            <a:pPr>
              <a:buFont typeface="Wingdings" panose="05000000000000000000" pitchFamily="2" charset="2"/>
              <a:buChar char="ü"/>
            </a:pPr>
            <a:r>
              <a:rPr lang="zh-CN" altLang="en-US" dirty="0"/>
              <a:t>在运输出行风险中引入疲劳指数考量；</a:t>
            </a:r>
            <a:endParaRPr lang="en-US" altLang="zh-CN" dirty="0"/>
          </a:p>
          <a:p>
            <a:pPr>
              <a:buFont typeface="Wingdings" panose="05000000000000000000" pitchFamily="2" charset="2"/>
              <a:buChar char="ü"/>
            </a:pPr>
            <a:r>
              <a:rPr lang="zh-CN" altLang="en-US" dirty="0"/>
              <a:t>改进</a:t>
            </a:r>
            <a:r>
              <a:rPr lang="en-US" altLang="zh-CN" dirty="0"/>
              <a:t>ST-GCN</a:t>
            </a:r>
            <a:r>
              <a:rPr lang="zh-CN" altLang="en-US" dirty="0"/>
              <a:t>模型框架，引入异质性节点；</a:t>
            </a:r>
            <a:endParaRPr lang="en-US" altLang="zh-CN" dirty="0"/>
          </a:p>
          <a:p>
            <a:pPr>
              <a:buFont typeface="Wingdings" panose="05000000000000000000" pitchFamily="2" charset="2"/>
              <a:buChar char="ü"/>
            </a:pPr>
            <a:r>
              <a:rPr lang="zh-CN" altLang="en-US" dirty="0"/>
              <a:t>提出了考虑驾驶员异质性的货车出行风险动态预测框架。</a:t>
            </a:r>
            <a:endParaRPr lang="en-US" altLang="zh-CN" dirty="0"/>
          </a:p>
        </p:txBody>
      </p:sp>
      <p:sp>
        <p:nvSpPr>
          <p:cNvPr id="3" name="文本框 2">
            <a:extLst>
              <a:ext uri="{FF2B5EF4-FFF2-40B4-BE49-F238E27FC236}">
                <a16:creationId xmlns:a16="http://schemas.microsoft.com/office/drawing/2014/main" id="{48423CFF-B569-1D64-0644-949034261953}"/>
              </a:ext>
            </a:extLst>
          </p:cNvPr>
          <p:cNvSpPr txBox="1"/>
          <p:nvPr/>
        </p:nvSpPr>
        <p:spPr>
          <a:xfrm>
            <a:off x="1055441" y="1196752"/>
            <a:ext cx="10009112" cy="400110"/>
          </a:xfrm>
          <a:prstGeom prst="rect">
            <a:avLst/>
          </a:prstGeom>
          <a:noFill/>
        </p:spPr>
        <p:txBody>
          <a:bodyPr wrap="square">
            <a:spAutoFit/>
          </a:bodyPr>
          <a:lstStyle/>
          <a:p>
            <a:r>
              <a:rPr lang="zh-CN" altLang="en-US" sz="2000" b="1" i="1" dirty="0">
                <a:solidFill>
                  <a:schemeClr val="accent5">
                    <a:lumMod val="50000"/>
                  </a:schemeClr>
                </a:solidFill>
                <a:latin typeface="微软雅黑" panose="020B0503020204020204" pitchFamily="34" charset="-122"/>
                <a:ea typeface="微软雅黑" panose="020B0503020204020204" pitchFamily="34" charset="-122"/>
              </a:rPr>
              <a:t>创新点一</a:t>
            </a:r>
            <a:r>
              <a:rPr lang="zh-CN" altLang="en-US" sz="2000" b="1" dirty="0">
                <a:solidFill>
                  <a:schemeClr val="accent5">
                    <a:lumMod val="50000"/>
                  </a:schemeClr>
                </a:solidFill>
                <a:latin typeface="微软雅黑" panose="020B0503020204020204" pitchFamily="34" charset="-122"/>
                <a:ea typeface="微软雅黑" panose="020B0503020204020204" pitchFamily="34" charset="-122"/>
              </a:rPr>
              <a:t>   突破事故少样本增强与评估算法</a:t>
            </a:r>
            <a:r>
              <a:rPr lang="en-US" altLang="zh-CN" sz="2000" b="1" dirty="0">
                <a:solidFill>
                  <a:schemeClr val="accent5">
                    <a:lumMod val="50000"/>
                  </a:schemeClr>
                </a:solidFill>
                <a:latin typeface="微软雅黑" panose="020B0503020204020204" pitchFamily="34" charset="-122"/>
                <a:ea typeface="微软雅黑" panose="020B0503020204020204" pitchFamily="34" charset="-122"/>
              </a:rPr>
              <a:t>——</a:t>
            </a:r>
            <a:r>
              <a:rPr lang="zh-CN" altLang="en-US" sz="2000" b="1" dirty="0">
                <a:solidFill>
                  <a:schemeClr val="accent5">
                    <a:lumMod val="50000"/>
                  </a:schemeClr>
                </a:solidFill>
                <a:latin typeface="微软雅黑" panose="020B0503020204020204" pitchFamily="34" charset="-122"/>
                <a:ea typeface="微软雅黑" panose="020B0503020204020204" pitchFamily="34" charset="-122"/>
              </a:rPr>
              <a:t>生成式算法与机器学习集成算法融合</a:t>
            </a:r>
            <a:endParaRPr lang="en-US" altLang="zh-CN" sz="20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5F246DD-171D-692A-F70B-D385F3F0B565}"/>
              </a:ext>
            </a:extLst>
          </p:cNvPr>
          <p:cNvSpPr txBox="1"/>
          <p:nvPr/>
        </p:nvSpPr>
        <p:spPr>
          <a:xfrm>
            <a:off x="1944909" y="1715997"/>
            <a:ext cx="6107228" cy="1137556"/>
          </a:xfrm>
          <a:prstGeom prst="rect">
            <a:avLst/>
          </a:prstGeom>
          <a:noFill/>
        </p:spPr>
        <p:txBody>
          <a:bodyPr wrap="square">
            <a:spAutoFit/>
          </a:bodyPr>
          <a:lstStyle/>
          <a:p>
            <a:pPr marL="342900" indent="-342900">
              <a:lnSpc>
                <a:spcPct val="13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引入</a:t>
            </a:r>
            <a:r>
              <a:rPr lang="en-US" altLang="zh-CN" dirty="0">
                <a:latin typeface="微软雅黑" panose="020B0503020204020204" pitchFamily="34" charset="-122"/>
                <a:ea typeface="微软雅黑" panose="020B0503020204020204" pitchFamily="34" charset="-122"/>
              </a:rPr>
              <a:t>CTGAN</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TabDDPM</a:t>
            </a:r>
            <a:r>
              <a:rPr lang="zh-CN" altLang="en-US" dirty="0">
                <a:latin typeface="微软雅黑" panose="020B0503020204020204" pitchFamily="34" charset="-122"/>
                <a:ea typeface="微软雅黑" panose="020B0503020204020204" pitchFamily="34" charset="-122"/>
              </a:rPr>
              <a:t>算法生成少样本实现类别平衡</a:t>
            </a:r>
            <a:endParaRPr lang="en-US" altLang="zh-CN" dirty="0">
              <a:latin typeface="微软雅黑" panose="020B0503020204020204" pitchFamily="34" charset="-122"/>
              <a:ea typeface="微软雅黑" panose="020B0503020204020204" pitchFamily="34" charset="-122"/>
            </a:endParaRPr>
          </a:p>
          <a:p>
            <a:pPr marL="342900" indent="-342900">
              <a:lnSpc>
                <a:spcPct val="13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从生成样本的质量和泛化能力方面进行评估；</a:t>
            </a:r>
          </a:p>
          <a:p>
            <a:pPr marL="342900" indent="-342900">
              <a:lnSpc>
                <a:spcPct val="13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stacking</a:t>
            </a:r>
            <a:r>
              <a:rPr lang="zh-CN" altLang="en-US" dirty="0">
                <a:latin typeface="微软雅黑" panose="020B0503020204020204" pitchFamily="34" charset="-122"/>
                <a:ea typeface="微软雅黑" panose="020B0503020204020204" pitchFamily="34" charset="-122"/>
              </a:rPr>
              <a:t>集成多个经典事故致因模型。</a:t>
            </a:r>
            <a:endParaRPr lang="en-US" altLang="zh-CN"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DC8ABCA7-CAC4-712D-36EE-9D7026248D4A}"/>
              </a:ext>
            </a:extLst>
          </p:cNvPr>
          <p:cNvSpPr txBox="1"/>
          <p:nvPr/>
        </p:nvSpPr>
        <p:spPr>
          <a:xfrm>
            <a:off x="1122252" y="3068960"/>
            <a:ext cx="9942299" cy="400110"/>
          </a:xfrm>
          <a:prstGeom prst="rect">
            <a:avLst/>
          </a:prstGeom>
          <a:noFill/>
        </p:spPr>
        <p:txBody>
          <a:bodyPr wrap="square">
            <a:spAutoFit/>
          </a:bodyPr>
          <a:lstStyle>
            <a:defPPr>
              <a:defRPr lang="en-US"/>
            </a:defPPr>
            <a:lvl1pPr>
              <a:defRPr sz="2000" b="1" i="1">
                <a:solidFill>
                  <a:schemeClr val="accent5">
                    <a:lumMod val="50000"/>
                  </a:schemeClr>
                </a:solidFill>
                <a:latin typeface="微软雅黑" panose="020B0503020204020204" pitchFamily="34" charset="-122"/>
                <a:ea typeface="微软雅黑" panose="020B0503020204020204" pitchFamily="34" charset="-122"/>
              </a:defRPr>
            </a:lvl1pPr>
          </a:lstStyle>
          <a:p>
            <a:r>
              <a:rPr lang="zh-CN" altLang="en-US" dirty="0"/>
              <a:t>创新点二  </a:t>
            </a:r>
            <a:r>
              <a:rPr lang="zh-CN" altLang="en-US" i="0" dirty="0"/>
              <a:t>补充货车事故致因分析变量</a:t>
            </a:r>
            <a:r>
              <a:rPr lang="en-US" altLang="zh-CN" i="0" dirty="0"/>
              <a:t>——</a:t>
            </a:r>
            <a:r>
              <a:rPr lang="zh-CN" altLang="en-US" i="0" dirty="0"/>
              <a:t>考虑货车异质性的关键因素定性与定量分析</a:t>
            </a:r>
            <a:endParaRPr lang="en-US" altLang="zh-CN" i="0" dirty="0"/>
          </a:p>
        </p:txBody>
      </p:sp>
      <p:sp>
        <p:nvSpPr>
          <p:cNvPr id="9" name="文本框 8">
            <a:extLst>
              <a:ext uri="{FF2B5EF4-FFF2-40B4-BE49-F238E27FC236}">
                <a16:creationId xmlns:a16="http://schemas.microsoft.com/office/drawing/2014/main" id="{8868CD6B-3B3D-E8DD-87A2-F4CC678158FF}"/>
              </a:ext>
            </a:extLst>
          </p:cNvPr>
          <p:cNvSpPr txBox="1"/>
          <p:nvPr/>
        </p:nvSpPr>
        <p:spPr>
          <a:xfrm>
            <a:off x="1955541" y="3573016"/>
            <a:ext cx="6980325" cy="777457"/>
          </a:xfrm>
          <a:prstGeom prst="rect">
            <a:avLst/>
          </a:prstGeom>
          <a:noFill/>
        </p:spPr>
        <p:txBody>
          <a:bodyPr wrap="square">
            <a:spAutoFit/>
          </a:bodyPr>
          <a:lstStyle>
            <a:defPPr>
              <a:defRPr lang="en-US"/>
            </a:defPPr>
            <a:lvl1pPr marL="342900" indent="-342900">
              <a:lnSpc>
                <a:spcPct val="130000"/>
              </a:lnSpc>
              <a:buFont typeface="Wingdings" panose="05000000000000000000" pitchFamily="2" charset="2"/>
              <a:buChar char="p"/>
              <a:defRPr>
                <a:latin typeface="微软雅黑" panose="020B0503020204020204" pitchFamily="34" charset="-122"/>
                <a:ea typeface="微软雅黑" panose="020B0503020204020204" pitchFamily="34" charset="-122"/>
              </a:defRPr>
            </a:lvl1pPr>
          </a:lstStyle>
          <a:p>
            <a:pPr>
              <a:buFont typeface="Wingdings" panose="05000000000000000000" pitchFamily="2" charset="2"/>
              <a:buChar char="ü"/>
            </a:pPr>
            <a:r>
              <a:rPr lang="zh-CN" altLang="en-US" dirty="0"/>
              <a:t>考虑动力类型、货车载重和货车车厢类型的货车异质性变量；</a:t>
            </a:r>
            <a:endParaRPr lang="en-US" altLang="zh-CN" dirty="0"/>
          </a:p>
          <a:p>
            <a:pPr>
              <a:buFont typeface="Wingdings" panose="05000000000000000000" pitchFamily="2" charset="2"/>
              <a:buChar char="ü"/>
            </a:pPr>
            <a:r>
              <a:rPr lang="zh-CN" altLang="en-US" dirty="0"/>
              <a:t>优化</a:t>
            </a:r>
            <a:r>
              <a:rPr lang="en-US" altLang="zh-CN" dirty="0"/>
              <a:t>SHAP</a:t>
            </a:r>
            <a:r>
              <a:rPr lang="zh-CN" altLang="en-US" dirty="0"/>
              <a:t>解释算法，定性定量描述因素影响程度。</a:t>
            </a:r>
            <a:endParaRPr lang="en-US" altLang="zh-CN" dirty="0"/>
          </a:p>
        </p:txBody>
      </p:sp>
      <p:sp>
        <p:nvSpPr>
          <p:cNvPr id="11" name="文本框 10">
            <a:extLst>
              <a:ext uri="{FF2B5EF4-FFF2-40B4-BE49-F238E27FC236}">
                <a16:creationId xmlns:a16="http://schemas.microsoft.com/office/drawing/2014/main" id="{7476A31B-2202-E540-3D53-741DEFF5C328}"/>
              </a:ext>
            </a:extLst>
          </p:cNvPr>
          <p:cNvSpPr txBox="1"/>
          <p:nvPr/>
        </p:nvSpPr>
        <p:spPr>
          <a:xfrm>
            <a:off x="1122252" y="4659806"/>
            <a:ext cx="9682851" cy="400110"/>
          </a:xfrm>
          <a:prstGeom prst="rect">
            <a:avLst/>
          </a:prstGeom>
          <a:noFill/>
        </p:spPr>
        <p:txBody>
          <a:bodyPr wrap="square">
            <a:spAutoFit/>
          </a:bodyPr>
          <a:lstStyle>
            <a:defPPr>
              <a:defRPr lang="en-US"/>
            </a:defPPr>
            <a:lvl1pPr>
              <a:defRPr sz="2000" b="1" i="1">
                <a:solidFill>
                  <a:schemeClr val="accent5">
                    <a:lumMod val="50000"/>
                  </a:schemeClr>
                </a:solidFill>
                <a:latin typeface="微软雅黑" panose="020B0503020204020204" pitchFamily="34" charset="-122"/>
                <a:ea typeface="微软雅黑" panose="020B0503020204020204" pitchFamily="34" charset="-122"/>
              </a:defRPr>
            </a:lvl1pPr>
          </a:lstStyle>
          <a:p>
            <a:r>
              <a:rPr lang="zh-CN" altLang="en-US" dirty="0"/>
              <a:t>创新点三</a:t>
            </a:r>
            <a:r>
              <a:rPr lang="zh-CN" altLang="en-US" i="0" dirty="0"/>
              <a:t>  提出考虑驾驶员异质性的</a:t>
            </a:r>
            <a:r>
              <a:rPr lang="en-US" altLang="zh-CN" i="0" dirty="0"/>
              <a:t>ST-H-GCN</a:t>
            </a:r>
            <a:r>
              <a:rPr lang="zh-CN" altLang="en-US" i="0" dirty="0"/>
              <a:t>出行风险动态预测框架</a:t>
            </a:r>
            <a:endParaRPr lang="en-US" altLang="zh-CN" i="0" dirty="0"/>
          </a:p>
        </p:txBody>
      </p:sp>
      <p:sp>
        <p:nvSpPr>
          <p:cNvPr id="6" name="文本框 5">
            <a:extLst>
              <a:ext uri="{FF2B5EF4-FFF2-40B4-BE49-F238E27FC236}">
                <a16:creationId xmlns:a16="http://schemas.microsoft.com/office/drawing/2014/main" id="{D5E10BE4-93CD-E0D6-2A53-9211EAF1DBD4}"/>
              </a:ext>
            </a:extLst>
          </p:cNvPr>
          <p:cNvSpPr txBox="1"/>
          <p:nvPr/>
        </p:nvSpPr>
        <p:spPr>
          <a:xfrm>
            <a:off x="1052841" y="3068744"/>
            <a:ext cx="10081119" cy="52185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US"/>
            </a:defPPr>
            <a:lvl1pPr algn="ctr">
              <a:defRPr b="1">
                <a:solidFill>
                  <a:schemeClr val="lt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000" i="1" dirty="0"/>
              <a:t>创新点二  </a:t>
            </a:r>
            <a:r>
              <a:rPr lang="zh-CN" altLang="en-US" sz="2000" i="0" dirty="0"/>
              <a:t>补充货车事故致因分析变量，考虑货车异质性的关键因素定性与定量分析</a:t>
            </a:r>
            <a:endParaRPr lang="en-US" altLang="zh-CN" sz="2000" i="0" dirty="0"/>
          </a:p>
        </p:txBody>
      </p:sp>
      <p:sp>
        <p:nvSpPr>
          <p:cNvPr id="8" name="文本框 7">
            <a:extLst>
              <a:ext uri="{FF2B5EF4-FFF2-40B4-BE49-F238E27FC236}">
                <a16:creationId xmlns:a16="http://schemas.microsoft.com/office/drawing/2014/main" id="{7CF876F7-A0EB-B598-0F09-DEB94745BCFD}"/>
              </a:ext>
            </a:extLst>
          </p:cNvPr>
          <p:cNvSpPr txBox="1"/>
          <p:nvPr/>
        </p:nvSpPr>
        <p:spPr>
          <a:xfrm>
            <a:off x="1052840" y="4670942"/>
            <a:ext cx="10081119" cy="52185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US"/>
            </a:defPPr>
            <a:lvl1pPr algn="ctr">
              <a:defRPr b="1">
                <a:solidFill>
                  <a:schemeClr val="lt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000" i="1" dirty="0"/>
              <a:t>创新点三  </a:t>
            </a:r>
            <a:r>
              <a:rPr lang="zh-CN" altLang="en-US" sz="2000" i="0" dirty="0"/>
              <a:t>提出考虑驾驶员异质性的</a:t>
            </a:r>
            <a:r>
              <a:rPr lang="en-US" altLang="zh-CN" sz="2000" i="0" dirty="0"/>
              <a:t>ST-H-GCN</a:t>
            </a:r>
            <a:r>
              <a:rPr lang="zh-CN" altLang="en-US" sz="2000" i="0" dirty="0"/>
              <a:t>出行风险动态预测框架</a:t>
            </a:r>
            <a:endParaRPr lang="en-US" altLang="zh-CN" sz="2000" i="0" dirty="0"/>
          </a:p>
        </p:txBody>
      </p:sp>
      <p:sp>
        <p:nvSpPr>
          <p:cNvPr id="4" name="文本框 3">
            <a:extLst>
              <a:ext uri="{FF2B5EF4-FFF2-40B4-BE49-F238E27FC236}">
                <a16:creationId xmlns:a16="http://schemas.microsoft.com/office/drawing/2014/main" id="{F8E65FB0-D561-3F42-9956-0030A64E6793}"/>
              </a:ext>
            </a:extLst>
          </p:cNvPr>
          <p:cNvSpPr txBox="1"/>
          <p:nvPr/>
        </p:nvSpPr>
        <p:spPr>
          <a:xfrm>
            <a:off x="1052841" y="1215133"/>
            <a:ext cx="10081119" cy="52185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defPPr>
              <a:defRPr lang="en-US"/>
            </a:defPPr>
            <a:lvl1pPr algn="ctr">
              <a:defRPr b="1">
                <a:solidFill>
                  <a:schemeClr val="lt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000" i="1" dirty="0"/>
              <a:t>创新点一   </a:t>
            </a:r>
            <a:r>
              <a:rPr lang="zh-CN" altLang="en-US" sz="2000" i="0" dirty="0"/>
              <a:t>融合生成式算法与机器学习集成算法，解决事故数据不平衡问题</a:t>
            </a:r>
          </a:p>
        </p:txBody>
      </p:sp>
    </p:spTree>
    <p:extLst>
      <p:ext uri="{BB962C8B-B14F-4D97-AF65-F5344CB8AC3E}">
        <p14:creationId xmlns:p14="http://schemas.microsoft.com/office/powerpoint/2010/main" val="3976340712"/>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r="2611"/>
          <a:stretch/>
        </p:blipFill>
        <p:spPr>
          <a:xfrm>
            <a:off x="5720882" y="2024845"/>
            <a:ext cx="4947118" cy="3151209"/>
          </a:xfrm>
          <a:prstGeom prst="rect">
            <a:avLst/>
          </a:prstGeom>
        </p:spPr>
      </p:pic>
      <p:sp>
        <p:nvSpPr>
          <p:cNvPr id="4" name="流程图: 手动输入 3"/>
          <p:cNvSpPr/>
          <p:nvPr/>
        </p:nvSpPr>
        <p:spPr>
          <a:xfrm rot="5400000">
            <a:off x="2614076" y="935120"/>
            <a:ext cx="3132348" cy="5349519"/>
          </a:xfrm>
          <a:prstGeom prst="flowChartManualInput">
            <a:avLst/>
          </a:prstGeom>
          <a:solidFill>
            <a:srgbClr val="1B3F85"/>
          </a:solidFill>
          <a:ln>
            <a:noFill/>
          </a:ln>
        </p:spPr>
        <p:txBody>
          <a:bodyPr/>
          <a:lstStyle/>
          <a:p>
            <a:endParaRPr lang="zh-CN" altLang="en-US" sz="1600" b="1">
              <a:solidFill>
                <a:srgbClr val="000000"/>
              </a:solidFill>
              <a:latin typeface="Times New Roman" pitchFamily="18" charset="0"/>
              <a:ea typeface="宋体" charset="-122"/>
              <a:cs typeface="Times New Roman" pitchFamily="18" charset="0"/>
            </a:endParaRPr>
          </a:p>
        </p:txBody>
      </p:sp>
      <p:pic>
        <p:nvPicPr>
          <p:cNvPr id="8" name="Picture 2" descr="北京交通大学ppt角标图案（右）.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8544272" y="188640"/>
            <a:ext cx="1962088" cy="576064"/>
          </a:xfrm>
          <a:prstGeom prst="rect">
            <a:avLst/>
          </a:prstGeom>
          <a:noFill/>
        </p:spPr>
      </p:pic>
      <p:sp>
        <p:nvSpPr>
          <p:cNvPr id="7" name="TextBox 7"/>
          <p:cNvSpPr txBox="1"/>
          <p:nvPr/>
        </p:nvSpPr>
        <p:spPr>
          <a:xfrm>
            <a:off x="1505490" y="2744257"/>
            <a:ext cx="5292588" cy="1754326"/>
          </a:xfrm>
          <a:prstGeom prst="rect">
            <a:avLst/>
          </a:prstGeom>
          <a:noFill/>
        </p:spPr>
        <p:txBody>
          <a:bodyPr wrap="square" rtlCol="0">
            <a:spAutoFit/>
          </a:bodyPr>
          <a:lstStyle/>
          <a:p>
            <a:pPr algn="ctr">
              <a:lnSpc>
                <a:spcPct val="150000"/>
              </a:lnSpc>
            </a:pPr>
            <a:r>
              <a:rPr lang="zh-CN" altLang="en-US" sz="3600" b="1" dirty="0">
                <a:solidFill>
                  <a:srgbClr val="FFC000"/>
                </a:solidFill>
                <a:latin typeface="微软雅黑" panose="020B0503020204020204" pitchFamily="34" charset="-122"/>
                <a:ea typeface="微软雅黑" panose="020B0503020204020204" pitchFamily="34" charset="-122"/>
              </a:rPr>
              <a:t>谢谢！</a:t>
            </a:r>
            <a:endParaRPr lang="en-US" altLang="zh-CN" sz="3600" b="1" dirty="0">
              <a:solidFill>
                <a:srgbClr val="FFC000"/>
              </a:solidFill>
              <a:latin typeface="微软雅黑" panose="020B0503020204020204" pitchFamily="34" charset="-122"/>
              <a:ea typeface="微软雅黑" panose="020B0503020204020204" pitchFamily="34" charset="-122"/>
            </a:endParaRPr>
          </a:p>
          <a:p>
            <a:pPr algn="ctr">
              <a:lnSpc>
                <a:spcPct val="150000"/>
              </a:lnSpc>
            </a:pPr>
            <a:r>
              <a:rPr lang="zh-CN" altLang="en-US" sz="3600" b="1" dirty="0">
                <a:solidFill>
                  <a:srgbClr val="FFC000"/>
                </a:solidFill>
                <a:latin typeface="微软雅黑" panose="020B0503020204020204" pitchFamily="34" charset="-122"/>
                <a:ea typeface="微软雅黑" panose="020B0503020204020204" pitchFamily="34" charset="-122"/>
              </a:rPr>
              <a:t>敬请批评指正！</a:t>
            </a:r>
          </a:p>
        </p:txBody>
      </p:sp>
    </p:spTree>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113804C-4A52-9E14-E53D-24F130A3BDEA}"/>
              </a:ext>
            </a:extLst>
          </p:cNvPr>
          <p:cNvSpPr/>
          <p:nvPr/>
        </p:nvSpPr>
        <p:spPr>
          <a:xfrm>
            <a:off x="695400" y="404664"/>
            <a:ext cx="2016224"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近碰撞</a:t>
            </a:r>
            <a:endParaRPr lang="en-US" altLang="zh-CN" sz="1600" dirty="0">
              <a:solidFill>
                <a:schemeClr val="tx1"/>
              </a:solidFill>
              <a:latin typeface="宋体" panose="02010600030101010101" pitchFamily="2" charset="-122"/>
              <a:ea typeface="宋体" panose="02010600030101010101" pitchFamily="2" charset="-122"/>
            </a:endParaRPr>
          </a:p>
          <a:p>
            <a:pPr algn="ctr"/>
            <a:r>
              <a:rPr lang="zh-CN" altLang="en-US" sz="1600" dirty="0">
                <a:solidFill>
                  <a:schemeClr val="tx1"/>
                </a:solidFill>
                <a:latin typeface="宋体" panose="02010600030101010101" pitchFamily="2" charset="-122"/>
                <a:ea typeface="宋体" panose="02010600030101010101" pitchFamily="2" charset="-122"/>
              </a:rPr>
              <a:t>自然驾驶数据</a:t>
            </a:r>
          </a:p>
        </p:txBody>
      </p:sp>
      <p:sp>
        <p:nvSpPr>
          <p:cNvPr id="3" name="矩形 2">
            <a:extLst>
              <a:ext uri="{FF2B5EF4-FFF2-40B4-BE49-F238E27FC236}">
                <a16:creationId xmlns:a16="http://schemas.microsoft.com/office/drawing/2014/main" id="{D1606662-4F60-CD4B-7DDA-1381976F6063}"/>
              </a:ext>
            </a:extLst>
          </p:cNvPr>
          <p:cNvSpPr/>
          <p:nvPr/>
        </p:nvSpPr>
        <p:spPr>
          <a:xfrm>
            <a:off x="2999656" y="404664"/>
            <a:ext cx="2016224"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眼部注视状态数据</a:t>
            </a:r>
          </a:p>
        </p:txBody>
      </p:sp>
      <p:pic>
        <p:nvPicPr>
          <p:cNvPr id="4" name="图片 3">
            <a:extLst>
              <a:ext uri="{FF2B5EF4-FFF2-40B4-BE49-F238E27FC236}">
                <a16:creationId xmlns:a16="http://schemas.microsoft.com/office/drawing/2014/main" id="{4A3C563B-8D0D-DDDB-372A-9643A352AB0D}"/>
              </a:ext>
            </a:extLst>
          </p:cNvPr>
          <p:cNvPicPr>
            <a:picLocks noChangeAspect="1"/>
          </p:cNvPicPr>
          <p:nvPr/>
        </p:nvPicPr>
        <p:blipFill>
          <a:blip r:embed="rId2"/>
          <a:stretch>
            <a:fillRect/>
          </a:stretch>
        </p:blipFill>
        <p:spPr>
          <a:xfrm>
            <a:off x="6672064" y="265311"/>
            <a:ext cx="3888432" cy="5825500"/>
          </a:xfrm>
          <a:prstGeom prst="rect">
            <a:avLst/>
          </a:prstGeom>
        </p:spPr>
      </p:pic>
      <p:sp>
        <p:nvSpPr>
          <p:cNvPr id="5" name="矩形 4">
            <a:extLst>
              <a:ext uri="{FF2B5EF4-FFF2-40B4-BE49-F238E27FC236}">
                <a16:creationId xmlns:a16="http://schemas.microsoft.com/office/drawing/2014/main" id="{74FC893E-FAF5-0EC1-F7C9-90EB6EC5E117}"/>
              </a:ext>
            </a:extLst>
          </p:cNvPr>
          <p:cNvSpPr/>
          <p:nvPr/>
        </p:nvSpPr>
        <p:spPr>
          <a:xfrm>
            <a:off x="695400" y="1340768"/>
            <a:ext cx="2016223"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合并雷达数据</a:t>
            </a:r>
          </a:p>
        </p:txBody>
      </p:sp>
      <p:sp>
        <p:nvSpPr>
          <p:cNvPr id="6" name="矩形 5">
            <a:extLst>
              <a:ext uri="{FF2B5EF4-FFF2-40B4-BE49-F238E27FC236}">
                <a16:creationId xmlns:a16="http://schemas.microsoft.com/office/drawing/2014/main" id="{AE4BBB69-B8B8-6AE8-C9C8-6352B20AD05A}"/>
              </a:ext>
            </a:extLst>
          </p:cNvPr>
          <p:cNvSpPr/>
          <p:nvPr/>
        </p:nvSpPr>
        <p:spPr>
          <a:xfrm>
            <a:off x="694784" y="2276872"/>
            <a:ext cx="2016839"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匹配前车</a:t>
            </a:r>
          </a:p>
        </p:txBody>
      </p:sp>
      <p:sp>
        <p:nvSpPr>
          <p:cNvPr id="7" name="矩形 6">
            <a:extLst>
              <a:ext uri="{FF2B5EF4-FFF2-40B4-BE49-F238E27FC236}">
                <a16:creationId xmlns:a16="http://schemas.microsoft.com/office/drawing/2014/main" id="{997A1283-CC5C-ED8D-A23E-C60A9506C172}"/>
              </a:ext>
            </a:extLst>
          </p:cNvPr>
          <p:cNvSpPr/>
          <p:nvPr/>
        </p:nvSpPr>
        <p:spPr>
          <a:xfrm>
            <a:off x="2999656" y="1340768"/>
            <a:ext cx="2016224"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标注分心状态</a:t>
            </a:r>
          </a:p>
        </p:txBody>
      </p:sp>
      <p:sp>
        <p:nvSpPr>
          <p:cNvPr id="8" name="矩形 7">
            <a:extLst>
              <a:ext uri="{FF2B5EF4-FFF2-40B4-BE49-F238E27FC236}">
                <a16:creationId xmlns:a16="http://schemas.microsoft.com/office/drawing/2014/main" id="{3CF7A872-8FF9-BECB-8A60-2382D09FD0C9}"/>
              </a:ext>
            </a:extLst>
          </p:cNvPr>
          <p:cNvSpPr/>
          <p:nvPr/>
        </p:nvSpPr>
        <p:spPr>
          <a:xfrm>
            <a:off x="2999656" y="2276872"/>
            <a:ext cx="2016224"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计算分心变量</a:t>
            </a:r>
            <a:r>
              <a:rPr lang="en-US" altLang="zh-CN" sz="1600" dirty="0" err="1">
                <a:solidFill>
                  <a:schemeClr val="tx1"/>
                </a:solidFill>
                <a:latin typeface="宋体" panose="02010600030101010101" pitchFamily="2" charset="-122"/>
                <a:ea typeface="宋体" panose="02010600030101010101" pitchFamily="2" charset="-122"/>
              </a:rPr>
              <a:t>AttenD</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9" name="矩形 8">
            <a:extLst>
              <a:ext uri="{FF2B5EF4-FFF2-40B4-BE49-F238E27FC236}">
                <a16:creationId xmlns:a16="http://schemas.microsoft.com/office/drawing/2014/main" id="{895974A5-4C2E-4834-DD69-33178F54023A}"/>
              </a:ext>
            </a:extLst>
          </p:cNvPr>
          <p:cNvSpPr/>
          <p:nvPr/>
        </p:nvSpPr>
        <p:spPr>
          <a:xfrm>
            <a:off x="704712" y="3436868"/>
            <a:ext cx="4311167"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融合了分心变量的时序近碰撞自然驾驶数据</a:t>
            </a:r>
          </a:p>
        </p:txBody>
      </p:sp>
      <p:sp>
        <p:nvSpPr>
          <p:cNvPr id="10" name="矩形 9">
            <a:extLst>
              <a:ext uri="{FF2B5EF4-FFF2-40B4-BE49-F238E27FC236}">
                <a16:creationId xmlns:a16="http://schemas.microsoft.com/office/drawing/2014/main" id="{6E4B80E9-37F2-6DEC-95F6-282976C0A68A}"/>
              </a:ext>
            </a:extLst>
          </p:cNvPr>
          <p:cNvSpPr/>
          <p:nvPr/>
        </p:nvSpPr>
        <p:spPr>
          <a:xfrm>
            <a:off x="704712" y="4348134"/>
            <a:ext cx="4311167"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计算近碰撞风险评估指标</a:t>
            </a:r>
            <a:endParaRPr lang="en-US" altLang="zh-CN" sz="1600" dirty="0">
              <a:solidFill>
                <a:schemeClr val="tx1"/>
              </a:solidFill>
              <a:latin typeface="宋体" panose="02010600030101010101" pitchFamily="2" charset="-122"/>
              <a:ea typeface="宋体" panose="02010600030101010101" pitchFamily="2" charset="-122"/>
            </a:endParaRPr>
          </a:p>
          <a:p>
            <a:pPr algn="ctr"/>
            <a:r>
              <a:rPr lang="en-US" altLang="zh-CN" sz="1600" dirty="0">
                <a:solidFill>
                  <a:schemeClr val="tx1"/>
                </a:solidFill>
                <a:latin typeface="宋体" panose="02010600030101010101" pitchFamily="2" charset="-122"/>
                <a:ea typeface="宋体" panose="02010600030101010101" pitchFamily="2" charset="-122"/>
              </a:rPr>
              <a:t>(TTC</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rPr>
              <a:t>THW</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rPr>
              <a:t>DRAC)</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1" name="矩形 10">
            <a:extLst>
              <a:ext uri="{FF2B5EF4-FFF2-40B4-BE49-F238E27FC236}">
                <a16:creationId xmlns:a16="http://schemas.microsoft.com/office/drawing/2014/main" id="{9AEBCBD2-AC9E-81BC-6F6F-A69457BF44A5}"/>
              </a:ext>
            </a:extLst>
          </p:cNvPr>
          <p:cNvSpPr/>
          <p:nvPr/>
        </p:nvSpPr>
        <p:spPr>
          <a:xfrm>
            <a:off x="707837" y="5279637"/>
            <a:ext cx="4311167"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处理空值和异常值</a:t>
            </a:r>
          </a:p>
        </p:txBody>
      </p:sp>
      <p:cxnSp>
        <p:nvCxnSpPr>
          <p:cNvPr id="13" name="直接箭头连接符 12">
            <a:extLst>
              <a:ext uri="{FF2B5EF4-FFF2-40B4-BE49-F238E27FC236}">
                <a16:creationId xmlns:a16="http://schemas.microsoft.com/office/drawing/2014/main" id="{B4152493-AA5D-77DC-9603-294440096BCB}"/>
              </a:ext>
            </a:extLst>
          </p:cNvPr>
          <p:cNvCxnSpPr>
            <a:cxnSpLocks/>
            <a:stCxn id="2" idx="2"/>
            <a:endCxn id="5" idx="0"/>
          </p:cNvCxnSpPr>
          <p:nvPr/>
        </p:nvCxnSpPr>
        <p:spPr>
          <a:xfrm>
            <a:off x="1703512" y="980728"/>
            <a:ext cx="0" cy="36004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E6218C74-F764-C861-B7B9-AE859AB3A2B4}"/>
              </a:ext>
            </a:extLst>
          </p:cNvPr>
          <p:cNvCxnSpPr>
            <a:cxnSpLocks/>
            <a:stCxn id="3" idx="2"/>
            <a:endCxn id="7" idx="0"/>
          </p:cNvCxnSpPr>
          <p:nvPr/>
        </p:nvCxnSpPr>
        <p:spPr>
          <a:xfrm>
            <a:off x="4007768" y="980728"/>
            <a:ext cx="0" cy="36004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a:extLst>
              <a:ext uri="{FF2B5EF4-FFF2-40B4-BE49-F238E27FC236}">
                <a16:creationId xmlns:a16="http://schemas.microsoft.com/office/drawing/2014/main" id="{3C59B4C6-DB6A-30EC-2E7C-954F28014B16}"/>
              </a:ext>
            </a:extLst>
          </p:cNvPr>
          <p:cNvCxnSpPr>
            <a:cxnSpLocks/>
            <a:stCxn id="5" idx="2"/>
            <a:endCxn id="6" idx="0"/>
          </p:cNvCxnSpPr>
          <p:nvPr/>
        </p:nvCxnSpPr>
        <p:spPr>
          <a:xfrm flipH="1">
            <a:off x="1703204" y="1916832"/>
            <a:ext cx="308" cy="36004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FD567CBF-ED1E-DABC-13D0-90A61657101E}"/>
              </a:ext>
            </a:extLst>
          </p:cNvPr>
          <p:cNvCxnSpPr>
            <a:cxnSpLocks/>
            <a:stCxn id="7" idx="2"/>
            <a:endCxn id="8" idx="0"/>
          </p:cNvCxnSpPr>
          <p:nvPr/>
        </p:nvCxnSpPr>
        <p:spPr>
          <a:xfrm>
            <a:off x="4007768" y="1916832"/>
            <a:ext cx="0" cy="36004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4BBBA774-16A0-7F25-AC34-0164FB093DF0}"/>
              </a:ext>
            </a:extLst>
          </p:cNvPr>
          <p:cNvCxnSpPr>
            <a:cxnSpLocks/>
            <a:stCxn id="9" idx="2"/>
            <a:endCxn id="10" idx="0"/>
          </p:cNvCxnSpPr>
          <p:nvPr/>
        </p:nvCxnSpPr>
        <p:spPr>
          <a:xfrm>
            <a:off x="2860296" y="4012932"/>
            <a:ext cx="0" cy="335202"/>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2" name="直接箭头连接符 31">
            <a:extLst>
              <a:ext uri="{FF2B5EF4-FFF2-40B4-BE49-F238E27FC236}">
                <a16:creationId xmlns:a16="http://schemas.microsoft.com/office/drawing/2014/main" id="{DD96A4A8-4234-B004-BECD-6773316147AB}"/>
              </a:ext>
            </a:extLst>
          </p:cNvPr>
          <p:cNvCxnSpPr>
            <a:cxnSpLocks/>
            <a:stCxn id="10" idx="2"/>
            <a:endCxn id="11" idx="0"/>
          </p:cNvCxnSpPr>
          <p:nvPr/>
        </p:nvCxnSpPr>
        <p:spPr>
          <a:xfrm>
            <a:off x="2860296" y="4924198"/>
            <a:ext cx="3125" cy="355439"/>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8" name="连接符: 肘形 37">
            <a:extLst>
              <a:ext uri="{FF2B5EF4-FFF2-40B4-BE49-F238E27FC236}">
                <a16:creationId xmlns:a16="http://schemas.microsoft.com/office/drawing/2014/main" id="{451DFF3B-F4D6-1458-2EF4-6CEC49B38780}"/>
              </a:ext>
            </a:extLst>
          </p:cNvPr>
          <p:cNvCxnSpPr>
            <a:stCxn id="6" idx="2"/>
            <a:endCxn id="9" idx="0"/>
          </p:cNvCxnSpPr>
          <p:nvPr/>
        </p:nvCxnSpPr>
        <p:spPr>
          <a:xfrm rot="16200000" flipH="1">
            <a:off x="1989784" y="2566356"/>
            <a:ext cx="583932" cy="1157092"/>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BC89FA4B-11D0-9F66-BAC4-93135C4D3470}"/>
              </a:ext>
            </a:extLst>
          </p:cNvPr>
          <p:cNvCxnSpPr>
            <a:stCxn id="8" idx="2"/>
            <a:endCxn id="9" idx="0"/>
          </p:cNvCxnSpPr>
          <p:nvPr/>
        </p:nvCxnSpPr>
        <p:spPr>
          <a:xfrm rot="5400000">
            <a:off x="3142066" y="2571166"/>
            <a:ext cx="583932" cy="1147472"/>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5649F54F-C458-15C2-B9CA-5F0C903953A5}"/>
              </a:ext>
            </a:extLst>
          </p:cNvPr>
          <p:cNvSpPr txBox="1"/>
          <p:nvPr/>
        </p:nvSpPr>
        <p:spPr>
          <a:xfrm>
            <a:off x="2393407" y="2860804"/>
            <a:ext cx="933776" cy="307777"/>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数据合并</a:t>
            </a:r>
          </a:p>
        </p:txBody>
      </p:sp>
      <p:sp>
        <p:nvSpPr>
          <p:cNvPr id="42" name="矩形 41">
            <a:extLst>
              <a:ext uri="{FF2B5EF4-FFF2-40B4-BE49-F238E27FC236}">
                <a16:creationId xmlns:a16="http://schemas.microsoft.com/office/drawing/2014/main" id="{69931088-AF77-CABB-33F4-825FE5A90BB9}"/>
              </a:ext>
            </a:extLst>
          </p:cNvPr>
          <p:cNvSpPr/>
          <p:nvPr/>
        </p:nvSpPr>
        <p:spPr>
          <a:xfrm>
            <a:off x="704712" y="6129478"/>
            <a:ext cx="4311167" cy="5760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宋体" panose="02010600030101010101" pitchFamily="2" charset="-122"/>
                <a:ea typeface="宋体" panose="02010600030101010101" pitchFamily="2" charset="-122"/>
              </a:rPr>
              <a:t>提取安全</a:t>
            </a:r>
            <a:r>
              <a:rPr lang="en-US" altLang="zh-CN" sz="1600" dirty="0">
                <a:solidFill>
                  <a:schemeClr val="tx1"/>
                </a:solidFill>
                <a:latin typeface="宋体" panose="02010600030101010101" pitchFamily="2" charset="-122"/>
                <a:ea typeface="宋体" panose="02010600030101010101" pitchFamily="2" charset="-122"/>
              </a:rPr>
              <a:t>/</a:t>
            </a:r>
            <a:r>
              <a:rPr lang="zh-CN" altLang="en-US" sz="1600" dirty="0">
                <a:solidFill>
                  <a:schemeClr val="tx1"/>
                </a:solidFill>
                <a:latin typeface="宋体" panose="02010600030101010101" pitchFamily="2" charset="-122"/>
                <a:ea typeface="宋体" panose="02010600030101010101" pitchFamily="2" charset="-122"/>
              </a:rPr>
              <a:t>危险事件片段</a:t>
            </a:r>
          </a:p>
        </p:txBody>
      </p:sp>
      <p:cxnSp>
        <p:nvCxnSpPr>
          <p:cNvPr id="44" name="直接箭头连接符 43">
            <a:extLst>
              <a:ext uri="{FF2B5EF4-FFF2-40B4-BE49-F238E27FC236}">
                <a16:creationId xmlns:a16="http://schemas.microsoft.com/office/drawing/2014/main" id="{B801CFBF-48EB-4954-8511-4A5D3880A8D1}"/>
              </a:ext>
            </a:extLst>
          </p:cNvPr>
          <p:cNvCxnSpPr>
            <a:cxnSpLocks/>
            <a:stCxn id="11" idx="2"/>
            <a:endCxn id="42" idx="0"/>
          </p:cNvCxnSpPr>
          <p:nvPr/>
        </p:nvCxnSpPr>
        <p:spPr>
          <a:xfrm flipH="1">
            <a:off x="2860296" y="5855701"/>
            <a:ext cx="3125" cy="273777"/>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563441"/>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矩形 194">
            <a:extLst>
              <a:ext uri="{FF2B5EF4-FFF2-40B4-BE49-F238E27FC236}">
                <a16:creationId xmlns:a16="http://schemas.microsoft.com/office/drawing/2014/main" id="{FA426AE5-A142-81FD-536E-ACD319510FD6}"/>
              </a:ext>
            </a:extLst>
          </p:cNvPr>
          <p:cNvSpPr/>
          <p:nvPr/>
        </p:nvSpPr>
        <p:spPr>
          <a:xfrm>
            <a:off x="5586367" y="3082630"/>
            <a:ext cx="5285557" cy="81953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0" name="矩形 179">
            <a:extLst>
              <a:ext uri="{FF2B5EF4-FFF2-40B4-BE49-F238E27FC236}">
                <a16:creationId xmlns:a16="http://schemas.microsoft.com/office/drawing/2014/main" id="{F05F3317-C2F4-CC60-A2CA-BEB11DDD43E5}"/>
              </a:ext>
            </a:extLst>
          </p:cNvPr>
          <p:cNvSpPr/>
          <p:nvPr/>
        </p:nvSpPr>
        <p:spPr>
          <a:xfrm>
            <a:off x="5586366" y="2101961"/>
            <a:ext cx="5285557" cy="720893"/>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5" name="矩形 174">
            <a:extLst>
              <a:ext uri="{FF2B5EF4-FFF2-40B4-BE49-F238E27FC236}">
                <a16:creationId xmlns:a16="http://schemas.microsoft.com/office/drawing/2014/main" id="{C749B178-0C8F-F626-85AD-AEB763211C7B}"/>
              </a:ext>
            </a:extLst>
          </p:cNvPr>
          <p:cNvSpPr/>
          <p:nvPr/>
        </p:nvSpPr>
        <p:spPr>
          <a:xfrm>
            <a:off x="5533155" y="-436610"/>
            <a:ext cx="2701367"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6" name="矩形 175">
            <a:extLst>
              <a:ext uri="{FF2B5EF4-FFF2-40B4-BE49-F238E27FC236}">
                <a16:creationId xmlns:a16="http://schemas.microsoft.com/office/drawing/2014/main" id="{E5294E16-A48F-06C2-1A46-BE693A547B58}"/>
              </a:ext>
            </a:extLst>
          </p:cNvPr>
          <p:cNvSpPr/>
          <p:nvPr/>
        </p:nvSpPr>
        <p:spPr>
          <a:xfrm>
            <a:off x="8342641" y="-436610"/>
            <a:ext cx="2596718"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46" name="矩形 245">
            <a:extLst>
              <a:ext uri="{FF2B5EF4-FFF2-40B4-BE49-F238E27FC236}">
                <a16:creationId xmlns:a16="http://schemas.microsoft.com/office/drawing/2014/main" id="{97FA3670-2AAF-A5F5-BBD1-F1E5763D3C5E}"/>
              </a:ext>
            </a:extLst>
          </p:cNvPr>
          <p:cNvSpPr/>
          <p:nvPr/>
        </p:nvSpPr>
        <p:spPr>
          <a:xfrm>
            <a:off x="5481993" y="7309518"/>
            <a:ext cx="1604490" cy="1733694"/>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45" name="矩形 244">
            <a:extLst>
              <a:ext uri="{FF2B5EF4-FFF2-40B4-BE49-F238E27FC236}">
                <a16:creationId xmlns:a16="http://schemas.microsoft.com/office/drawing/2014/main" id="{A7FF663E-7E7A-5957-9216-9871F38F39F6}"/>
              </a:ext>
            </a:extLst>
          </p:cNvPr>
          <p:cNvSpPr/>
          <p:nvPr/>
        </p:nvSpPr>
        <p:spPr>
          <a:xfrm>
            <a:off x="8101887" y="4736242"/>
            <a:ext cx="2837472"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6" name="TextBox 1"/>
          <p:cNvSpPr txBox="1"/>
          <p:nvPr/>
        </p:nvSpPr>
        <p:spPr>
          <a:xfrm>
            <a:off x="407368" y="188641"/>
            <a:ext cx="6912768" cy="460375"/>
          </a:xfrm>
          <a:prstGeom prst="rect">
            <a:avLst/>
          </a:prstGeom>
          <a:noFill/>
        </p:spPr>
        <p:txBody>
          <a:bodyPr wrap="square" rtlCol="0">
            <a:spAutoFit/>
          </a:bodyPr>
          <a:lstStyle/>
          <a:p>
            <a:r>
              <a:rPr lang="zh-CN" altLang="en-US" sz="2400" b="1" dirty="0">
                <a:solidFill>
                  <a:srgbClr val="FFC000"/>
                </a:solidFill>
                <a:latin typeface="微软雅黑" panose="020B0503020204020204" pitchFamily="34" charset="-122"/>
                <a:ea typeface="微软雅黑" panose="020B0503020204020204" pitchFamily="34" charset="-122"/>
                <a:sym typeface="+mn-ea"/>
              </a:rPr>
              <a:t>研究思路</a:t>
            </a:r>
            <a:endParaRPr lang="zh-CN" sz="2400" b="1" dirty="0">
              <a:solidFill>
                <a:srgbClr val="FFC000"/>
              </a:solidFill>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6699BF80-EB83-4A67-5D55-74907B51AC5E}"/>
              </a:ext>
            </a:extLst>
          </p:cNvPr>
          <p:cNvSpPr/>
          <p:nvPr/>
        </p:nvSpPr>
        <p:spPr>
          <a:xfrm>
            <a:off x="5389139" y="-1007037"/>
            <a:ext cx="5691505" cy="2422525"/>
          </a:xfrm>
          <a:prstGeom prst="roundRect">
            <a:avLst>
              <a:gd name="adj" fmla="val 9054"/>
            </a:avLst>
          </a:prstGeom>
          <a:noFill/>
          <a:ln>
            <a:solidFill>
              <a:schemeClr val="tx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09DB6E25-F2C9-E7B2-1E6D-9ECA90371FCF}"/>
              </a:ext>
            </a:extLst>
          </p:cNvPr>
          <p:cNvSpPr/>
          <p:nvPr/>
        </p:nvSpPr>
        <p:spPr>
          <a:xfrm>
            <a:off x="5383395" y="1597905"/>
            <a:ext cx="5691505" cy="2422525"/>
          </a:xfrm>
          <a:prstGeom prst="roundRect">
            <a:avLst>
              <a:gd name="adj" fmla="val 9054"/>
            </a:avLst>
          </a:prstGeom>
          <a:noFill/>
          <a:ln>
            <a:solidFill>
              <a:schemeClr val="tx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0" name="矩形: 圆顶角 9">
            <a:extLst>
              <a:ext uri="{FF2B5EF4-FFF2-40B4-BE49-F238E27FC236}">
                <a16:creationId xmlns:a16="http://schemas.microsoft.com/office/drawing/2014/main" id="{0BD79165-C83B-C471-4152-A90B9507BE60}"/>
              </a:ext>
            </a:extLst>
          </p:cNvPr>
          <p:cNvSpPr/>
          <p:nvPr/>
        </p:nvSpPr>
        <p:spPr>
          <a:xfrm>
            <a:off x="5386266" y="-1008626"/>
            <a:ext cx="5691505" cy="432048"/>
          </a:xfrm>
          <a:prstGeom prst="round2SameRect">
            <a:avLst>
              <a:gd name="adj1" fmla="val 50000"/>
              <a:gd name="adj2" fmla="val 0"/>
            </a:avLst>
          </a:prstGeom>
          <a:solidFill>
            <a:srgbClr val="4472C4"/>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数据基座：基于多源数据的道路运输车辆出行风险特征分析</a:t>
            </a:r>
          </a:p>
        </p:txBody>
      </p:sp>
      <p:sp>
        <p:nvSpPr>
          <p:cNvPr id="23" name="矩形 22">
            <a:extLst>
              <a:ext uri="{FF2B5EF4-FFF2-40B4-BE49-F238E27FC236}">
                <a16:creationId xmlns:a16="http://schemas.microsoft.com/office/drawing/2014/main" id="{58DF6B67-4302-8629-9827-5F1CAF7324D9}"/>
              </a:ext>
            </a:extLst>
          </p:cNvPr>
          <p:cNvSpPr/>
          <p:nvPr/>
        </p:nvSpPr>
        <p:spPr>
          <a:xfrm>
            <a:off x="7457039" y="-341979"/>
            <a:ext cx="648072" cy="85456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货车事故数据</a:t>
            </a:r>
          </a:p>
        </p:txBody>
      </p:sp>
      <p:sp>
        <p:nvSpPr>
          <p:cNvPr id="24" name="矩形 23">
            <a:extLst>
              <a:ext uri="{FF2B5EF4-FFF2-40B4-BE49-F238E27FC236}">
                <a16:creationId xmlns:a16="http://schemas.microsoft.com/office/drawing/2014/main" id="{65AD007F-1CEA-E549-AB9B-BD7539BBB007}"/>
              </a:ext>
            </a:extLst>
          </p:cNvPr>
          <p:cNvSpPr/>
          <p:nvPr/>
        </p:nvSpPr>
        <p:spPr>
          <a:xfrm>
            <a:off x="8413475" y="-341979"/>
            <a:ext cx="648072" cy="86683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运输车辆出行数据</a:t>
            </a:r>
          </a:p>
        </p:txBody>
      </p:sp>
      <p:sp>
        <p:nvSpPr>
          <p:cNvPr id="28" name="矩形 27">
            <a:extLst>
              <a:ext uri="{FF2B5EF4-FFF2-40B4-BE49-F238E27FC236}">
                <a16:creationId xmlns:a16="http://schemas.microsoft.com/office/drawing/2014/main" id="{3B4007C1-FED1-65D5-FAF1-ED16F54FB3BB}"/>
              </a:ext>
            </a:extLst>
          </p:cNvPr>
          <p:cNvSpPr/>
          <p:nvPr/>
        </p:nvSpPr>
        <p:spPr>
          <a:xfrm>
            <a:off x="5634444" y="-349656"/>
            <a:ext cx="1445689"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OSM</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道路数据</a:t>
            </a:r>
          </a:p>
        </p:txBody>
      </p:sp>
      <p:sp>
        <p:nvSpPr>
          <p:cNvPr id="29" name="矩形 28">
            <a:extLst>
              <a:ext uri="{FF2B5EF4-FFF2-40B4-BE49-F238E27FC236}">
                <a16:creationId xmlns:a16="http://schemas.microsoft.com/office/drawing/2014/main" id="{C99016EB-4655-4E31-3F8B-EA73778F87BB}"/>
              </a:ext>
            </a:extLst>
          </p:cNvPr>
          <p:cNvSpPr/>
          <p:nvPr/>
        </p:nvSpPr>
        <p:spPr>
          <a:xfrm>
            <a:off x="5634444" y="-46341"/>
            <a:ext cx="1445689"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GIS</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路网特性</a:t>
            </a:r>
          </a:p>
        </p:txBody>
      </p:sp>
      <p:sp>
        <p:nvSpPr>
          <p:cNvPr id="30" name="矩形 29">
            <a:extLst>
              <a:ext uri="{FF2B5EF4-FFF2-40B4-BE49-F238E27FC236}">
                <a16:creationId xmlns:a16="http://schemas.microsoft.com/office/drawing/2014/main" id="{21DD3332-D952-6075-87D9-83B846DDA251}"/>
              </a:ext>
            </a:extLst>
          </p:cNvPr>
          <p:cNvSpPr/>
          <p:nvPr/>
        </p:nvSpPr>
        <p:spPr>
          <a:xfrm>
            <a:off x="5634444" y="256549"/>
            <a:ext cx="1445689"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气候数据</a:t>
            </a:r>
          </a:p>
        </p:txBody>
      </p:sp>
      <p:sp>
        <p:nvSpPr>
          <p:cNvPr id="31" name="矩形 30">
            <a:extLst>
              <a:ext uri="{FF2B5EF4-FFF2-40B4-BE49-F238E27FC236}">
                <a16:creationId xmlns:a16="http://schemas.microsoft.com/office/drawing/2014/main" id="{6007E566-22B6-2AA8-9C8C-EF4950B6283E}"/>
              </a:ext>
            </a:extLst>
          </p:cNvPr>
          <p:cNvSpPr/>
          <p:nvPr/>
        </p:nvSpPr>
        <p:spPr>
          <a:xfrm>
            <a:off x="9485087" y="-349085"/>
            <a:ext cx="1368152"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GPS</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轨迹数据</a:t>
            </a:r>
          </a:p>
        </p:txBody>
      </p:sp>
      <p:sp>
        <p:nvSpPr>
          <p:cNvPr id="32" name="矩形 31">
            <a:extLst>
              <a:ext uri="{FF2B5EF4-FFF2-40B4-BE49-F238E27FC236}">
                <a16:creationId xmlns:a16="http://schemas.microsoft.com/office/drawing/2014/main" id="{C218B1F8-25A6-97EF-8A55-07B5055A1F2B}"/>
              </a:ext>
            </a:extLst>
          </p:cNvPr>
          <p:cNvSpPr/>
          <p:nvPr/>
        </p:nvSpPr>
        <p:spPr>
          <a:xfrm>
            <a:off x="9485087" y="-40992"/>
            <a:ext cx="1368152"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告警数据</a:t>
            </a:r>
          </a:p>
        </p:txBody>
      </p:sp>
      <p:sp>
        <p:nvSpPr>
          <p:cNvPr id="33" name="矩形 32">
            <a:extLst>
              <a:ext uri="{FF2B5EF4-FFF2-40B4-BE49-F238E27FC236}">
                <a16:creationId xmlns:a16="http://schemas.microsoft.com/office/drawing/2014/main" id="{EE8D7BAD-E8A4-D4FE-F3F7-77D0E93A1AD4}"/>
              </a:ext>
            </a:extLst>
          </p:cNvPr>
          <p:cNvSpPr/>
          <p:nvPr/>
        </p:nvSpPr>
        <p:spPr>
          <a:xfrm>
            <a:off x="9485087" y="268086"/>
            <a:ext cx="1368152" cy="26679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视频数据</a:t>
            </a:r>
          </a:p>
        </p:txBody>
      </p:sp>
      <p:cxnSp>
        <p:nvCxnSpPr>
          <p:cNvPr id="36" name="连接符: 肘形 35">
            <a:extLst>
              <a:ext uri="{FF2B5EF4-FFF2-40B4-BE49-F238E27FC236}">
                <a16:creationId xmlns:a16="http://schemas.microsoft.com/office/drawing/2014/main" id="{F3C43882-4FD6-C831-E827-2B56CC6C6247}"/>
              </a:ext>
            </a:extLst>
          </p:cNvPr>
          <p:cNvCxnSpPr>
            <a:cxnSpLocks/>
            <a:stCxn id="28" idx="3"/>
            <a:endCxn id="23" idx="1"/>
          </p:cNvCxnSpPr>
          <p:nvPr/>
        </p:nvCxnSpPr>
        <p:spPr>
          <a:xfrm>
            <a:off x="7080133" y="-216258"/>
            <a:ext cx="376906" cy="30156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8" name="连接符: 肘形 37">
            <a:extLst>
              <a:ext uri="{FF2B5EF4-FFF2-40B4-BE49-F238E27FC236}">
                <a16:creationId xmlns:a16="http://schemas.microsoft.com/office/drawing/2014/main" id="{066049BA-1191-7833-4EBB-A124D8E32F02}"/>
              </a:ext>
            </a:extLst>
          </p:cNvPr>
          <p:cNvCxnSpPr>
            <a:cxnSpLocks/>
            <a:stCxn id="29" idx="3"/>
            <a:endCxn id="23" idx="1"/>
          </p:cNvCxnSpPr>
          <p:nvPr/>
        </p:nvCxnSpPr>
        <p:spPr>
          <a:xfrm flipV="1">
            <a:off x="7080133" y="85305"/>
            <a:ext cx="376906" cy="175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2" name="连接符: 肘形 41">
            <a:extLst>
              <a:ext uri="{FF2B5EF4-FFF2-40B4-BE49-F238E27FC236}">
                <a16:creationId xmlns:a16="http://schemas.microsoft.com/office/drawing/2014/main" id="{EC0BEDB6-DAD6-B690-6EEF-50027FA09590}"/>
              </a:ext>
            </a:extLst>
          </p:cNvPr>
          <p:cNvCxnSpPr>
            <a:cxnSpLocks/>
            <a:stCxn id="30" idx="3"/>
            <a:endCxn id="23" idx="1"/>
          </p:cNvCxnSpPr>
          <p:nvPr/>
        </p:nvCxnSpPr>
        <p:spPr>
          <a:xfrm flipV="1">
            <a:off x="7080133" y="85305"/>
            <a:ext cx="376906" cy="30464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3" name="连接符: 肘形 42">
            <a:extLst>
              <a:ext uri="{FF2B5EF4-FFF2-40B4-BE49-F238E27FC236}">
                <a16:creationId xmlns:a16="http://schemas.microsoft.com/office/drawing/2014/main" id="{4AC7EF9A-43BB-725C-AC37-F78C137FC9EF}"/>
              </a:ext>
            </a:extLst>
          </p:cNvPr>
          <p:cNvCxnSpPr>
            <a:cxnSpLocks/>
            <a:stCxn id="31" idx="1"/>
            <a:endCxn id="24" idx="3"/>
          </p:cNvCxnSpPr>
          <p:nvPr/>
        </p:nvCxnSpPr>
        <p:spPr>
          <a:xfrm rot="10800000" flipV="1">
            <a:off x="9061547" y="-215688"/>
            <a:ext cx="423540" cy="30712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6" name="连接符: 肘形 45">
            <a:extLst>
              <a:ext uri="{FF2B5EF4-FFF2-40B4-BE49-F238E27FC236}">
                <a16:creationId xmlns:a16="http://schemas.microsoft.com/office/drawing/2014/main" id="{E7A92188-F929-F419-9849-42E56D41522A}"/>
              </a:ext>
            </a:extLst>
          </p:cNvPr>
          <p:cNvCxnSpPr>
            <a:cxnSpLocks/>
            <a:stCxn id="32" idx="1"/>
            <a:endCxn id="24" idx="3"/>
          </p:cNvCxnSpPr>
          <p:nvPr/>
        </p:nvCxnSpPr>
        <p:spPr>
          <a:xfrm rot="10800000">
            <a:off x="9061547" y="91440"/>
            <a:ext cx="423540" cy="96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9" name="连接符: 肘形 48">
            <a:extLst>
              <a:ext uri="{FF2B5EF4-FFF2-40B4-BE49-F238E27FC236}">
                <a16:creationId xmlns:a16="http://schemas.microsoft.com/office/drawing/2014/main" id="{7D2102C2-1015-448B-B69B-E807433E9493}"/>
              </a:ext>
            </a:extLst>
          </p:cNvPr>
          <p:cNvCxnSpPr>
            <a:cxnSpLocks/>
            <a:stCxn id="33" idx="1"/>
            <a:endCxn id="24" idx="3"/>
          </p:cNvCxnSpPr>
          <p:nvPr/>
        </p:nvCxnSpPr>
        <p:spPr>
          <a:xfrm rot="10800000">
            <a:off x="9061547" y="91440"/>
            <a:ext cx="423540" cy="31004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09" name="矩形 108">
            <a:extLst>
              <a:ext uri="{FF2B5EF4-FFF2-40B4-BE49-F238E27FC236}">
                <a16:creationId xmlns:a16="http://schemas.microsoft.com/office/drawing/2014/main" id="{43829FAB-3629-525A-0FB9-9258BEC43542}"/>
              </a:ext>
            </a:extLst>
          </p:cNvPr>
          <p:cNvSpPr/>
          <p:nvPr/>
        </p:nvSpPr>
        <p:spPr>
          <a:xfrm>
            <a:off x="5595144" y="933063"/>
            <a:ext cx="2577391" cy="30310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多类别货车事故时空分布特征</a:t>
            </a:r>
          </a:p>
        </p:txBody>
      </p:sp>
      <p:sp>
        <p:nvSpPr>
          <p:cNvPr id="119" name="箭头: 下 118">
            <a:extLst>
              <a:ext uri="{FF2B5EF4-FFF2-40B4-BE49-F238E27FC236}">
                <a16:creationId xmlns:a16="http://schemas.microsoft.com/office/drawing/2014/main" id="{4A797D0A-2B1A-0878-4A95-E292CC685507}"/>
              </a:ext>
            </a:extLst>
          </p:cNvPr>
          <p:cNvSpPr/>
          <p:nvPr/>
        </p:nvSpPr>
        <p:spPr>
          <a:xfrm>
            <a:off x="6883969" y="632158"/>
            <a:ext cx="141408" cy="216024"/>
          </a:xfrm>
          <a:prstGeom prst="downArrow">
            <a:avLst/>
          </a:prstGeom>
          <a:solidFill>
            <a:srgbClr val="B8DDE5"/>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120" name="矩形 119">
            <a:extLst>
              <a:ext uri="{FF2B5EF4-FFF2-40B4-BE49-F238E27FC236}">
                <a16:creationId xmlns:a16="http://schemas.microsoft.com/office/drawing/2014/main" id="{A0D1BDD6-70B1-210F-85A2-9977FDAF569C}"/>
              </a:ext>
            </a:extLst>
          </p:cNvPr>
          <p:cNvSpPr/>
          <p:nvPr/>
        </p:nvSpPr>
        <p:spPr>
          <a:xfrm>
            <a:off x="8436631" y="933063"/>
            <a:ext cx="2425115" cy="30310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运输车辆出行特征</a:t>
            </a:r>
          </a:p>
        </p:txBody>
      </p:sp>
      <p:sp>
        <p:nvSpPr>
          <p:cNvPr id="121" name="文本框 120">
            <a:extLst>
              <a:ext uri="{FF2B5EF4-FFF2-40B4-BE49-F238E27FC236}">
                <a16:creationId xmlns:a16="http://schemas.microsoft.com/office/drawing/2014/main" id="{417E4353-B441-D5D3-7F65-4F042EA3E2F2}"/>
              </a:ext>
            </a:extLst>
          </p:cNvPr>
          <p:cNvSpPr txBox="1"/>
          <p:nvPr/>
        </p:nvSpPr>
        <p:spPr>
          <a:xfrm>
            <a:off x="6052217" y="587501"/>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统计分析</a:t>
            </a:r>
          </a:p>
        </p:txBody>
      </p:sp>
      <p:sp>
        <p:nvSpPr>
          <p:cNvPr id="128" name="文本框 127">
            <a:extLst>
              <a:ext uri="{FF2B5EF4-FFF2-40B4-BE49-F238E27FC236}">
                <a16:creationId xmlns:a16="http://schemas.microsoft.com/office/drawing/2014/main" id="{3F27AD6F-C6B6-583D-1F27-4D172E77CF46}"/>
              </a:ext>
            </a:extLst>
          </p:cNvPr>
          <p:cNvSpPr txBox="1"/>
          <p:nvPr/>
        </p:nvSpPr>
        <p:spPr>
          <a:xfrm>
            <a:off x="7056910" y="587501"/>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聚类分析</a:t>
            </a:r>
          </a:p>
        </p:txBody>
      </p:sp>
      <p:sp>
        <p:nvSpPr>
          <p:cNvPr id="129" name="箭头: 下 128">
            <a:extLst>
              <a:ext uri="{FF2B5EF4-FFF2-40B4-BE49-F238E27FC236}">
                <a16:creationId xmlns:a16="http://schemas.microsoft.com/office/drawing/2014/main" id="{A1C09A33-9384-3230-EB77-01EA281E42D3}"/>
              </a:ext>
            </a:extLst>
          </p:cNvPr>
          <p:cNvSpPr/>
          <p:nvPr/>
        </p:nvSpPr>
        <p:spPr>
          <a:xfrm>
            <a:off x="9734080" y="610910"/>
            <a:ext cx="141408" cy="216024"/>
          </a:xfrm>
          <a:prstGeom prst="downArrow">
            <a:avLst/>
          </a:prstGeom>
          <a:solidFill>
            <a:srgbClr val="B8DDE5"/>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130" name="文本框 129">
            <a:extLst>
              <a:ext uri="{FF2B5EF4-FFF2-40B4-BE49-F238E27FC236}">
                <a16:creationId xmlns:a16="http://schemas.microsoft.com/office/drawing/2014/main" id="{CE2990AD-C74F-7876-4C66-1D2893DD378D}"/>
              </a:ext>
            </a:extLst>
          </p:cNvPr>
          <p:cNvSpPr txBox="1"/>
          <p:nvPr/>
        </p:nvSpPr>
        <p:spPr>
          <a:xfrm>
            <a:off x="9933427" y="583915"/>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指标提取</a:t>
            </a:r>
          </a:p>
        </p:txBody>
      </p:sp>
      <p:sp>
        <p:nvSpPr>
          <p:cNvPr id="131" name="文本框 130">
            <a:extLst>
              <a:ext uri="{FF2B5EF4-FFF2-40B4-BE49-F238E27FC236}">
                <a16:creationId xmlns:a16="http://schemas.microsoft.com/office/drawing/2014/main" id="{5953ADDF-1489-6EAD-8E78-0E9FD7CAF5F9}"/>
              </a:ext>
            </a:extLst>
          </p:cNvPr>
          <p:cNvSpPr txBox="1"/>
          <p:nvPr/>
        </p:nvSpPr>
        <p:spPr>
          <a:xfrm>
            <a:off x="8870795" y="585630"/>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滤波插值</a:t>
            </a:r>
          </a:p>
        </p:txBody>
      </p:sp>
      <p:sp>
        <p:nvSpPr>
          <p:cNvPr id="153" name="矩形 152">
            <a:extLst>
              <a:ext uri="{FF2B5EF4-FFF2-40B4-BE49-F238E27FC236}">
                <a16:creationId xmlns:a16="http://schemas.microsoft.com/office/drawing/2014/main" id="{BAFF37C2-0663-8C27-487D-54EC3E83B3E8}"/>
              </a:ext>
            </a:extLst>
          </p:cNvPr>
          <p:cNvSpPr/>
          <p:nvPr/>
        </p:nvSpPr>
        <p:spPr>
          <a:xfrm>
            <a:off x="6463515" y="2174310"/>
            <a:ext cx="1371496"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CTGAN</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4" name="矩形 153">
            <a:extLst>
              <a:ext uri="{FF2B5EF4-FFF2-40B4-BE49-F238E27FC236}">
                <a16:creationId xmlns:a16="http://schemas.microsoft.com/office/drawing/2014/main" id="{29A6F2C4-5929-8109-E020-19566814413D}"/>
              </a:ext>
            </a:extLst>
          </p:cNvPr>
          <p:cNvSpPr/>
          <p:nvPr/>
        </p:nvSpPr>
        <p:spPr>
          <a:xfrm>
            <a:off x="6463515" y="2499859"/>
            <a:ext cx="1371496"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TabDDPM</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8" name="文本框 157">
            <a:extLst>
              <a:ext uri="{FF2B5EF4-FFF2-40B4-BE49-F238E27FC236}">
                <a16:creationId xmlns:a16="http://schemas.microsoft.com/office/drawing/2014/main" id="{EFEA7A3B-9CDC-82D9-99C4-FB7471E09786}"/>
              </a:ext>
            </a:extLst>
          </p:cNvPr>
          <p:cNvSpPr txBox="1"/>
          <p:nvPr/>
        </p:nvSpPr>
        <p:spPr>
          <a:xfrm>
            <a:off x="5639088" y="2197764"/>
            <a:ext cx="799256" cy="523220"/>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生成式算法</a:t>
            </a:r>
          </a:p>
        </p:txBody>
      </p:sp>
      <p:sp>
        <p:nvSpPr>
          <p:cNvPr id="159" name="文本框 158">
            <a:extLst>
              <a:ext uri="{FF2B5EF4-FFF2-40B4-BE49-F238E27FC236}">
                <a16:creationId xmlns:a16="http://schemas.microsoft.com/office/drawing/2014/main" id="{5A2E2437-44E4-6D93-FEBF-3994DFCEF0A6}"/>
              </a:ext>
            </a:extLst>
          </p:cNvPr>
          <p:cNvSpPr txBox="1"/>
          <p:nvPr/>
        </p:nvSpPr>
        <p:spPr>
          <a:xfrm>
            <a:off x="5627866" y="3158401"/>
            <a:ext cx="810478" cy="738664"/>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事故严重程度识别</a:t>
            </a:r>
          </a:p>
        </p:txBody>
      </p:sp>
      <p:sp>
        <p:nvSpPr>
          <p:cNvPr id="160" name="矩形 159">
            <a:extLst>
              <a:ext uri="{FF2B5EF4-FFF2-40B4-BE49-F238E27FC236}">
                <a16:creationId xmlns:a16="http://schemas.microsoft.com/office/drawing/2014/main" id="{45C413F7-A09C-111C-3495-71D1412B7C98}"/>
              </a:ext>
            </a:extLst>
          </p:cNvPr>
          <p:cNvSpPr/>
          <p:nvPr/>
        </p:nvSpPr>
        <p:spPr>
          <a:xfrm>
            <a:off x="8738884" y="3200657"/>
            <a:ext cx="1469047" cy="23731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模型整体性能</a:t>
            </a:r>
          </a:p>
        </p:txBody>
      </p:sp>
      <p:sp>
        <p:nvSpPr>
          <p:cNvPr id="161" name="矩形 160">
            <a:extLst>
              <a:ext uri="{FF2B5EF4-FFF2-40B4-BE49-F238E27FC236}">
                <a16:creationId xmlns:a16="http://schemas.microsoft.com/office/drawing/2014/main" id="{F596CC19-837F-0CB7-43CE-C2FBB45AA2E9}"/>
              </a:ext>
            </a:extLst>
          </p:cNvPr>
          <p:cNvSpPr/>
          <p:nvPr/>
        </p:nvSpPr>
        <p:spPr>
          <a:xfrm>
            <a:off x="6556197" y="3200658"/>
            <a:ext cx="1964639"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Stacking</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集成</a:t>
            </a:r>
          </a:p>
        </p:txBody>
      </p:sp>
      <p:sp>
        <p:nvSpPr>
          <p:cNvPr id="162" name="矩形 161">
            <a:extLst>
              <a:ext uri="{FF2B5EF4-FFF2-40B4-BE49-F238E27FC236}">
                <a16:creationId xmlns:a16="http://schemas.microsoft.com/office/drawing/2014/main" id="{72CDD3A2-910A-A169-7EF7-4E75FD0F0C27}"/>
              </a:ext>
            </a:extLst>
          </p:cNvPr>
          <p:cNvSpPr/>
          <p:nvPr/>
        </p:nvSpPr>
        <p:spPr>
          <a:xfrm>
            <a:off x="6556197" y="3537499"/>
            <a:ext cx="95428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基学习器</a:t>
            </a:r>
          </a:p>
        </p:txBody>
      </p:sp>
      <p:sp>
        <p:nvSpPr>
          <p:cNvPr id="167" name="矩形 166">
            <a:extLst>
              <a:ext uri="{FF2B5EF4-FFF2-40B4-BE49-F238E27FC236}">
                <a16:creationId xmlns:a16="http://schemas.microsoft.com/office/drawing/2014/main" id="{E8F5AAC0-67B0-40B5-6F56-B4D83B0E3573}"/>
              </a:ext>
            </a:extLst>
          </p:cNvPr>
          <p:cNvSpPr/>
          <p:nvPr/>
        </p:nvSpPr>
        <p:spPr>
          <a:xfrm>
            <a:off x="7584734" y="3537498"/>
            <a:ext cx="93610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元学习器</a:t>
            </a:r>
          </a:p>
        </p:txBody>
      </p:sp>
      <p:sp>
        <p:nvSpPr>
          <p:cNvPr id="168" name="矩形 167">
            <a:extLst>
              <a:ext uri="{FF2B5EF4-FFF2-40B4-BE49-F238E27FC236}">
                <a16:creationId xmlns:a16="http://schemas.microsoft.com/office/drawing/2014/main" id="{5122EDBA-5D30-CBD5-47C5-CE72B3D72E06}"/>
              </a:ext>
            </a:extLst>
          </p:cNvPr>
          <p:cNvSpPr/>
          <p:nvPr/>
        </p:nvSpPr>
        <p:spPr>
          <a:xfrm>
            <a:off x="8395139" y="2176644"/>
            <a:ext cx="572185" cy="5745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质量评估</a:t>
            </a:r>
          </a:p>
        </p:txBody>
      </p:sp>
      <p:sp>
        <p:nvSpPr>
          <p:cNvPr id="169" name="矩形 168">
            <a:extLst>
              <a:ext uri="{FF2B5EF4-FFF2-40B4-BE49-F238E27FC236}">
                <a16:creationId xmlns:a16="http://schemas.microsoft.com/office/drawing/2014/main" id="{CCE12016-46F0-991F-A517-6827B5FD545D}"/>
              </a:ext>
            </a:extLst>
          </p:cNvPr>
          <p:cNvSpPr/>
          <p:nvPr/>
        </p:nvSpPr>
        <p:spPr>
          <a:xfrm>
            <a:off x="8738884" y="3533232"/>
            <a:ext cx="1469047" cy="23731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少样本识别效果</a:t>
            </a:r>
          </a:p>
        </p:txBody>
      </p:sp>
      <p:sp>
        <p:nvSpPr>
          <p:cNvPr id="172" name="矩形 171">
            <a:extLst>
              <a:ext uri="{FF2B5EF4-FFF2-40B4-BE49-F238E27FC236}">
                <a16:creationId xmlns:a16="http://schemas.microsoft.com/office/drawing/2014/main" id="{055440DB-5148-0412-FA30-F3BFFAAC0D6A}"/>
              </a:ext>
            </a:extLst>
          </p:cNvPr>
          <p:cNvSpPr/>
          <p:nvPr/>
        </p:nvSpPr>
        <p:spPr>
          <a:xfrm>
            <a:off x="9812983" y="2197764"/>
            <a:ext cx="927645" cy="5507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JS</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散度</a:t>
            </a:r>
            <a:endPar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泛化评估</a:t>
            </a:r>
          </a:p>
        </p:txBody>
      </p:sp>
      <p:cxnSp>
        <p:nvCxnSpPr>
          <p:cNvPr id="183" name="直接箭头连接符 182">
            <a:extLst>
              <a:ext uri="{FF2B5EF4-FFF2-40B4-BE49-F238E27FC236}">
                <a16:creationId xmlns:a16="http://schemas.microsoft.com/office/drawing/2014/main" id="{BE3D8195-2300-EE2C-ECCC-C9CBF5D0FB56}"/>
              </a:ext>
            </a:extLst>
          </p:cNvPr>
          <p:cNvCxnSpPr>
            <a:stCxn id="161" idx="2"/>
            <a:endCxn id="162" idx="0"/>
          </p:cNvCxnSpPr>
          <p:nvPr/>
        </p:nvCxnSpPr>
        <p:spPr>
          <a:xfrm flipH="1">
            <a:off x="7033339" y="3437975"/>
            <a:ext cx="505178" cy="9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4" name="直接箭头连接符 183">
            <a:extLst>
              <a:ext uri="{FF2B5EF4-FFF2-40B4-BE49-F238E27FC236}">
                <a16:creationId xmlns:a16="http://schemas.microsoft.com/office/drawing/2014/main" id="{C9C707D7-95AA-88B9-5071-E2B09FB6201C}"/>
              </a:ext>
            </a:extLst>
          </p:cNvPr>
          <p:cNvCxnSpPr>
            <a:cxnSpLocks/>
            <a:stCxn id="161" idx="2"/>
            <a:endCxn id="167" idx="0"/>
          </p:cNvCxnSpPr>
          <p:nvPr/>
        </p:nvCxnSpPr>
        <p:spPr>
          <a:xfrm>
            <a:off x="7538517" y="3437975"/>
            <a:ext cx="514269" cy="995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0" name="矩形 199">
            <a:extLst>
              <a:ext uri="{FF2B5EF4-FFF2-40B4-BE49-F238E27FC236}">
                <a16:creationId xmlns:a16="http://schemas.microsoft.com/office/drawing/2014/main" id="{ABE2E021-0531-E17B-55AB-9A7155F771F7}"/>
              </a:ext>
            </a:extLst>
          </p:cNvPr>
          <p:cNvSpPr/>
          <p:nvPr/>
        </p:nvSpPr>
        <p:spPr>
          <a:xfrm>
            <a:off x="8046710" y="2173969"/>
            <a:ext cx="348429" cy="5798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少样本</a:t>
            </a:r>
          </a:p>
        </p:txBody>
      </p:sp>
      <p:cxnSp>
        <p:nvCxnSpPr>
          <p:cNvPr id="207" name="连接符: 肘形 206">
            <a:extLst>
              <a:ext uri="{FF2B5EF4-FFF2-40B4-BE49-F238E27FC236}">
                <a16:creationId xmlns:a16="http://schemas.microsoft.com/office/drawing/2014/main" id="{6EDC276B-BC8B-3BD8-9FB1-2E8F717C6A7A}"/>
              </a:ext>
            </a:extLst>
          </p:cNvPr>
          <p:cNvCxnSpPr>
            <a:stCxn id="153" idx="3"/>
            <a:endCxn id="200" idx="1"/>
          </p:cNvCxnSpPr>
          <p:nvPr/>
        </p:nvCxnSpPr>
        <p:spPr>
          <a:xfrm>
            <a:off x="7835011" y="2292969"/>
            <a:ext cx="211699" cy="17093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09" name="连接符: 肘形 208">
            <a:extLst>
              <a:ext uri="{FF2B5EF4-FFF2-40B4-BE49-F238E27FC236}">
                <a16:creationId xmlns:a16="http://schemas.microsoft.com/office/drawing/2014/main" id="{6003B16A-1154-CC28-AD58-C3D8B1A30CE1}"/>
              </a:ext>
            </a:extLst>
          </p:cNvPr>
          <p:cNvCxnSpPr>
            <a:stCxn id="154" idx="3"/>
            <a:endCxn id="200" idx="1"/>
          </p:cNvCxnSpPr>
          <p:nvPr/>
        </p:nvCxnSpPr>
        <p:spPr>
          <a:xfrm flipV="1">
            <a:off x="7835011" y="2463905"/>
            <a:ext cx="211699" cy="15461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10" name="矩形 209">
            <a:extLst>
              <a:ext uri="{FF2B5EF4-FFF2-40B4-BE49-F238E27FC236}">
                <a16:creationId xmlns:a16="http://schemas.microsoft.com/office/drawing/2014/main" id="{C4BD61D8-0879-055A-6ABA-A6611900E2F0}"/>
              </a:ext>
            </a:extLst>
          </p:cNvPr>
          <p:cNvSpPr/>
          <p:nvPr/>
        </p:nvSpPr>
        <p:spPr>
          <a:xfrm>
            <a:off x="9281791" y="2182551"/>
            <a:ext cx="572185" cy="5798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平衡样本</a:t>
            </a:r>
          </a:p>
        </p:txBody>
      </p:sp>
      <p:cxnSp>
        <p:nvCxnSpPr>
          <p:cNvPr id="212" name="直接箭头连接符 211">
            <a:extLst>
              <a:ext uri="{FF2B5EF4-FFF2-40B4-BE49-F238E27FC236}">
                <a16:creationId xmlns:a16="http://schemas.microsoft.com/office/drawing/2014/main" id="{B0CE48EA-351B-29E9-3DCE-BC2DB5A89CBD}"/>
              </a:ext>
            </a:extLst>
          </p:cNvPr>
          <p:cNvCxnSpPr>
            <a:cxnSpLocks/>
            <a:stCxn id="168" idx="3"/>
            <a:endCxn id="210" idx="1"/>
          </p:cNvCxnSpPr>
          <p:nvPr/>
        </p:nvCxnSpPr>
        <p:spPr>
          <a:xfrm>
            <a:off x="8967324" y="2463905"/>
            <a:ext cx="314467" cy="85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0" name="文本框 219">
            <a:extLst>
              <a:ext uri="{FF2B5EF4-FFF2-40B4-BE49-F238E27FC236}">
                <a16:creationId xmlns:a16="http://schemas.microsoft.com/office/drawing/2014/main" id="{098F9E80-4F41-81B5-D2F1-B28AFE3E8AF9}"/>
              </a:ext>
            </a:extLst>
          </p:cNvPr>
          <p:cNvSpPr txBox="1"/>
          <p:nvPr/>
        </p:nvSpPr>
        <p:spPr>
          <a:xfrm>
            <a:off x="10252027" y="3158401"/>
            <a:ext cx="647934" cy="707886"/>
          </a:xfrm>
          <a:prstGeom prst="rect">
            <a:avLst/>
          </a:prstGeom>
          <a:noFill/>
        </p:spPr>
        <p:txBody>
          <a:bodyPr wrap="none" rtlCol="0">
            <a:spAutoFit/>
          </a:bodyPr>
          <a:lstStyle/>
          <a:p>
            <a:r>
              <a:rPr lang="en-US" altLang="zh-CN" sz="1000" dirty="0">
                <a:latin typeface="Times New Roman" panose="02020603050405020304" pitchFamily="18" charset="0"/>
                <a:cs typeface="Times New Roman" panose="02020603050405020304" pitchFamily="18" charset="0"/>
              </a:rPr>
              <a:t>AUC</a:t>
            </a:r>
          </a:p>
          <a:p>
            <a:r>
              <a:rPr lang="en-US" altLang="zh-CN" sz="1000" dirty="0">
                <a:latin typeface="Times New Roman" panose="02020603050405020304" pitchFamily="18" charset="0"/>
                <a:cs typeface="Times New Roman" panose="02020603050405020304" pitchFamily="18" charset="0"/>
              </a:rPr>
              <a:t>G-means</a:t>
            </a:r>
          </a:p>
          <a:p>
            <a:r>
              <a:rPr lang="en-US" altLang="zh-CN" sz="1000" dirty="0">
                <a:latin typeface="Times New Roman" panose="02020603050405020304" pitchFamily="18" charset="0"/>
                <a:cs typeface="Times New Roman" panose="02020603050405020304" pitchFamily="18" charset="0"/>
              </a:rPr>
              <a:t>F1-score</a:t>
            </a:r>
          </a:p>
          <a:p>
            <a:r>
              <a:rPr lang="en-US" altLang="zh-CN" sz="1000" dirty="0">
                <a:latin typeface="Times New Roman" panose="02020603050405020304" pitchFamily="18" charset="0"/>
                <a:cs typeface="Times New Roman" panose="02020603050405020304" pitchFamily="18" charset="0"/>
              </a:rPr>
              <a:t>……</a:t>
            </a:r>
            <a:endParaRPr lang="zh-CN" altLang="en-US" sz="1000" dirty="0">
              <a:latin typeface="Times New Roman" panose="02020603050405020304" pitchFamily="18" charset="0"/>
              <a:cs typeface="Times New Roman" panose="02020603050405020304" pitchFamily="18" charset="0"/>
            </a:endParaRPr>
          </a:p>
        </p:txBody>
      </p:sp>
      <p:cxnSp>
        <p:nvCxnSpPr>
          <p:cNvPr id="219" name="直接连接符 218">
            <a:extLst>
              <a:ext uri="{FF2B5EF4-FFF2-40B4-BE49-F238E27FC236}">
                <a16:creationId xmlns:a16="http://schemas.microsoft.com/office/drawing/2014/main" id="{F8925D66-10C4-7F40-5D8C-92859D0BC445}"/>
              </a:ext>
            </a:extLst>
          </p:cNvPr>
          <p:cNvCxnSpPr/>
          <p:nvPr/>
        </p:nvCxnSpPr>
        <p:spPr>
          <a:xfrm>
            <a:off x="10283932" y="3207449"/>
            <a:ext cx="0" cy="569891"/>
          </a:xfrm>
          <a:prstGeom prst="line">
            <a:avLst/>
          </a:prstGeom>
        </p:spPr>
        <p:style>
          <a:lnRef idx="1">
            <a:schemeClr val="dk1"/>
          </a:lnRef>
          <a:fillRef idx="0">
            <a:schemeClr val="dk1"/>
          </a:fillRef>
          <a:effectRef idx="0">
            <a:schemeClr val="dk1"/>
          </a:effectRef>
          <a:fontRef idx="minor">
            <a:schemeClr val="tx1"/>
          </a:fontRef>
        </p:style>
      </p:cxnSp>
      <p:sp>
        <p:nvSpPr>
          <p:cNvPr id="243" name="矩形 242">
            <a:extLst>
              <a:ext uri="{FF2B5EF4-FFF2-40B4-BE49-F238E27FC236}">
                <a16:creationId xmlns:a16="http://schemas.microsoft.com/office/drawing/2014/main" id="{F0AA4E37-9F79-A6D2-1AA1-E7AE8EF2367E}"/>
              </a:ext>
            </a:extLst>
          </p:cNvPr>
          <p:cNvSpPr/>
          <p:nvPr/>
        </p:nvSpPr>
        <p:spPr>
          <a:xfrm>
            <a:off x="5547355" y="4724826"/>
            <a:ext cx="919045"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44" name="矩形 243">
            <a:extLst>
              <a:ext uri="{FF2B5EF4-FFF2-40B4-BE49-F238E27FC236}">
                <a16:creationId xmlns:a16="http://schemas.microsoft.com/office/drawing/2014/main" id="{27CDC342-0A1A-2A26-01DD-81C6DA65C447}"/>
              </a:ext>
            </a:extLst>
          </p:cNvPr>
          <p:cNvSpPr/>
          <p:nvPr/>
        </p:nvSpPr>
        <p:spPr>
          <a:xfrm>
            <a:off x="6641548" y="4736590"/>
            <a:ext cx="1405560" cy="1769171"/>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59" name="文本框 258">
            <a:extLst>
              <a:ext uri="{FF2B5EF4-FFF2-40B4-BE49-F238E27FC236}">
                <a16:creationId xmlns:a16="http://schemas.microsoft.com/office/drawing/2014/main" id="{33701AE3-9F2E-4DD6-EC99-7EA2A6DF713D}"/>
              </a:ext>
            </a:extLst>
          </p:cNvPr>
          <p:cNvSpPr txBox="1"/>
          <p:nvPr/>
        </p:nvSpPr>
        <p:spPr>
          <a:xfrm>
            <a:off x="6753267" y="2817706"/>
            <a:ext cx="141577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平衡前后对比分析</a:t>
            </a:r>
          </a:p>
        </p:txBody>
      </p:sp>
      <p:sp>
        <p:nvSpPr>
          <p:cNvPr id="260" name="文本框 259">
            <a:extLst>
              <a:ext uri="{FF2B5EF4-FFF2-40B4-BE49-F238E27FC236}">
                <a16:creationId xmlns:a16="http://schemas.microsoft.com/office/drawing/2014/main" id="{12816A3B-CBA1-A6EA-7527-0F09FF7DF846}"/>
              </a:ext>
            </a:extLst>
          </p:cNvPr>
          <p:cNvSpPr txBox="1"/>
          <p:nvPr/>
        </p:nvSpPr>
        <p:spPr>
          <a:xfrm>
            <a:off x="8169039" y="2817706"/>
            <a:ext cx="2492990"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生成式平衡与过采样基准算法对比</a:t>
            </a:r>
          </a:p>
        </p:txBody>
      </p:sp>
      <p:sp>
        <p:nvSpPr>
          <p:cNvPr id="270" name="矩形 269">
            <a:extLst>
              <a:ext uri="{FF2B5EF4-FFF2-40B4-BE49-F238E27FC236}">
                <a16:creationId xmlns:a16="http://schemas.microsoft.com/office/drawing/2014/main" id="{FA449721-6B32-7F3E-67CE-2F51FF6BF9A0}"/>
              </a:ext>
            </a:extLst>
          </p:cNvPr>
          <p:cNvSpPr/>
          <p:nvPr/>
        </p:nvSpPr>
        <p:spPr>
          <a:xfrm>
            <a:off x="9812420" y="6154626"/>
            <a:ext cx="1171268" cy="321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单因子 交互</a:t>
            </a:r>
          </a:p>
        </p:txBody>
      </p:sp>
      <p:sp>
        <p:nvSpPr>
          <p:cNvPr id="271" name="矩形 270">
            <a:extLst>
              <a:ext uri="{FF2B5EF4-FFF2-40B4-BE49-F238E27FC236}">
                <a16:creationId xmlns:a16="http://schemas.microsoft.com/office/drawing/2014/main" id="{DB1B1F84-A944-0C10-74D6-BB2B2F7A1397}"/>
              </a:ext>
            </a:extLst>
          </p:cNvPr>
          <p:cNvSpPr/>
          <p:nvPr/>
        </p:nvSpPr>
        <p:spPr>
          <a:xfrm>
            <a:off x="7253965" y="7306648"/>
            <a:ext cx="1844110" cy="1733694"/>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73" name="矩形 272">
            <a:extLst>
              <a:ext uri="{FF2B5EF4-FFF2-40B4-BE49-F238E27FC236}">
                <a16:creationId xmlns:a16="http://schemas.microsoft.com/office/drawing/2014/main" id="{59C1F15D-E6AD-726D-312B-8DDACBE91AD6}"/>
              </a:ext>
            </a:extLst>
          </p:cNvPr>
          <p:cNvSpPr/>
          <p:nvPr/>
        </p:nvSpPr>
        <p:spPr>
          <a:xfrm>
            <a:off x="9240952" y="7305285"/>
            <a:ext cx="1678522" cy="1733694"/>
          </a:xfrm>
          <a:prstGeom prst="rect">
            <a:avLst/>
          </a:prstGeom>
          <a:solidFill>
            <a:schemeClr val="bg1">
              <a:lumMod val="95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74" name="文本框 273">
            <a:extLst>
              <a:ext uri="{FF2B5EF4-FFF2-40B4-BE49-F238E27FC236}">
                <a16:creationId xmlns:a16="http://schemas.microsoft.com/office/drawing/2014/main" id="{F1456DD2-00EA-10CE-33AD-C0F1E3CC4F33}"/>
              </a:ext>
            </a:extLst>
          </p:cNvPr>
          <p:cNvSpPr txBox="1"/>
          <p:nvPr/>
        </p:nvSpPr>
        <p:spPr>
          <a:xfrm>
            <a:off x="5679885" y="7328725"/>
            <a:ext cx="1243905" cy="307777"/>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定义标签</a:t>
            </a:r>
          </a:p>
        </p:txBody>
      </p:sp>
      <p:sp>
        <p:nvSpPr>
          <p:cNvPr id="275" name="文本框 274">
            <a:extLst>
              <a:ext uri="{FF2B5EF4-FFF2-40B4-BE49-F238E27FC236}">
                <a16:creationId xmlns:a16="http://schemas.microsoft.com/office/drawing/2014/main" id="{F57EA9A8-EDBB-FEFB-558C-B0A41009D631}"/>
              </a:ext>
            </a:extLst>
          </p:cNvPr>
          <p:cNvSpPr txBox="1"/>
          <p:nvPr/>
        </p:nvSpPr>
        <p:spPr>
          <a:xfrm>
            <a:off x="7499061" y="7334032"/>
            <a:ext cx="1476724" cy="307777"/>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多模态异构模型</a:t>
            </a:r>
          </a:p>
        </p:txBody>
      </p:sp>
      <p:sp>
        <p:nvSpPr>
          <p:cNvPr id="276" name="文本框 275">
            <a:extLst>
              <a:ext uri="{FF2B5EF4-FFF2-40B4-BE49-F238E27FC236}">
                <a16:creationId xmlns:a16="http://schemas.microsoft.com/office/drawing/2014/main" id="{E056850D-ECF8-39FE-D33F-9F9F353A8EF4}"/>
              </a:ext>
            </a:extLst>
          </p:cNvPr>
          <p:cNvSpPr txBox="1"/>
          <p:nvPr/>
        </p:nvSpPr>
        <p:spPr>
          <a:xfrm>
            <a:off x="5885813" y="8472350"/>
            <a:ext cx="611992" cy="523220"/>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疲劳指数</a:t>
            </a:r>
          </a:p>
        </p:txBody>
      </p:sp>
      <p:sp>
        <p:nvSpPr>
          <p:cNvPr id="277" name="文本框 276">
            <a:extLst>
              <a:ext uri="{FF2B5EF4-FFF2-40B4-BE49-F238E27FC236}">
                <a16:creationId xmlns:a16="http://schemas.microsoft.com/office/drawing/2014/main" id="{CC9001D9-C0F9-B203-CE3B-BEEDBCCED40A}"/>
              </a:ext>
            </a:extLst>
          </p:cNvPr>
          <p:cNvSpPr txBox="1"/>
          <p:nvPr/>
        </p:nvSpPr>
        <p:spPr>
          <a:xfrm>
            <a:off x="5885813" y="7754778"/>
            <a:ext cx="611991" cy="523220"/>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驾驶风格</a:t>
            </a:r>
          </a:p>
        </p:txBody>
      </p:sp>
      <p:sp>
        <p:nvSpPr>
          <p:cNvPr id="278" name="文本框 277">
            <a:extLst>
              <a:ext uri="{FF2B5EF4-FFF2-40B4-BE49-F238E27FC236}">
                <a16:creationId xmlns:a16="http://schemas.microsoft.com/office/drawing/2014/main" id="{8417C610-D5A2-BA81-BC6A-25695DDD9B8B}"/>
              </a:ext>
            </a:extLst>
          </p:cNvPr>
          <p:cNvSpPr txBox="1"/>
          <p:nvPr/>
        </p:nvSpPr>
        <p:spPr>
          <a:xfrm>
            <a:off x="9335152" y="7334032"/>
            <a:ext cx="1476724" cy="307777"/>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出行风险预测</a:t>
            </a:r>
          </a:p>
        </p:txBody>
      </p:sp>
      <p:sp>
        <p:nvSpPr>
          <p:cNvPr id="279" name="矩形 278">
            <a:extLst>
              <a:ext uri="{FF2B5EF4-FFF2-40B4-BE49-F238E27FC236}">
                <a16:creationId xmlns:a16="http://schemas.microsoft.com/office/drawing/2014/main" id="{0B9E9C28-3763-2C86-806B-137604DDC7D9}"/>
              </a:ext>
            </a:extLst>
          </p:cNvPr>
          <p:cNvSpPr/>
          <p:nvPr/>
        </p:nvSpPr>
        <p:spPr>
          <a:xfrm>
            <a:off x="7394779" y="7989677"/>
            <a:ext cx="160445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空间图卷积模块</a:t>
            </a:r>
          </a:p>
        </p:txBody>
      </p:sp>
      <p:sp>
        <p:nvSpPr>
          <p:cNvPr id="280" name="矩形 279">
            <a:extLst>
              <a:ext uri="{FF2B5EF4-FFF2-40B4-BE49-F238E27FC236}">
                <a16:creationId xmlns:a16="http://schemas.microsoft.com/office/drawing/2014/main" id="{735041B9-5A47-E868-F1DE-44193B3F626E}"/>
              </a:ext>
            </a:extLst>
          </p:cNvPr>
          <p:cNvSpPr/>
          <p:nvPr/>
        </p:nvSpPr>
        <p:spPr>
          <a:xfrm>
            <a:off x="7397078" y="8347343"/>
            <a:ext cx="160445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时间卷积模块</a:t>
            </a:r>
          </a:p>
        </p:txBody>
      </p:sp>
      <p:sp>
        <p:nvSpPr>
          <p:cNvPr id="281" name="矩形 280">
            <a:extLst>
              <a:ext uri="{FF2B5EF4-FFF2-40B4-BE49-F238E27FC236}">
                <a16:creationId xmlns:a16="http://schemas.microsoft.com/office/drawing/2014/main" id="{576D57E2-2250-5D5B-1589-57F4A62F3B5F}"/>
              </a:ext>
            </a:extLst>
          </p:cNvPr>
          <p:cNvSpPr/>
          <p:nvPr/>
        </p:nvSpPr>
        <p:spPr>
          <a:xfrm>
            <a:off x="7394780" y="8695884"/>
            <a:ext cx="1604453"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时空融合</a:t>
            </a:r>
          </a:p>
        </p:txBody>
      </p:sp>
      <p:sp>
        <p:nvSpPr>
          <p:cNvPr id="282" name="矩形 281">
            <a:extLst>
              <a:ext uri="{FF2B5EF4-FFF2-40B4-BE49-F238E27FC236}">
                <a16:creationId xmlns:a16="http://schemas.microsoft.com/office/drawing/2014/main" id="{EBA8BE60-E6F0-BD54-F852-C6D8AE52C9E4}"/>
              </a:ext>
            </a:extLst>
          </p:cNvPr>
          <p:cNvSpPr/>
          <p:nvPr/>
        </p:nvSpPr>
        <p:spPr>
          <a:xfrm>
            <a:off x="9366415" y="8347343"/>
            <a:ext cx="1414197"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风险累积效应</a:t>
            </a:r>
          </a:p>
        </p:txBody>
      </p:sp>
      <p:sp>
        <p:nvSpPr>
          <p:cNvPr id="191" name="矩形 190">
            <a:extLst>
              <a:ext uri="{FF2B5EF4-FFF2-40B4-BE49-F238E27FC236}">
                <a16:creationId xmlns:a16="http://schemas.microsoft.com/office/drawing/2014/main" id="{E8FB5C4B-AD46-0226-1398-99661B5CDB9A}"/>
              </a:ext>
            </a:extLst>
          </p:cNvPr>
          <p:cNvSpPr/>
          <p:nvPr/>
        </p:nvSpPr>
        <p:spPr>
          <a:xfrm>
            <a:off x="6702161" y="4780163"/>
            <a:ext cx="1296144" cy="2985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72</a:t>
            </a:r>
            <a:r>
              <a:rPr lang="zh-CN" altLang="en-US" sz="1400" b="1"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类</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货车类型</a:t>
            </a:r>
          </a:p>
        </p:txBody>
      </p:sp>
      <p:sp>
        <p:nvSpPr>
          <p:cNvPr id="225" name="矩形 224">
            <a:extLst>
              <a:ext uri="{FF2B5EF4-FFF2-40B4-BE49-F238E27FC236}">
                <a16:creationId xmlns:a16="http://schemas.microsoft.com/office/drawing/2014/main" id="{286E68FF-8F87-CCAC-907F-A73D34BF8997}"/>
              </a:ext>
            </a:extLst>
          </p:cNvPr>
          <p:cNvSpPr/>
          <p:nvPr/>
        </p:nvSpPr>
        <p:spPr>
          <a:xfrm>
            <a:off x="6734949" y="5287387"/>
            <a:ext cx="313247" cy="11395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动力类型</a:t>
            </a:r>
          </a:p>
        </p:txBody>
      </p:sp>
      <p:sp>
        <p:nvSpPr>
          <p:cNvPr id="226" name="矩形 225">
            <a:extLst>
              <a:ext uri="{FF2B5EF4-FFF2-40B4-BE49-F238E27FC236}">
                <a16:creationId xmlns:a16="http://schemas.microsoft.com/office/drawing/2014/main" id="{D2D2DAAB-832B-CE29-5A95-E8EBE2525EE5}"/>
              </a:ext>
            </a:extLst>
          </p:cNvPr>
          <p:cNvSpPr/>
          <p:nvPr/>
        </p:nvSpPr>
        <p:spPr>
          <a:xfrm>
            <a:off x="7192640" y="5287387"/>
            <a:ext cx="313247" cy="11395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车厢类型</a:t>
            </a:r>
          </a:p>
        </p:txBody>
      </p:sp>
      <p:sp>
        <p:nvSpPr>
          <p:cNvPr id="227" name="矩形 226">
            <a:extLst>
              <a:ext uri="{FF2B5EF4-FFF2-40B4-BE49-F238E27FC236}">
                <a16:creationId xmlns:a16="http://schemas.microsoft.com/office/drawing/2014/main" id="{C8D1BBAE-62E7-35B5-AF0C-CBE44670A1C3}"/>
              </a:ext>
            </a:extLst>
          </p:cNvPr>
          <p:cNvSpPr/>
          <p:nvPr/>
        </p:nvSpPr>
        <p:spPr>
          <a:xfrm>
            <a:off x="7624260" y="5287387"/>
            <a:ext cx="313247" cy="11395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载重类型</a:t>
            </a:r>
          </a:p>
        </p:txBody>
      </p:sp>
      <p:cxnSp>
        <p:nvCxnSpPr>
          <p:cNvPr id="232" name="连接符: 肘形 231">
            <a:extLst>
              <a:ext uri="{FF2B5EF4-FFF2-40B4-BE49-F238E27FC236}">
                <a16:creationId xmlns:a16="http://schemas.microsoft.com/office/drawing/2014/main" id="{6E80430A-7B50-0A0A-F460-CF6B9F24238D}"/>
              </a:ext>
            </a:extLst>
          </p:cNvPr>
          <p:cNvCxnSpPr>
            <a:cxnSpLocks/>
            <a:stCxn id="191" idx="2"/>
            <a:endCxn id="225" idx="0"/>
          </p:cNvCxnSpPr>
          <p:nvPr/>
        </p:nvCxnSpPr>
        <p:spPr>
          <a:xfrm rot="5400000">
            <a:off x="7016555" y="4953709"/>
            <a:ext cx="208696" cy="45866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34" name="连接符: 肘形 233">
            <a:extLst>
              <a:ext uri="{FF2B5EF4-FFF2-40B4-BE49-F238E27FC236}">
                <a16:creationId xmlns:a16="http://schemas.microsoft.com/office/drawing/2014/main" id="{BA8C608C-2D63-25A0-612F-B4503A99AE24}"/>
              </a:ext>
            </a:extLst>
          </p:cNvPr>
          <p:cNvCxnSpPr>
            <a:cxnSpLocks/>
            <a:stCxn id="191" idx="2"/>
            <a:endCxn id="227" idx="0"/>
          </p:cNvCxnSpPr>
          <p:nvPr/>
        </p:nvCxnSpPr>
        <p:spPr>
          <a:xfrm rot="16200000" flipH="1">
            <a:off x="7461210" y="4967713"/>
            <a:ext cx="208696" cy="43065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36" name="连接符: 肘形 235">
            <a:extLst>
              <a:ext uri="{FF2B5EF4-FFF2-40B4-BE49-F238E27FC236}">
                <a16:creationId xmlns:a16="http://schemas.microsoft.com/office/drawing/2014/main" id="{09D07ED3-8483-1BC4-FBA7-83367F7F9CA4}"/>
              </a:ext>
            </a:extLst>
          </p:cNvPr>
          <p:cNvCxnSpPr>
            <a:cxnSpLocks/>
            <a:stCxn id="191" idx="2"/>
            <a:endCxn id="226" idx="0"/>
          </p:cNvCxnSpPr>
          <p:nvPr/>
        </p:nvCxnSpPr>
        <p:spPr>
          <a:xfrm rot="5400000">
            <a:off x="7245401" y="5182555"/>
            <a:ext cx="208696" cy="96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38" name="矩形 237">
            <a:extLst>
              <a:ext uri="{FF2B5EF4-FFF2-40B4-BE49-F238E27FC236}">
                <a16:creationId xmlns:a16="http://schemas.microsoft.com/office/drawing/2014/main" id="{14B2E646-8E5D-61E1-4C1B-801DCC8E6937}"/>
              </a:ext>
            </a:extLst>
          </p:cNvPr>
          <p:cNvSpPr/>
          <p:nvPr/>
        </p:nvSpPr>
        <p:spPr>
          <a:xfrm>
            <a:off x="5608036" y="4762186"/>
            <a:ext cx="795868" cy="3212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驾驶员</a:t>
            </a:r>
          </a:p>
        </p:txBody>
      </p:sp>
      <p:sp>
        <p:nvSpPr>
          <p:cNvPr id="239" name="矩形 238">
            <a:extLst>
              <a:ext uri="{FF2B5EF4-FFF2-40B4-BE49-F238E27FC236}">
                <a16:creationId xmlns:a16="http://schemas.microsoft.com/office/drawing/2014/main" id="{41EB0F77-86B2-0642-0803-FBAFD14AF603}"/>
              </a:ext>
            </a:extLst>
          </p:cNvPr>
          <p:cNvSpPr/>
          <p:nvPr/>
        </p:nvSpPr>
        <p:spPr>
          <a:xfrm>
            <a:off x="5612353" y="5205525"/>
            <a:ext cx="795868" cy="3212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道路</a:t>
            </a:r>
          </a:p>
        </p:txBody>
      </p:sp>
      <p:sp>
        <p:nvSpPr>
          <p:cNvPr id="240" name="矩形 239">
            <a:extLst>
              <a:ext uri="{FF2B5EF4-FFF2-40B4-BE49-F238E27FC236}">
                <a16:creationId xmlns:a16="http://schemas.microsoft.com/office/drawing/2014/main" id="{ABB53626-957A-79AD-5078-B9CF61C322F7}"/>
              </a:ext>
            </a:extLst>
          </p:cNvPr>
          <p:cNvSpPr/>
          <p:nvPr/>
        </p:nvSpPr>
        <p:spPr>
          <a:xfrm>
            <a:off x="5615473" y="5660497"/>
            <a:ext cx="795868" cy="3212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环境</a:t>
            </a:r>
          </a:p>
        </p:txBody>
      </p:sp>
      <p:sp>
        <p:nvSpPr>
          <p:cNvPr id="241" name="矩形 240">
            <a:extLst>
              <a:ext uri="{FF2B5EF4-FFF2-40B4-BE49-F238E27FC236}">
                <a16:creationId xmlns:a16="http://schemas.microsoft.com/office/drawing/2014/main" id="{C051119C-ECC2-7D9A-6FBF-9A500F8ECC9E}"/>
              </a:ext>
            </a:extLst>
          </p:cNvPr>
          <p:cNvSpPr/>
          <p:nvPr/>
        </p:nvSpPr>
        <p:spPr>
          <a:xfrm>
            <a:off x="5615473" y="6115097"/>
            <a:ext cx="795868" cy="3212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碰撞</a:t>
            </a:r>
          </a:p>
        </p:txBody>
      </p:sp>
      <p:sp>
        <p:nvSpPr>
          <p:cNvPr id="242" name="十字形 241">
            <a:extLst>
              <a:ext uri="{FF2B5EF4-FFF2-40B4-BE49-F238E27FC236}">
                <a16:creationId xmlns:a16="http://schemas.microsoft.com/office/drawing/2014/main" id="{8BAB24BC-0B3D-E906-70D9-DA612DB9058D}"/>
              </a:ext>
            </a:extLst>
          </p:cNvPr>
          <p:cNvSpPr/>
          <p:nvPr/>
        </p:nvSpPr>
        <p:spPr>
          <a:xfrm>
            <a:off x="6472132" y="5498510"/>
            <a:ext cx="159786" cy="161987"/>
          </a:xfrm>
          <a:prstGeom prst="plus">
            <a:avLst>
              <a:gd name="adj" fmla="val 37346"/>
            </a:avLst>
          </a:prstGeom>
          <a:solidFill>
            <a:srgbClr val="EAF1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文本框 246">
            <a:extLst>
              <a:ext uri="{FF2B5EF4-FFF2-40B4-BE49-F238E27FC236}">
                <a16:creationId xmlns:a16="http://schemas.microsoft.com/office/drawing/2014/main" id="{0EADF6FA-A9B1-FCB8-554C-FE6C7C94D947}"/>
              </a:ext>
            </a:extLst>
          </p:cNvPr>
          <p:cNvSpPr txBox="1"/>
          <p:nvPr/>
        </p:nvSpPr>
        <p:spPr>
          <a:xfrm>
            <a:off x="8101887" y="4784701"/>
            <a:ext cx="1181001" cy="307777"/>
          </a:xfrm>
          <a:prstGeom prst="rect">
            <a:avLst/>
          </a:prstGeom>
          <a:noFill/>
        </p:spPr>
        <p:txBody>
          <a:bodyPr wrap="square" rtlCol="0">
            <a:spAutoFit/>
          </a:bodyPr>
          <a:lstStyle/>
          <a:p>
            <a:pPr marL="285750" indent="-285750" algn="ctr">
              <a:buFont typeface="Wingdings" panose="05000000000000000000" pitchFamily="2" charset="2"/>
              <a:buChar char="ü"/>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平衡模块</a:t>
            </a:r>
          </a:p>
        </p:txBody>
      </p:sp>
      <p:sp>
        <p:nvSpPr>
          <p:cNvPr id="248" name="文本框 247">
            <a:extLst>
              <a:ext uri="{FF2B5EF4-FFF2-40B4-BE49-F238E27FC236}">
                <a16:creationId xmlns:a16="http://schemas.microsoft.com/office/drawing/2014/main" id="{8B2EF60F-6F44-649F-77AB-3791FAFD00DE}"/>
              </a:ext>
            </a:extLst>
          </p:cNvPr>
          <p:cNvSpPr txBox="1"/>
          <p:nvPr/>
        </p:nvSpPr>
        <p:spPr>
          <a:xfrm>
            <a:off x="8089143" y="5236245"/>
            <a:ext cx="1192130" cy="523220"/>
          </a:xfrm>
          <a:prstGeom prst="rect">
            <a:avLst/>
          </a:prstGeom>
          <a:noFill/>
        </p:spPr>
        <p:txBody>
          <a:bodyPr wrap="square" rtlCol="0">
            <a:spAutoFit/>
          </a:bodyPr>
          <a:lstStyle/>
          <a:p>
            <a:pPr marL="285750" indent="-285750" algn="ctr">
              <a:buFont typeface="Wingdings" panose="05000000000000000000" pitchFamily="2" charset="2"/>
              <a:buChar char="ü"/>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严重程度识别模块</a:t>
            </a:r>
          </a:p>
        </p:txBody>
      </p:sp>
      <p:sp>
        <p:nvSpPr>
          <p:cNvPr id="249" name="文本框 248">
            <a:extLst>
              <a:ext uri="{FF2B5EF4-FFF2-40B4-BE49-F238E27FC236}">
                <a16:creationId xmlns:a16="http://schemas.microsoft.com/office/drawing/2014/main" id="{381F4057-01C5-9739-C4AC-FDF1E7B43055}"/>
              </a:ext>
            </a:extLst>
          </p:cNvPr>
          <p:cNvSpPr txBox="1"/>
          <p:nvPr/>
        </p:nvSpPr>
        <p:spPr>
          <a:xfrm>
            <a:off x="8058526" y="5938297"/>
            <a:ext cx="1229402" cy="523220"/>
          </a:xfrm>
          <a:prstGeom prst="rect">
            <a:avLst/>
          </a:prstGeom>
          <a:noFill/>
        </p:spPr>
        <p:txBody>
          <a:bodyPr wrap="square" rtlCol="0">
            <a:spAutoFit/>
          </a:bodyPr>
          <a:lstStyle>
            <a:defPPr>
              <a:defRPr lang="en-US"/>
            </a:defPPr>
            <a:lvl1pPr marL="285750" indent="-285750" algn="ctr">
              <a:buFont typeface="Wingdings" panose="05000000000000000000" pitchFamily="2" charset="2"/>
              <a:buChar char="ü"/>
              <a:defRPr sz="1400" b="1">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dirty="0"/>
              <a:t>致因解释模块</a:t>
            </a:r>
          </a:p>
        </p:txBody>
      </p:sp>
      <p:sp>
        <p:nvSpPr>
          <p:cNvPr id="256" name="矩形 255">
            <a:extLst>
              <a:ext uri="{FF2B5EF4-FFF2-40B4-BE49-F238E27FC236}">
                <a16:creationId xmlns:a16="http://schemas.microsoft.com/office/drawing/2014/main" id="{F51F056A-00BA-2EE4-0A4D-1C1127D405FB}"/>
              </a:ext>
            </a:extLst>
          </p:cNvPr>
          <p:cNvSpPr/>
          <p:nvPr/>
        </p:nvSpPr>
        <p:spPr>
          <a:xfrm>
            <a:off x="9323380" y="4815454"/>
            <a:ext cx="573908" cy="2229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致亡</a:t>
            </a:r>
          </a:p>
        </p:txBody>
      </p:sp>
      <p:sp>
        <p:nvSpPr>
          <p:cNvPr id="261" name="矩形 260">
            <a:extLst>
              <a:ext uri="{FF2B5EF4-FFF2-40B4-BE49-F238E27FC236}">
                <a16:creationId xmlns:a16="http://schemas.microsoft.com/office/drawing/2014/main" id="{AD762689-27A5-D14B-3BD9-3140E426DE75}"/>
              </a:ext>
            </a:extLst>
          </p:cNvPr>
          <p:cNvSpPr/>
          <p:nvPr/>
        </p:nvSpPr>
        <p:spPr>
          <a:xfrm>
            <a:off x="9822821" y="5921243"/>
            <a:ext cx="1036074" cy="321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全局  局部</a:t>
            </a:r>
          </a:p>
        </p:txBody>
      </p:sp>
      <p:sp>
        <p:nvSpPr>
          <p:cNvPr id="262" name="矩形 261">
            <a:extLst>
              <a:ext uri="{FF2B5EF4-FFF2-40B4-BE49-F238E27FC236}">
                <a16:creationId xmlns:a16="http://schemas.microsoft.com/office/drawing/2014/main" id="{3FBECD88-C4E4-F335-385E-C82209CF58E0}"/>
              </a:ext>
            </a:extLst>
          </p:cNvPr>
          <p:cNvSpPr/>
          <p:nvPr/>
        </p:nvSpPr>
        <p:spPr>
          <a:xfrm>
            <a:off x="9287928" y="5116186"/>
            <a:ext cx="1110906" cy="321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LightGBM</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4" name="矩形 263">
            <a:extLst>
              <a:ext uri="{FF2B5EF4-FFF2-40B4-BE49-F238E27FC236}">
                <a16:creationId xmlns:a16="http://schemas.microsoft.com/office/drawing/2014/main" id="{B3004E94-5FDD-3A92-98EE-7E55BDC2A0DB}"/>
              </a:ext>
            </a:extLst>
          </p:cNvPr>
          <p:cNvSpPr/>
          <p:nvPr/>
        </p:nvSpPr>
        <p:spPr>
          <a:xfrm>
            <a:off x="9307893" y="5376978"/>
            <a:ext cx="1110906" cy="2557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XGboost</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6" name="矩形 265">
            <a:extLst>
              <a:ext uri="{FF2B5EF4-FFF2-40B4-BE49-F238E27FC236}">
                <a16:creationId xmlns:a16="http://schemas.microsoft.com/office/drawing/2014/main" id="{B86951BD-60A0-61D3-F934-810691C018E6}"/>
              </a:ext>
            </a:extLst>
          </p:cNvPr>
          <p:cNvSpPr/>
          <p:nvPr/>
        </p:nvSpPr>
        <p:spPr>
          <a:xfrm>
            <a:off x="8167207" y="4798228"/>
            <a:ext cx="2694539" cy="267331"/>
          </a:xfrm>
          <a:prstGeom prst="rect">
            <a:avLst/>
          </a:prstGeom>
          <a:noFill/>
          <a:ln w="952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矩形 266">
            <a:extLst>
              <a:ext uri="{FF2B5EF4-FFF2-40B4-BE49-F238E27FC236}">
                <a16:creationId xmlns:a16="http://schemas.microsoft.com/office/drawing/2014/main" id="{86AC969A-C41B-7E7F-24B1-1E7F5D67AC9C}"/>
              </a:ext>
            </a:extLst>
          </p:cNvPr>
          <p:cNvSpPr/>
          <p:nvPr/>
        </p:nvSpPr>
        <p:spPr>
          <a:xfrm>
            <a:off x="8166107" y="5126033"/>
            <a:ext cx="2694539" cy="743645"/>
          </a:xfrm>
          <a:prstGeom prst="rect">
            <a:avLst/>
          </a:prstGeom>
          <a:noFill/>
          <a:ln w="952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矩形 267">
            <a:extLst>
              <a:ext uri="{FF2B5EF4-FFF2-40B4-BE49-F238E27FC236}">
                <a16:creationId xmlns:a16="http://schemas.microsoft.com/office/drawing/2014/main" id="{C100E120-A7A8-BBC0-9D42-5B5F4E56F8A6}"/>
              </a:ext>
            </a:extLst>
          </p:cNvPr>
          <p:cNvSpPr/>
          <p:nvPr/>
        </p:nvSpPr>
        <p:spPr>
          <a:xfrm>
            <a:off x="8169911" y="5930152"/>
            <a:ext cx="2683327" cy="517963"/>
          </a:xfrm>
          <a:prstGeom prst="rect">
            <a:avLst/>
          </a:prstGeom>
          <a:noFill/>
          <a:ln w="9525">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矩形 264">
            <a:extLst>
              <a:ext uri="{FF2B5EF4-FFF2-40B4-BE49-F238E27FC236}">
                <a16:creationId xmlns:a16="http://schemas.microsoft.com/office/drawing/2014/main" id="{B87D20E0-6560-60B5-4380-7115487137AC}"/>
              </a:ext>
            </a:extLst>
          </p:cNvPr>
          <p:cNvSpPr/>
          <p:nvPr/>
        </p:nvSpPr>
        <p:spPr>
          <a:xfrm>
            <a:off x="9286134" y="6039282"/>
            <a:ext cx="1110906" cy="321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SHAP</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9" name="矩形 268">
            <a:extLst>
              <a:ext uri="{FF2B5EF4-FFF2-40B4-BE49-F238E27FC236}">
                <a16:creationId xmlns:a16="http://schemas.microsoft.com/office/drawing/2014/main" id="{75ECECCA-FE2F-3504-5665-864A6FD14883}"/>
              </a:ext>
            </a:extLst>
          </p:cNvPr>
          <p:cNvSpPr/>
          <p:nvPr/>
        </p:nvSpPr>
        <p:spPr>
          <a:xfrm>
            <a:off x="9301504" y="5610407"/>
            <a:ext cx="1146752" cy="2557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RF    SVM</a:t>
            </a:r>
            <a:endPar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9E5A3CFE-E70D-5F0F-3D51-F7AE6E8E409F}"/>
              </a:ext>
            </a:extLst>
          </p:cNvPr>
          <p:cNvSpPr/>
          <p:nvPr/>
        </p:nvSpPr>
        <p:spPr>
          <a:xfrm>
            <a:off x="4732317" y="4204099"/>
            <a:ext cx="525281" cy="242252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被动安全</a:t>
            </a:r>
            <a:endPar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6D27DC3D-BD88-9784-F960-36D2ACC9F31F}"/>
              </a:ext>
            </a:extLst>
          </p:cNvPr>
          <p:cNvSpPr/>
          <p:nvPr/>
        </p:nvSpPr>
        <p:spPr>
          <a:xfrm>
            <a:off x="4732164" y="6774572"/>
            <a:ext cx="525282" cy="243021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主动安全</a:t>
            </a:r>
          </a:p>
        </p:txBody>
      </p:sp>
      <p:sp>
        <p:nvSpPr>
          <p:cNvPr id="5" name="矩形: 圆角 4">
            <a:extLst>
              <a:ext uri="{FF2B5EF4-FFF2-40B4-BE49-F238E27FC236}">
                <a16:creationId xmlns:a16="http://schemas.microsoft.com/office/drawing/2014/main" id="{87DCA7BC-C0E0-0C4B-69FA-40A3354E662C}"/>
              </a:ext>
            </a:extLst>
          </p:cNvPr>
          <p:cNvSpPr/>
          <p:nvPr/>
        </p:nvSpPr>
        <p:spPr>
          <a:xfrm>
            <a:off x="5389139" y="4204100"/>
            <a:ext cx="5691505" cy="2422525"/>
          </a:xfrm>
          <a:prstGeom prst="roundRect">
            <a:avLst>
              <a:gd name="adj" fmla="val 9054"/>
            </a:avLst>
          </a:prstGeom>
          <a:noFill/>
          <a:ln>
            <a:solidFill>
              <a:schemeClr val="tx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543850E2-377C-EDA3-1217-13692C2C3371}"/>
              </a:ext>
            </a:extLst>
          </p:cNvPr>
          <p:cNvSpPr/>
          <p:nvPr/>
        </p:nvSpPr>
        <p:spPr>
          <a:xfrm>
            <a:off x="5378883" y="6785661"/>
            <a:ext cx="5691505" cy="2422525"/>
          </a:xfrm>
          <a:prstGeom prst="roundRect">
            <a:avLst>
              <a:gd name="adj" fmla="val 9054"/>
            </a:avLst>
          </a:prstGeom>
          <a:noFill/>
          <a:ln>
            <a:solidFill>
              <a:schemeClr val="tx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283" name="矩形 282">
            <a:extLst>
              <a:ext uri="{FF2B5EF4-FFF2-40B4-BE49-F238E27FC236}">
                <a16:creationId xmlns:a16="http://schemas.microsoft.com/office/drawing/2014/main" id="{3B0A8B8C-B3F2-D514-E938-875D13C955C1}"/>
              </a:ext>
            </a:extLst>
          </p:cNvPr>
          <p:cNvSpPr/>
          <p:nvPr/>
        </p:nvSpPr>
        <p:spPr>
          <a:xfrm>
            <a:off x="6475697" y="7670921"/>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保守</a:t>
            </a:r>
          </a:p>
        </p:txBody>
      </p:sp>
      <p:sp>
        <p:nvSpPr>
          <p:cNvPr id="284" name="矩形 283">
            <a:extLst>
              <a:ext uri="{FF2B5EF4-FFF2-40B4-BE49-F238E27FC236}">
                <a16:creationId xmlns:a16="http://schemas.microsoft.com/office/drawing/2014/main" id="{419A4C5A-E2BA-6D17-7AB5-BFDB1F5252D4}"/>
              </a:ext>
            </a:extLst>
          </p:cNvPr>
          <p:cNvSpPr/>
          <p:nvPr/>
        </p:nvSpPr>
        <p:spPr>
          <a:xfrm>
            <a:off x="6474470" y="7930661"/>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稳健</a:t>
            </a:r>
          </a:p>
        </p:txBody>
      </p:sp>
      <p:sp>
        <p:nvSpPr>
          <p:cNvPr id="285" name="矩形 284">
            <a:extLst>
              <a:ext uri="{FF2B5EF4-FFF2-40B4-BE49-F238E27FC236}">
                <a16:creationId xmlns:a16="http://schemas.microsoft.com/office/drawing/2014/main" id="{F66D92DD-7BAD-0F0D-1738-3F3639C763F2}"/>
              </a:ext>
            </a:extLst>
          </p:cNvPr>
          <p:cNvSpPr/>
          <p:nvPr/>
        </p:nvSpPr>
        <p:spPr>
          <a:xfrm>
            <a:off x="6470574" y="8197328"/>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激进</a:t>
            </a:r>
          </a:p>
        </p:txBody>
      </p:sp>
      <p:sp>
        <p:nvSpPr>
          <p:cNvPr id="286" name="矩形 285">
            <a:extLst>
              <a:ext uri="{FF2B5EF4-FFF2-40B4-BE49-F238E27FC236}">
                <a16:creationId xmlns:a16="http://schemas.microsoft.com/office/drawing/2014/main" id="{6D598B4A-AC0A-8A55-842B-8C66A917260B}"/>
              </a:ext>
            </a:extLst>
          </p:cNvPr>
          <p:cNvSpPr/>
          <p:nvPr/>
        </p:nvSpPr>
        <p:spPr>
          <a:xfrm>
            <a:off x="6468612" y="8507258"/>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时长</a:t>
            </a:r>
          </a:p>
        </p:txBody>
      </p:sp>
      <p:sp>
        <p:nvSpPr>
          <p:cNvPr id="287" name="矩形 286">
            <a:extLst>
              <a:ext uri="{FF2B5EF4-FFF2-40B4-BE49-F238E27FC236}">
                <a16:creationId xmlns:a16="http://schemas.microsoft.com/office/drawing/2014/main" id="{188A90CB-4CEE-DBEF-5DCE-4D13F41FAA8A}"/>
              </a:ext>
            </a:extLst>
          </p:cNvPr>
          <p:cNvSpPr/>
          <p:nvPr/>
        </p:nvSpPr>
        <p:spPr>
          <a:xfrm>
            <a:off x="6474470" y="8761094"/>
            <a:ext cx="545356" cy="2180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告警</a:t>
            </a:r>
          </a:p>
        </p:txBody>
      </p:sp>
      <p:sp>
        <p:nvSpPr>
          <p:cNvPr id="289" name="矩形 288">
            <a:extLst>
              <a:ext uri="{FF2B5EF4-FFF2-40B4-BE49-F238E27FC236}">
                <a16:creationId xmlns:a16="http://schemas.microsoft.com/office/drawing/2014/main" id="{3685AAAA-CA95-B9FB-48E3-A7D38CA4E1F0}"/>
              </a:ext>
            </a:extLst>
          </p:cNvPr>
          <p:cNvSpPr/>
          <p:nvPr/>
        </p:nvSpPr>
        <p:spPr>
          <a:xfrm>
            <a:off x="9870955" y="4815455"/>
            <a:ext cx="726097" cy="2321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非致亡</a:t>
            </a:r>
          </a:p>
        </p:txBody>
      </p:sp>
      <p:sp>
        <p:nvSpPr>
          <p:cNvPr id="7" name="文本框 6">
            <a:extLst>
              <a:ext uri="{FF2B5EF4-FFF2-40B4-BE49-F238E27FC236}">
                <a16:creationId xmlns:a16="http://schemas.microsoft.com/office/drawing/2014/main" id="{4D4C3748-F964-D3A5-8242-15B7E107BB2D}"/>
              </a:ext>
            </a:extLst>
          </p:cNvPr>
          <p:cNvSpPr txBox="1"/>
          <p:nvPr/>
        </p:nvSpPr>
        <p:spPr>
          <a:xfrm>
            <a:off x="7272094" y="7694637"/>
            <a:ext cx="1877437" cy="276999"/>
          </a:xfrm>
          <a:prstGeom prst="rect">
            <a:avLst/>
          </a:prstGeom>
          <a:noFill/>
        </p:spPr>
        <p:txBody>
          <a:bodyPr wrap="none" rtlCol="0">
            <a:spAutoFit/>
          </a:bodyPr>
          <a:lstStyle>
            <a:defPPr>
              <a:defRPr lang="en-US"/>
            </a:defPPr>
            <a:lvl1pPr>
              <a:defRPr sz="1200">
                <a:latin typeface="微软雅黑" panose="020B0503020204020204" pitchFamily="34" charset="-122"/>
                <a:ea typeface="微软雅黑" panose="020B0503020204020204" pitchFamily="34" charset="-122"/>
              </a:defRPr>
            </a:lvl1pPr>
          </a:lstStyle>
          <a:p>
            <a:r>
              <a:rPr lang="zh-CN" altLang="en-US" dirty="0"/>
              <a:t>以静态属性影响节点权重</a:t>
            </a:r>
          </a:p>
        </p:txBody>
      </p:sp>
      <p:sp>
        <p:nvSpPr>
          <p:cNvPr id="17" name="箭头: 下 16">
            <a:extLst>
              <a:ext uri="{FF2B5EF4-FFF2-40B4-BE49-F238E27FC236}">
                <a16:creationId xmlns:a16="http://schemas.microsoft.com/office/drawing/2014/main" id="{471270B4-16E3-4795-C994-87F1AB3A7DD4}"/>
              </a:ext>
            </a:extLst>
          </p:cNvPr>
          <p:cNvSpPr/>
          <p:nvPr/>
        </p:nvSpPr>
        <p:spPr>
          <a:xfrm>
            <a:off x="8096015" y="8251455"/>
            <a:ext cx="179669" cy="72163"/>
          </a:xfrm>
          <a:prstGeom prst="downArrow">
            <a:avLst/>
          </a:prstGeom>
          <a:solidFill>
            <a:srgbClr val="FBD6BC"/>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8" name="箭头: 下 17">
            <a:extLst>
              <a:ext uri="{FF2B5EF4-FFF2-40B4-BE49-F238E27FC236}">
                <a16:creationId xmlns:a16="http://schemas.microsoft.com/office/drawing/2014/main" id="{C6A6A80B-89CA-98E0-CFFC-429DFCB6A066}"/>
              </a:ext>
            </a:extLst>
          </p:cNvPr>
          <p:cNvSpPr/>
          <p:nvPr/>
        </p:nvSpPr>
        <p:spPr>
          <a:xfrm>
            <a:off x="8099097" y="8606917"/>
            <a:ext cx="179669" cy="72163"/>
          </a:xfrm>
          <a:prstGeom prst="downArrow">
            <a:avLst/>
          </a:prstGeom>
          <a:solidFill>
            <a:srgbClr val="FBD6BC"/>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5" name="矩形 24">
            <a:extLst>
              <a:ext uri="{FF2B5EF4-FFF2-40B4-BE49-F238E27FC236}">
                <a16:creationId xmlns:a16="http://schemas.microsoft.com/office/drawing/2014/main" id="{693B281C-FBA9-BC8D-35AD-F1065E9D3F86}"/>
              </a:ext>
            </a:extLst>
          </p:cNvPr>
          <p:cNvSpPr/>
          <p:nvPr/>
        </p:nvSpPr>
        <p:spPr>
          <a:xfrm>
            <a:off x="9366415" y="7737071"/>
            <a:ext cx="1414197" cy="4843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驾驶员</a:t>
            </a: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车辆</a:t>
            </a:r>
            <a:endPar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en-US" altLang="zh-CN"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环境</a:t>
            </a:r>
          </a:p>
        </p:txBody>
      </p:sp>
      <p:sp>
        <p:nvSpPr>
          <p:cNvPr id="26" name="矩形 25">
            <a:extLst>
              <a:ext uri="{FF2B5EF4-FFF2-40B4-BE49-F238E27FC236}">
                <a16:creationId xmlns:a16="http://schemas.microsoft.com/office/drawing/2014/main" id="{8BDDA326-EB94-8F2D-D103-7AA30B8CE4FB}"/>
              </a:ext>
            </a:extLst>
          </p:cNvPr>
          <p:cNvSpPr/>
          <p:nvPr/>
        </p:nvSpPr>
        <p:spPr>
          <a:xfrm>
            <a:off x="9366414" y="8703600"/>
            <a:ext cx="1414197" cy="237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风险场输出</a:t>
            </a:r>
          </a:p>
        </p:txBody>
      </p:sp>
      <p:cxnSp>
        <p:nvCxnSpPr>
          <p:cNvPr id="34" name="直接箭头连接符 33">
            <a:extLst>
              <a:ext uri="{FF2B5EF4-FFF2-40B4-BE49-F238E27FC236}">
                <a16:creationId xmlns:a16="http://schemas.microsoft.com/office/drawing/2014/main" id="{E59F484D-D8F2-8C31-6ABB-11472016A628}"/>
              </a:ext>
            </a:extLst>
          </p:cNvPr>
          <p:cNvCxnSpPr>
            <a:stCxn id="279" idx="3"/>
          </p:cNvCxnSpPr>
          <p:nvPr/>
        </p:nvCxnSpPr>
        <p:spPr>
          <a:xfrm>
            <a:off x="8999232" y="8108336"/>
            <a:ext cx="36718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A88A9785-E5CA-3147-F91B-71BD750BD61A}"/>
              </a:ext>
            </a:extLst>
          </p:cNvPr>
          <p:cNvCxnSpPr>
            <a:cxnSpLocks/>
            <a:stCxn id="280" idx="3"/>
            <a:endCxn id="282" idx="1"/>
          </p:cNvCxnSpPr>
          <p:nvPr/>
        </p:nvCxnSpPr>
        <p:spPr>
          <a:xfrm>
            <a:off x="9001531" y="8466002"/>
            <a:ext cx="3648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5EA7276F-E68F-2C7E-DABA-B308B215D673}"/>
              </a:ext>
            </a:extLst>
          </p:cNvPr>
          <p:cNvCxnSpPr>
            <a:cxnSpLocks/>
            <a:stCxn id="281" idx="3"/>
            <a:endCxn id="26" idx="1"/>
          </p:cNvCxnSpPr>
          <p:nvPr/>
        </p:nvCxnSpPr>
        <p:spPr>
          <a:xfrm>
            <a:off x="8999233" y="8814543"/>
            <a:ext cx="367181" cy="77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C1D9F3EF-0D08-804B-7D74-1A0F01E480E3}"/>
              </a:ext>
            </a:extLst>
          </p:cNvPr>
          <p:cNvCxnSpPr>
            <a:cxnSpLocks/>
          </p:cNvCxnSpPr>
          <p:nvPr/>
        </p:nvCxnSpPr>
        <p:spPr>
          <a:xfrm>
            <a:off x="7086483" y="8037722"/>
            <a:ext cx="168205" cy="12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直接箭头连接符 47">
            <a:extLst>
              <a:ext uri="{FF2B5EF4-FFF2-40B4-BE49-F238E27FC236}">
                <a16:creationId xmlns:a16="http://schemas.microsoft.com/office/drawing/2014/main" id="{83BE4229-5B88-7484-16F0-A0C1BAAA92CA}"/>
              </a:ext>
            </a:extLst>
          </p:cNvPr>
          <p:cNvCxnSpPr>
            <a:cxnSpLocks/>
          </p:cNvCxnSpPr>
          <p:nvPr/>
        </p:nvCxnSpPr>
        <p:spPr>
          <a:xfrm flipV="1">
            <a:off x="7084549" y="8466001"/>
            <a:ext cx="163686" cy="2592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矩形: 圆顶角 1">
            <a:extLst>
              <a:ext uri="{FF2B5EF4-FFF2-40B4-BE49-F238E27FC236}">
                <a16:creationId xmlns:a16="http://schemas.microsoft.com/office/drawing/2014/main" id="{34AF3CCE-D12E-CC1E-3BE5-11A4EA0357A0}"/>
              </a:ext>
            </a:extLst>
          </p:cNvPr>
          <p:cNvSpPr/>
          <p:nvPr/>
        </p:nvSpPr>
        <p:spPr>
          <a:xfrm>
            <a:off x="5389138" y="4196416"/>
            <a:ext cx="5691505" cy="432048"/>
          </a:xfrm>
          <a:prstGeom prst="round2SameRect">
            <a:avLst>
              <a:gd name="adj1" fmla="val 50000"/>
              <a:gd name="adj2" fmla="val 0"/>
            </a:avLst>
          </a:prstGeom>
          <a:solidFill>
            <a:srgbClr val="E2F0D9"/>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研究内容二：考虑货车异质性的事故致因定性定量分析</a:t>
            </a:r>
          </a:p>
        </p:txBody>
      </p:sp>
      <p:sp>
        <p:nvSpPr>
          <p:cNvPr id="11" name="矩形: 圆顶角 10">
            <a:extLst>
              <a:ext uri="{FF2B5EF4-FFF2-40B4-BE49-F238E27FC236}">
                <a16:creationId xmlns:a16="http://schemas.microsoft.com/office/drawing/2014/main" id="{80DE83F4-7508-262F-7B87-4CE9059EB1EE}"/>
              </a:ext>
            </a:extLst>
          </p:cNvPr>
          <p:cNvSpPr/>
          <p:nvPr/>
        </p:nvSpPr>
        <p:spPr>
          <a:xfrm>
            <a:off x="5373154" y="6777976"/>
            <a:ext cx="5697234" cy="432048"/>
          </a:xfrm>
          <a:prstGeom prst="round2SameRect">
            <a:avLst>
              <a:gd name="adj1" fmla="val 50000"/>
              <a:gd name="adj2" fmla="val 0"/>
            </a:avLst>
          </a:prstGeom>
          <a:solidFill>
            <a:srgbClr val="C55A1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chemeClr val="bg1"/>
                </a:solidFill>
                <a:latin typeface="微软雅黑" panose="020B0503020204020204" pitchFamily="34" charset="-122"/>
                <a:ea typeface="微软雅黑" panose="020B0503020204020204" pitchFamily="34" charset="-122"/>
              </a:rPr>
              <a:t>研究内容三：考虑驾驶员异质性的</a:t>
            </a:r>
            <a:r>
              <a:rPr lang="en-US" altLang="zh-CN" sz="1500" b="1" dirty="0">
                <a:solidFill>
                  <a:schemeClr val="bg1"/>
                </a:solidFill>
                <a:latin typeface="微软雅黑" panose="020B0503020204020204" pitchFamily="34" charset="-122"/>
                <a:ea typeface="微软雅黑" panose="020B0503020204020204" pitchFamily="34" charset="-122"/>
              </a:rPr>
              <a:t>ST-GCN</a:t>
            </a:r>
            <a:r>
              <a:rPr lang="zh-CN" altLang="en-US" sz="1500" b="1" dirty="0">
                <a:solidFill>
                  <a:schemeClr val="bg1"/>
                </a:solidFill>
                <a:latin typeface="微软雅黑" panose="020B0503020204020204" pitchFamily="34" charset="-122"/>
                <a:ea typeface="微软雅黑" panose="020B0503020204020204" pitchFamily="34" charset="-122"/>
              </a:rPr>
              <a:t>货车出行风险预测</a:t>
            </a:r>
          </a:p>
        </p:txBody>
      </p:sp>
      <p:sp>
        <p:nvSpPr>
          <p:cNvPr id="9" name="矩形: 圆顶角 8">
            <a:extLst>
              <a:ext uri="{FF2B5EF4-FFF2-40B4-BE49-F238E27FC236}">
                <a16:creationId xmlns:a16="http://schemas.microsoft.com/office/drawing/2014/main" id="{85B18F90-42E7-0E93-D79D-D68430110CBA}"/>
              </a:ext>
            </a:extLst>
          </p:cNvPr>
          <p:cNvSpPr/>
          <p:nvPr/>
        </p:nvSpPr>
        <p:spPr>
          <a:xfrm>
            <a:off x="5383393" y="1597201"/>
            <a:ext cx="5691505" cy="432048"/>
          </a:xfrm>
          <a:prstGeom prst="round2SameRect">
            <a:avLst>
              <a:gd name="adj1" fmla="val 50000"/>
              <a:gd name="adj2" fmla="val 0"/>
            </a:avLst>
          </a:prstGeom>
          <a:solidFill>
            <a:srgbClr val="FFF1D5"/>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研究内容一：</a:t>
            </a:r>
            <a:r>
              <a:rPr lang="zh-CN" altLang="zh-CN" sz="1600" b="1" dirty="0">
                <a:solidFill>
                  <a:schemeClr val="tx1"/>
                </a:solidFill>
                <a:latin typeface="微软雅黑" panose="020B0503020204020204" pitchFamily="34" charset="-122"/>
                <a:ea typeface="微软雅黑" panose="020B0503020204020204" pitchFamily="34" charset="-122"/>
              </a:rPr>
              <a:t>基于生成式</a:t>
            </a:r>
            <a:r>
              <a:rPr lang="zh-CN" altLang="en-US" sz="1600" b="1" dirty="0">
                <a:solidFill>
                  <a:schemeClr val="tx1"/>
                </a:solidFill>
                <a:latin typeface="微软雅黑" panose="020B0503020204020204" pitchFamily="34" charset="-122"/>
                <a:ea typeface="微软雅黑" panose="020B0503020204020204" pitchFamily="34" charset="-122"/>
              </a:rPr>
              <a:t>算法的事故少样本</a:t>
            </a:r>
            <a:r>
              <a:rPr lang="zh-CN" altLang="zh-CN" sz="1600" b="1" dirty="0">
                <a:solidFill>
                  <a:schemeClr val="tx1"/>
                </a:solidFill>
                <a:latin typeface="微软雅黑" panose="020B0503020204020204" pitchFamily="34" charset="-122"/>
                <a:ea typeface="微软雅黑" panose="020B0503020204020204" pitchFamily="34" charset="-122"/>
              </a:rPr>
              <a:t>数据增强</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E281AA5D-B398-6F25-AA1A-EB9204774DE6}"/>
              </a:ext>
            </a:extLst>
          </p:cNvPr>
          <p:cNvSpPr/>
          <p:nvPr/>
        </p:nvSpPr>
        <p:spPr>
          <a:xfrm>
            <a:off x="4727847" y="1626968"/>
            <a:ext cx="525281" cy="242252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数据增强</a:t>
            </a:r>
          </a:p>
        </p:txBody>
      </p:sp>
      <p:sp>
        <p:nvSpPr>
          <p:cNvPr id="12" name="矩形 11">
            <a:extLst>
              <a:ext uri="{FF2B5EF4-FFF2-40B4-BE49-F238E27FC236}">
                <a16:creationId xmlns:a16="http://schemas.microsoft.com/office/drawing/2014/main" id="{3857EBFA-D7F5-42A7-0B25-6441423E161D}"/>
              </a:ext>
            </a:extLst>
          </p:cNvPr>
          <p:cNvSpPr/>
          <p:nvPr/>
        </p:nvSpPr>
        <p:spPr>
          <a:xfrm>
            <a:off x="4727847" y="-1007037"/>
            <a:ext cx="525281" cy="242252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特征分析</a:t>
            </a:r>
          </a:p>
        </p:txBody>
      </p:sp>
      <p:sp>
        <p:nvSpPr>
          <p:cNvPr id="13" name="矩形 12">
            <a:extLst>
              <a:ext uri="{FF2B5EF4-FFF2-40B4-BE49-F238E27FC236}">
                <a16:creationId xmlns:a16="http://schemas.microsoft.com/office/drawing/2014/main" id="{703AE442-8310-673A-2783-9D8863232E8E}"/>
              </a:ext>
            </a:extLst>
          </p:cNvPr>
          <p:cNvSpPr/>
          <p:nvPr/>
        </p:nvSpPr>
        <p:spPr>
          <a:xfrm>
            <a:off x="4727848" y="-1683568"/>
            <a:ext cx="6342540" cy="4466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文献查阅、归纳、总结</a:t>
            </a:r>
          </a:p>
        </p:txBody>
      </p:sp>
      <p:cxnSp>
        <p:nvCxnSpPr>
          <p:cNvPr id="27" name="直接箭头连接符 26">
            <a:extLst>
              <a:ext uri="{FF2B5EF4-FFF2-40B4-BE49-F238E27FC236}">
                <a16:creationId xmlns:a16="http://schemas.microsoft.com/office/drawing/2014/main" id="{9F5F7701-577F-77E2-2F40-E271485B5EE7}"/>
              </a:ext>
            </a:extLst>
          </p:cNvPr>
          <p:cNvCxnSpPr>
            <a:cxnSpLocks/>
            <a:stCxn id="12" idx="2"/>
            <a:endCxn id="8" idx="0"/>
          </p:cNvCxnSpPr>
          <p:nvPr/>
        </p:nvCxnSpPr>
        <p:spPr>
          <a:xfrm>
            <a:off x="4990488" y="1415488"/>
            <a:ext cx="0" cy="2114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a:extLst>
              <a:ext uri="{FF2B5EF4-FFF2-40B4-BE49-F238E27FC236}">
                <a16:creationId xmlns:a16="http://schemas.microsoft.com/office/drawing/2014/main" id="{9B272DCD-6948-2B71-56AF-C11F606CB532}"/>
              </a:ext>
            </a:extLst>
          </p:cNvPr>
          <p:cNvCxnSpPr>
            <a:cxnSpLocks/>
            <a:stCxn id="8" idx="2"/>
            <a:endCxn id="14" idx="0"/>
          </p:cNvCxnSpPr>
          <p:nvPr/>
        </p:nvCxnSpPr>
        <p:spPr>
          <a:xfrm>
            <a:off x="4990488" y="4049493"/>
            <a:ext cx="4470" cy="1546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直接箭头连接符 50">
            <a:extLst>
              <a:ext uri="{FF2B5EF4-FFF2-40B4-BE49-F238E27FC236}">
                <a16:creationId xmlns:a16="http://schemas.microsoft.com/office/drawing/2014/main" id="{26409D42-4419-6C4B-B614-E7A45A21DADB}"/>
              </a:ext>
            </a:extLst>
          </p:cNvPr>
          <p:cNvCxnSpPr>
            <a:cxnSpLocks/>
            <a:stCxn id="14" idx="2"/>
            <a:endCxn id="15" idx="0"/>
          </p:cNvCxnSpPr>
          <p:nvPr/>
        </p:nvCxnSpPr>
        <p:spPr>
          <a:xfrm flipH="1">
            <a:off x="4994805" y="6626624"/>
            <a:ext cx="153" cy="1479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箭头: 右 53">
            <a:extLst>
              <a:ext uri="{FF2B5EF4-FFF2-40B4-BE49-F238E27FC236}">
                <a16:creationId xmlns:a16="http://schemas.microsoft.com/office/drawing/2014/main" id="{EC437DE3-CB61-2099-1721-8FA83A10A1C4}"/>
              </a:ext>
            </a:extLst>
          </p:cNvPr>
          <p:cNvSpPr/>
          <p:nvPr/>
        </p:nvSpPr>
        <p:spPr>
          <a:xfrm rot="5400000">
            <a:off x="8018827" y="-1269644"/>
            <a:ext cx="154375" cy="295753"/>
          </a:xfrm>
          <a:prstGeom prst="rightArrow">
            <a:avLst>
              <a:gd name="adj1" fmla="val 50000"/>
              <a:gd name="adj2" fmla="val 580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箭头: 右 58">
            <a:extLst>
              <a:ext uri="{FF2B5EF4-FFF2-40B4-BE49-F238E27FC236}">
                <a16:creationId xmlns:a16="http://schemas.microsoft.com/office/drawing/2014/main" id="{B71E787D-54F6-8ECA-8CAC-8A91D90D4524}"/>
              </a:ext>
            </a:extLst>
          </p:cNvPr>
          <p:cNvSpPr/>
          <p:nvPr/>
        </p:nvSpPr>
        <p:spPr>
          <a:xfrm rot="5400000">
            <a:off x="8143736" y="9118222"/>
            <a:ext cx="154375" cy="295753"/>
          </a:xfrm>
          <a:prstGeom prst="rightArrow">
            <a:avLst>
              <a:gd name="adj1" fmla="val 50000"/>
              <a:gd name="adj2" fmla="val 580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8A47CE15-9DC5-364A-3A3B-39F73160D9E8}"/>
              </a:ext>
            </a:extLst>
          </p:cNvPr>
          <p:cNvSpPr/>
          <p:nvPr/>
        </p:nvSpPr>
        <p:spPr>
          <a:xfrm>
            <a:off x="5373154" y="9323058"/>
            <a:ext cx="1898940" cy="4466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政策启示</a:t>
            </a:r>
          </a:p>
        </p:txBody>
      </p:sp>
      <p:sp>
        <p:nvSpPr>
          <p:cNvPr id="67" name="矩形 66">
            <a:extLst>
              <a:ext uri="{FF2B5EF4-FFF2-40B4-BE49-F238E27FC236}">
                <a16:creationId xmlns:a16="http://schemas.microsoft.com/office/drawing/2014/main" id="{AFAE1597-20F7-FF4F-6D19-A70941641898}"/>
              </a:ext>
            </a:extLst>
          </p:cNvPr>
          <p:cNvSpPr/>
          <p:nvPr/>
        </p:nvSpPr>
        <p:spPr>
          <a:xfrm>
            <a:off x="7398890" y="9326845"/>
            <a:ext cx="1783933" cy="4466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研究结论</a:t>
            </a:r>
          </a:p>
        </p:txBody>
      </p:sp>
      <p:sp>
        <p:nvSpPr>
          <p:cNvPr id="68" name="矩形 67">
            <a:extLst>
              <a:ext uri="{FF2B5EF4-FFF2-40B4-BE49-F238E27FC236}">
                <a16:creationId xmlns:a16="http://schemas.microsoft.com/office/drawing/2014/main" id="{33511E2C-3B36-BA7B-A6EE-4B3B9C5E0352}"/>
              </a:ext>
            </a:extLst>
          </p:cNvPr>
          <p:cNvSpPr/>
          <p:nvPr/>
        </p:nvSpPr>
        <p:spPr>
          <a:xfrm>
            <a:off x="9336674" y="9319129"/>
            <a:ext cx="1741098" cy="4466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未来展望</a:t>
            </a:r>
          </a:p>
        </p:txBody>
      </p:sp>
      <p:sp>
        <p:nvSpPr>
          <p:cNvPr id="69" name="矩形 68">
            <a:extLst>
              <a:ext uri="{FF2B5EF4-FFF2-40B4-BE49-F238E27FC236}">
                <a16:creationId xmlns:a16="http://schemas.microsoft.com/office/drawing/2014/main" id="{C0674445-90B0-9F34-672D-FA68EC36B960}"/>
              </a:ext>
            </a:extLst>
          </p:cNvPr>
          <p:cNvSpPr/>
          <p:nvPr/>
        </p:nvSpPr>
        <p:spPr>
          <a:xfrm>
            <a:off x="4727847" y="9326462"/>
            <a:ext cx="586412" cy="44664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结论</a:t>
            </a:r>
          </a:p>
        </p:txBody>
      </p:sp>
      <p:pic>
        <p:nvPicPr>
          <p:cNvPr id="70" name="图片 69">
            <a:extLst>
              <a:ext uri="{FF2B5EF4-FFF2-40B4-BE49-F238E27FC236}">
                <a16:creationId xmlns:a16="http://schemas.microsoft.com/office/drawing/2014/main" id="{9F17D92B-ADAE-AB99-8E3F-054DB094AB63}"/>
              </a:ext>
            </a:extLst>
          </p:cNvPr>
          <p:cNvPicPr>
            <a:picLocks noChangeAspect="1"/>
          </p:cNvPicPr>
          <p:nvPr/>
        </p:nvPicPr>
        <p:blipFill>
          <a:blip r:embed="rId3"/>
          <a:stretch>
            <a:fillRect/>
          </a:stretch>
        </p:blipFill>
        <p:spPr>
          <a:xfrm>
            <a:off x="186961" y="807057"/>
            <a:ext cx="3274877" cy="5972573"/>
          </a:xfrm>
          <a:prstGeom prst="rect">
            <a:avLst/>
          </a:prstGeom>
        </p:spPr>
      </p:pic>
    </p:spTree>
    <p:extLst>
      <p:ext uri="{BB962C8B-B14F-4D97-AF65-F5344CB8AC3E}">
        <p14:creationId xmlns:p14="http://schemas.microsoft.com/office/powerpoint/2010/main" val="437320435"/>
      </p:ext>
    </p:extLst>
  </p:cSld>
  <p:clrMapOvr>
    <a:masterClrMapping/>
  </p:clrMapOvr>
  <p:transition spd="slow">
    <p:wipe dir="r"/>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1.7,&quot;left&quot;:478.15,&quot;top&quot;:286.35,&quot;width&quot;:437.40001220703124}"/>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41.7,&quot;left&quot;:478.15,&quot;top&quot;:286.35,&quot;width&quot;:437.4000122070312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41.7,&quot;left&quot;:478.15,&quot;top&quot;:286.35,&quot;width&quot;:437.4000122070312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9.47496062992127,&quot;left&quot;:508.4,&quot;top&quot;:140.82503937007874,&quot;width&quot;:430.863622047244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9.47496062992127,&quot;left&quot;:508.4,&quot;top&quot;:140.82503937007874,&quot;width&quot;:430.863622047244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5192</TotalTime>
  <Words>3668</Words>
  <Application>Microsoft Office PowerPoint</Application>
  <PresentationFormat>宽屏</PresentationFormat>
  <Paragraphs>543</Paragraphs>
  <Slides>16</Slides>
  <Notes>12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-apple-system</vt:lpstr>
      <vt:lpstr>Inter</vt:lpstr>
      <vt:lpstr>黑体</vt:lpstr>
      <vt:lpstr>宋体</vt:lpstr>
      <vt:lpstr>微软雅黑</vt:lpstr>
      <vt:lpstr>Arial</vt:lpstr>
      <vt:lpstr>Broadway</vt:lpstr>
      <vt:lpstr>Calibri</vt:lpstr>
      <vt:lpstr>Calibri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1234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
  <cp:revision>1725</cp:revision>
  <cp:lastPrinted>2022-02-15T07:39:57Z</cp:lastPrinted>
  <dcterms:created xsi:type="dcterms:W3CDTF">2010-04-14T09:56:00Z</dcterms:created>
  <dcterms:modified xsi:type="dcterms:W3CDTF">2025-05-13T01:38:58Z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7BBD3A2B0D9F4A2EAAF2C28EEC267037</vt:lpwstr>
  </property>
  <property fmtid="{D5CDD505-2E9C-101B-9397-08002B2CF9AE}" pid="3" name="KSOProductBuildVer">
    <vt:lpwstr>2052-11.1.0.11045</vt:lpwstr>
  </property>
</Properties>
</file>