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77" r:id="rId1"/>
  </p:sldMasterIdLst>
  <p:notesMasterIdLst>
    <p:notesMasterId r:id="rId17"/>
  </p:notesMasterIdLst>
  <p:handoutMasterIdLst>
    <p:handoutMasterId r:id="rId18"/>
  </p:handoutMasterIdLst>
  <p:sldIdLst>
    <p:sldId id="1770" r:id="rId2"/>
    <p:sldId id="1776" r:id="rId3"/>
    <p:sldId id="1778" r:id="rId4"/>
    <p:sldId id="1788" r:id="rId5"/>
    <p:sldId id="1845" r:id="rId6"/>
    <p:sldId id="1789" r:id="rId7"/>
    <p:sldId id="1846" r:id="rId8"/>
    <p:sldId id="1852" r:id="rId9"/>
    <p:sldId id="1847" r:id="rId10"/>
    <p:sldId id="1853" r:id="rId11"/>
    <p:sldId id="1854" r:id="rId12"/>
    <p:sldId id="1850" r:id="rId13"/>
    <p:sldId id="1855" r:id="rId14"/>
    <p:sldId id="1851" r:id="rId15"/>
    <p:sldId id="1739" r:id="rId16"/>
  </p:sldIdLst>
  <p:sldSz cx="12192000" cy="6858000"/>
  <p:notesSz cx="6797675" cy="98742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自动驾驶组研究进展" id="{15058730-E600-4170-A996-3DEF1CA0F17F}">
          <p14:sldIdLst>
            <p14:sldId id="1770"/>
            <p14:sldId id="1776"/>
            <p14:sldId id="1778"/>
            <p14:sldId id="1788"/>
            <p14:sldId id="1845"/>
            <p14:sldId id="1789"/>
            <p14:sldId id="1846"/>
            <p14:sldId id="1852"/>
            <p14:sldId id="1847"/>
            <p14:sldId id="1853"/>
            <p14:sldId id="1854"/>
            <p14:sldId id="1850"/>
            <p14:sldId id="1855"/>
            <p14:sldId id="1851"/>
            <p14:sldId id="1739"/>
          </p14:sldIdLst>
        </p14:section>
      </p14:sectionLst>
    </p:ext>
    <p:ext uri="{EFAFB233-063F-42B5-8137-9DF3F51BA10A}">
      <p15:sldGuideLst xmlns:p15="http://schemas.microsoft.com/office/powerpoint/2012/main">
        <p15:guide id="1" orient="horz" pos="2161"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3111"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D7EE"/>
    <a:srgbClr val="C00000"/>
    <a:srgbClr val="FF5050"/>
    <a:srgbClr val="89373D"/>
    <a:srgbClr val="002F6F"/>
    <a:srgbClr val="C7DDF1"/>
    <a:srgbClr val="000066"/>
    <a:srgbClr val="FFFDF7"/>
    <a:srgbClr val="FFF9E7"/>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61" autoAdjust="0"/>
    <p:restoredTop sz="94243" autoAdjust="0"/>
  </p:normalViewPr>
  <p:slideViewPr>
    <p:cSldViewPr>
      <p:cViewPr>
        <p:scale>
          <a:sx n="50" d="100"/>
          <a:sy n="50" d="100"/>
        </p:scale>
        <p:origin x="-68" y="388"/>
      </p:cViewPr>
      <p:guideLst>
        <p:guide orient="horz" pos="2161"/>
        <p:guide pos="3841"/>
      </p:guideLst>
    </p:cSldViewPr>
  </p:slideViewPr>
  <p:notesTextViewPr>
    <p:cViewPr>
      <p:scale>
        <a:sx n="3" d="2"/>
        <a:sy n="3" d="2"/>
      </p:scale>
      <p:origin x="0" y="0"/>
    </p:cViewPr>
  </p:notesTextViewPr>
  <p:sorterViewPr>
    <p:cViewPr varScale="1">
      <p:scale>
        <a:sx n="100" d="100"/>
        <a:sy n="100" d="100"/>
      </p:scale>
      <p:origin x="0" y="0"/>
    </p:cViewPr>
  </p:sorterViewPr>
  <p:notesViewPr>
    <p:cSldViewPr>
      <p:cViewPr varScale="1">
        <p:scale>
          <a:sx n="78" d="100"/>
          <a:sy n="78" d="100"/>
        </p:scale>
        <p:origin x="3114" y="120"/>
      </p:cViewPr>
      <p:guideLst>
        <p:guide orient="horz" pos="3111"/>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1" y="1"/>
            <a:ext cx="2946448" cy="493241"/>
          </a:xfrm>
          <a:prstGeom prst="rect">
            <a:avLst/>
          </a:prstGeom>
          <a:noFill/>
          <a:ln w="9525">
            <a:noFill/>
            <a:miter lim="800000"/>
          </a:ln>
        </p:spPr>
        <p:txBody>
          <a:bodyPr vert="horz" wrap="square" lIns="95558" tIns="47778" rIns="95558" bIns="47778" numCol="1" anchor="t" anchorCtr="0" compatLnSpc="1"/>
          <a:lstStyle>
            <a:lvl1pPr defTabSz="882650" eaLnBrk="0" hangingPunct="0">
              <a:defRPr sz="1300">
                <a:latin typeface="Arial" panose="020B0604020202020204" pitchFamily="34" charset="0"/>
                <a:ea typeface="宋体" panose="02010600030101010101" pitchFamily="2" charset="-122"/>
              </a:defRPr>
            </a:lvl1pPr>
          </a:lstStyle>
          <a:p>
            <a:pPr>
              <a:defRPr/>
            </a:pPr>
            <a:endParaRPr lang="zh-CN" altLang="en-US"/>
          </a:p>
        </p:txBody>
      </p:sp>
      <p:sp>
        <p:nvSpPr>
          <p:cNvPr id="98307" name="Rectangle 3"/>
          <p:cNvSpPr>
            <a:spLocks noGrp="1" noChangeArrowheads="1"/>
          </p:cNvSpPr>
          <p:nvPr>
            <p:ph type="dt" sz="quarter" idx="1"/>
          </p:nvPr>
        </p:nvSpPr>
        <p:spPr bwMode="auto">
          <a:xfrm>
            <a:off x="3849648" y="1"/>
            <a:ext cx="2946448" cy="493241"/>
          </a:xfrm>
          <a:prstGeom prst="rect">
            <a:avLst/>
          </a:prstGeom>
          <a:noFill/>
          <a:ln w="9525">
            <a:noFill/>
            <a:miter lim="800000"/>
          </a:ln>
        </p:spPr>
        <p:txBody>
          <a:bodyPr vert="horz" wrap="square" lIns="95558" tIns="47778" rIns="95558" bIns="47778" numCol="1" anchor="t" anchorCtr="0" compatLnSpc="1"/>
          <a:lstStyle>
            <a:lvl1pPr algn="r" defTabSz="882650" eaLnBrk="0" hangingPunct="0">
              <a:defRPr sz="1300">
                <a:latin typeface="Arial" panose="020B0604020202020204" pitchFamily="34" charset="0"/>
                <a:ea typeface="宋体" panose="02010600030101010101" pitchFamily="2" charset="-122"/>
              </a:defRPr>
            </a:lvl1pPr>
          </a:lstStyle>
          <a:p>
            <a:pPr>
              <a:defRPr/>
            </a:pPr>
            <a:fld id="{8C194AB6-BECC-47C4-98A8-3E8B6DBE99C0}" type="datetimeFigureOut">
              <a:rPr lang="zh-CN" altLang="en-US"/>
              <a:t>2026/7/30</a:t>
            </a:fld>
            <a:endParaRPr lang="en-US" altLang="zh-CN" dirty="0"/>
          </a:p>
        </p:txBody>
      </p:sp>
      <p:sp>
        <p:nvSpPr>
          <p:cNvPr id="98308" name="Rectangle 4"/>
          <p:cNvSpPr>
            <a:spLocks noGrp="1" noChangeArrowheads="1"/>
          </p:cNvSpPr>
          <p:nvPr>
            <p:ph type="ftr" sz="quarter" idx="2"/>
          </p:nvPr>
        </p:nvSpPr>
        <p:spPr bwMode="auto">
          <a:xfrm>
            <a:off x="1" y="9379440"/>
            <a:ext cx="2946448" cy="493241"/>
          </a:xfrm>
          <a:prstGeom prst="rect">
            <a:avLst/>
          </a:prstGeom>
          <a:noFill/>
          <a:ln w="9525">
            <a:noFill/>
            <a:miter lim="800000"/>
          </a:ln>
        </p:spPr>
        <p:txBody>
          <a:bodyPr vert="horz" wrap="square" lIns="95558" tIns="47778" rIns="95558" bIns="47778" numCol="1" anchor="b" anchorCtr="0" compatLnSpc="1"/>
          <a:lstStyle>
            <a:lvl1pPr defTabSz="882650" eaLnBrk="0" hangingPunct="0">
              <a:defRPr sz="1300">
                <a:latin typeface="Arial" panose="020B0604020202020204" pitchFamily="34" charset="0"/>
                <a:ea typeface="宋体" panose="02010600030101010101" pitchFamily="2" charset="-122"/>
              </a:defRPr>
            </a:lvl1pPr>
          </a:lstStyle>
          <a:p>
            <a:pPr>
              <a:defRPr/>
            </a:pPr>
            <a:endParaRPr lang="en-US" altLang="zh-CN" dirty="0"/>
          </a:p>
        </p:txBody>
      </p:sp>
      <p:sp>
        <p:nvSpPr>
          <p:cNvPr id="98309" name="Rectangle 5"/>
          <p:cNvSpPr>
            <a:spLocks noGrp="1" noChangeArrowheads="1"/>
          </p:cNvSpPr>
          <p:nvPr>
            <p:ph type="sldNum" sz="quarter" idx="3"/>
          </p:nvPr>
        </p:nvSpPr>
        <p:spPr bwMode="auto">
          <a:xfrm>
            <a:off x="3849648" y="9379440"/>
            <a:ext cx="2946448" cy="493241"/>
          </a:xfrm>
          <a:prstGeom prst="rect">
            <a:avLst/>
          </a:prstGeom>
          <a:noFill/>
          <a:ln w="9525">
            <a:noFill/>
            <a:miter lim="800000"/>
          </a:ln>
        </p:spPr>
        <p:txBody>
          <a:bodyPr vert="horz" wrap="square" lIns="95558" tIns="47778" rIns="95558" bIns="47778" numCol="1" anchor="b" anchorCtr="0" compatLnSpc="1"/>
          <a:lstStyle>
            <a:lvl1pPr algn="r" defTabSz="882650" eaLnBrk="0" hangingPunct="0">
              <a:defRPr sz="1300">
                <a:latin typeface="Arial" panose="020B0604020202020204" pitchFamily="34" charset="0"/>
                <a:ea typeface="宋体" panose="02010600030101010101" pitchFamily="2" charset="-122"/>
              </a:defRPr>
            </a:lvl1pPr>
          </a:lstStyle>
          <a:p>
            <a:pPr>
              <a:defRPr/>
            </a:pPr>
            <a:fld id="{82C768EC-EEFA-4873-BA36-522C8D5E23C9}" type="slidenum">
              <a:rPr lang="zh-CN" altLang="en-US"/>
              <a:t>‹#›</a:t>
            </a:fld>
            <a:endParaRPr lang="en-US" altLang="zh-CN"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bwMode="auto">
          <a:xfrm>
            <a:off x="1" y="1"/>
            <a:ext cx="2946448" cy="493241"/>
          </a:xfrm>
          <a:prstGeom prst="rect">
            <a:avLst/>
          </a:prstGeom>
          <a:noFill/>
          <a:ln w="9525">
            <a:noFill/>
            <a:miter lim="800000"/>
          </a:ln>
        </p:spPr>
        <p:txBody>
          <a:bodyPr vert="horz" wrap="square" lIns="95558" tIns="47778" rIns="95558" bIns="47778" numCol="1" anchor="t" anchorCtr="0" compatLnSpc="1"/>
          <a:lstStyle>
            <a:lvl1pPr defTabSz="882650">
              <a:defRPr sz="1300">
                <a:latin typeface="Calibri" panose="020F050202020403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bwMode="auto">
          <a:xfrm>
            <a:off x="3849648" y="1"/>
            <a:ext cx="2946448" cy="493241"/>
          </a:xfrm>
          <a:prstGeom prst="rect">
            <a:avLst/>
          </a:prstGeom>
          <a:noFill/>
          <a:ln w="9525">
            <a:noFill/>
            <a:miter lim="800000"/>
          </a:ln>
        </p:spPr>
        <p:txBody>
          <a:bodyPr vert="horz" wrap="square" lIns="95558" tIns="47778" rIns="95558" bIns="47778" numCol="1" anchor="t" anchorCtr="0" compatLnSpc="1"/>
          <a:lstStyle>
            <a:lvl1pPr algn="r" defTabSz="882650">
              <a:defRPr sz="1300">
                <a:latin typeface="Calibri" panose="020F0502020204030204" pitchFamily="34" charset="0"/>
                <a:ea typeface="宋体" panose="02010600030101010101" pitchFamily="2" charset="-122"/>
              </a:defRPr>
            </a:lvl1pPr>
          </a:lstStyle>
          <a:p>
            <a:pPr>
              <a:defRPr/>
            </a:pPr>
            <a:fld id="{1305259F-B612-43F3-809A-4A8C8541FCC4}" type="datetimeFigureOut">
              <a:rPr lang="zh-CN" altLang="en-US"/>
              <a:t>2026/7/30</a:t>
            </a:fld>
            <a:endParaRPr lang="en-US" altLang="zh-CN" dirty="0"/>
          </a:p>
        </p:txBody>
      </p:sp>
      <p:sp>
        <p:nvSpPr>
          <p:cNvPr id="4" name="幻灯片图像占位符 3"/>
          <p:cNvSpPr>
            <a:spLocks noGrp="1" noRot="1" noChangeAspect="1"/>
          </p:cNvSpPr>
          <p:nvPr>
            <p:ph type="sldImg" idx="2"/>
          </p:nvPr>
        </p:nvSpPr>
        <p:spPr>
          <a:xfrm>
            <a:off x="109538" y="741363"/>
            <a:ext cx="6578600" cy="3702050"/>
          </a:xfrm>
          <a:prstGeom prst="rect">
            <a:avLst/>
          </a:prstGeom>
          <a:noFill/>
          <a:ln w="12700">
            <a:solidFill>
              <a:prstClr val="black"/>
            </a:solidFill>
          </a:ln>
        </p:spPr>
        <p:txBody>
          <a:bodyPr vert="horz" lIns="98523" tIns="49262" rIns="98523" bIns="49262" rtlCol="0" anchor="ctr"/>
          <a:lstStyle/>
          <a:p>
            <a:pPr lvl="0"/>
            <a:endParaRPr lang="zh-CN" altLang="en-US" noProof="0"/>
          </a:p>
        </p:txBody>
      </p:sp>
      <p:sp>
        <p:nvSpPr>
          <p:cNvPr id="5" name="备注占位符 4"/>
          <p:cNvSpPr>
            <a:spLocks noGrp="1"/>
          </p:cNvSpPr>
          <p:nvPr>
            <p:ph type="body" sz="quarter" idx="3"/>
          </p:nvPr>
        </p:nvSpPr>
        <p:spPr bwMode="auto">
          <a:xfrm>
            <a:off x="678978" y="4690505"/>
            <a:ext cx="5439719" cy="4442313"/>
          </a:xfrm>
          <a:prstGeom prst="rect">
            <a:avLst/>
          </a:prstGeom>
          <a:noFill/>
          <a:ln w="9525">
            <a:noFill/>
            <a:miter lim="800000"/>
          </a:ln>
        </p:spPr>
        <p:txBody>
          <a:bodyPr vert="horz" wrap="square" lIns="95558" tIns="47778" rIns="95558" bIns="47778"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bwMode="auto">
          <a:xfrm>
            <a:off x="1" y="9379440"/>
            <a:ext cx="2946448" cy="493241"/>
          </a:xfrm>
          <a:prstGeom prst="rect">
            <a:avLst/>
          </a:prstGeom>
          <a:noFill/>
          <a:ln w="9525">
            <a:noFill/>
            <a:miter lim="800000"/>
          </a:ln>
        </p:spPr>
        <p:txBody>
          <a:bodyPr vert="horz" wrap="square" lIns="95558" tIns="47778" rIns="95558" bIns="47778" numCol="1" anchor="b" anchorCtr="0" compatLnSpc="1"/>
          <a:lstStyle>
            <a:lvl1pPr defTabSz="882650">
              <a:defRPr sz="1300">
                <a:latin typeface="Calibri" panose="020F050202020403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bwMode="auto">
          <a:xfrm>
            <a:off x="3849648" y="9379440"/>
            <a:ext cx="2946448" cy="493241"/>
          </a:xfrm>
          <a:prstGeom prst="rect">
            <a:avLst/>
          </a:prstGeom>
          <a:noFill/>
          <a:ln w="9525">
            <a:noFill/>
            <a:miter lim="800000"/>
          </a:ln>
        </p:spPr>
        <p:txBody>
          <a:bodyPr vert="horz" wrap="square" lIns="95558" tIns="47778" rIns="95558" bIns="47778" numCol="1" anchor="b" anchorCtr="0" compatLnSpc="1"/>
          <a:lstStyle>
            <a:lvl1pPr algn="r" defTabSz="882650">
              <a:defRPr sz="1300">
                <a:latin typeface="Calibri" panose="020F0502020204030204" pitchFamily="34" charset="0"/>
                <a:ea typeface="宋体" panose="02010600030101010101" pitchFamily="2" charset="-122"/>
              </a:defRPr>
            </a:lvl1pPr>
          </a:lstStyle>
          <a:p>
            <a:pPr>
              <a:defRPr/>
            </a:pPr>
            <a:fld id="{02F54C80-B770-4C50-A5D1-D9880C7EFE61}" type="slidenum">
              <a:rPr lang="zh-CN" altLang="en-US"/>
              <a:t>‹#›</a:t>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39940" name="灯片编号占位符 3"/>
          <p:cNvSpPr>
            <a:spLocks noGrp="1"/>
          </p:cNvSpPr>
          <p:nvPr>
            <p:ph type="sldNum" sz="quarter" idx="5"/>
          </p:nvPr>
        </p:nvSpPr>
        <p:spPr bwMode="auto">
          <a:noFill/>
          <a:ln>
            <a:miter lim="800000"/>
            <a:headEnd/>
            <a:tailEnd/>
          </a:ln>
        </p:spPr>
        <p:txBody>
          <a:bodyPr/>
          <a:lstStyle/>
          <a:p>
            <a:fld id="{79ED29BA-91C3-4915-8CAA-DFDFB9FCE647}" type="slidenum">
              <a:rPr lang="zh-CN" altLang="en-US" smtClean="0"/>
              <a:pPr/>
              <a:t>1</a:t>
            </a:fld>
            <a:endParaRPr lang="en-US" altLang="zh-CN"/>
          </a:p>
        </p:txBody>
      </p:sp>
    </p:spTree>
    <p:extLst>
      <p:ext uri="{BB962C8B-B14F-4D97-AF65-F5344CB8AC3E}">
        <p14:creationId xmlns:p14="http://schemas.microsoft.com/office/powerpoint/2010/main" val="4207495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2</a:t>
            </a:fld>
            <a:endParaRPr lang="zh-CN" altLang="en-US">
              <a:ea typeface="宋体" panose="02010600030101010101" pitchFamily="2" charset="-122"/>
            </a:endParaRPr>
          </a:p>
        </p:txBody>
      </p:sp>
    </p:spTree>
    <p:extLst>
      <p:ext uri="{BB962C8B-B14F-4D97-AF65-F5344CB8AC3E}">
        <p14:creationId xmlns:p14="http://schemas.microsoft.com/office/powerpoint/2010/main" val="1695743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3</a:t>
            </a:fld>
            <a:endParaRPr lang="zh-CN" altLang="en-US">
              <a:ea typeface="宋体" panose="02010600030101010101" pitchFamily="2" charset="-122"/>
            </a:endParaRPr>
          </a:p>
        </p:txBody>
      </p:sp>
    </p:spTree>
    <p:extLst>
      <p:ext uri="{BB962C8B-B14F-4D97-AF65-F5344CB8AC3E}">
        <p14:creationId xmlns:p14="http://schemas.microsoft.com/office/powerpoint/2010/main" val="2119907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4</a:t>
            </a:fld>
            <a:endParaRPr lang="zh-CN" altLang="en-US">
              <a:ea typeface="宋体" panose="02010600030101010101" pitchFamily="2" charset="-122"/>
            </a:endParaRPr>
          </a:p>
        </p:txBody>
      </p:sp>
    </p:spTree>
    <p:extLst>
      <p:ext uri="{BB962C8B-B14F-4D97-AF65-F5344CB8AC3E}">
        <p14:creationId xmlns:p14="http://schemas.microsoft.com/office/powerpoint/2010/main" val="3006671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5</a:t>
            </a:fld>
            <a:endParaRPr lang="zh-CN" altLang="en-US">
              <a:ea typeface="宋体" panose="02010600030101010101" pitchFamily="2" charset="-122"/>
            </a:endParaRPr>
          </a:p>
        </p:txBody>
      </p:sp>
    </p:spTree>
    <p:extLst>
      <p:ext uri="{BB962C8B-B14F-4D97-AF65-F5344CB8AC3E}">
        <p14:creationId xmlns:p14="http://schemas.microsoft.com/office/powerpoint/2010/main" val="2059238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6</a:t>
            </a:fld>
            <a:endParaRPr lang="zh-CN" altLang="en-US">
              <a:ea typeface="宋体" panose="02010600030101010101" pitchFamily="2" charset="-122"/>
            </a:endParaRPr>
          </a:p>
        </p:txBody>
      </p:sp>
    </p:spTree>
    <p:extLst>
      <p:ext uri="{BB962C8B-B14F-4D97-AF65-F5344CB8AC3E}">
        <p14:creationId xmlns:p14="http://schemas.microsoft.com/office/powerpoint/2010/main" val="2043832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7</a:t>
            </a:fld>
            <a:endParaRPr lang="zh-CN" altLang="en-US">
              <a:ea typeface="宋体" panose="02010600030101010101" pitchFamily="2" charset="-122"/>
            </a:endParaRPr>
          </a:p>
        </p:txBody>
      </p:sp>
    </p:spTree>
    <p:extLst>
      <p:ext uri="{BB962C8B-B14F-4D97-AF65-F5344CB8AC3E}">
        <p14:creationId xmlns:p14="http://schemas.microsoft.com/office/powerpoint/2010/main" val="4125372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xfrm>
            <a:off x="109538" y="741363"/>
            <a:ext cx="6578600" cy="3702050"/>
          </a:xfrm>
          <a:noFill/>
          <a:ln>
            <a:solidFill>
              <a:srgbClr val="000000"/>
            </a:solidFill>
            <a:miter lim="800000"/>
          </a:ln>
        </p:spPr>
      </p:sp>
      <p:sp>
        <p:nvSpPr>
          <p:cNvPr id="28675" name="备注占位符 2"/>
          <p:cNvSpPr>
            <a:spLocks noGrp="1"/>
          </p:cNvSpPr>
          <p:nvPr>
            <p:ph type="body" idx="1"/>
          </p:nvPr>
        </p:nvSpPr>
        <p:spPr>
          <a:noFill/>
        </p:spPr>
        <p:txBody>
          <a:bodyPr/>
          <a:lstStyle/>
          <a:p>
            <a:pPr eaLnBrk="1" hangingPunct="1"/>
            <a:endParaRPr lang="zh-CN" altLang="en-US" dirty="0"/>
          </a:p>
        </p:txBody>
      </p:sp>
      <p:sp>
        <p:nvSpPr>
          <p:cNvPr id="28676" name="灯片编号占位符 3"/>
          <p:cNvSpPr>
            <a:spLocks noGrp="1"/>
          </p:cNvSpPr>
          <p:nvPr>
            <p:ph type="sldNum" sz="quarter" idx="5"/>
          </p:nvPr>
        </p:nvSpPr>
        <p:spPr>
          <a:noFill/>
        </p:spPr>
        <p:txBody>
          <a:bodyPr/>
          <a:lstStyle/>
          <a:p>
            <a:fld id="{C262972C-F595-426E-BFBE-ADDDC0BBDA66}" type="slidenum">
              <a:rPr lang="zh-CN" altLang="en-US" smtClean="0">
                <a:ea typeface="宋体" panose="02010600030101010101" pitchFamily="2" charset="-122"/>
              </a:rPr>
              <a:t>15</a:t>
            </a:fld>
            <a:endParaRPr lang="zh-CN" altLang="en-US">
              <a:ea typeface="宋体" panose="02010600030101010101" pitchFamily="2" charset="-122"/>
            </a:endParaRPr>
          </a:p>
        </p:txBody>
      </p:sp>
    </p:spTree>
    <p:extLst>
      <p:ext uri="{BB962C8B-B14F-4D97-AF65-F5344CB8AC3E}">
        <p14:creationId xmlns:p14="http://schemas.microsoft.com/office/powerpoint/2010/main" val="2485547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22108A11-C4C4-47DC-9FDC-957A41EDA30D}" type="slidenum">
              <a:rPr lang="zh-CN" altLang="en-US" smtClean="0"/>
              <a:t>‹#›</a:t>
            </a:fld>
            <a:endParaRPr lang="en-US" altLang="zh-CN" dirty="0"/>
          </a:p>
        </p:txBody>
      </p:sp>
    </p:spTree>
    <p:extLst>
      <p:ext uri="{BB962C8B-B14F-4D97-AF65-F5344CB8AC3E}">
        <p14:creationId xmlns:p14="http://schemas.microsoft.com/office/powerpoint/2010/main" val="3892215346"/>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9A8C56B3-3B34-4D40-AF87-9F9B0A883ED8}" type="slidenum">
              <a:rPr lang="zh-CN" altLang="en-US" smtClean="0"/>
              <a:t>‹#›</a:t>
            </a:fld>
            <a:endParaRPr lang="en-US" altLang="zh-CN" dirty="0"/>
          </a:p>
        </p:txBody>
      </p:sp>
    </p:spTree>
    <p:extLst>
      <p:ext uri="{BB962C8B-B14F-4D97-AF65-F5344CB8AC3E}">
        <p14:creationId xmlns:p14="http://schemas.microsoft.com/office/powerpoint/2010/main" val="2991443430"/>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10E47EE5-0608-4349-AE19-460B51080CA5}" type="slidenum">
              <a:rPr lang="zh-CN" altLang="en-US" smtClean="0"/>
              <a:t>‹#›</a:t>
            </a:fld>
            <a:endParaRPr lang="en-US" altLang="zh-CN" dirty="0"/>
          </a:p>
        </p:txBody>
      </p:sp>
    </p:spTree>
    <p:extLst>
      <p:ext uri="{BB962C8B-B14F-4D97-AF65-F5344CB8AC3E}">
        <p14:creationId xmlns:p14="http://schemas.microsoft.com/office/powerpoint/2010/main" val="324448374"/>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endParaRPr lang="en-US" altLang="zh-CN" dirty="0"/>
          </a:p>
        </p:txBody>
      </p:sp>
      <p:sp>
        <p:nvSpPr>
          <p:cNvPr id="6" name="Footer Placeholder 5"/>
          <p:cNvSpPr>
            <a:spLocks noGrp="1"/>
          </p:cNvSpPr>
          <p:nvPr>
            <p:ph type="ftr" sz="quarter" idx="11"/>
          </p:nvPr>
        </p:nvSpPr>
        <p:spPr/>
        <p:txBody>
          <a:bodyPr/>
          <a:lstStyle/>
          <a:p>
            <a:pPr>
              <a:defRPr/>
            </a:pPr>
            <a:endParaRPr lang="en-US" altLang="zh-CN" dirty="0"/>
          </a:p>
        </p:txBody>
      </p:sp>
      <p:sp>
        <p:nvSpPr>
          <p:cNvPr id="7" name="Slide Number Placeholder 6"/>
          <p:cNvSpPr>
            <a:spLocks noGrp="1"/>
          </p:cNvSpPr>
          <p:nvPr>
            <p:ph type="sldNum" sz="quarter" idx="12"/>
          </p:nvPr>
        </p:nvSpPr>
        <p:spPr/>
        <p:txBody>
          <a:bodyPr/>
          <a:lstStyle/>
          <a:p>
            <a:pPr>
              <a:defRPr/>
            </a:pPr>
            <a:fld id="{BBA37028-1973-41B4-8E64-A16DF9CE78C5}" type="slidenum">
              <a:rPr lang="zh-CN" altLang="en-US" smtClean="0"/>
              <a:t>‹#›</a:t>
            </a:fld>
            <a:endParaRPr lang="en-US" altLang="zh-CN" dirty="0"/>
          </a:p>
        </p:txBody>
      </p:sp>
    </p:spTree>
    <p:extLst>
      <p:ext uri="{BB962C8B-B14F-4D97-AF65-F5344CB8AC3E}">
        <p14:creationId xmlns:p14="http://schemas.microsoft.com/office/powerpoint/2010/main" val="836794988"/>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endParaRPr lang="en-US" altLang="zh-CN" dirty="0"/>
          </a:p>
        </p:txBody>
      </p:sp>
      <p:sp>
        <p:nvSpPr>
          <p:cNvPr id="8" name="Footer Placeholder 7"/>
          <p:cNvSpPr>
            <a:spLocks noGrp="1"/>
          </p:cNvSpPr>
          <p:nvPr>
            <p:ph type="ftr" sz="quarter" idx="11"/>
          </p:nvPr>
        </p:nvSpPr>
        <p:spPr/>
        <p:txBody>
          <a:bodyPr/>
          <a:lstStyle/>
          <a:p>
            <a:pPr>
              <a:defRPr/>
            </a:pPr>
            <a:endParaRPr lang="en-US" altLang="zh-CN" dirty="0"/>
          </a:p>
        </p:txBody>
      </p:sp>
      <p:sp>
        <p:nvSpPr>
          <p:cNvPr id="9" name="Slide Number Placeholder 8"/>
          <p:cNvSpPr>
            <a:spLocks noGrp="1"/>
          </p:cNvSpPr>
          <p:nvPr>
            <p:ph type="sldNum" sz="quarter" idx="12"/>
          </p:nvPr>
        </p:nvSpPr>
        <p:spPr/>
        <p:txBody>
          <a:bodyPr/>
          <a:lstStyle/>
          <a:p>
            <a:pPr>
              <a:defRPr/>
            </a:pPr>
            <a:fld id="{928EF42A-5939-4654-85BC-BA1A5AD64E17}" type="slidenum">
              <a:rPr lang="zh-CN" altLang="en-US" smtClean="0"/>
              <a:t>‹#›</a:t>
            </a:fld>
            <a:endParaRPr lang="en-US" altLang="zh-CN" dirty="0"/>
          </a:p>
        </p:txBody>
      </p:sp>
    </p:spTree>
    <p:extLst>
      <p:ext uri="{BB962C8B-B14F-4D97-AF65-F5344CB8AC3E}">
        <p14:creationId xmlns:p14="http://schemas.microsoft.com/office/powerpoint/2010/main" val="1413640923"/>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dirty="0"/>
          </a:p>
        </p:txBody>
      </p:sp>
      <p:sp>
        <p:nvSpPr>
          <p:cNvPr id="4" name="Footer Placeholder 3"/>
          <p:cNvSpPr>
            <a:spLocks noGrp="1"/>
          </p:cNvSpPr>
          <p:nvPr>
            <p:ph type="ftr" sz="quarter" idx="11"/>
          </p:nvPr>
        </p:nvSpPr>
        <p:spPr/>
        <p:txBody>
          <a:bodyPr/>
          <a:lstStyle/>
          <a:p>
            <a:pPr>
              <a:defRPr/>
            </a:pPr>
            <a:endParaRPr lang="en-US" altLang="zh-CN" dirty="0"/>
          </a:p>
        </p:txBody>
      </p:sp>
      <p:sp>
        <p:nvSpPr>
          <p:cNvPr id="5" name="Slide Number Placeholder 4"/>
          <p:cNvSpPr>
            <a:spLocks noGrp="1"/>
          </p:cNvSpPr>
          <p:nvPr>
            <p:ph type="sldNum" sz="quarter" idx="12"/>
          </p:nvPr>
        </p:nvSpPr>
        <p:spPr/>
        <p:txBody>
          <a:bodyPr/>
          <a:lstStyle/>
          <a:p>
            <a:pPr>
              <a:defRPr/>
            </a:pPr>
            <a:fld id="{A5253DF6-27E5-40A0-A490-376194406B50}" type="slidenum">
              <a:rPr lang="zh-CN" altLang="en-US" smtClean="0"/>
              <a:t>‹#›</a:t>
            </a:fld>
            <a:endParaRPr lang="en-US" altLang="zh-CN" dirty="0"/>
          </a:p>
        </p:txBody>
      </p:sp>
    </p:spTree>
    <p:extLst>
      <p:ext uri="{BB962C8B-B14F-4D97-AF65-F5344CB8AC3E}">
        <p14:creationId xmlns:p14="http://schemas.microsoft.com/office/powerpoint/2010/main" val="3467802769"/>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dirty="0"/>
          </a:p>
        </p:txBody>
      </p:sp>
      <p:sp>
        <p:nvSpPr>
          <p:cNvPr id="3" name="Footer Placeholder 2"/>
          <p:cNvSpPr>
            <a:spLocks noGrp="1"/>
          </p:cNvSpPr>
          <p:nvPr>
            <p:ph type="ftr" sz="quarter" idx="11"/>
          </p:nvPr>
        </p:nvSpPr>
        <p:spPr/>
        <p:txBody>
          <a:bodyPr/>
          <a:lstStyle/>
          <a:p>
            <a:pPr>
              <a:defRPr/>
            </a:pPr>
            <a:endParaRPr lang="en-US" altLang="zh-CN" dirty="0"/>
          </a:p>
        </p:txBody>
      </p:sp>
      <p:sp>
        <p:nvSpPr>
          <p:cNvPr id="4" name="Slide Number Placeholder 3"/>
          <p:cNvSpPr>
            <a:spLocks noGrp="1"/>
          </p:cNvSpPr>
          <p:nvPr>
            <p:ph type="sldNum" sz="quarter" idx="12"/>
          </p:nvPr>
        </p:nvSpPr>
        <p:spPr/>
        <p:txBody>
          <a:bodyPr/>
          <a:lstStyle/>
          <a:p>
            <a:pPr>
              <a:defRPr/>
            </a:pPr>
            <a:fld id="{E3494EB2-2042-4D3E-AE60-C357328FE70C}" type="slidenum">
              <a:rPr lang="zh-CN" altLang="en-US" smtClean="0"/>
              <a:t>‹#›</a:t>
            </a:fld>
            <a:endParaRPr lang="en-US" altLang="zh-CN" dirty="0"/>
          </a:p>
        </p:txBody>
      </p:sp>
    </p:spTree>
    <p:extLst>
      <p:ext uri="{BB962C8B-B14F-4D97-AF65-F5344CB8AC3E}">
        <p14:creationId xmlns:p14="http://schemas.microsoft.com/office/powerpoint/2010/main" val="2165630356"/>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endParaRPr lang="en-US" altLang="zh-CN" dirty="0"/>
          </a:p>
        </p:txBody>
      </p:sp>
      <p:sp>
        <p:nvSpPr>
          <p:cNvPr id="6" name="Footer Placeholder 5"/>
          <p:cNvSpPr>
            <a:spLocks noGrp="1"/>
          </p:cNvSpPr>
          <p:nvPr>
            <p:ph type="ftr" sz="quarter" idx="11"/>
          </p:nvPr>
        </p:nvSpPr>
        <p:spPr/>
        <p:txBody>
          <a:bodyPr/>
          <a:lstStyle/>
          <a:p>
            <a:pPr>
              <a:defRPr/>
            </a:pPr>
            <a:endParaRPr lang="en-US" altLang="zh-CN" dirty="0"/>
          </a:p>
        </p:txBody>
      </p:sp>
      <p:sp>
        <p:nvSpPr>
          <p:cNvPr id="7" name="Slide Number Placeholder 6"/>
          <p:cNvSpPr>
            <a:spLocks noGrp="1"/>
          </p:cNvSpPr>
          <p:nvPr>
            <p:ph type="sldNum" sz="quarter" idx="12"/>
          </p:nvPr>
        </p:nvSpPr>
        <p:spPr/>
        <p:txBody>
          <a:bodyPr/>
          <a:lstStyle/>
          <a:p>
            <a:pPr>
              <a:defRPr/>
            </a:pPr>
            <a:fld id="{284E721D-341E-46A8-9634-AFA3596890ED}" type="slidenum">
              <a:rPr lang="zh-CN" altLang="en-US" smtClean="0"/>
              <a:t>‹#›</a:t>
            </a:fld>
            <a:endParaRPr lang="en-US" altLang="zh-CN" dirty="0"/>
          </a:p>
        </p:txBody>
      </p:sp>
    </p:spTree>
    <p:extLst>
      <p:ext uri="{BB962C8B-B14F-4D97-AF65-F5344CB8AC3E}">
        <p14:creationId xmlns:p14="http://schemas.microsoft.com/office/powerpoint/2010/main" val="3605219861"/>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endParaRPr lang="en-US" altLang="zh-CN" dirty="0"/>
          </a:p>
        </p:txBody>
      </p:sp>
      <p:sp>
        <p:nvSpPr>
          <p:cNvPr id="6" name="Footer Placeholder 5"/>
          <p:cNvSpPr>
            <a:spLocks noGrp="1"/>
          </p:cNvSpPr>
          <p:nvPr>
            <p:ph type="ftr" sz="quarter" idx="11"/>
          </p:nvPr>
        </p:nvSpPr>
        <p:spPr/>
        <p:txBody>
          <a:bodyPr/>
          <a:lstStyle/>
          <a:p>
            <a:pPr>
              <a:defRPr/>
            </a:pPr>
            <a:endParaRPr lang="en-US" altLang="zh-CN" dirty="0"/>
          </a:p>
        </p:txBody>
      </p:sp>
      <p:sp>
        <p:nvSpPr>
          <p:cNvPr id="7" name="Slide Number Placeholder 6"/>
          <p:cNvSpPr>
            <a:spLocks noGrp="1"/>
          </p:cNvSpPr>
          <p:nvPr>
            <p:ph type="sldNum" sz="quarter" idx="12"/>
          </p:nvPr>
        </p:nvSpPr>
        <p:spPr/>
        <p:txBody>
          <a:bodyPr/>
          <a:lstStyle/>
          <a:p>
            <a:pPr>
              <a:defRPr/>
            </a:pPr>
            <a:fld id="{D9DC8AAC-475B-4954-80C7-2718119FCE67}" type="slidenum">
              <a:rPr lang="zh-CN" altLang="en-US" smtClean="0"/>
              <a:t>‹#›</a:t>
            </a:fld>
            <a:endParaRPr lang="en-US" altLang="zh-CN" dirty="0"/>
          </a:p>
        </p:txBody>
      </p:sp>
    </p:spTree>
    <p:extLst>
      <p:ext uri="{BB962C8B-B14F-4D97-AF65-F5344CB8AC3E}">
        <p14:creationId xmlns:p14="http://schemas.microsoft.com/office/powerpoint/2010/main" val="205972024"/>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AB3CDB77-BDD4-4E50-AF2D-C8E2730BCAE9}" type="slidenum">
              <a:rPr lang="zh-CN" altLang="en-US" smtClean="0"/>
              <a:t>‹#›</a:t>
            </a:fld>
            <a:endParaRPr lang="en-US" altLang="zh-CN" dirty="0"/>
          </a:p>
        </p:txBody>
      </p:sp>
    </p:spTree>
    <p:extLst>
      <p:ext uri="{BB962C8B-B14F-4D97-AF65-F5344CB8AC3E}">
        <p14:creationId xmlns:p14="http://schemas.microsoft.com/office/powerpoint/2010/main" val="3262237314"/>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endParaRPr lang="en-US" altLang="zh-CN" dirty="0"/>
          </a:p>
        </p:txBody>
      </p:sp>
      <p:sp>
        <p:nvSpPr>
          <p:cNvPr id="5" name="Footer Placeholder 4"/>
          <p:cNvSpPr>
            <a:spLocks noGrp="1"/>
          </p:cNvSpPr>
          <p:nvPr>
            <p:ph type="ftr" sz="quarter" idx="11"/>
          </p:nvPr>
        </p:nvSpPr>
        <p:spPr/>
        <p:txBody>
          <a:bodyPr/>
          <a:lstStyle/>
          <a:p>
            <a:pPr>
              <a:defRPr/>
            </a:pPr>
            <a:endParaRPr lang="en-US" altLang="zh-CN" dirty="0"/>
          </a:p>
        </p:txBody>
      </p:sp>
      <p:sp>
        <p:nvSpPr>
          <p:cNvPr id="6" name="Slide Number Placeholder 5"/>
          <p:cNvSpPr>
            <a:spLocks noGrp="1"/>
          </p:cNvSpPr>
          <p:nvPr>
            <p:ph type="sldNum" sz="quarter" idx="12"/>
          </p:nvPr>
        </p:nvSpPr>
        <p:spPr/>
        <p:txBody>
          <a:bodyPr/>
          <a:lstStyle/>
          <a:p>
            <a:pPr>
              <a:defRPr/>
            </a:pPr>
            <a:fld id="{EEC65444-C27E-4275-9B64-A99AFE6606A1}" type="slidenum">
              <a:rPr lang="zh-CN" altLang="en-US" smtClean="0"/>
              <a:t>‹#›</a:t>
            </a:fld>
            <a:endParaRPr lang="en-US" altLang="zh-CN" dirty="0"/>
          </a:p>
        </p:txBody>
      </p:sp>
    </p:spTree>
    <p:extLst>
      <p:ext uri="{BB962C8B-B14F-4D97-AF65-F5344CB8AC3E}">
        <p14:creationId xmlns:p14="http://schemas.microsoft.com/office/powerpoint/2010/main" val="261106118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Picture 2" descr="高铁新2.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060574"/>
            <a:ext cx="4047772" cy="1592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a:spLocks noChangeArrowheads="1"/>
          </p:cNvSpPr>
          <p:nvPr userDrawn="1"/>
        </p:nvSpPr>
        <p:spPr bwMode="auto">
          <a:xfrm>
            <a:off x="0" y="2060574"/>
            <a:ext cx="12192000" cy="2026456"/>
          </a:xfrm>
          <a:prstGeom prst="rect">
            <a:avLst/>
          </a:prstGeom>
          <a:solidFill>
            <a:srgbClr val="1B3F85"/>
          </a:solidFill>
          <a:ln>
            <a:noFill/>
          </a:ln>
        </p:spPr>
        <p:txBody>
          <a:bodyPr/>
          <a:lstStyle/>
          <a:p>
            <a:pPr lvl="0"/>
            <a:endParaRPr lang="zh-CN" altLang="en-US" sz="1600" b="1">
              <a:solidFill>
                <a:srgbClr val="000000"/>
              </a:solidFill>
              <a:latin typeface="Times New Roman" pitchFamily="18" charset="0"/>
              <a:ea typeface="宋体" charset="-122"/>
              <a:cs typeface="Times New Roman" pitchFamily="18" charset="0"/>
            </a:endParaRPr>
          </a:p>
        </p:txBody>
      </p:sp>
      <p:sp>
        <p:nvSpPr>
          <p:cNvPr id="12" name="AutoShape 9"/>
          <p:cNvSpPr>
            <a:spLocks noChangeArrowheads="1"/>
          </p:cNvSpPr>
          <p:nvPr userDrawn="1"/>
        </p:nvSpPr>
        <p:spPr bwMode="auto">
          <a:xfrm>
            <a:off x="-10584" y="793204"/>
            <a:ext cx="12202584" cy="53642"/>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1"/>
          </a:solidFill>
          <a:ln w="12700">
            <a:solidFill>
              <a:srgbClr val="4F81BD"/>
            </a:solidFill>
            <a:round/>
            <a:headEnd/>
            <a:tailEnd/>
          </a:ln>
        </p:spPr>
        <p:txBody>
          <a:bodyPr/>
          <a:lstStyle/>
          <a:p>
            <a:pPr fontAlgn="auto">
              <a:spcBef>
                <a:spcPts val="0"/>
              </a:spcBef>
              <a:spcAft>
                <a:spcPts val="0"/>
              </a:spcAft>
              <a:defRPr/>
            </a:pPr>
            <a:endParaRPr lang="zh-CN" altLang="zh-CN" sz="2400">
              <a:ln w="18000">
                <a:solidFill>
                  <a:schemeClr val="accent2">
                    <a:satMod val="140000"/>
                  </a:schemeClr>
                </a:solidFill>
                <a:prstDash val="solid"/>
                <a:miter lim="800000"/>
              </a:ln>
              <a:noFill/>
              <a:effectLst>
                <a:outerShdw blurRad="25500" dist="23000" dir="7020000" algn="tl">
                  <a:srgbClr val="000000">
                    <a:alpha val="50000"/>
                  </a:srgbClr>
                </a:outerShdw>
              </a:effectLst>
              <a:latin typeface="Times New Roman" pitchFamily="18" charset="0"/>
              <a:ea typeface="+mn-ea"/>
            </a:endParaRPr>
          </a:p>
        </p:txBody>
      </p:sp>
      <p:pic>
        <p:nvPicPr>
          <p:cNvPr id="13" name="Picture 2" descr="北京交通大学ppt角标图案（右）.jpg"/>
          <p:cNvPicPr preferRelativeResize="0">
            <a:picLocks noChangeArrowheads="1"/>
          </p:cNvPicPr>
          <p:nvPr userDrawn="1"/>
        </p:nvPicPr>
        <p:blipFill>
          <a:blip r:embed="rId3" cstate="print">
            <a:duotone>
              <a:schemeClr val="accent1">
                <a:shade val="45000"/>
                <a:satMod val="135000"/>
              </a:schemeClr>
              <a:prstClr val="white"/>
            </a:duotone>
          </a:blip>
          <a:srcRect/>
          <a:stretch>
            <a:fillRect/>
          </a:stretch>
        </p:blipFill>
        <p:spPr bwMode="auto">
          <a:xfrm>
            <a:off x="10128448" y="236568"/>
            <a:ext cx="1728192" cy="468000"/>
          </a:xfrm>
          <a:prstGeom prst="rect">
            <a:avLst/>
          </a:prstGeom>
          <a:noFill/>
        </p:spPr>
      </p:pic>
      <p:pic>
        <p:nvPicPr>
          <p:cNvPr id="11" name="图片 10">
            <a:extLst>
              <a:ext uri="{FF2B5EF4-FFF2-40B4-BE49-F238E27FC236}">
                <a16:creationId xmlns:a16="http://schemas.microsoft.com/office/drawing/2014/main" id="{ACE1C613-9C66-45AD-8003-641B2838F2AD}"/>
              </a:ext>
            </a:extLst>
          </p:cNvPr>
          <p:cNvPicPr>
            <a:picLocks noChangeAspect="1"/>
          </p:cNvPicPr>
          <p:nvPr userDrawn="1"/>
        </p:nvPicPr>
        <p:blipFill>
          <a:blip r:embed="rId4"/>
          <a:stretch>
            <a:fillRect/>
          </a:stretch>
        </p:blipFill>
        <p:spPr>
          <a:xfrm>
            <a:off x="217666" y="4231530"/>
            <a:ext cx="1144103" cy="6119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50" name="Picture 2" descr="自动驾驶图片_自动驾驶素材_自动驾驶高清图片_摄图网图片下载">
            <a:extLst>
              <a:ext uri="{FF2B5EF4-FFF2-40B4-BE49-F238E27FC236}">
                <a16:creationId xmlns:a16="http://schemas.microsoft.com/office/drawing/2014/main" id="{4D7554AC-CC3D-43DF-B173-FB091501CDD3}"/>
              </a:ext>
            </a:extLst>
          </p:cNvPr>
          <p:cNvPicPr>
            <a:picLocks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539471" y="4231530"/>
            <a:ext cx="1220400" cy="61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54" name="Picture 6" descr="车云网">
            <a:extLst>
              <a:ext uri="{FF2B5EF4-FFF2-40B4-BE49-F238E27FC236}">
                <a16:creationId xmlns:a16="http://schemas.microsoft.com/office/drawing/2014/main" id="{B83C87B0-5AE2-4E06-B8D1-A4B2971669B4}"/>
              </a:ext>
            </a:extLst>
          </p:cNvPr>
          <p:cNvPicPr>
            <a:picLocks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4185827" y="4231530"/>
            <a:ext cx="1220400" cy="61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56" name="Picture 8" descr="小鹏P7+搭载4D高清毫米波雷达，AI代驾功能助力智能驾驶_文章_新出行">
            <a:extLst>
              <a:ext uri="{FF2B5EF4-FFF2-40B4-BE49-F238E27FC236}">
                <a16:creationId xmlns:a16="http://schemas.microsoft.com/office/drawing/2014/main" id="{236C9682-A8A8-49CF-817D-742BB6844A9A}"/>
              </a:ext>
            </a:extLst>
          </p:cNvPr>
          <p:cNvPicPr>
            <a:picLocks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2827372" y="4231530"/>
            <a:ext cx="1220400" cy="61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62" name="Picture 14" descr="百度萝卜快跑武汉全无人车队已突破 100 辆 - 数码前沿 数码之家">
            <a:extLst>
              <a:ext uri="{FF2B5EF4-FFF2-40B4-BE49-F238E27FC236}">
                <a16:creationId xmlns:a16="http://schemas.microsoft.com/office/drawing/2014/main" id="{206BF1B5-E94E-4699-A194-C82EA9382FEA}"/>
              </a:ext>
            </a:extLst>
          </p:cNvPr>
          <p:cNvPicPr>
            <a:picLocks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484370" y="4231522"/>
            <a:ext cx="1220400" cy="61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7269135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pic>
        <p:nvPicPr>
          <p:cNvPr id="2" name="Picture 7" descr="C:\Documents and Settings\Administrator\桌面\图片3.jpg"/>
          <p:cNvPicPr>
            <a:picLocks noChangeAspect="1" noChangeArrowheads="1"/>
          </p:cNvPicPr>
          <p:nvPr userDrawn="1"/>
        </p:nvPicPr>
        <p:blipFill>
          <a:blip r:embed="rId2">
            <a:clrChange>
              <a:clrFrom>
                <a:srgbClr val="FFFFFF"/>
              </a:clrFrom>
              <a:clrTo>
                <a:srgbClr val="FFFFFF">
                  <a:alpha val="0"/>
                </a:srgbClr>
              </a:clrTo>
            </a:clrChange>
          </a:blip>
          <a:srcRect/>
          <a:stretch>
            <a:fillRect/>
          </a:stretch>
        </p:blipFill>
        <p:spPr bwMode="auto">
          <a:xfrm>
            <a:off x="2" y="0"/>
            <a:ext cx="10096500" cy="765176"/>
          </a:xfrm>
          <a:prstGeom prst="rect">
            <a:avLst/>
          </a:prstGeom>
          <a:noFill/>
          <a:ln w="9525">
            <a:noFill/>
            <a:miter lim="800000"/>
            <a:headEnd/>
            <a:tailEnd/>
          </a:ln>
        </p:spPr>
      </p:pic>
      <p:sp>
        <p:nvSpPr>
          <p:cNvPr id="3" name="任意多边形 2"/>
          <p:cNvSpPr/>
          <p:nvPr userDrawn="1"/>
        </p:nvSpPr>
        <p:spPr>
          <a:xfrm>
            <a:off x="8382005" y="-1"/>
            <a:ext cx="2190751" cy="1041399"/>
          </a:xfrm>
          <a:custGeom>
            <a:avLst/>
            <a:gdLst>
              <a:gd name="connsiteX0" fmla="*/ 1045234 w 1194758"/>
              <a:gd name="connsiteY0" fmla="*/ 67574 h 1040922"/>
              <a:gd name="connsiteX1" fmla="*/ 1045234 w 1194758"/>
              <a:gd name="connsiteY1" fmla="*/ 887084 h 1040922"/>
              <a:gd name="connsiteX2" fmla="*/ 148087 w 1194758"/>
              <a:gd name="connsiteY2" fmla="*/ 973348 h 1040922"/>
              <a:gd name="connsiteX3" fmla="*/ 156713 w 1194758"/>
              <a:gd name="connsiteY3" fmla="*/ 481642 h 1040922"/>
              <a:gd name="connsiteX4" fmla="*/ 1045234 w 1194758"/>
              <a:gd name="connsiteY4" fmla="*/ 67574 h 1040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758" h="1040922">
                <a:moveTo>
                  <a:pt x="1045234" y="67574"/>
                </a:moveTo>
                <a:cubicBezTo>
                  <a:pt x="1193321" y="135148"/>
                  <a:pt x="1194758" y="736122"/>
                  <a:pt x="1045234" y="887084"/>
                </a:cubicBezTo>
                <a:cubicBezTo>
                  <a:pt x="895710" y="1038046"/>
                  <a:pt x="296174" y="1040922"/>
                  <a:pt x="148087" y="973348"/>
                </a:cubicBezTo>
                <a:cubicBezTo>
                  <a:pt x="0" y="905774"/>
                  <a:pt x="4313" y="635480"/>
                  <a:pt x="156713" y="481642"/>
                </a:cubicBezTo>
                <a:cubicBezTo>
                  <a:pt x="309113" y="327804"/>
                  <a:pt x="897147" y="0"/>
                  <a:pt x="1045234" y="6757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sp>
        <p:nvSpPr>
          <p:cNvPr id="5" name="AutoShape 9"/>
          <p:cNvSpPr>
            <a:spLocks noChangeArrowheads="1"/>
          </p:cNvSpPr>
          <p:nvPr userDrawn="1"/>
        </p:nvSpPr>
        <p:spPr bwMode="auto">
          <a:xfrm>
            <a:off x="-10584" y="793204"/>
            <a:ext cx="12202584" cy="53642"/>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1"/>
          </a:solidFill>
          <a:ln w="12700">
            <a:solidFill>
              <a:srgbClr val="4F81BD"/>
            </a:solidFill>
            <a:round/>
            <a:headEnd/>
            <a:tailEnd/>
          </a:ln>
        </p:spPr>
        <p:txBody>
          <a:bodyPr/>
          <a:lstStyle/>
          <a:p>
            <a:pPr fontAlgn="auto">
              <a:spcBef>
                <a:spcPts val="0"/>
              </a:spcBef>
              <a:spcAft>
                <a:spcPts val="0"/>
              </a:spcAft>
              <a:defRPr/>
            </a:pPr>
            <a:endParaRPr lang="zh-CN" altLang="zh-CN" sz="2400">
              <a:ln w="18000">
                <a:solidFill>
                  <a:schemeClr val="accent2">
                    <a:satMod val="140000"/>
                  </a:schemeClr>
                </a:solidFill>
                <a:prstDash val="solid"/>
                <a:miter lim="800000"/>
              </a:ln>
              <a:noFill/>
              <a:effectLst>
                <a:outerShdw blurRad="25500" dist="23000" dir="7020000" algn="tl">
                  <a:srgbClr val="000000">
                    <a:alpha val="50000"/>
                  </a:srgbClr>
                </a:outerShdw>
              </a:effectLst>
              <a:latin typeface="Times New Roman" pitchFamily="18" charset="0"/>
              <a:ea typeface="+mn-ea"/>
            </a:endParaRPr>
          </a:p>
        </p:txBody>
      </p:sp>
      <p:pic>
        <p:nvPicPr>
          <p:cNvPr id="6" name="Picture 2" descr="北京交通大学ppt角标图案（右）.jpg"/>
          <p:cNvPicPr preferRelativeResize="0">
            <a:picLocks noChangeArrowheads="1"/>
          </p:cNvPicPr>
          <p:nvPr userDrawn="1"/>
        </p:nvPicPr>
        <p:blipFill>
          <a:blip r:embed="rId3" cstate="print">
            <a:duotone>
              <a:schemeClr val="accent1">
                <a:shade val="45000"/>
                <a:satMod val="135000"/>
              </a:schemeClr>
              <a:prstClr val="white"/>
            </a:duotone>
          </a:blip>
          <a:srcRect/>
          <a:stretch>
            <a:fillRect/>
          </a:stretch>
        </p:blipFill>
        <p:spPr bwMode="auto">
          <a:xfrm>
            <a:off x="10096502" y="224696"/>
            <a:ext cx="1760138" cy="468000"/>
          </a:xfrm>
          <a:prstGeom prst="rect">
            <a:avLst/>
          </a:prstGeom>
          <a:noFill/>
        </p:spPr>
      </p:pic>
    </p:spTree>
    <p:extLst>
      <p:ext uri="{BB962C8B-B14F-4D97-AF65-F5344CB8AC3E}">
        <p14:creationId xmlns:p14="http://schemas.microsoft.com/office/powerpoint/2010/main" val="4134818297"/>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Picture 7" descr="C:\Documents and Settings\Administrator\桌面\图片3.jpg"/>
          <p:cNvPicPr>
            <a:picLocks noChangeAspect="1" noChangeArrowheads="1"/>
          </p:cNvPicPr>
          <p:nvPr userDrawn="1"/>
        </p:nvPicPr>
        <p:blipFill>
          <a:blip r:embed="rId2">
            <a:clrChange>
              <a:clrFrom>
                <a:srgbClr val="FFFFFF"/>
              </a:clrFrom>
              <a:clrTo>
                <a:srgbClr val="FFFFFF">
                  <a:alpha val="0"/>
                </a:srgbClr>
              </a:clrTo>
            </a:clrChange>
          </a:blip>
          <a:srcRect/>
          <a:stretch>
            <a:fillRect/>
          </a:stretch>
        </p:blipFill>
        <p:spPr bwMode="auto">
          <a:xfrm>
            <a:off x="2" y="0"/>
            <a:ext cx="10096500" cy="765176"/>
          </a:xfrm>
          <a:prstGeom prst="rect">
            <a:avLst/>
          </a:prstGeom>
          <a:noFill/>
          <a:ln w="9525">
            <a:noFill/>
            <a:miter lim="800000"/>
            <a:headEnd/>
            <a:tailEnd/>
          </a:ln>
        </p:spPr>
      </p:pic>
      <p:sp>
        <p:nvSpPr>
          <p:cNvPr id="3" name="任意多边形 2"/>
          <p:cNvSpPr/>
          <p:nvPr userDrawn="1"/>
        </p:nvSpPr>
        <p:spPr>
          <a:xfrm>
            <a:off x="8382005" y="-142875"/>
            <a:ext cx="2190751" cy="1184274"/>
          </a:xfrm>
          <a:custGeom>
            <a:avLst/>
            <a:gdLst>
              <a:gd name="connsiteX0" fmla="*/ 1045234 w 1194758"/>
              <a:gd name="connsiteY0" fmla="*/ 67574 h 1040922"/>
              <a:gd name="connsiteX1" fmla="*/ 1045234 w 1194758"/>
              <a:gd name="connsiteY1" fmla="*/ 887084 h 1040922"/>
              <a:gd name="connsiteX2" fmla="*/ 148087 w 1194758"/>
              <a:gd name="connsiteY2" fmla="*/ 973348 h 1040922"/>
              <a:gd name="connsiteX3" fmla="*/ 156713 w 1194758"/>
              <a:gd name="connsiteY3" fmla="*/ 481642 h 1040922"/>
              <a:gd name="connsiteX4" fmla="*/ 1045234 w 1194758"/>
              <a:gd name="connsiteY4" fmla="*/ 67574 h 1040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758" h="1040922">
                <a:moveTo>
                  <a:pt x="1045234" y="67574"/>
                </a:moveTo>
                <a:cubicBezTo>
                  <a:pt x="1193321" y="135148"/>
                  <a:pt x="1194758" y="736122"/>
                  <a:pt x="1045234" y="887084"/>
                </a:cubicBezTo>
                <a:cubicBezTo>
                  <a:pt x="895710" y="1038046"/>
                  <a:pt x="296174" y="1040922"/>
                  <a:pt x="148087" y="973348"/>
                </a:cubicBezTo>
                <a:cubicBezTo>
                  <a:pt x="0" y="905774"/>
                  <a:pt x="4313" y="635480"/>
                  <a:pt x="156713" y="481642"/>
                </a:cubicBezTo>
                <a:cubicBezTo>
                  <a:pt x="309113" y="327804"/>
                  <a:pt x="897147" y="0"/>
                  <a:pt x="1045234" y="6757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p>
        </p:txBody>
      </p:sp>
      <p:pic>
        <p:nvPicPr>
          <p:cNvPr id="4" name="Picture 2" descr="北京交通大学ppt角标图案（右）.jpg"/>
          <p:cNvPicPr>
            <a:picLocks noChangeAspect="1" noChangeArrowheads="1"/>
          </p:cNvPicPr>
          <p:nvPr userDrawn="1"/>
        </p:nvPicPr>
        <p:blipFill>
          <a:blip r:embed="rId3" cstate="print">
            <a:duotone>
              <a:schemeClr val="accent1">
                <a:shade val="45000"/>
                <a:satMod val="135000"/>
              </a:schemeClr>
              <a:prstClr val="white"/>
            </a:duotone>
          </a:blip>
          <a:srcRect/>
          <a:stretch>
            <a:fillRect/>
          </a:stretch>
        </p:blipFill>
        <p:spPr bwMode="auto">
          <a:xfrm>
            <a:off x="9360363" y="188640"/>
            <a:ext cx="2616117" cy="576536"/>
          </a:xfrm>
          <a:prstGeom prst="rect">
            <a:avLst/>
          </a:prstGeom>
          <a:noFill/>
        </p:spPr>
      </p:pic>
    </p:spTree>
    <p:extLst>
      <p:ext uri="{BB962C8B-B14F-4D97-AF65-F5344CB8AC3E}">
        <p14:creationId xmlns:p14="http://schemas.microsoft.com/office/powerpoint/2010/main" val="3351462138"/>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ltLang="zh-C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EC65444-C27E-4275-9B64-A99AFE6606A1}" type="slidenum">
              <a:rPr lang="zh-CN" altLang="en-US" smtClean="0"/>
              <a:t>‹#›</a:t>
            </a:fld>
            <a:endParaRPr lang="en-US" altLang="zh-CN" dirty="0"/>
          </a:p>
        </p:txBody>
      </p:sp>
    </p:spTree>
    <p:extLst>
      <p:ext uri="{BB962C8B-B14F-4D97-AF65-F5344CB8AC3E}">
        <p14:creationId xmlns:p14="http://schemas.microsoft.com/office/powerpoint/2010/main" val="186706830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74" r:id="rId14"/>
  </p:sldLayoutIdLst>
  <p:transition spd="slow">
    <p:wipe dir="r"/>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jpe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3.xml"/><Relationship Id="rId6" Type="http://schemas.openxmlformats.org/officeDocument/2006/relationships/image" Target="../media/image30.emf"/><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13.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s>
</file>

<file path=ppt/slides/_rels/slide10.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13.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3.xml"/><Relationship Id="rId5" Type="http://schemas.openxmlformats.org/officeDocument/2006/relationships/image" Target="../media/image55.jpeg"/><Relationship Id="rId4" Type="http://schemas.openxmlformats.org/officeDocument/2006/relationships/image" Target="../media/image54.png"/></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13.xml"/><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13"/>
          <p:cNvSpPr>
            <a:spLocks noChangeArrowheads="1"/>
          </p:cNvSpPr>
          <p:nvPr/>
        </p:nvSpPr>
        <p:spPr bwMode="auto">
          <a:xfrm>
            <a:off x="6276020" y="4869160"/>
            <a:ext cx="4752528" cy="1414041"/>
          </a:xfrm>
          <a:prstGeom prst="rect">
            <a:avLst/>
          </a:prstGeom>
          <a:noFill/>
          <a:ln w="9525">
            <a:noFill/>
            <a:miter lim="800000"/>
            <a:headEnd/>
            <a:tailEnd/>
          </a:ln>
        </p:spPr>
        <p:txBody>
          <a:bodyPr/>
          <a:lstStyle/>
          <a:p>
            <a:pPr algn="r" eaLnBrk="0" hangingPunct="0">
              <a:lnSpc>
                <a:spcPct val="125000"/>
              </a:lnSpc>
              <a:spcBef>
                <a:spcPct val="20000"/>
              </a:spcBef>
              <a:buClr>
                <a:srgbClr val="00007D"/>
              </a:buClr>
              <a:buSzPct val="75000"/>
            </a:pPr>
            <a:r>
              <a:rPr lang="zh-CN" altLang="en-US" sz="2400" b="1" dirty="0">
                <a:solidFill>
                  <a:srgbClr val="000066"/>
                </a:solidFill>
                <a:latin typeface="微软雅黑" panose="020B0503020204020204" pitchFamily="34" charset="-122"/>
                <a:ea typeface="微软雅黑" panose="020B0503020204020204" pitchFamily="34" charset="-122"/>
              </a:rPr>
              <a:t>报告人：待填写</a:t>
            </a:r>
            <a:endParaRPr lang="en-US" altLang="zh-CN" sz="2400" b="1" dirty="0">
              <a:solidFill>
                <a:srgbClr val="000066"/>
              </a:solidFill>
              <a:latin typeface="微软雅黑" panose="020B0503020204020204" pitchFamily="34" charset="-122"/>
              <a:ea typeface="微软雅黑" panose="020B0503020204020204" pitchFamily="34" charset="-122"/>
            </a:endParaRPr>
          </a:p>
          <a:p>
            <a:pPr algn="r" eaLnBrk="0" hangingPunct="0">
              <a:lnSpc>
                <a:spcPct val="125000"/>
              </a:lnSpc>
              <a:spcBef>
                <a:spcPct val="20000"/>
              </a:spcBef>
              <a:buClr>
                <a:srgbClr val="00007D"/>
              </a:buClr>
              <a:buSzPct val="75000"/>
            </a:pPr>
            <a:r>
              <a:rPr lang="zh-CN" altLang="en-US" sz="2000" b="1" dirty="0">
                <a:solidFill>
                  <a:srgbClr val="000066"/>
                </a:solidFill>
                <a:latin typeface="微软雅黑" panose="020B0503020204020204" pitchFamily="34" charset="-122"/>
                <a:ea typeface="微软雅黑" panose="020B0503020204020204" pitchFamily="34" charset="-122"/>
              </a:rPr>
              <a:t>指导教师：待填写 教授</a:t>
            </a:r>
            <a:endParaRPr lang="en-US" altLang="zh-CN" sz="2000" b="1" dirty="0">
              <a:solidFill>
                <a:srgbClr val="000066"/>
              </a:solidFill>
              <a:latin typeface="微软雅黑" panose="020B0503020204020204" pitchFamily="34" charset="-122"/>
              <a:ea typeface="微软雅黑" panose="020B0503020204020204" pitchFamily="34" charset="-122"/>
            </a:endParaRPr>
          </a:p>
          <a:p>
            <a:pPr algn="r" eaLnBrk="0" hangingPunct="0">
              <a:lnSpc>
                <a:spcPct val="125000"/>
              </a:lnSpc>
              <a:spcBef>
                <a:spcPct val="20000"/>
              </a:spcBef>
              <a:buClr>
                <a:srgbClr val="00007D"/>
              </a:buClr>
              <a:buSzPct val="75000"/>
            </a:pPr>
            <a:r>
              <a:rPr lang="en-US" altLang="zh-CN" sz="2000" b="1" dirty="0">
                <a:solidFill>
                  <a:srgbClr val="000066"/>
                </a:solidFill>
                <a:latin typeface="微软雅黑" panose="020B0503020204020204" pitchFamily="34" charset="-122"/>
                <a:ea typeface="微软雅黑" panose="020B0503020204020204" pitchFamily="34" charset="-122"/>
              </a:rPr>
              <a:t>20XX</a:t>
            </a:r>
            <a:r>
              <a:rPr lang="zh-CN" altLang="en-US" sz="2000" b="1" dirty="0">
                <a:solidFill>
                  <a:srgbClr val="000066"/>
                </a:solidFill>
                <a:latin typeface="微软雅黑" panose="020B0503020204020204" pitchFamily="34" charset="-122"/>
                <a:ea typeface="微软雅黑" panose="020B0503020204020204" pitchFamily="34" charset="-122"/>
              </a:rPr>
              <a:t>年</a:t>
            </a:r>
            <a:r>
              <a:rPr lang="en-US" altLang="zh-CN" sz="2000" b="1" dirty="0">
                <a:solidFill>
                  <a:srgbClr val="000066"/>
                </a:solidFill>
                <a:latin typeface="微软雅黑" panose="020B0503020204020204" pitchFamily="34" charset="-122"/>
                <a:ea typeface="微软雅黑" panose="020B0503020204020204" pitchFamily="34" charset="-122"/>
              </a:rPr>
              <a:t>X</a:t>
            </a:r>
            <a:r>
              <a:rPr lang="zh-CN" altLang="en-US" sz="2000" b="1" dirty="0">
                <a:solidFill>
                  <a:srgbClr val="000066"/>
                </a:solidFill>
                <a:latin typeface="微软雅黑" panose="020B0503020204020204" pitchFamily="34" charset="-122"/>
                <a:ea typeface="微软雅黑" panose="020B0503020204020204" pitchFamily="34" charset="-122"/>
              </a:rPr>
              <a:t>月</a:t>
            </a:r>
            <a:r>
              <a:rPr lang="en-US" altLang="zh-CN" sz="2000" b="1" dirty="0">
                <a:solidFill>
                  <a:srgbClr val="000066"/>
                </a:solidFill>
                <a:latin typeface="微软雅黑" panose="020B0503020204020204" pitchFamily="34" charset="-122"/>
                <a:ea typeface="微软雅黑" panose="020B0503020204020204" pitchFamily="34" charset="-122"/>
              </a:rPr>
              <a:t>XX</a:t>
            </a:r>
            <a:r>
              <a:rPr lang="zh-CN" altLang="en-US" sz="2000" b="1" dirty="0">
                <a:solidFill>
                  <a:srgbClr val="000066"/>
                </a:solidFill>
                <a:latin typeface="微软雅黑" panose="020B0503020204020204" pitchFamily="34" charset="-122"/>
                <a:ea typeface="微软雅黑" panose="020B0503020204020204" pitchFamily="34" charset="-122"/>
              </a:rPr>
              <a:t>日</a:t>
            </a:r>
            <a:endParaRPr lang="en-US" altLang="zh-CN" sz="2000" b="1" dirty="0">
              <a:solidFill>
                <a:srgbClr val="000066"/>
              </a:solidFill>
              <a:latin typeface="微软雅黑" panose="020B0503020204020204" pitchFamily="34" charset="-122"/>
              <a:ea typeface="微软雅黑" panose="020B0503020204020204" pitchFamily="34" charset="-122"/>
            </a:endParaRPr>
          </a:p>
          <a:p>
            <a:pPr algn="r" eaLnBrk="0" hangingPunct="0">
              <a:lnSpc>
                <a:spcPct val="125000"/>
              </a:lnSpc>
              <a:spcBef>
                <a:spcPct val="20000"/>
              </a:spcBef>
              <a:buClr>
                <a:srgbClr val="00007D"/>
              </a:buClr>
              <a:buSzPct val="75000"/>
            </a:pPr>
            <a:endParaRPr lang="en-US" altLang="zh-CN" sz="2400" b="1" dirty="0">
              <a:solidFill>
                <a:srgbClr val="000066"/>
              </a:solidFill>
              <a:latin typeface="微软雅黑" panose="020B0503020204020204" pitchFamily="34" charset="-122"/>
              <a:ea typeface="微软雅黑" panose="020B0503020204020204" pitchFamily="34" charset="-122"/>
            </a:endParaRPr>
          </a:p>
        </p:txBody>
      </p:sp>
      <p:sp>
        <p:nvSpPr>
          <p:cNvPr id="7" name="文本框 7"/>
          <p:cNvSpPr txBox="1"/>
          <p:nvPr/>
        </p:nvSpPr>
        <p:spPr>
          <a:xfrm>
            <a:off x="1163452" y="2374999"/>
            <a:ext cx="9865096" cy="1414041"/>
          </a:xfrm>
          <a:prstGeom prst="rect">
            <a:avLst/>
          </a:prstGeom>
          <a:noFill/>
        </p:spPr>
        <p:txBody>
          <a:bodyPr wrap="square">
            <a:spAutoFit/>
          </a:bodyPr>
          <a:lstStyle/>
          <a:p>
            <a:pPr lvl="0" algn="ctr">
              <a:lnSpc>
                <a:spcPct val="125000"/>
              </a:lnSpc>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自动驾驶车辆事故风险画像评估与</a:t>
            </a:r>
            <a:endPar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lvl="0" algn="ctr">
              <a:lnSpc>
                <a:spcPct val="125000"/>
              </a:lnSpc>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典型事故场景责任划分研究</a:t>
            </a:r>
          </a:p>
        </p:txBody>
      </p:sp>
      <p:sp>
        <p:nvSpPr>
          <p:cNvPr id="5" name="文本框 4">
            <a:extLst>
              <a:ext uri="{FF2B5EF4-FFF2-40B4-BE49-F238E27FC236}">
                <a16:creationId xmlns:a16="http://schemas.microsoft.com/office/drawing/2014/main" id="{8BBBF13D-AEA5-463E-861E-FBE1E6E74F1E}"/>
              </a:ext>
            </a:extLst>
          </p:cNvPr>
          <p:cNvSpPr txBox="1"/>
          <p:nvPr/>
        </p:nvSpPr>
        <p:spPr>
          <a:xfrm>
            <a:off x="-24579" y="332656"/>
            <a:ext cx="6105236" cy="400110"/>
          </a:xfrm>
          <a:prstGeom prst="rect">
            <a:avLst/>
          </a:prstGeom>
          <a:noFill/>
        </p:spPr>
        <p:txBody>
          <a:bodyPr wrap="square">
            <a:spAutoFit/>
          </a:bodyPr>
          <a:lstStyle/>
          <a:p>
            <a:pPr>
              <a:spcBef>
                <a:spcPct val="0"/>
              </a:spcBef>
              <a:buClrTx/>
              <a:buSzTx/>
              <a:buFontTx/>
              <a:buNone/>
            </a:pPr>
            <a:r>
              <a:rPr lang="zh-CN" altLang="en-US" sz="2000" b="1" dirty="0">
                <a:solidFill>
                  <a:srgbClr val="FFC000"/>
                </a:solidFill>
                <a:latin typeface="微软雅黑" panose="020B0503020204020204" pitchFamily="34" charset="-122"/>
                <a:ea typeface="微软雅黑" panose="020B0503020204020204" pitchFamily="34" charset="-122"/>
              </a:rPr>
              <a:t>博士论文开题答辩</a:t>
            </a:r>
            <a:endParaRPr lang="en-US" altLang="zh-CN" sz="2000" b="1"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418465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9">
            <a:extLst>
              <a:ext uri="{FF2B5EF4-FFF2-40B4-BE49-F238E27FC236}">
                <a16:creationId xmlns:a16="http://schemas.microsoft.com/office/drawing/2014/main" id="{71CE0525-4CDF-9451-C39A-45C92D5CD305}"/>
              </a:ext>
            </a:extLst>
          </p:cNvPr>
          <p:cNvSpPr>
            <a:spLocks noChangeArrowheads="1"/>
          </p:cNvSpPr>
          <p:nvPr/>
        </p:nvSpPr>
        <p:spPr bwMode="auto">
          <a:xfrm>
            <a:off x="335360" y="116632"/>
            <a:ext cx="24479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汇报提纲</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10" name="AutoShape 39">
            <a:extLst>
              <a:ext uri="{FF2B5EF4-FFF2-40B4-BE49-F238E27FC236}">
                <a16:creationId xmlns:a16="http://schemas.microsoft.com/office/drawing/2014/main" id="{440D4BBD-46EB-339A-294E-6DC086ED72EA}"/>
              </a:ext>
            </a:extLst>
          </p:cNvPr>
          <p:cNvSpPr>
            <a:spLocks noChangeArrowheads="1"/>
          </p:cNvSpPr>
          <p:nvPr/>
        </p:nvSpPr>
        <p:spPr bwMode="auto">
          <a:xfrm>
            <a:off x="1193800" y="1124744"/>
            <a:ext cx="9804399" cy="5471814"/>
          </a:xfrm>
          <a:prstGeom prst="roundRect">
            <a:avLst>
              <a:gd name="adj" fmla="val 16667"/>
            </a:avLst>
          </a:prstGeom>
          <a:solidFill>
            <a:srgbClr val="ECECEC"/>
          </a:solidFill>
          <a:ln w="9525" algn="ctr">
            <a:noFill/>
            <a:round/>
            <a:headEnd/>
            <a:tailEnd/>
          </a:ln>
        </p:spPr>
        <p:txBody>
          <a:bodyPr wrap="none" anchor="ctr"/>
          <a:lstStyle/>
          <a:p>
            <a:pPr algn="ctr" eaLnBrk="1" hangingPunct="1">
              <a:spcBef>
                <a:spcPct val="20000"/>
              </a:spcBef>
              <a:buClr>
                <a:schemeClr val="bg2"/>
              </a:buClr>
              <a:buSzPct val="75000"/>
              <a:buFont typeface="Wingdings" pitchFamily="2" charset="2"/>
              <a:buChar char="n"/>
              <a:defRPr/>
            </a:pPr>
            <a:endParaRPr lang="zh-CN" altLang="en-US" sz="2000">
              <a:latin typeface="Arial" charset="0"/>
            </a:endParaRPr>
          </a:p>
        </p:txBody>
      </p:sp>
      <p:grpSp>
        <p:nvGrpSpPr>
          <p:cNvPr id="6" name="组合 5">
            <a:extLst>
              <a:ext uri="{FF2B5EF4-FFF2-40B4-BE49-F238E27FC236}">
                <a16:creationId xmlns:a16="http://schemas.microsoft.com/office/drawing/2014/main" id="{1CE57912-D71D-4AF5-8138-CAD006A8BCB0}"/>
              </a:ext>
            </a:extLst>
          </p:cNvPr>
          <p:cNvGrpSpPr/>
          <p:nvPr/>
        </p:nvGrpSpPr>
        <p:grpSpPr>
          <a:xfrm>
            <a:off x="3097828" y="1556792"/>
            <a:ext cx="5996342" cy="4248472"/>
            <a:chOff x="3628050" y="1556792"/>
            <a:chExt cx="5996342" cy="4248472"/>
          </a:xfrm>
        </p:grpSpPr>
        <p:sp>
          <p:nvSpPr>
            <p:cNvPr id="11" name="圆角矩形 49">
              <a:extLst>
                <a:ext uri="{FF2B5EF4-FFF2-40B4-BE49-F238E27FC236}">
                  <a16:creationId xmlns:a16="http://schemas.microsoft.com/office/drawing/2014/main" id="{18EBDDF7-A824-0293-7B0F-65DD77AF5D04}"/>
                </a:ext>
              </a:extLst>
            </p:cNvPr>
            <p:cNvSpPr/>
            <p:nvPr/>
          </p:nvSpPr>
          <p:spPr>
            <a:xfrm>
              <a:off x="3633006" y="1556792"/>
              <a:ext cx="640946" cy="573889"/>
            </a:xfrm>
            <a:prstGeom prst="roundRect">
              <a:avLst/>
            </a:prstGeom>
            <a:solidFill>
              <a:srgbClr val="1D477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en-US" altLang="zh-CN" sz="2800" b="1" dirty="0">
                  <a:latin typeface="微软雅黑" panose="020B0503020204020204" pitchFamily="34" charset="-122"/>
                  <a:ea typeface="微软雅黑" panose="020B0503020204020204" pitchFamily="34" charset="-122"/>
                  <a:cs typeface="Arial Unicode MS" panose="020B0604020202020204" pitchFamily="34" charset="-122"/>
                </a:rPr>
                <a:t>1</a:t>
              </a:r>
              <a:endParaRPr lang="zh-CN" altLang="en-US" sz="2800" b="1" dirty="0">
                <a:latin typeface="微软雅黑" panose="020B0503020204020204" pitchFamily="34" charset="-122"/>
                <a:ea typeface="微软雅黑" panose="020B0503020204020204" pitchFamily="34" charset="-122"/>
                <a:cs typeface="Arial Unicode MS" panose="020B0604020202020204" pitchFamily="34" charset="-122"/>
              </a:endParaRPr>
            </a:p>
          </p:txBody>
        </p:sp>
        <p:grpSp>
          <p:nvGrpSpPr>
            <p:cNvPr id="12" name="组合 11">
              <a:extLst>
                <a:ext uri="{FF2B5EF4-FFF2-40B4-BE49-F238E27FC236}">
                  <a16:creationId xmlns:a16="http://schemas.microsoft.com/office/drawing/2014/main" id="{14EC2B56-8A57-9C57-11D3-08C466A5A366}"/>
                </a:ext>
              </a:extLst>
            </p:cNvPr>
            <p:cNvGrpSpPr/>
            <p:nvPr/>
          </p:nvGrpSpPr>
          <p:grpSpPr>
            <a:xfrm>
              <a:off x="4566695" y="1556923"/>
              <a:ext cx="5057697" cy="599230"/>
              <a:chOff x="6339097" y="1573726"/>
              <a:chExt cx="3744417" cy="534212"/>
            </a:xfrm>
            <a:solidFill>
              <a:srgbClr val="1D4779"/>
            </a:solidFill>
          </p:grpSpPr>
          <p:sp>
            <p:nvSpPr>
              <p:cNvPr id="13" name="圆角矩形 51">
                <a:extLst>
                  <a:ext uri="{FF2B5EF4-FFF2-40B4-BE49-F238E27FC236}">
                    <a16:creationId xmlns:a16="http://schemas.microsoft.com/office/drawing/2014/main" id="{F67BC219-AECD-E63F-A861-89FF1AC12D42}"/>
                  </a:ext>
                </a:extLst>
              </p:cNvPr>
              <p:cNvSpPr/>
              <p:nvPr/>
            </p:nvSpPr>
            <p:spPr>
              <a:xfrm>
                <a:off x="6339097" y="1573726"/>
                <a:ext cx="3744416" cy="511504"/>
              </a:xfrm>
              <a:prstGeom prst="roundRect">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b="1" dirty="0">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4" name="矩形 13">
                <a:extLst>
                  <a:ext uri="{FF2B5EF4-FFF2-40B4-BE49-F238E27FC236}">
                    <a16:creationId xmlns:a16="http://schemas.microsoft.com/office/drawing/2014/main" id="{73968193-3A04-AB1D-1F40-4021F285C58B}"/>
                  </a:ext>
                </a:extLst>
              </p:cNvPr>
              <p:cNvSpPr/>
              <p:nvPr/>
            </p:nvSpPr>
            <p:spPr>
              <a:xfrm>
                <a:off x="6341715" y="1614014"/>
                <a:ext cx="3741799" cy="493924"/>
              </a:xfrm>
              <a:prstGeom prst="rect">
                <a:avLst/>
              </a:prstGeom>
              <a:noFill/>
            </p:spPr>
            <p:txBody>
              <a:bodyPr wrap="square" lIns="121960" tIns="60980" rIns="121960" bIns="60980">
                <a:spAutoFit/>
              </a:bodyPr>
              <a:lstStyle/>
              <a:p>
                <a:pPr algn="ctr">
                  <a:defRPr/>
                </a:pPr>
                <a:r>
                  <a:rPr lang="zh-CN" altLang="en-US"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研究背景及现状</a:t>
                </a:r>
              </a:p>
            </p:txBody>
          </p:sp>
        </p:grpSp>
        <p:sp>
          <p:nvSpPr>
            <p:cNvPr id="15" name="圆角矩形 53">
              <a:extLst>
                <a:ext uri="{FF2B5EF4-FFF2-40B4-BE49-F238E27FC236}">
                  <a16:creationId xmlns:a16="http://schemas.microsoft.com/office/drawing/2014/main" id="{BF2682D5-7AE4-0F81-606D-8E8DD9D66806}"/>
                </a:ext>
              </a:extLst>
            </p:cNvPr>
            <p:cNvSpPr/>
            <p:nvPr/>
          </p:nvSpPr>
          <p:spPr>
            <a:xfrm>
              <a:off x="3628050" y="2781731"/>
              <a:ext cx="640946" cy="573889"/>
            </a:xfrm>
            <a:prstGeom prst="roundRect">
              <a:avLst/>
            </a:prstGeom>
            <a:solidFill>
              <a:srgbClr val="1D477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en-US" altLang="zh-CN" sz="2800" b="1" dirty="0">
                  <a:latin typeface="微软雅黑" panose="020B0503020204020204" pitchFamily="34" charset="-122"/>
                  <a:ea typeface="微软雅黑" panose="020B0503020204020204" pitchFamily="34" charset="-122"/>
                  <a:cs typeface="Arial Unicode MS" panose="020B0604020202020204" pitchFamily="34" charset="-122"/>
                </a:rPr>
                <a:t>2</a:t>
              </a:r>
              <a:endParaRPr lang="zh-CN" altLang="en-US" sz="2800" b="1" dirty="0">
                <a:latin typeface="微软雅黑" panose="020B0503020204020204" pitchFamily="34" charset="-122"/>
                <a:ea typeface="微软雅黑" panose="020B0503020204020204" pitchFamily="34" charset="-122"/>
                <a:cs typeface="Arial Unicode MS" panose="020B0604020202020204" pitchFamily="34" charset="-122"/>
              </a:endParaRPr>
            </a:p>
          </p:txBody>
        </p:sp>
        <p:grpSp>
          <p:nvGrpSpPr>
            <p:cNvPr id="17" name="组合 16">
              <a:extLst>
                <a:ext uri="{FF2B5EF4-FFF2-40B4-BE49-F238E27FC236}">
                  <a16:creationId xmlns:a16="http://schemas.microsoft.com/office/drawing/2014/main" id="{1D33C218-B284-AE19-15A8-EA4760DA6E54}"/>
                </a:ext>
              </a:extLst>
            </p:cNvPr>
            <p:cNvGrpSpPr/>
            <p:nvPr/>
          </p:nvGrpSpPr>
          <p:grpSpPr>
            <a:xfrm>
              <a:off x="4566533" y="2781863"/>
              <a:ext cx="5054162" cy="576418"/>
              <a:chOff x="6315198" y="2410178"/>
              <a:chExt cx="3744417" cy="513876"/>
            </a:xfrm>
            <a:solidFill>
              <a:srgbClr val="1D4779"/>
            </a:solidFill>
          </p:grpSpPr>
          <p:sp>
            <p:nvSpPr>
              <p:cNvPr id="18" name="圆角矩形 55">
                <a:extLst>
                  <a:ext uri="{FF2B5EF4-FFF2-40B4-BE49-F238E27FC236}">
                    <a16:creationId xmlns:a16="http://schemas.microsoft.com/office/drawing/2014/main" id="{5447C361-FC5D-7364-E430-F6EED7D5005A}"/>
                  </a:ext>
                </a:extLst>
              </p:cNvPr>
              <p:cNvSpPr/>
              <p:nvPr/>
            </p:nvSpPr>
            <p:spPr>
              <a:xfrm>
                <a:off x="6315199" y="2410178"/>
                <a:ext cx="3744416" cy="511504"/>
              </a:xfrm>
              <a:prstGeom prst="roundRect">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b="1" dirty="0">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19" name="矩形 18">
                <a:extLst>
                  <a:ext uri="{FF2B5EF4-FFF2-40B4-BE49-F238E27FC236}">
                    <a16:creationId xmlns:a16="http://schemas.microsoft.com/office/drawing/2014/main" id="{5BBFBEEC-B0F4-AD47-F99E-9FF83EF72853}"/>
                  </a:ext>
                </a:extLst>
              </p:cNvPr>
              <p:cNvSpPr/>
              <p:nvPr/>
            </p:nvSpPr>
            <p:spPr>
              <a:xfrm>
                <a:off x="6315198" y="2430129"/>
                <a:ext cx="3741799" cy="493925"/>
              </a:xfrm>
              <a:prstGeom prst="rect">
                <a:avLst/>
              </a:prstGeom>
              <a:noFill/>
            </p:spPr>
            <p:txBody>
              <a:bodyPr wrap="square" lIns="121960" tIns="60980" rIns="121960" bIns="60980">
                <a:spAutoFit/>
              </a:bodyPr>
              <a:lstStyle/>
              <a:p>
                <a:pPr algn="ctr">
                  <a:defRPr/>
                </a:pPr>
                <a:r>
                  <a:rPr lang="zh-CN" altLang="en-US"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研究思路及技术路线</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0" name="圆角矩形 57">
              <a:extLst>
                <a:ext uri="{FF2B5EF4-FFF2-40B4-BE49-F238E27FC236}">
                  <a16:creationId xmlns:a16="http://schemas.microsoft.com/office/drawing/2014/main" id="{B54101B6-6877-F661-B56A-ED1C26201939}"/>
                </a:ext>
              </a:extLst>
            </p:cNvPr>
            <p:cNvSpPr/>
            <p:nvPr/>
          </p:nvSpPr>
          <p:spPr>
            <a:xfrm>
              <a:off x="3633111" y="5207350"/>
              <a:ext cx="640946" cy="573889"/>
            </a:xfrm>
            <a:prstGeom prst="roundRect">
              <a:avLst/>
            </a:prstGeom>
            <a:solidFill>
              <a:srgbClr val="1D477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en-US" altLang="zh-CN" sz="2800" b="1" dirty="0">
                  <a:latin typeface="微软雅黑" panose="020B0503020204020204" pitchFamily="34" charset="-122"/>
                  <a:ea typeface="微软雅黑" panose="020B0503020204020204" pitchFamily="34" charset="-122"/>
                  <a:cs typeface="Arial Unicode MS" panose="020B0604020202020204" pitchFamily="34" charset="-122"/>
                </a:rPr>
                <a:t>4</a:t>
              </a:r>
              <a:endParaRPr lang="zh-CN" altLang="en-US" sz="2800" b="1" dirty="0">
                <a:latin typeface="微软雅黑" panose="020B0503020204020204" pitchFamily="34" charset="-122"/>
                <a:ea typeface="微软雅黑" panose="020B0503020204020204" pitchFamily="34" charset="-122"/>
                <a:cs typeface="Arial Unicode MS" panose="020B0604020202020204" pitchFamily="34" charset="-122"/>
              </a:endParaRPr>
            </a:p>
          </p:txBody>
        </p:sp>
        <p:grpSp>
          <p:nvGrpSpPr>
            <p:cNvPr id="21" name="组合 20">
              <a:extLst>
                <a:ext uri="{FF2B5EF4-FFF2-40B4-BE49-F238E27FC236}">
                  <a16:creationId xmlns:a16="http://schemas.microsoft.com/office/drawing/2014/main" id="{AC52631B-581A-7393-EAD1-66745BB7F361}"/>
                </a:ext>
              </a:extLst>
            </p:cNvPr>
            <p:cNvGrpSpPr/>
            <p:nvPr/>
          </p:nvGrpSpPr>
          <p:grpSpPr>
            <a:xfrm>
              <a:off x="4566532" y="5207482"/>
              <a:ext cx="5050427" cy="597782"/>
              <a:chOff x="6336387" y="3296031"/>
              <a:chExt cx="3747126" cy="532921"/>
            </a:xfrm>
            <a:solidFill>
              <a:srgbClr val="1D4779"/>
            </a:solidFill>
          </p:grpSpPr>
          <p:sp>
            <p:nvSpPr>
              <p:cNvPr id="22" name="圆角矩形 59">
                <a:extLst>
                  <a:ext uri="{FF2B5EF4-FFF2-40B4-BE49-F238E27FC236}">
                    <a16:creationId xmlns:a16="http://schemas.microsoft.com/office/drawing/2014/main" id="{92C54F81-AAFE-5D37-A356-34E07B999C4E}"/>
                  </a:ext>
                </a:extLst>
              </p:cNvPr>
              <p:cNvSpPr/>
              <p:nvPr/>
            </p:nvSpPr>
            <p:spPr>
              <a:xfrm>
                <a:off x="6339097" y="3296031"/>
                <a:ext cx="3744416" cy="511504"/>
              </a:xfrm>
              <a:prstGeom prst="roundRect">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b="1" dirty="0">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23" name="矩形 22">
                <a:extLst>
                  <a:ext uri="{FF2B5EF4-FFF2-40B4-BE49-F238E27FC236}">
                    <a16:creationId xmlns:a16="http://schemas.microsoft.com/office/drawing/2014/main" id="{9F815F6E-C12E-ABAF-A441-40CC708D89F2}"/>
                  </a:ext>
                </a:extLst>
              </p:cNvPr>
              <p:cNvSpPr/>
              <p:nvPr/>
            </p:nvSpPr>
            <p:spPr>
              <a:xfrm>
                <a:off x="6336387" y="3335028"/>
                <a:ext cx="3744358" cy="493924"/>
              </a:xfrm>
              <a:prstGeom prst="rect">
                <a:avLst/>
              </a:prstGeom>
              <a:noFill/>
            </p:spPr>
            <p:txBody>
              <a:bodyPr wrap="square" lIns="121960" tIns="60980" rIns="121960" bIns="60980">
                <a:spAutoFit/>
              </a:bodyPr>
              <a:lstStyle/>
              <a:p>
                <a:pPr algn="ctr">
                  <a:defRPr/>
                </a:pPr>
                <a:r>
                  <a:rPr lang="zh-CN" altLang="en-US"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研究进展及平台支撑</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6" name="圆角矩形 33">
              <a:extLst>
                <a:ext uri="{FF2B5EF4-FFF2-40B4-BE49-F238E27FC236}">
                  <a16:creationId xmlns:a16="http://schemas.microsoft.com/office/drawing/2014/main" id="{5A44999D-1BB2-584F-4BDA-313C343C8586}"/>
                </a:ext>
              </a:extLst>
            </p:cNvPr>
            <p:cNvSpPr/>
            <p:nvPr/>
          </p:nvSpPr>
          <p:spPr>
            <a:xfrm>
              <a:off x="3633006" y="3983859"/>
              <a:ext cx="640946" cy="573889"/>
            </a:xfrm>
            <a:prstGeom prst="roundRect">
              <a:avLst/>
            </a:prstGeom>
            <a:solidFill>
              <a:srgbClr val="1D477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r>
                <a:rPr lang="en-US" altLang="zh-CN" sz="2800" b="1" dirty="0">
                  <a:latin typeface="微软雅黑" panose="020B0503020204020204" pitchFamily="34" charset="-122"/>
                  <a:ea typeface="微软雅黑" panose="020B0503020204020204" pitchFamily="34" charset="-122"/>
                  <a:cs typeface="Arial Unicode MS" panose="020B0604020202020204" pitchFamily="34" charset="-122"/>
                </a:rPr>
                <a:t>3</a:t>
              </a:r>
              <a:endParaRPr lang="zh-CN" altLang="en-US" sz="2800" b="1" dirty="0">
                <a:latin typeface="微软雅黑" panose="020B0503020204020204" pitchFamily="34" charset="-122"/>
                <a:ea typeface="微软雅黑" panose="020B0503020204020204" pitchFamily="34" charset="-122"/>
                <a:cs typeface="Arial Unicode MS" panose="020B0604020202020204" pitchFamily="34" charset="-122"/>
              </a:endParaRPr>
            </a:p>
          </p:txBody>
        </p:sp>
        <p:grpSp>
          <p:nvGrpSpPr>
            <p:cNvPr id="37" name="组合 36">
              <a:extLst>
                <a:ext uri="{FF2B5EF4-FFF2-40B4-BE49-F238E27FC236}">
                  <a16:creationId xmlns:a16="http://schemas.microsoft.com/office/drawing/2014/main" id="{7BD224A8-D801-2EE7-D6DA-643CE85893C1}"/>
                </a:ext>
              </a:extLst>
            </p:cNvPr>
            <p:cNvGrpSpPr/>
            <p:nvPr/>
          </p:nvGrpSpPr>
          <p:grpSpPr>
            <a:xfrm>
              <a:off x="4561579" y="3983991"/>
              <a:ext cx="5061376" cy="597782"/>
              <a:chOff x="6339097" y="3296031"/>
              <a:chExt cx="3744416" cy="532921"/>
            </a:xfrm>
            <a:solidFill>
              <a:srgbClr val="1D4779"/>
            </a:solidFill>
          </p:grpSpPr>
          <p:sp>
            <p:nvSpPr>
              <p:cNvPr id="38" name="圆角矩形 35">
                <a:extLst>
                  <a:ext uri="{FF2B5EF4-FFF2-40B4-BE49-F238E27FC236}">
                    <a16:creationId xmlns:a16="http://schemas.microsoft.com/office/drawing/2014/main" id="{9FD98C91-0766-5890-5CC1-AF5EE71E6FA0}"/>
                  </a:ext>
                </a:extLst>
              </p:cNvPr>
              <p:cNvSpPr/>
              <p:nvPr/>
            </p:nvSpPr>
            <p:spPr>
              <a:xfrm>
                <a:off x="6339097" y="3296031"/>
                <a:ext cx="3744416" cy="511504"/>
              </a:xfrm>
              <a:prstGeom prst="roundRect">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b="1" dirty="0">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39" name="矩形 38">
                <a:extLst>
                  <a:ext uri="{FF2B5EF4-FFF2-40B4-BE49-F238E27FC236}">
                    <a16:creationId xmlns:a16="http://schemas.microsoft.com/office/drawing/2014/main" id="{6AFFDD8A-FD8B-B48C-5BAD-CC10FAAB7D14}"/>
                  </a:ext>
                </a:extLst>
              </p:cNvPr>
              <p:cNvSpPr/>
              <p:nvPr/>
            </p:nvSpPr>
            <p:spPr>
              <a:xfrm>
                <a:off x="6341803" y="3335028"/>
                <a:ext cx="3738946" cy="493924"/>
              </a:xfrm>
              <a:prstGeom prst="rect">
                <a:avLst/>
              </a:prstGeom>
              <a:noFill/>
            </p:spPr>
            <p:txBody>
              <a:bodyPr wrap="square" lIns="121960" tIns="60980" rIns="121960" bIns="60980">
                <a:spAutoFit/>
              </a:bodyPr>
              <a:lstStyle/>
              <a:p>
                <a:pPr algn="ctr">
                  <a:defRPr/>
                </a:pPr>
                <a:r>
                  <a:rPr lang="zh-CN" altLang="en-US"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研究内容及创新点</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spTree>
    <p:extLst>
      <p:ext uri="{BB962C8B-B14F-4D97-AF65-F5344CB8AC3E}">
        <p14:creationId xmlns:p14="http://schemas.microsoft.com/office/powerpoint/2010/main" val="1869173404"/>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8FE9EB12-D42D-4F43-B9AA-DF7FE94F5C26}"/>
              </a:ext>
            </a:extLst>
          </p:cNvPr>
          <p:cNvGrpSpPr/>
          <p:nvPr/>
        </p:nvGrpSpPr>
        <p:grpSpPr>
          <a:xfrm>
            <a:off x="5979883" y="1731141"/>
            <a:ext cx="2852421" cy="1518621"/>
            <a:chOff x="5979883" y="2057646"/>
            <a:chExt cx="2852421" cy="1518621"/>
          </a:xfrm>
        </p:grpSpPr>
        <p:pic>
          <p:nvPicPr>
            <p:cNvPr id="1030" name="Picture 6" descr="特斯拉自动驾驶死亡案调查结束： NHTSA还特斯拉一个清白">
              <a:extLst>
                <a:ext uri="{FF2B5EF4-FFF2-40B4-BE49-F238E27FC236}">
                  <a16:creationId xmlns:a16="http://schemas.microsoft.com/office/drawing/2014/main" id="{5C43832A-F95C-441B-9E6C-4332FC8521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3555" y="2057646"/>
              <a:ext cx="2698963" cy="1512000"/>
            </a:xfrm>
            <a:prstGeom prst="rect">
              <a:avLst/>
            </a:prstGeom>
            <a:noFill/>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AF2D6B67-B7D3-45AC-9E9E-C0204FF919DE}"/>
                </a:ext>
              </a:extLst>
            </p:cNvPr>
            <p:cNvSpPr txBox="1"/>
            <p:nvPr/>
          </p:nvSpPr>
          <p:spPr>
            <a:xfrm>
              <a:off x="5979883" y="3268490"/>
              <a:ext cx="2852421" cy="307777"/>
            </a:xfrm>
            <a:prstGeom prst="rect">
              <a:avLst/>
            </a:prstGeom>
            <a:solidFill>
              <a:schemeClr val="bg1"/>
            </a:solidFill>
          </p:spPr>
          <p:txBody>
            <a:bodyPr wrap="square" rtlCol="0">
              <a:spAutoFit/>
            </a:bodyPr>
            <a:lstStyle/>
            <a:p>
              <a:r>
                <a:rPr lang="en-US" altLang="zh-CN" sz="1400" b="1" dirty="0">
                  <a:solidFill>
                    <a:prstClr val="black"/>
                  </a:solidFill>
                  <a:latin typeface="微软雅黑" panose="020B0503020204020204" pitchFamily="34" charset="-122"/>
                  <a:ea typeface="微软雅黑" panose="020B0503020204020204" pitchFamily="34" charset="-122"/>
                </a:rPr>
                <a:t>Tesla/</a:t>
              </a:r>
              <a:r>
                <a:rPr lang="zh-CN" altLang="en-US" sz="1400" b="1" dirty="0">
                  <a:solidFill>
                    <a:prstClr val="black"/>
                  </a:solidFill>
                  <a:latin typeface="微软雅黑" panose="020B0503020204020204" pitchFamily="34" charset="-122"/>
                  <a:ea typeface="微软雅黑" panose="020B0503020204020204" pitchFamily="34" charset="-122"/>
                </a:rPr>
                <a:t>驾驶员</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眩光超速</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车主死亡</a:t>
              </a:r>
            </a:p>
          </p:txBody>
        </p:sp>
      </p:grpSp>
      <p:sp>
        <p:nvSpPr>
          <p:cNvPr id="9" name="矩形 59">
            <a:extLst>
              <a:ext uri="{FF2B5EF4-FFF2-40B4-BE49-F238E27FC236}">
                <a16:creationId xmlns:a16="http://schemas.microsoft.com/office/drawing/2014/main" id="{71CE0525-4CDF-9451-C39A-45C92D5CD305}"/>
              </a:ext>
            </a:extLst>
          </p:cNvPr>
          <p:cNvSpPr>
            <a:spLocks noChangeArrowheads="1"/>
          </p:cNvSpPr>
          <p:nvPr/>
        </p:nvSpPr>
        <p:spPr bwMode="auto">
          <a:xfrm>
            <a:off x="335360" y="116632"/>
            <a:ext cx="24479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研究背景</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7E08E781-341A-5787-B87D-FFC7CF8C46E9}"/>
              </a:ext>
            </a:extLst>
          </p:cNvPr>
          <p:cNvSpPr/>
          <p:nvPr/>
        </p:nvSpPr>
        <p:spPr>
          <a:xfrm>
            <a:off x="529342" y="980728"/>
            <a:ext cx="10820177" cy="6120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The commercialization and road testing of autonomous vehicles are expanding at a remarkable pace, yet crashes continue to occur frequently</a:t>
            </a:r>
            <a:endPar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26" name="Picture 2">
            <a:extLst>
              <a:ext uri="{FF2B5EF4-FFF2-40B4-BE49-F238E27FC236}">
                <a16:creationId xmlns:a16="http://schemas.microsoft.com/office/drawing/2014/main" id="{530107FE-4D5C-40BB-BCC7-CC4E5A773E2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9342" y="3923183"/>
            <a:ext cx="2614331" cy="1728192"/>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A1645889-C12E-4F91-B8FE-AF49038BC2E7}"/>
              </a:ext>
            </a:extLst>
          </p:cNvPr>
          <p:cNvSpPr txBox="1"/>
          <p:nvPr/>
        </p:nvSpPr>
        <p:spPr>
          <a:xfrm>
            <a:off x="3171210" y="3905897"/>
            <a:ext cx="2614331" cy="1745478"/>
          </a:xfrm>
          <a:prstGeom prst="rect">
            <a:avLst/>
          </a:prstGeom>
          <a:noFill/>
        </p:spPr>
        <p:txBody>
          <a:bodyPr wrap="square">
            <a:spAutoFit/>
          </a:bodyPr>
          <a:lstStyle/>
          <a:p>
            <a:pPr algn="just">
              <a:lnSpc>
                <a:spcPct val="130000"/>
              </a:lnSpc>
              <a:defRPr/>
            </a:pPr>
            <a:r>
              <a:rPr lang="zh-CN" altLang="en-US" sz="1400" b="1" dirty="0">
                <a:solidFill>
                  <a:prstClr val="black"/>
                </a:solidFill>
                <a:latin typeface="微软雅黑" panose="020B0503020204020204" pitchFamily="34" charset="-122"/>
                <a:ea typeface="微软雅黑" panose="020B0503020204020204" pitchFamily="34" charset="-122"/>
              </a:rPr>
              <a:t>中国汽车工业协会旗下中汽信息公司在京发布了</a:t>
            </a:r>
            <a:r>
              <a:rPr lang="en-US" altLang="zh-CN" sz="1400" b="1" dirty="0">
                <a:solidFill>
                  <a:prstClr val="black"/>
                </a:solidFill>
                <a:latin typeface="微软雅黑" panose="020B0503020204020204" pitchFamily="34" charset="-122"/>
                <a:ea typeface="微软雅黑" panose="020B0503020204020204" pitchFamily="34" charset="-122"/>
              </a:rPr>
              <a:t>《2025</a:t>
            </a:r>
            <a:r>
              <a:rPr lang="zh-CN" altLang="en-US" sz="1400" b="1" dirty="0">
                <a:solidFill>
                  <a:prstClr val="black"/>
                </a:solidFill>
                <a:latin typeface="微软雅黑" panose="020B0503020204020204" pitchFamily="34" charset="-122"/>
                <a:ea typeface="微软雅黑" panose="020B0503020204020204" pitchFamily="34" charset="-122"/>
              </a:rPr>
              <a:t>城市</a:t>
            </a:r>
            <a:r>
              <a:rPr lang="en-US" altLang="zh-CN" sz="1400" b="1" dirty="0">
                <a:solidFill>
                  <a:prstClr val="black"/>
                </a:solidFill>
                <a:latin typeface="微软雅黑" panose="020B0503020204020204" pitchFamily="34" charset="-122"/>
                <a:ea typeface="微软雅黑" panose="020B0503020204020204" pitchFamily="34" charset="-122"/>
              </a:rPr>
              <a:t>NOA</a:t>
            </a:r>
            <a:r>
              <a:rPr lang="zh-CN" altLang="en-US" sz="1400" b="1" dirty="0">
                <a:solidFill>
                  <a:prstClr val="black"/>
                </a:solidFill>
                <a:latin typeface="微软雅黑" panose="020B0503020204020204" pitchFamily="34" charset="-122"/>
                <a:ea typeface="微软雅黑" panose="020B0503020204020204" pitchFamily="34" charset="-122"/>
              </a:rPr>
              <a:t>汽车辅助驾驶研究报告</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a:t>
            </a:r>
            <a:r>
              <a:rPr lang="en-US" altLang="zh-CN" sz="1400" b="1" dirty="0">
                <a:solidFill>
                  <a:prstClr val="black"/>
                </a:solidFill>
                <a:latin typeface="微软雅黑" panose="020B0503020204020204" pitchFamily="34" charset="-122"/>
                <a:ea typeface="微软雅黑" panose="020B0503020204020204" pitchFamily="34" charset="-122"/>
              </a:rPr>
              <a:t>2025</a:t>
            </a:r>
            <a:r>
              <a:rPr lang="zh-CN" altLang="en-US" sz="1400" b="1" dirty="0">
                <a:solidFill>
                  <a:prstClr val="black"/>
                </a:solidFill>
                <a:latin typeface="微软雅黑" panose="020B0503020204020204" pitchFamily="34" charset="-122"/>
                <a:ea typeface="微软雅黑" panose="020B0503020204020204" pitchFamily="34" charset="-122"/>
              </a:rPr>
              <a:t>年</a:t>
            </a:r>
            <a:r>
              <a:rPr lang="en-US" altLang="zh-CN" sz="1400" b="1" dirty="0">
                <a:solidFill>
                  <a:prstClr val="black"/>
                </a:solidFill>
                <a:latin typeface="微软雅黑" panose="020B0503020204020204" pitchFamily="34" charset="-122"/>
                <a:ea typeface="微软雅黑" panose="020B0503020204020204" pitchFamily="34" charset="-122"/>
              </a:rPr>
              <a:t>1</a:t>
            </a:r>
            <a:r>
              <a:rPr lang="zh-CN" altLang="en-US" sz="1400" b="1" dirty="0">
                <a:solidFill>
                  <a:prstClr val="black"/>
                </a:solidFill>
                <a:latin typeface="微软雅黑" panose="020B0503020204020204" pitchFamily="34" charset="-122"/>
                <a:ea typeface="微软雅黑" panose="020B0503020204020204" pitchFamily="34" charset="-122"/>
              </a:rPr>
              <a:t>月至</a:t>
            </a:r>
            <a:r>
              <a:rPr lang="en-US" altLang="zh-CN" sz="1400" b="1" dirty="0">
                <a:solidFill>
                  <a:prstClr val="black"/>
                </a:solidFill>
                <a:latin typeface="微软雅黑" panose="020B0503020204020204" pitchFamily="34" charset="-122"/>
                <a:ea typeface="微软雅黑" panose="020B0503020204020204" pitchFamily="34" charset="-122"/>
              </a:rPr>
              <a:t>11</a:t>
            </a:r>
            <a:r>
              <a:rPr lang="zh-CN" altLang="en-US" sz="1400" b="1" dirty="0">
                <a:solidFill>
                  <a:prstClr val="black"/>
                </a:solidFill>
                <a:latin typeface="微软雅黑" panose="020B0503020204020204" pitchFamily="34" charset="-122"/>
                <a:ea typeface="微软雅黑" panose="020B0503020204020204" pitchFamily="34" charset="-122"/>
              </a:rPr>
              <a:t>月，我国搭载城市</a:t>
            </a:r>
            <a:r>
              <a:rPr lang="en-US" altLang="zh-CN" sz="1400" b="1" dirty="0">
                <a:solidFill>
                  <a:prstClr val="black"/>
                </a:solidFill>
                <a:latin typeface="微软雅黑" panose="020B0503020204020204" pitchFamily="34" charset="-122"/>
                <a:ea typeface="微软雅黑" panose="020B0503020204020204" pitchFamily="34" charset="-122"/>
              </a:rPr>
              <a:t>NOA</a:t>
            </a:r>
            <a:r>
              <a:rPr lang="zh-CN" altLang="en-US" sz="1400" b="1" dirty="0">
                <a:solidFill>
                  <a:prstClr val="black"/>
                </a:solidFill>
                <a:latin typeface="微软雅黑" panose="020B0503020204020204" pitchFamily="34" charset="-122"/>
                <a:ea typeface="微软雅黑" panose="020B0503020204020204" pitchFamily="34" charset="-122"/>
              </a:rPr>
              <a:t>功能的乘用车累计销量已高达</a:t>
            </a:r>
            <a:r>
              <a:rPr lang="en-US" altLang="zh-CN" sz="1400" b="1" dirty="0">
                <a:solidFill>
                  <a:srgbClr val="FF0000"/>
                </a:solidFill>
                <a:latin typeface="微软雅黑" panose="020B0503020204020204" pitchFamily="34" charset="-122"/>
                <a:ea typeface="微软雅黑" panose="020B0503020204020204" pitchFamily="34" charset="-122"/>
              </a:rPr>
              <a:t>312.9</a:t>
            </a:r>
            <a:r>
              <a:rPr lang="zh-CN" altLang="en-US" sz="1400" b="1" dirty="0">
                <a:solidFill>
                  <a:srgbClr val="FF0000"/>
                </a:solidFill>
                <a:latin typeface="微软雅黑" panose="020B0503020204020204" pitchFamily="34" charset="-122"/>
                <a:ea typeface="微软雅黑" panose="020B0503020204020204" pitchFamily="34" charset="-122"/>
              </a:rPr>
              <a:t>万</a:t>
            </a:r>
            <a:r>
              <a:rPr lang="zh-CN" altLang="en-US" sz="1400" b="1" dirty="0">
                <a:solidFill>
                  <a:prstClr val="black"/>
                </a:solidFill>
                <a:latin typeface="微软雅黑" panose="020B0503020204020204" pitchFamily="34" charset="-122"/>
                <a:ea typeface="微软雅黑" panose="020B0503020204020204" pitchFamily="34" charset="-122"/>
              </a:rPr>
              <a:t>辆。</a:t>
            </a:r>
          </a:p>
        </p:txBody>
      </p:sp>
      <p:sp>
        <p:nvSpPr>
          <p:cNvPr id="22" name="文本框 21">
            <a:extLst>
              <a:ext uri="{FF2B5EF4-FFF2-40B4-BE49-F238E27FC236}">
                <a16:creationId xmlns:a16="http://schemas.microsoft.com/office/drawing/2014/main" id="{6D8BCF18-6099-4031-A9EA-2B2030B9F9EF}"/>
              </a:ext>
            </a:extLst>
          </p:cNvPr>
          <p:cNvSpPr txBox="1"/>
          <p:nvPr/>
        </p:nvSpPr>
        <p:spPr>
          <a:xfrm>
            <a:off x="2113133" y="1731925"/>
            <a:ext cx="3672408" cy="2025555"/>
          </a:xfrm>
          <a:prstGeom prst="rect">
            <a:avLst/>
          </a:prstGeom>
          <a:noFill/>
        </p:spPr>
        <p:txBody>
          <a:bodyPr wrap="square">
            <a:spAutoFit/>
          </a:bodyPr>
          <a:lstStyle/>
          <a:p>
            <a:pPr algn="just">
              <a:lnSpc>
                <a:spcPct val="130000"/>
              </a:lnSpc>
              <a:defRPr/>
            </a:pPr>
            <a:r>
              <a:rPr lang="zh-CN" altLang="en-US" sz="1400" b="1" dirty="0">
                <a:solidFill>
                  <a:prstClr val="black"/>
                </a:solidFill>
                <a:latin typeface="微软雅黑" panose="020B0503020204020204" pitchFamily="34" charset="-122"/>
                <a:ea typeface="微软雅黑" panose="020B0503020204020204" pitchFamily="34" charset="-122"/>
              </a:rPr>
              <a:t>全球自动驾驶技术市场规模为</a:t>
            </a:r>
            <a:r>
              <a:rPr lang="en-US" altLang="zh-CN" sz="1400" b="1" dirty="0">
                <a:solidFill>
                  <a:prstClr val="black"/>
                </a:solidFill>
                <a:latin typeface="微软雅黑" panose="020B0503020204020204" pitchFamily="34" charset="-122"/>
                <a:ea typeface="微软雅黑" panose="020B0503020204020204" pitchFamily="34" charset="-122"/>
              </a:rPr>
              <a:t>250</a:t>
            </a:r>
            <a:r>
              <a:rPr lang="zh-CN" altLang="en-US" sz="1400" b="1" dirty="0">
                <a:solidFill>
                  <a:prstClr val="black"/>
                </a:solidFill>
                <a:latin typeface="微软雅黑" panose="020B0503020204020204" pitchFamily="34" charset="-122"/>
                <a:ea typeface="微软雅黑" panose="020B0503020204020204" pitchFamily="34" charset="-122"/>
              </a:rPr>
              <a:t>亿至</a:t>
            </a:r>
            <a:r>
              <a:rPr lang="en-US" altLang="zh-CN" sz="1400" b="1" dirty="0">
                <a:solidFill>
                  <a:prstClr val="black"/>
                </a:solidFill>
                <a:latin typeface="微软雅黑" panose="020B0503020204020204" pitchFamily="34" charset="-122"/>
                <a:ea typeface="微软雅黑" panose="020B0503020204020204" pitchFamily="34" charset="-122"/>
              </a:rPr>
              <a:t>300</a:t>
            </a:r>
            <a:r>
              <a:rPr lang="zh-CN" altLang="en-US" sz="1400" b="1" dirty="0">
                <a:solidFill>
                  <a:prstClr val="black"/>
                </a:solidFill>
                <a:latin typeface="微软雅黑" panose="020B0503020204020204" pitchFamily="34" charset="-122"/>
                <a:ea typeface="微软雅黑" panose="020B0503020204020204" pitchFamily="34" charset="-122"/>
              </a:rPr>
              <a:t>亿美元。</a:t>
            </a:r>
            <a:r>
              <a:rPr lang="en-US" altLang="zh-CN" sz="1400" b="1" dirty="0">
                <a:solidFill>
                  <a:prstClr val="black"/>
                </a:solidFill>
                <a:latin typeface="微软雅黑" panose="020B0503020204020204" pitchFamily="34" charset="-122"/>
                <a:ea typeface="微软雅黑" panose="020B0503020204020204" pitchFamily="34" charset="-122"/>
              </a:rPr>
              <a:t>Waymo</a:t>
            </a:r>
            <a:r>
              <a:rPr lang="zh-CN" altLang="en-US" sz="1400" b="1" dirty="0">
                <a:solidFill>
                  <a:prstClr val="black"/>
                </a:solidFill>
                <a:latin typeface="微软雅黑" panose="020B0503020204020204" pitchFamily="34" charset="-122"/>
                <a:ea typeface="微软雅黑" panose="020B0503020204020204" pitchFamily="34" charset="-122"/>
              </a:rPr>
              <a:t>、</a:t>
            </a:r>
            <a:r>
              <a:rPr lang="en-US" altLang="zh-CN" sz="1400" b="1" dirty="0">
                <a:solidFill>
                  <a:prstClr val="black"/>
                </a:solidFill>
                <a:latin typeface="微软雅黑" panose="020B0503020204020204" pitchFamily="34" charset="-122"/>
                <a:ea typeface="微软雅黑" panose="020B0503020204020204" pitchFamily="34" charset="-122"/>
              </a:rPr>
              <a:t>Cruise</a:t>
            </a:r>
            <a:r>
              <a:rPr lang="zh-CN" altLang="en-US" sz="1400" b="1" dirty="0">
                <a:solidFill>
                  <a:prstClr val="black"/>
                </a:solidFill>
                <a:latin typeface="微软雅黑" panose="020B0503020204020204" pitchFamily="34" charset="-122"/>
                <a:ea typeface="微软雅黑" panose="020B0503020204020204" pitchFamily="34" charset="-122"/>
              </a:rPr>
              <a:t>、百度</a:t>
            </a:r>
            <a:r>
              <a:rPr lang="en-US" altLang="zh-CN" sz="1400" b="1" dirty="0">
                <a:solidFill>
                  <a:prstClr val="black"/>
                </a:solidFill>
                <a:latin typeface="微软雅黑" panose="020B0503020204020204" pitchFamily="34" charset="-122"/>
                <a:ea typeface="微软雅黑" panose="020B0503020204020204" pitchFamily="34" charset="-122"/>
              </a:rPr>
              <a:t>Apollo Go</a:t>
            </a:r>
            <a:r>
              <a:rPr lang="zh-CN" altLang="en-US" sz="1400" b="1" dirty="0">
                <a:solidFill>
                  <a:prstClr val="black"/>
                </a:solidFill>
                <a:latin typeface="微软雅黑" panose="020B0503020204020204" pitchFamily="34" charset="-122"/>
                <a:ea typeface="微软雅黑" panose="020B0503020204020204" pitchFamily="34" charset="-122"/>
              </a:rPr>
              <a:t>三家企业合计部署</a:t>
            </a:r>
            <a:r>
              <a:rPr lang="zh-CN" altLang="en-US" sz="1400" b="1" dirty="0">
                <a:solidFill>
                  <a:srgbClr val="FF0000"/>
                </a:solidFill>
                <a:latin typeface="微软雅黑" panose="020B0503020204020204" pitchFamily="34" charset="-122"/>
                <a:ea typeface="微软雅黑" panose="020B0503020204020204" pitchFamily="34" charset="-122"/>
              </a:rPr>
              <a:t>超过</a:t>
            </a:r>
            <a:r>
              <a:rPr lang="en-US" altLang="zh-CN" sz="1400" b="1" dirty="0">
                <a:solidFill>
                  <a:srgbClr val="FF0000"/>
                </a:solidFill>
                <a:latin typeface="微软雅黑" panose="020B0503020204020204" pitchFamily="34" charset="-122"/>
                <a:ea typeface="微软雅黑" panose="020B0503020204020204" pitchFamily="34" charset="-122"/>
              </a:rPr>
              <a:t>2000</a:t>
            </a:r>
            <a:r>
              <a:rPr lang="zh-CN" altLang="en-US" sz="1400" b="1" dirty="0">
                <a:solidFill>
                  <a:srgbClr val="FF0000"/>
                </a:solidFill>
                <a:latin typeface="微软雅黑" panose="020B0503020204020204" pitchFamily="34" charset="-122"/>
                <a:ea typeface="微软雅黑" panose="020B0503020204020204" pitchFamily="34" charset="-122"/>
              </a:rPr>
              <a:t>辆</a:t>
            </a:r>
            <a:r>
              <a:rPr lang="en-US" altLang="zh-CN" sz="1400" b="1" dirty="0" err="1">
                <a:solidFill>
                  <a:srgbClr val="FF0000"/>
                </a:solidFill>
                <a:latin typeface="微软雅黑" panose="020B0503020204020204" pitchFamily="34" charset="-122"/>
                <a:ea typeface="微软雅黑" panose="020B0503020204020204" pitchFamily="34" charset="-122"/>
              </a:rPr>
              <a:t>Robotaxi</a:t>
            </a:r>
            <a:r>
              <a:rPr lang="zh-CN" altLang="en-US" sz="1400" b="1" dirty="0">
                <a:solidFill>
                  <a:prstClr val="black"/>
                </a:solidFill>
                <a:latin typeface="微软雅黑" panose="020B0503020204020204" pitchFamily="34" charset="-122"/>
                <a:ea typeface="微软雅黑" panose="020B0503020204020204" pitchFamily="34" charset="-122"/>
              </a:rPr>
              <a:t>，在美国和中国累计测试里程达数百万英里。</a:t>
            </a:r>
            <a:r>
              <a:rPr lang="en-US" altLang="zh-CN" sz="1400" b="1" dirty="0">
                <a:solidFill>
                  <a:prstClr val="black"/>
                </a:solidFill>
                <a:latin typeface="微软雅黑" panose="020B0503020204020204" pitchFamily="34" charset="-122"/>
                <a:ea typeface="微软雅黑" panose="020B0503020204020204" pitchFamily="34" charset="-122"/>
              </a:rPr>
              <a:t>L3</a:t>
            </a:r>
            <a:r>
              <a:rPr lang="zh-CN" altLang="en-US" sz="1400" b="1" dirty="0">
                <a:solidFill>
                  <a:prstClr val="black"/>
                </a:solidFill>
                <a:latin typeface="微软雅黑" panose="020B0503020204020204" pitchFamily="34" charset="-122"/>
                <a:ea typeface="微软雅黑" panose="020B0503020204020204" pitchFamily="34" charset="-122"/>
              </a:rPr>
              <a:t>系统已在梅赛德斯的旗舰车型中于</a:t>
            </a:r>
            <a:r>
              <a:rPr lang="zh-CN" altLang="en-US" sz="1400" b="1" dirty="0">
                <a:solidFill>
                  <a:srgbClr val="FF0000"/>
                </a:solidFill>
                <a:latin typeface="微软雅黑" panose="020B0503020204020204" pitchFamily="34" charset="-122"/>
                <a:ea typeface="微软雅黑" panose="020B0503020204020204" pitchFamily="34" charset="-122"/>
              </a:rPr>
              <a:t>加利福尼亚州和德国</a:t>
            </a:r>
            <a:r>
              <a:rPr lang="zh-CN" altLang="en-US" sz="1400" b="1" dirty="0">
                <a:solidFill>
                  <a:prstClr val="black"/>
                </a:solidFill>
                <a:latin typeface="微软雅黑" panose="020B0503020204020204" pitchFamily="34" charset="-122"/>
                <a:ea typeface="微软雅黑" panose="020B0503020204020204" pitchFamily="34" charset="-122"/>
              </a:rPr>
              <a:t>投入使用，而</a:t>
            </a:r>
            <a:r>
              <a:rPr lang="en-US" altLang="zh-CN" sz="1400" b="1" dirty="0">
                <a:solidFill>
                  <a:prstClr val="black"/>
                </a:solidFill>
                <a:latin typeface="微软雅黑" panose="020B0503020204020204" pitchFamily="34" charset="-122"/>
                <a:ea typeface="微软雅黑" panose="020B0503020204020204" pitchFamily="34" charset="-122"/>
              </a:rPr>
              <a:t>L4</a:t>
            </a:r>
            <a:r>
              <a:rPr lang="zh-CN" altLang="en-US" sz="1400" b="1" dirty="0">
                <a:solidFill>
                  <a:prstClr val="black"/>
                </a:solidFill>
                <a:latin typeface="微软雅黑" panose="020B0503020204020204" pitchFamily="34" charset="-122"/>
                <a:ea typeface="微软雅黑" panose="020B0503020204020204" pitchFamily="34" charset="-122"/>
              </a:rPr>
              <a:t>服务在北京和上海不断扩展。</a:t>
            </a:r>
          </a:p>
        </p:txBody>
      </p:sp>
      <p:pic>
        <p:nvPicPr>
          <p:cNvPr id="13" name="图片 12">
            <a:extLst>
              <a:ext uri="{FF2B5EF4-FFF2-40B4-BE49-F238E27FC236}">
                <a16:creationId xmlns:a16="http://schemas.microsoft.com/office/drawing/2014/main" id="{0F361616-AB76-4581-AEA2-6C9AAE96B127}"/>
              </a:ext>
            </a:extLst>
          </p:cNvPr>
          <p:cNvPicPr>
            <a:picLocks noChangeAspect="1"/>
          </p:cNvPicPr>
          <p:nvPr/>
        </p:nvPicPr>
        <p:blipFill rotWithShape="1">
          <a:blip r:embed="rId5"/>
          <a:srcRect l="13081" t="17330" r="12788"/>
          <a:stretch/>
        </p:blipFill>
        <p:spPr>
          <a:xfrm>
            <a:off x="529342" y="1734343"/>
            <a:ext cx="1315777" cy="1953547"/>
          </a:xfrm>
          <a:prstGeom prst="rect">
            <a:avLst/>
          </a:prstGeom>
        </p:spPr>
      </p:pic>
      <p:grpSp>
        <p:nvGrpSpPr>
          <p:cNvPr id="21" name="组合 20">
            <a:extLst>
              <a:ext uri="{FF2B5EF4-FFF2-40B4-BE49-F238E27FC236}">
                <a16:creationId xmlns:a16="http://schemas.microsoft.com/office/drawing/2014/main" id="{B850DD16-E133-40D0-80B9-945672E935EB}"/>
              </a:ext>
            </a:extLst>
          </p:cNvPr>
          <p:cNvGrpSpPr/>
          <p:nvPr/>
        </p:nvGrpSpPr>
        <p:grpSpPr>
          <a:xfrm>
            <a:off x="8826190" y="1754886"/>
            <a:ext cx="2698963" cy="1648714"/>
            <a:chOff x="6055219" y="2780928"/>
            <a:chExt cx="2698963" cy="1648714"/>
          </a:xfrm>
        </p:grpSpPr>
        <p:pic>
          <p:nvPicPr>
            <p:cNvPr id="1032" name="Picture 8" descr="特斯拉Autopilot致死事故，被判承担1/3责任及2亿赔偿">
              <a:extLst>
                <a:ext uri="{FF2B5EF4-FFF2-40B4-BE49-F238E27FC236}">
                  <a16:creationId xmlns:a16="http://schemas.microsoft.com/office/drawing/2014/main" id="{4470C17E-BD6D-4DAD-9AB7-931E7F68FA0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6934" b="9194"/>
            <a:stretch/>
          </p:blipFill>
          <p:spPr bwMode="auto">
            <a:xfrm>
              <a:off x="6055219" y="2780928"/>
              <a:ext cx="2698963" cy="1648714"/>
            </a:xfrm>
            <a:prstGeom prst="rect">
              <a:avLst/>
            </a:prstGeom>
            <a:noFill/>
            <a:extLst>
              <a:ext uri="{909E8E84-426E-40DD-AFC4-6F175D3DCCD1}">
                <a14:hiddenFill xmlns:a14="http://schemas.microsoft.com/office/drawing/2010/main">
                  <a:solidFill>
                    <a:srgbClr val="FFFFFF"/>
                  </a:solidFill>
                </a14:hiddenFill>
              </a:ext>
            </a:extLst>
          </p:spPr>
        </p:pic>
        <p:sp>
          <p:nvSpPr>
            <p:cNvPr id="31" name="文本框 30">
              <a:extLst>
                <a:ext uri="{FF2B5EF4-FFF2-40B4-BE49-F238E27FC236}">
                  <a16:creationId xmlns:a16="http://schemas.microsoft.com/office/drawing/2014/main" id="{FA18A542-4403-4F40-8621-D2CC8DCA4B66}"/>
                </a:ext>
              </a:extLst>
            </p:cNvPr>
            <p:cNvSpPr txBox="1"/>
            <p:nvPr/>
          </p:nvSpPr>
          <p:spPr>
            <a:xfrm>
              <a:off x="6055219" y="4121747"/>
              <a:ext cx="2698963" cy="307777"/>
            </a:xfrm>
            <a:prstGeom prst="rect">
              <a:avLst/>
            </a:prstGeom>
            <a:solidFill>
              <a:schemeClr val="bg1"/>
            </a:solidFill>
          </p:spPr>
          <p:txBody>
            <a:bodyPr wrap="square" rtlCol="0">
              <a:spAutoFit/>
            </a:bodyPr>
            <a:lstStyle/>
            <a:p>
              <a:r>
                <a:rPr lang="en-US" altLang="zh-CN" sz="1400" b="1" dirty="0">
                  <a:solidFill>
                    <a:prstClr val="black"/>
                  </a:solidFill>
                  <a:latin typeface="微软雅黑" panose="020B0503020204020204" pitchFamily="34" charset="-122"/>
                  <a:ea typeface="微软雅黑" panose="020B0503020204020204" pitchFamily="34" charset="-122"/>
                </a:rPr>
                <a:t>Tesla/</a:t>
              </a:r>
              <a:r>
                <a:rPr lang="zh-CN" altLang="en-US" sz="1400" b="1" dirty="0">
                  <a:solidFill>
                    <a:prstClr val="black"/>
                  </a:solidFill>
                  <a:latin typeface="微软雅黑" panose="020B0503020204020204" pitchFamily="34" charset="-122"/>
                  <a:ea typeface="微软雅黑" panose="020B0503020204020204" pitchFamily="34" charset="-122"/>
                </a:rPr>
                <a:t>驾驶员</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追尾</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一死一重伤</a:t>
              </a:r>
            </a:p>
          </p:txBody>
        </p:sp>
      </p:grpSp>
      <p:grpSp>
        <p:nvGrpSpPr>
          <p:cNvPr id="28" name="组合 27">
            <a:extLst>
              <a:ext uri="{FF2B5EF4-FFF2-40B4-BE49-F238E27FC236}">
                <a16:creationId xmlns:a16="http://schemas.microsoft.com/office/drawing/2014/main" id="{7C8B47D4-6292-4433-BE3B-492E539A00AA}"/>
              </a:ext>
            </a:extLst>
          </p:cNvPr>
          <p:cNvGrpSpPr/>
          <p:nvPr/>
        </p:nvGrpSpPr>
        <p:grpSpPr>
          <a:xfrm>
            <a:off x="6065212" y="4066044"/>
            <a:ext cx="2695084" cy="1739220"/>
            <a:chOff x="6065212" y="4392549"/>
            <a:chExt cx="2695084" cy="1739220"/>
          </a:xfrm>
        </p:grpSpPr>
        <p:pic>
          <p:nvPicPr>
            <p:cNvPr id="1038" name="Picture 14">
              <a:extLst>
                <a:ext uri="{FF2B5EF4-FFF2-40B4-BE49-F238E27FC236}">
                  <a16:creationId xmlns:a16="http://schemas.microsoft.com/office/drawing/2014/main" id="{02FF8D91-8C2E-4573-9AE3-BC2795DD12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65212" y="4392549"/>
              <a:ext cx="2695084" cy="1726538"/>
            </a:xfrm>
            <a:prstGeom prst="rect">
              <a:avLst/>
            </a:prstGeom>
            <a:noFill/>
            <a:extLst>
              <a:ext uri="{909E8E84-426E-40DD-AFC4-6F175D3DCCD1}">
                <a14:hiddenFill xmlns:a14="http://schemas.microsoft.com/office/drawing/2010/main">
                  <a:solidFill>
                    <a:srgbClr val="FFFFFF"/>
                  </a:solidFill>
                </a14:hiddenFill>
              </a:ext>
            </a:extLst>
          </p:spPr>
        </p:pic>
        <p:sp>
          <p:nvSpPr>
            <p:cNvPr id="39" name="文本框 38">
              <a:extLst>
                <a:ext uri="{FF2B5EF4-FFF2-40B4-BE49-F238E27FC236}">
                  <a16:creationId xmlns:a16="http://schemas.microsoft.com/office/drawing/2014/main" id="{ABBB904F-90BF-4D79-B356-E216F96BF683}"/>
                </a:ext>
              </a:extLst>
            </p:cNvPr>
            <p:cNvSpPr txBox="1"/>
            <p:nvPr/>
          </p:nvSpPr>
          <p:spPr>
            <a:xfrm>
              <a:off x="6065212" y="5823992"/>
              <a:ext cx="2695084" cy="307777"/>
            </a:xfrm>
            <a:prstGeom prst="rect">
              <a:avLst/>
            </a:prstGeom>
            <a:solidFill>
              <a:schemeClr val="bg1"/>
            </a:solidFill>
          </p:spPr>
          <p:txBody>
            <a:bodyPr wrap="square" rtlCol="0">
              <a:spAutoFit/>
            </a:bodyPr>
            <a:lstStyle/>
            <a:p>
              <a:r>
                <a:rPr lang="en-US" altLang="zh-CN" sz="1400" b="1" dirty="0">
                  <a:solidFill>
                    <a:prstClr val="black"/>
                  </a:solidFill>
                  <a:latin typeface="微软雅黑" panose="020B0503020204020204" pitchFamily="34" charset="-122"/>
                  <a:ea typeface="微软雅黑" panose="020B0503020204020204" pitchFamily="34" charset="-122"/>
                </a:rPr>
                <a:t>Tesla/</a:t>
              </a:r>
              <a:r>
                <a:rPr lang="zh-CN" altLang="en-US" sz="1400" b="1" dirty="0">
                  <a:solidFill>
                    <a:prstClr val="black"/>
                  </a:solidFill>
                  <a:latin typeface="微软雅黑" panose="020B0503020204020204" pitchFamily="34" charset="-122"/>
                  <a:ea typeface="微软雅黑" panose="020B0503020204020204" pitchFamily="34" charset="-122"/>
                </a:rPr>
                <a:t>驾驶员</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追尾</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车主死亡</a:t>
              </a:r>
            </a:p>
          </p:txBody>
        </p:sp>
      </p:grpSp>
      <p:grpSp>
        <p:nvGrpSpPr>
          <p:cNvPr id="30" name="组合 29">
            <a:extLst>
              <a:ext uri="{FF2B5EF4-FFF2-40B4-BE49-F238E27FC236}">
                <a16:creationId xmlns:a16="http://schemas.microsoft.com/office/drawing/2014/main" id="{0A0E51EF-607F-4D5E-8B61-61DA75188EF1}"/>
              </a:ext>
            </a:extLst>
          </p:cNvPr>
          <p:cNvGrpSpPr/>
          <p:nvPr/>
        </p:nvGrpSpPr>
        <p:grpSpPr>
          <a:xfrm>
            <a:off x="8829518" y="4066044"/>
            <a:ext cx="2520001" cy="1726538"/>
            <a:chOff x="8829518" y="4392549"/>
            <a:chExt cx="2520001" cy="1726538"/>
          </a:xfrm>
        </p:grpSpPr>
        <p:pic>
          <p:nvPicPr>
            <p:cNvPr id="27" name="图片 26">
              <a:extLst>
                <a:ext uri="{FF2B5EF4-FFF2-40B4-BE49-F238E27FC236}">
                  <a16:creationId xmlns:a16="http://schemas.microsoft.com/office/drawing/2014/main" id="{CF872851-76DD-4C9F-A55C-021DBDF4747F}"/>
                </a:ext>
              </a:extLst>
            </p:cNvPr>
            <p:cNvPicPr>
              <a:picLocks noChangeAspect="1"/>
            </p:cNvPicPr>
            <p:nvPr/>
          </p:nvPicPr>
          <p:blipFill rotWithShape="1">
            <a:blip r:embed="rId8"/>
            <a:srcRect b="35412"/>
            <a:stretch/>
          </p:blipFill>
          <p:spPr>
            <a:xfrm>
              <a:off x="8829518" y="4392549"/>
              <a:ext cx="2520001" cy="1726538"/>
            </a:xfrm>
            <a:prstGeom prst="rect">
              <a:avLst/>
            </a:prstGeom>
          </p:spPr>
        </p:pic>
        <p:sp>
          <p:nvSpPr>
            <p:cNvPr id="44" name="文本框 43">
              <a:extLst>
                <a:ext uri="{FF2B5EF4-FFF2-40B4-BE49-F238E27FC236}">
                  <a16:creationId xmlns:a16="http://schemas.microsoft.com/office/drawing/2014/main" id="{FECF6FF4-A2BB-4CC9-9318-9EBF89215603}"/>
                </a:ext>
              </a:extLst>
            </p:cNvPr>
            <p:cNvSpPr txBox="1"/>
            <p:nvPr/>
          </p:nvSpPr>
          <p:spPr>
            <a:xfrm>
              <a:off x="8829518" y="5811310"/>
              <a:ext cx="2520001" cy="307777"/>
            </a:xfrm>
            <a:prstGeom prst="rect">
              <a:avLst/>
            </a:prstGeom>
            <a:solidFill>
              <a:schemeClr val="bg1"/>
            </a:solidFill>
          </p:spPr>
          <p:txBody>
            <a:bodyPr wrap="square" rtlCol="0">
              <a:spAutoFit/>
            </a:bodyPr>
            <a:lstStyle/>
            <a:p>
              <a:r>
                <a:rPr lang="zh-CN" altLang="en-US" sz="1400" b="1" dirty="0">
                  <a:solidFill>
                    <a:prstClr val="black"/>
                  </a:solidFill>
                  <a:latin typeface="微软雅黑" panose="020B0503020204020204" pitchFamily="34" charset="-122"/>
                  <a:ea typeface="微软雅黑" panose="020B0503020204020204" pitchFamily="34" charset="-122"/>
                </a:rPr>
                <a:t>小米</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驾驶员</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护栏</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三人死亡</a:t>
              </a:r>
            </a:p>
          </p:txBody>
        </p:sp>
      </p:grpSp>
      <p:sp>
        <p:nvSpPr>
          <p:cNvPr id="48" name="文本框 47">
            <a:extLst>
              <a:ext uri="{FF2B5EF4-FFF2-40B4-BE49-F238E27FC236}">
                <a16:creationId xmlns:a16="http://schemas.microsoft.com/office/drawing/2014/main" id="{D8F1F923-522B-42C0-BC9D-9E577F57DEFF}"/>
              </a:ext>
            </a:extLst>
          </p:cNvPr>
          <p:cNvSpPr txBox="1"/>
          <p:nvPr/>
        </p:nvSpPr>
        <p:spPr>
          <a:xfrm>
            <a:off x="479376" y="5900173"/>
            <a:ext cx="4536504" cy="625171"/>
          </a:xfrm>
          <a:prstGeom prst="rect">
            <a:avLst/>
          </a:prstGeom>
          <a:noFill/>
        </p:spPr>
        <p:txBody>
          <a:bodyPr wrap="square">
            <a:spAutoFit/>
          </a:bodyPr>
          <a:lstStyle/>
          <a:p>
            <a:pPr algn="just">
              <a:lnSpc>
                <a:spcPct val="130000"/>
              </a:lnSpc>
              <a:defRPr/>
            </a:pPr>
            <a:r>
              <a:rPr lang="zh-CN" altLang="en-US" sz="1400" b="1" dirty="0">
                <a:solidFill>
                  <a:prstClr val="black"/>
                </a:solidFill>
                <a:latin typeface="微软雅黑" panose="020B0503020204020204" pitchFamily="34" charset="-122"/>
                <a:ea typeface="微软雅黑" panose="020B0503020204020204" pitchFamily="34" charset="-122"/>
              </a:rPr>
              <a:t>目前美国国家公路交通安全管理局和加州机动车管理局公开的涉及自动驾驶车辆的事故报告已经超过</a:t>
            </a:r>
            <a:r>
              <a:rPr lang="en-US" altLang="zh-CN" sz="1400" b="1" dirty="0">
                <a:solidFill>
                  <a:srgbClr val="FF0000"/>
                </a:solidFill>
                <a:latin typeface="微软雅黑" panose="020B0503020204020204" pitchFamily="34" charset="-122"/>
                <a:ea typeface="微软雅黑" panose="020B0503020204020204" pitchFamily="34" charset="-122"/>
              </a:rPr>
              <a:t>2400</a:t>
            </a:r>
            <a:r>
              <a:rPr lang="zh-CN" altLang="en-US" sz="1400" b="1" dirty="0">
                <a:solidFill>
                  <a:prstClr val="black"/>
                </a:solidFill>
                <a:latin typeface="微软雅黑" panose="020B0503020204020204" pitchFamily="34" charset="-122"/>
                <a:ea typeface="微软雅黑" panose="020B0503020204020204" pitchFamily="34" charset="-122"/>
              </a:rPr>
              <a:t>条。</a:t>
            </a:r>
          </a:p>
        </p:txBody>
      </p:sp>
      <p:sp>
        <p:nvSpPr>
          <p:cNvPr id="36" name="矩形 35">
            <a:extLst>
              <a:ext uri="{FF2B5EF4-FFF2-40B4-BE49-F238E27FC236}">
                <a16:creationId xmlns:a16="http://schemas.microsoft.com/office/drawing/2014/main" id="{A07F50B4-9127-4810-8B7C-FFF36DE34C66}"/>
              </a:ext>
            </a:extLst>
          </p:cNvPr>
          <p:cNvSpPr/>
          <p:nvPr/>
        </p:nvSpPr>
        <p:spPr>
          <a:xfrm>
            <a:off x="6053555" y="5896006"/>
            <a:ext cx="720080" cy="70134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研究问题</a:t>
            </a:r>
          </a:p>
        </p:txBody>
      </p:sp>
      <p:sp>
        <p:nvSpPr>
          <p:cNvPr id="37" name="文本框 36">
            <a:extLst>
              <a:ext uri="{FF2B5EF4-FFF2-40B4-BE49-F238E27FC236}">
                <a16:creationId xmlns:a16="http://schemas.microsoft.com/office/drawing/2014/main" id="{E987E99E-BBDD-4571-8F41-98E461083E3A}"/>
              </a:ext>
            </a:extLst>
          </p:cNvPr>
          <p:cNvSpPr txBox="1"/>
          <p:nvPr/>
        </p:nvSpPr>
        <p:spPr>
          <a:xfrm>
            <a:off x="6773636" y="5896006"/>
            <a:ext cx="4685623" cy="701346"/>
          </a:xfrm>
          <a:prstGeom prst="rect">
            <a:avLst/>
          </a:prstGeom>
          <a:noFill/>
          <a:ln w="12700">
            <a:solidFill>
              <a:schemeClr val="tx1"/>
            </a:solidFill>
            <a:prstDash val="dash"/>
          </a:ln>
        </p:spPr>
        <p:txBody>
          <a:bodyPr wrap="square">
            <a:spAutoFit/>
          </a:bodyPr>
          <a:lstStyle/>
          <a:p>
            <a:pPr algn="just">
              <a:lnSpc>
                <a:spcPct val="130000"/>
              </a:lnSpc>
            </a:pPr>
            <a:r>
              <a:rPr lang="zh-CN" altLang="en-US" sz="1600" b="1" dirty="0">
                <a:solidFill>
                  <a:prstClr val="black"/>
                </a:solidFill>
                <a:latin typeface="微软雅黑" panose="020B0503020204020204" pitchFamily="34" charset="-122"/>
                <a:ea typeface="微软雅黑" panose="020B0503020204020204" pitchFamily="34" charset="-122"/>
              </a:rPr>
              <a:t>如何从自动驾驶事故数据中识别典型场景，揭示变量间依赖关系及不同干预措施风险等级变化规律</a:t>
            </a:r>
          </a:p>
        </p:txBody>
      </p:sp>
      <p:sp>
        <p:nvSpPr>
          <p:cNvPr id="38" name="箭头: 右 37">
            <a:extLst>
              <a:ext uri="{FF2B5EF4-FFF2-40B4-BE49-F238E27FC236}">
                <a16:creationId xmlns:a16="http://schemas.microsoft.com/office/drawing/2014/main" id="{FDDC4377-677A-41E6-AF89-7F222351D953}"/>
              </a:ext>
            </a:extLst>
          </p:cNvPr>
          <p:cNvSpPr/>
          <p:nvPr/>
        </p:nvSpPr>
        <p:spPr>
          <a:xfrm>
            <a:off x="5313021" y="5975206"/>
            <a:ext cx="576000" cy="540000"/>
          </a:xfrm>
          <a:prstGeom prst="rightArrow">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22088652"/>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9">
            <a:extLst>
              <a:ext uri="{FF2B5EF4-FFF2-40B4-BE49-F238E27FC236}">
                <a16:creationId xmlns:a16="http://schemas.microsoft.com/office/drawing/2014/main" id="{71CE0525-4CDF-9451-C39A-45C92D5CD305}"/>
              </a:ext>
            </a:extLst>
          </p:cNvPr>
          <p:cNvSpPr>
            <a:spLocks noChangeArrowheads="1"/>
          </p:cNvSpPr>
          <p:nvPr/>
        </p:nvSpPr>
        <p:spPr bwMode="auto">
          <a:xfrm>
            <a:off x="335360" y="116632"/>
            <a:ext cx="24479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研究背景</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7E08E781-341A-5787-B87D-FFC7CF8C46E9}"/>
              </a:ext>
            </a:extLst>
          </p:cNvPr>
          <p:cNvSpPr/>
          <p:nvPr/>
        </p:nvSpPr>
        <p:spPr>
          <a:xfrm>
            <a:off x="529342" y="1167180"/>
            <a:ext cx="10751234" cy="6120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自动驾驶车辆技术成熟度与公众安全预期之间仍存在明显差距</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下箭头 11">
            <a:extLst>
              <a:ext uri="{FF2B5EF4-FFF2-40B4-BE49-F238E27FC236}">
                <a16:creationId xmlns:a16="http://schemas.microsoft.com/office/drawing/2014/main" id="{C40EF155-9235-4204-9FA1-45DB41646EA7}"/>
              </a:ext>
            </a:extLst>
          </p:cNvPr>
          <p:cNvSpPr>
            <a:spLocks noChangeArrowheads="1"/>
          </p:cNvSpPr>
          <p:nvPr/>
        </p:nvSpPr>
        <p:spPr bwMode="auto">
          <a:xfrm>
            <a:off x="5469546" y="3510184"/>
            <a:ext cx="604837" cy="422872"/>
          </a:xfrm>
          <a:prstGeom prst="downArrow">
            <a:avLst>
              <a:gd name="adj1" fmla="val 50000"/>
              <a:gd name="adj2" fmla="val 57008"/>
            </a:avLst>
          </a:prstGeom>
          <a:solidFill>
            <a:schemeClr val="bg2">
              <a:lumMod val="90000"/>
            </a:schemeClr>
          </a:solidFill>
          <a:ln w="12700" algn="ctr">
            <a:solidFill>
              <a:schemeClr val="tx1"/>
            </a:solidFill>
            <a:round/>
            <a:headEnd/>
            <a:tailEnd/>
          </a:ln>
        </p:spPr>
        <p:txBody>
          <a:bodyPr anchor="ct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defRPr/>
            </a:pPr>
            <a:endParaRPr lang="zh-CN" altLang="en-US" sz="2880" b="1">
              <a:latin typeface="黑体" panose="02010609060101010101" pitchFamily="49" charset="-122"/>
              <a:ea typeface="黑体" panose="02010609060101010101" pitchFamily="49" charset="-122"/>
            </a:endParaRPr>
          </a:p>
        </p:txBody>
      </p:sp>
      <p:grpSp>
        <p:nvGrpSpPr>
          <p:cNvPr id="18" name="组合 17">
            <a:extLst>
              <a:ext uri="{FF2B5EF4-FFF2-40B4-BE49-F238E27FC236}">
                <a16:creationId xmlns:a16="http://schemas.microsoft.com/office/drawing/2014/main" id="{BB0D24F4-4FAF-40A6-95D7-48D5A92082A6}"/>
              </a:ext>
            </a:extLst>
          </p:cNvPr>
          <p:cNvGrpSpPr/>
          <p:nvPr/>
        </p:nvGrpSpPr>
        <p:grpSpPr>
          <a:xfrm>
            <a:off x="529342" y="2047825"/>
            <a:ext cx="4702562" cy="1296144"/>
            <a:chOff x="516677" y="2132856"/>
            <a:chExt cx="4702562" cy="1296144"/>
          </a:xfrm>
        </p:grpSpPr>
        <p:sp>
          <p:nvSpPr>
            <p:cNvPr id="11" name="Rectangle 2">
              <a:extLst>
                <a:ext uri="{FF2B5EF4-FFF2-40B4-BE49-F238E27FC236}">
                  <a16:creationId xmlns:a16="http://schemas.microsoft.com/office/drawing/2014/main" id="{C2B21490-A00C-4CAF-819D-577F5EEB92C1}"/>
                </a:ext>
              </a:extLst>
            </p:cNvPr>
            <p:cNvSpPr>
              <a:spLocks noChangeArrowheads="1"/>
            </p:cNvSpPr>
            <p:nvPr/>
          </p:nvSpPr>
          <p:spPr bwMode="auto">
            <a:xfrm>
              <a:off x="588685" y="2219436"/>
              <a:ext cx="4558546" cy="1137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30000"/>
                </a:lnSpc>
                <a:spcBef>
                  <a:spcPct val="0"/>
                </a:spcBef>
                <a:spcAft>
                  <a:spcPct val="0"/>
                </a:spcAft>
                <a:buClrTx/>
                <a:buSzTx/>
                <a:buFontTx/>
                <a:buNone/>
                <a:tabLst/>
              </a:pPr>
              <a:r>
                <a:rPr lang="zh-CN" altLang="en-US" b="1" dirty="0">
                  <a:solidFill>
                    <a:srgbClr val="FF0000"/>
                  </a:solidFill>
                  <a:latin typeface="微软雅黑" panose="020B0503020204020204" pitchFamily="34" charset="-122"/>
                  <a:ea typeface="微软雅黑" panose="020B0503020204020204" pitchFamily="34" charset="-122"/>
                </a:rPr>
                <a:t>目标：</a:t>
              </a:r>
              <a:r>
                <a:rPr lang="zh-CN" altLang="en-US" b="1" dirty="0">
                  <a:solidFill>
                    <a:prstClr val="black"/>
                  </a:solidFill>
                  <a:latin typeface="微软雅黑" panose="020B0503020204020204" pitchFamily="34" charset="-122"/>
                  <a:ea typeface="微软雅黑" panose="020B0503020204020204" pitchFamily="34" charset="-122"/>
                </a:rPr>
                <a:t>自动驾驶发展</a:t>
              </a:r>
              <a:r>
                <a:rPr lang="zh-CN" altLang="zh-CN" b="1" dirty="0">
                  <a:solidFill>
                    <a:prstClr val="black"/>
                  </a:solidFill>
                  <a:latin typeface="微软雅黑" panose="020B0503020204020204" pitchFamily="34" charset="-122"/>
                  <a:ea typeface="微软雅黑" panose="020B0503020204020204" pitchFamily="34" charset="-122"/>
                </a:rPr>
                <a:t>技术初衷是消除</a:t>
              </a:r>
              <a:r>
                <a:rPr lang="zh-CN" altLang="zh-CN" b="1" dirty="0">
                  <a:solidFill>
                    <a:srgbClr val="FF0000"/>
                  </a:solidFill>
                  <a:latin typeface="微软雅黑" panose="020B0503020204020204" pitchFamily="34" charset="-122"/>
                  <a:ea typeface="微软雅黑" panose="020B0503020204020204" pitchFamily="34" charset="-122"/>
                </a:rPr>
                <a:t>90%以上</a:t>
              </a:r>
              <a:r>
                <a:rPr lang="zh-CN" altLang="zh-CN" b="1" dirty="0">
                  <a:solidFill>
                    <a:prstClr val="black"/>
                  </a:solidFill>
                  <a:latin typeface="微软雅黑" panose="020B0503020204020204" pitchFamily="34" charset="-122"/>
                  <a:ea typeface="微软雅黑" panose="020B0503020204020204" pitchFamily="34" charset="-122"/>
                </a:rPr>
                <a:t>由人为失误（如疲劳、酒驾、分心）导致的交通事故，从而</a:t>
              </a:r>
              <a:r>
                <a:rPr lang="zh-CN" altLang="en-US" b="1" dirty="0">
                  <a:solidFill>
                    <a:prstClr val="black"/>
                  </a:solidFill>
                  <a:latin typeface="微软雅黑" panose="020B0503020204020204" pitchFamily="34" charset="-122"/>
                  <a:ea typeface="微软雅黑" panose="020B0503020204020204" pitchFamily="34" charset="-122"/>
                </a:rPr>
                <a:t>实现</a:t>
              </a:r>
              <a:r>
                <a:rPr lang="zh-CN" altLang="en-US" b="1" dirty="0">
                  <a:solidFill>
                    <a:srgbClr val="FF0000"/>
                  </a:solidFill>
                  <a:latin typeface="微软雅黑" panose="020B0503020204020204" pitchFamily="34" charset="-122"/>
                  <a:ea typeface="微软雅黑" panose="020B0503020204020204" pitchFamily="34" charset="-122"/>
                </a:rPr>
                <a:t>“零愿景”</a:t>
              </a:r>
              <a:r>
                <a:rPr lang="zh-CN" altLang="zh-CN" b="1" dirty="0">
                  <a:solidFill>
                    <a:prstClr val="black"/>
                  </a:solidFill>
                  <a:latin typeface="微软雅黑" panose="020B0503020204020204" pitchFamily="34" charset="-122"/>
                  <a:ea typeface="微软雅黑" panose="020B0503020204020204" pitchFamily="34" charset="-122"/>
                </a:rPr>
                <a:t>。</a:t>
              </a:r>
            </a:p>
          </p:txBody>
        </p:sp>
        <p:sp>
          <p:nvSpPr>
            <p:cNvPr id="17" name="矩形 16">
              <a:extLst>
                <a:ext uri="{FF2B5EF4-FFF2-40B4-BE49-F238E27FC236}">
                  <a16:creationId xmlns:a16="http://schemas.microsoft.com/office/drawing/2014/main" id="{9E709E00-2843-4CF7-A3AC-0B09052C0957}"/>
                </a:ext>
              </a:extLst>
            </p:cNvPr>
            <p:cNvSpPr/>
            <p:nvPr/>
          </p:nvSpPr>
          <p:spPr>
            <a:xfrm>
              <a:off x="516677" y="2132856"/>
              <a:ext cx="4702562" cy="129614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a:extLst>
              <a:ext uri="{FF2B5EF4-FFF2-40B4-BE49-F238E27FC236}">
                <a16:creationId xmlns:a16="http://schemas.microsoft.com/office/drawing/2014/main" id="{C0121177-BFF4-44A8-9CB4-D804A105DC8D}"/>
              </a:ext>
            </a:extLst>
          </p:cNvPr>
          <p:cNvGrpSpPr/>
          <p:nvPr/>
        </p:nvGrpSpPr>
        <p:grpSpPr>
          <a:xfrm>
            <a:off x="6312024" y="2047825"/>
            <a:ext cx="4968552" cy="1296144"/>
            <a:chOff x="6312024" y="2140142"/>
            <a:chExt cx="4968552" cy="1296144"/>
          </a:xfrm>
        </p:grpSpPr>
        <p:sp>
          <p:nvSpPr>
            <p:cNvPr id="23" name="Rectangle 2">
              <a:extLst>
                <a:ext uri="{FF2B5EF4-FFF2-40B4-BE49-F238E27FC236}">
                  <a16:creationId xmlns:a16="http://schemas.microsoft.com/office/drawing/2014/main" id="{13BAFAE5-43FF-408B-A701-61F1A3379DD0}"/>
                </a:ext>
              </a:extLst>
            </p:cNvPr>
            <p:cNvSpPr>
              <a:spLocks noChangeArrowheads="1"/>
            </p:cNvSpPr>
            <p:nvPr/>
          </p:nvSpPr>
          <p:spPr bwMode="auto">
            <a:xfrm>
              <a:off x="6348028" y="2219436"/>
              <a:ext cx="4896544" cy="1137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lnSpc>
                  <a:spcPct val="130000"/>
                </a:lnSpc>
                <a:spcBef>
                  <a:spcPct val="0"/>
                </a:spcBef>
                <a:spcAft>
                  <a:spcPct val="0"/>
                </a:spcAft>
              </a:pPr>
              <a:r>
                <a:rPr lang="zh-CN" altLang="en-US" b="1" dirty="0">
                  <a:solidFill>
                    <a:srgbClr val="FF0000"/>
                  </a:solidFill>
                  <a:latin typeface="微软雅黑" panose="020B0503020204020204" pitchFamily="34" charset="-122"/>
                  <a:ea typeface="微软雅黑" panose="020B0503020204020204" pitchFamily="34" charset="-122"/>
                </a:rPr>
                <a:t>现实：</a:t>
              </a:r>
              <a:r>
                <a:rPr lang="zh-CN" altLang="zh-CN" b="1" dirty="0">
                  <a:solidFill>
                    <a:prstClr val="black"/>
                  </a:solidFill>
                  <a:latin typeface="微软雅黑" panose="020B0503020204020204" pitchFamily="34" charset="-122"/>
                  <a:ea typeface="微软雅黑" panose="020B0503020204020204" pitchFamily="34" charset="-122"/>
                </a:rPr>
                <a:t>在</a:t>
              </a:r>
              <a:r>
                <a:rPr lang="zh-CN" altLang="zh-CN" b="1" dirty="0">
                  <a:solidFill>
                    <a:srgbClr val="FF0000"/>
                  </a:solidFill>
                  <a:latin typeface="微软雅黑" panose="020B0503020204020204" pitchFamily="34" charset="-122"/>
                  <a:ea typeface="微软雅黑" panose="020B0503020204020204" pitchFamily="34" charset="-122"/>
                </a:rPr>
                <a:t>真实、开放、动态变化</a:t>
              </a:r>
              <a:r>
                <a:rPr lang="zh-CN" altLang="zh-CN" b="1" dirty="0">
                  <a:solidFill>
                    <a:prstClr val="black"/>
                  </a:solidFill>
                  <a:latin typeface="微软雅黑" panose="020B0503020204020204" pitchFamily="34" charset="-122"/>
                  <a:ea typeface="微软雅黑" panose="020B0503020204020204" pitchFamily="34" charset="-122"/>
                </a:rPr>
                <a:t>的复杂道路环境中，自动驾驶系统依然面临感知盲区、决策误判、长尾场景覆盖不足等新的安全风险。</a:t>
              </a:r>
            </a:p>
          </p:txBody>
        </p:sp>
        <p:sp>
          <p:nvSpPr>
            <p:cNvPr id="30" name="矩形 29">
              <a:extLst>
                <a:ext uri="{FF2B5EF4-FFF2-40B4-BE49-F238E27FC236}">
                  <a16:creationId xmlns:a16="http://schemas.microsoft.com/office/drawing/2014/main" id="{78FC1BA2-87A5-4E47-9A28-31331C68933C}"/>
                </a:ext>
              </a:extLst>
            </p:cNvPr>
            <p:cNvSpPr/>
            <p:nvPr/>
          </p:nvSpPr>
          <p:spPr>
            <a:xfrm>
              <a:off x="6312024" y="2140142"/>
              <a:ext cx="4968552" cy="129614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矩形 32">
            <a:extLst>
              <a:ext uri="{FF2B5EF4-FFF2-40B4-BE49-F238E27FC236}">
                <a16:creationId xmlns:a16="http://schemas.microsoft.com/office/drawing/2014/main" id="{FFBADF02-4952-4D3B-85A9-756FAA18E288}"/>
              </a:ext>
            </a:extLst>
          </p:cNvPr>
          <p:cNvSpPr/>
          <p:nvPr/>
        </p:nvSpPr>
        <p:spPr>
          <a:xfrm>
            <a:off x="529342" y="4241397"/>
            <a:ext cx="720080" cy="1137556"/>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技术迭代</a:t>
            </a:r>
          </a:p>
        </p:txBody>
      </p:sp>
      <p:sp>
        <p:nvSpPr>
          <p:cNvPr id="35" name="文本框 34">
            <a:extLst>
              <a:ext uri="{FF2B5EF4-FFF2-40B4-BE49-F238E27FC236}">
                <a16:creationId xmlns:a16="http://schemas.microsoft.com/office/drawing/2014/main" id="{55D67594-3C6B-42D0-A743-D3171A9708D2}"/>
              </a:ext>
            </a:extLst>
          </p:cNvPr>
          <p:cNvSpPr txBox="1"/>
          <p:nvPr/>
        </p:nvSpPr>
        <p:spPr>
          <a:xfrm>
            <a:off x="1249423" y="4241397"/>
            <a:ext cx="10031154" cy="1137556"/>
          </a:xfrm>
          <a:prstGeom prst="rect">
            <a:avLst/>
          </a:prstGeom>
          <a:noFill/>
          <a:ln w="12700">
            <a:solidFill>
              <a:schemeClr val="tx1"/>
            </a:solidFill>
            <a:prstDash val="dash"/>
          </a:ln>
        </p:spPr>
        <p:txBody>
          <a:bodyPr wrap="square">
            <a:spAutoFit/>
          </a:bodyPr>
          <a:lstStyle/>
          <a:p>
            <a:pPr algn="just">
              <a:lnSpc>
                <a:spcPct val="130000"/>
              </a:lnSpc>
            </a:pPr>
            <a:r>
              <a:rPr lang="zh-CN" altLang="en-US" b="1" dirty="0">
                <a:solidFill>
                  <a:prstClr val="black"/>
                </a:solidFill>
                <a:latin typeface="微软雅黑" panose="020B0503020204020204" pitchFamily="34" charset="-122"/>
                <a:ea typeface="微软雅黑" panose="020B0503020204020204" pitchFamily="34" charset="-122"/>
              </a:rPr>
              <a:t>以端到端大模型为核心的技术变革引领智能驾驶系统架构从模块化向一体化深度重构，成为产业升级的核心引擎。特斯拉、理想等率先实现</a:t>
            </a:r>
            <a:r>
              <a:rPr lang="zh-CN" altLang="en-US" b="1" dirty="0">
                <a:solidFill>
                  <a:srgbClr val="FF0000"/>
                </a:solidFill>
                <a:latin typeface="微软雅黑" panose="020B0503020204020204" pitchFamily="34" charset="-122"/>
                <a:ea typeface="微软雅黑" panose="020B0503020204020204" pitchFamily="34" charset="-122"/>
              </a:rPr>
              <a:t>端到端模型量产</a:t>
            </a:r>
            <a:r>
              <a:rPr lang="zh-CN" altLang="en-US" b="1" dirty="0">
                <a:solidFill>
                  <a:prstClr val="black"/>
                </a:solidFill>
                <a:latin typeface="微软雅黑" panose="020B0503020204020204" pitchFamily="34" charset="-122"/>
                <a:ea typeface="微软雅黑" panose="020B0503020204020204" pitchFamily="34" charset="-122"/>
              </a:rPr>
              <a:t>，持续优化系统的拟人化驾驶水平。华为发布的乾崑智驾</a:t>
            </a:r>
            <a:r>
              <a:rPr lang="en-US" altLang="zh-CN" b="1" dirty="0">
                <a:solidFill>
                  <a:prstClr val="black"/>
                </a:solidFill>
                <a:latin typeface="微软雅黑" panose="020B0503020204020204" pitchFamily="34" charset="-122"/>
                <a:ea typeface="微软雅黑" panose="020B0503020204020204" pitchFamily="34" charset="-122"/>
              </a:rPr>
              <a:t>WEWA</a:t>
            </a:r>
            <a:r>
              <a:rPr lang="zh-CN" altLang="en-US" b="1" dirty="0">
                <a:solidFill>
                  <a:prstClr val="black"/>
                </a:solidFill>
                <a:latin typeface="微软雅黑" panose="020B0503020204020204" pitchFamily="34" charset="-122"/>
                <a:ea typeface="微软雅黑" panose="020B0503020204020204" pitchFamily="34" charset="-122"/>
              </a:rPr>
              <a:t>架构，一种生成式端到端系统，通过云车协同提升复杂场景处理能力。</a:t>
            </a:r>
            <a:endParaRPr lang="en-US" altLang="zh-CN" b="1" dirty="0">
              <a:solidFill>
                <a:prstClr val="black"/>
              </a:solidFill>
              <a:latin typeface="微软雅黑" panose="020B0503020204020204" pitchFamily="34" charset="-122"/>
              <a:ea typeface="微软雅黑" panose="020B0503020204020204" pitchFamily="34" charset="-122"/>
            </a:endParaRPr>
          </a:p>
        </p:txBody>
      </p:sp>
      <p:pic>
        <p:nvPicPr>
          <p:cNvPr id="2058" name="Picture 10" descr="特斯拉图标高清素材 特斯拉 免抠png 设计图片 免费下载">
            <a:extLst>
              <a:ext uri="{FF2B5EF4-FFF2-40B4-BE49-F238E27FC236}">
                <a16:creationId xmlns:a16="http://schemas.microsoft.com/office/drawing/2014/main" id="{82B039F8-9EAB-4900-B6BA-906C874ABC07}"/>
              </a:ext>
            </a:extLst>
          </p:cNvPr>
          <p:cNvPicPr>
            <a:picLocks noChangeAspect="1" noChangeArrowheads="1"/>
          </p:cNvPicPr>
          <p:nvPr/>
        </p:nvPicPr>
        <p:blipFill>
          <a:blip r:embed="rId3" cstate="print">
            <a:clrChange>
              <a:clrFrom>
                <a:srgbClr val="F4F4F4"/>
              </a:clrFrom>
              <a:clrTo>
                <a:srgbClr val="F4F4F4">
                  <a:alpha val="0"/>
                </a:srgbClr>
              </a:clrTo>
            </a:clrChange>
            <a:extLst>
              <a:ext uri="{28A0092B-C50C-407E-A947-70E740481C1C}">
                <a14:useLocalDpi xmlns:a14="http://schemas.microsoft.com/office/drawing/2010/main" val="0"/>
              </a:ext>
            </a:extLst>
          </a:blip>
          <a:srcRect/>
          <a:stretch>
            <a:fillRect/>
          </a:stretch>
        </p:blipFill>
        <p:spPr bwMode="auto">
          <a:xfrm>
            <a:off x="4079776" y="3446447"/>
            <a:ext cx="514733" cy="62621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理想车标">
            <a:extLst>
              <a:ext uri="{FF2B5EF4-FFF2-40B4-BE49-F238E27FC236}">
                <a16:creationId xmlns:a16="http://schemas.microsoft.com/office/drawing/2014/main" id="{82C16BD5-ED24-4E47-8209-AD8336BBF14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5920" t="41600" r="14297" b="40657"/>
          <a:stretch/>
        </p:blipFill>
        <p:spPr bwMode="auto">
          <a:xfrm>
            <a:off x="6744072" y="3625135"/>
            <a:ext cx="1368152" cy="268839"/>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华为问界汽车logo-花瓣网">
            <a:extLst>
              <a:ext uri="{FF2B5EF4-FFF2-40B4-BE49-F238E27FC236}">
                <a16:creationId xmlns:a16="http://schemas.microsoft.com/office/drawing/2014/main" id="{49CEE444-9CC8-4905-8572-96014D66D7B0}"/>
              </a:ext>
            </a:extLst>
          </p:cNvPr>
          <p:cNvPicPr>
            <a:picLocks noChangeAspect="1" noChangeArrowheads="1"/>
          </p:cNvPicPr>
          <p:nvPr/>
        </p:nvPicPr>
        <p:blipFill>
          <a:blip r:embed="rId5" cstate="print">
            <a:clrChange>
              <a:clrFrom>
                <a:srgbClr val="EEEEEE"/>
              </a:clrFrom>
              <a:clrTo>
                <a:srgbClr val="EEEEEE">
                  <a:alpha val="0"/>
                </a:srgbClr>
              </a:clrTo>
            </a:clrChange>
            <a:extLst>
              <a:ext uri="{28A0092B-C50C-407E-A947-70E740481C1C}">
                <a14:useLocalDpi xmlns:a14="http://schemas.microsoft.com/office/drawing/2010/main" val="0"/>
              </a:ext>
            </a:extLst>
          </a:blip>
          <a:srcRect/>
          <a:stretch>
            <a:fillRect/>
          </a:stretch>
        </p:blipFill>
        <p:spPr bwMode="auto">
          <a:xfrm>
            <a:off x="2156015" y="3370028"/>
            <a:ext cx="779052" cy="779052"/>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Momenta - Momenta公司 - Momenta竞品公司信息 - 爱企查">
            <a:extLst>
              <a:ext uri="{FF2B5EF4-FFF2-40B4-BE49-F238E27FC236}">
                <a16:creationId xmlns:a16="http://schemas.microsoft.com/office/drawing/2014/main" id="{2B52D67B-9865-4EA1-85A1-0DB7D62AD472}"/>
              </a:ext>
            </a:extLst>
          </p:cNvPr>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309257" y="3468863"/>
            <a:ext cx="726728" cy="581382"/>
          </a:xfrm>
          <a:prstGeom prst="rect">
            <a:avLst/>
          </a:prstGeom>
          <a:noFill/>
          <a:extLst>
            <a:ext uri="{909E8E84-426E-40DD-AFC4-6F175D3DCCD1}">
              <a14:hiddenFill xmlns:a14="http://schemas.microsoft.com/office/drawing/2010/main">
                <a:solidFill>
                  <a:srgbClr val="FFFFFF"/>
                </a:solidFill>
              </a14:hiddenFill>
            </a:ext>
          </a:extLst>
        </p:spPr>
      </p:pic>
      <p:sp>
        <p:nvSpPr>
          <p:cNvPr id="44" name="矩形 43">
            <a:extLst>
              <a:ext uri="{FF2B5EF4-FFF2-40B4-BE49-F238E27FC236}">
                <a16:creationId xmlns:a16="http://schemas.microsoft.com/office/drawing/2014/main" id="{7FFAFE15-F65F-404D-852E-731580499672}"/>
              </a:ext>
            </a:extLst>
          </p:cNvPr>
          <p:cNvSpPr/>
          <p:nvPr/>
        </p:nvSpPr>
        <p:spPr>
          <a:xfrm>
            <a:off x="529341" y="5680720"/>
            <a:ext cx="720080" cy="77745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研究问题</a:t>
            </a:r>
          </a:p>
        </p:txBody>
      </p:sp>
      <p:sp>
        <p:nvSpPr>
          <p:cNvPr id="45" name="文本框 44">
            <a:extLst>
              <a:ext uri="{FF2B5EF4-FFF2-40B4-BE49-F238E27FC236}">
                <a16:creationId xmlns:a16="http://schemas.microsoft.com/office/drawing/2014/main" id="{96B0051E-232B-4906-A6E4-529AAFD3D4DC}"/>
              </a:ext>
            </a:extLst>
          </p:cNvPr>
          <p:cNvSpPr txBox="1"/>
          <p:nvPr/>
        </p:nvSpPr>
        <p:spPr>
          <a:xfrm>
            <a:off x="1249421" y="5680720"/>
            <a:ext cx="10031155" cy="777457"/>
          </a:xfrm>
          <a:prstGeom prst="rect">
            <a:avLst/>
          </a:prstGeom>
          <a:noFill/>
          <a:ln w="12700">
            <a:solidFill>
              <a:schemeClr val="tx1"/>
            </a:solidFill>
            <a:prstDash val="dash"/>
          </a:ln>
        </p:spPr>
        <p:txBody>
          <a:bodyPr wrap="square">
            <a:spAutoFit/>
          </a:bodyPr>
          <a:lstStyle>
            <a:defPPr>
              <a:defRPr lang="en-US"/>
            </a:defPPr>
            <a:lvl1pPr algn="just">
              <a:lnSpc>
                <a:spcPct val="130000"/>
              </a:lnSpc>
              <a:defRPr b="1">
                <a:solidFill>
                  <a:prstClr val="black"/>
                </a:solidFill>
                <a:latin typeface="微软雅黑" panose="020B0503020204020204" pitchFamily="34" charset="-122"/>
                <a:ea typeface="微软雅黑" panose="020B0503020204020204" pitchFamily="34" charset="-122"/>
              </a:defRPr>
            </a:lvl1pPr>
          </a:lstStyle>
          <a:p>
            <a:pPr marL="285750" indent="-285750">
              <a:buFont typeface="Wingdings" panose="05000000000000000000" pitchFamily="2" charset="2"/>
              <a:buChar char="Ø"/>
            </a:pPr>
            <a:r>
              <a:rPr lang="zh-CN" altLang="en-US" b="1" i="0" dirty="0">
                <a:solidFill>
                  <a:srgbClr val="0F1115"/>
                </a:solidFill>
                <a:effectLst/>
                <a:latin typeface="quote-cjk-patch"/>
              </a:rPr>
              <a:t>哪些变量对自动驾驶事故具有因果解释力？变量之间的因果关系是什么？</a:t>
            </a:r>
            <a:endParaRPr lang="en-US" altLang="zh-CN" b="1" i="0" dirty="0">
              <a:solidFill>
                <a:srgbClr val="0F1115"/>
              </a:solidFill>
              <a:effectLst/>
              <a:latin typeface="quote-cjk-patch"/>
            </a:endParaRPr>
          </a:p>
          <a:p>
            <a:pPr marL="285750" indent="-285750">
              <a:buFont typeface="Wingdings" panose="05000000000000000000" pitchFamily="2" charset="2"/>
              <a:buChar char="Ø"/>
            </a:pPr>
            <a:r>
              <a:rPr lang="zh-CN" altLang="en-US" b="1" i="0" dirty="0">
                <a:solidFill>
                  <a:srgbClr val="0F1115"/>
                </a:solidFill>
                <a:effectLst/>
                <a:latin typeface="quote-cjk-patch"/>
              </a:rPr>
              <a:t>改变这些因素能降低多少事故风险？</a:t>
            </a:r>
            <a:endParaRPr lang="en-US" altLang="zh-CN" dirty="0"/>
          </a:p>
        </p:txBody>
      </p:sp>
    </p:spTree>
    <p:extLst>
      <p:ext uri="{BB962C8B-B14F-4D97-AF65-F5344CB8AC3E}">
        <p14:creationId xmlns:p14="http://schemas.microsoft.com/office/powerpoint/2010/main" val="442538060"/>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9">
            <a:extLst>
              <a:ext uri="{FF2B5EF4-FFF2-40B4-BE49-F238E27FC236}">
                <a16:creationId xmlns:a16="http://schemas.microsoft.com/office/drawing/2014/main" id="{71CE0525-4CDF-9451-C39A-45C92D5CD305}"/>
              </a:ext>
            </a:extLst>
          </p:cNvPr>
          <p:cNvSpPr>
            <a:spLocks noChangeArrowheads="1"/>
          </p:cNvSpPr>
          <p:nvPr/>
        </p:nvSpPr>
        <p:spPr bwMode="auto">
          <a:xfrm>
            <a:off x="335360" y="116632"/>
            <a:ext cx="24479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研究背景</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7E08E781-341A-5787-B87D-FFC7CF8C46E9}"/>
              </a:ext>
            </a:extLst>
          </p:cNvPr>
          <p:cNvSpPr/>
          <p:nvPr/>
        </p:nvSpPr>
        <p:spPr>
          <a:xfrm>
            <a:off x="529342" y="1124744"/>
            <a:ext cx="10751234" cy="6120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事故责任划分机制不完善成为自动驾驶车辆发展瓶颈约束条件</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箭头: 右 4">
            <a:extLst>
              <a:ext uri="{FF2B5EF4-FFF2-40B4-BE49-F238E27FC236}">
                <a16:creationId xmlns:a16="http://schemas.microsoft.com/office/drawing/2014/main" id="{6B34B6C5-9349-4223-9D78-8A7A3F543039}"/>
              </a:ext>
            </a:extLst>
          </p:cNvPr>
          <p:cNvSpPr/>
          <p:nvPr/>
        </p:nvSpPr>
        <p:spPr>
          <a:xfrm>
            <a:off x="529341" y="2879225"/>
            <a:ext cx="10751233"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3CE81CFB-9E4B-471D-8445-2AACE2ED6722}"/>
              </a:ext>
            </a:extLst>
          </p:cNvPr>
          <p:cNvSpPr/>
          <p:nvPr/>
        </p:nvSpPr>
        <p:spPr>
          <a:xfrm>
            <a:off x="529340" y="4255949"/>
            <a:ext cx="10751233" cy="360040"/>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74497E3A-C992-45E9-8F1A-B7F32DB0B177}"/>
              </a:ext>
            </a:extLst>
          </p:cNvPr>
          <p:cNvSpPr/>
          <p:nvPr/>
        </p:nvSpPr>
        <p:spPr>
          <a:xfrm>
            <a:off x="529340" y="1871113"/>
            <a:ext cx="814132" cy="36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国际</a:t>
            </a:r>
          </a:p>
        </p:txBody>
      </p:sp>
      <p:sp>
        <p:nvSpPr>
          <p:cNvPr id="26" name="矩形: 圆角 25">
            <a:extLst>
              <a:ext uri="{FF2B5EF4-FFF2-40B4-BE49-F238E27FC236}">
                <a16:creationId xmlns:a16="http://schemas.microsoft.com/office/drawing/2014/main" id="{D49212A1-BF73-4869-B888-1F3386C7F751}"/>
              </a:ext>
            </a:extLst>
          </p:cNvPr>
          <p:cNvSpPr/>
          <p:nvPr/>
        </p:nvSpPr>
        <p:spPr>
          <a:xfrm>
            <a:off x="529340" y="3290205"/>
            <a:ext cx="814132" cy="360040"/>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中国</a:t>
            </a:r>
          </a:p>
        </p:txBody>
      </p:sp>
      <p:pic>
        <p:nvPicPr>
          <p:cNvPr id="11268" name="Picture 4" descr="地球图标-快图网-免费PNG图片免抠PNG高清背景素材库kuaipng.com">
            <a:extLst>
              <a:ext uri="{FF2B5EF4-FFF2-40B4-BE49-F238E27FC236}">
                <a16:creationId xmlns:a16="http://schemas.microsoft.com/office/drawing/2014/main" id="{FB14C6AE-0C18-4D18-96B8-AAC810D163E8}"/>
              </a:ext>
            </a:extLst>
          </p:cNvPr>
          <p:cNvPicPr>
            <a:picLocks noChangeAspect="1" noChangeArrowheads="1"/>
          </p:cNvPicPr>
          <p:nvPr/>
        </p:nvPicPr>
        <p:blipFill>
          <a:blip r:embed="rId3" cstate="print">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510033" y="2150001"/>
            <a:ext cx="852745" cy="852745"/>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中国国旗圆形向量图标设计 中国圆形国旗 | Premium矢量">
            <a:extLst>
              <a:ext uri="{FF2B5EF4-FFF2-40B4-BE49-F238E27FC236}">
                <a16:creationId xmlns:a16="http://schemas.microsoft.com/office/drawing/2014/main" id="{77BF4894-648A-4BC1-BB6E-5960F7707FD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508" t="13771" r="13771" b="13771"/>
          <a:stretch/>
        </p:blipFill>
        <p:spPr bwMode="auto">
          <a:xfrm>
            <a:off x="615548" y="3710902"/>
            <a:ext cx="591757" cy="589615"/>
          </a:xfrm>
          <a:prstGeom prst="ellipse">
            <a:avLst/>
          </a:prstGeom>
          <a:noFill/>
          <a:extLst>
            <a:ext uri="{909E8E84-426E-40DD-AFC4-6F175D3DCCD1}">
              <a14:hiddenFill xmlns:a14="http://schemas.microsoft.com/office/drawing/2010/main">
                <a:solidFill>
                  <a:srgbClr val="FFFFFF"/>
                </a:solidFill>
              </a14:hiddenFill>
            </a:ext>
          </a:extLst>
        </p:spPr>
      </p:pic>
      <p:sp>
        <p:nvSpPr>
          <p:cNvPr id="8" name="椭圆 7">
            <a:extLst>
              <a:ext uri="{FF2B5EF4-FFF2-40B4-BE49-F238E27FC236}">
                <a16:creationId xmlns:a16="http://schemas.microsoft.com/office/drawing/2014/main" id="{D54D5905-0645-4906-AB12-FD97C27060EC}"/>
              </a:ext>
            </a:extLst>
          </p:cNvPr>
          <p:cNvSpPr/>
          <p:nvPr/>
        </p:nvSpPr>
        <p:spPr>
          <a:xfrm>
            <a:off x="1919536" y="2987237"/>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a:extLst>
              <a:ext uri="{FF2B5EF4-FFF2-40B4-BE49-F238E27FC236}">
                <a16:creationId xmlns:a16="http://schemas.microsoft.com/office/drawing/2014/main" id="{247DD538-43EB-4EFB-875F-C3022D6C8631}"/>
              </a:ext>
            </a:extLst>
          </p:cNvPr>
          <p:cNvSpPr/>
          <p:nvPr/>
        </p:nvSpPr>
        <p:spPr>
          <a:xfrm>
            <a:off x="3360440" y="2987237"/>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FFFD3160-AC2E-4BD5-80CF-8B354C434712}"/>
              </a:ext>
            </a:extLst>
          </p:cNvPr>
          <p:cNvSpPr/>
          <p:nvPr/>
        </p:nvSpPr>
        <p:spPr>
          <a:xfrm>
            <a:off x="4801344" y="2987237"/>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3A4CEDF1-B788-4309-8E67-2C103D011AAD}"/>
              </a:ext>
            </a:extLst>
          </p:cNvPr>
          <p:cNvSpPr/>
          <p:nvPr/>
        </p:nvSpPr>
        <p:spPr>
          <a:xfrm>
            <a:off x="6242248" y="2987237"/>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9BDDC240-9314-4A0D-A343-F1D4307289E6}"/>
              </a:ext>
            </a:extLst>
          </p:cNvPr>
          <p:cNvSpPr/>
          <p:nvPr/>
        </p:nvSpPr>
        <p:spPr>
          <a:xfrm>
            <a:off x="7683152" y="2987237"/>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7D136EFE-B6C6-4B0C-BA88-1180952CA553}"/>
              </a:ext>
            </a:extLst>
          </p:cNvPr>
          <p:cNvSpPr/>
          <p:nvPr/>
        </p:nvSpPr>
        <p:spPr>
          <a:xfrm>
            <a:off x="9124056" y="2987237"/>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43D8DFAE-F9EF-4CA4-BE78-74D923DE4480}"/>
              </a:ext>
            </a:extLst>
          </p:cNvPr>
          <p:cNvSpPr/>
          <p:nvPr/>
        </p:nvSpPr>
        <p:spPr>
          <a:xfrm>
            <a:off x="10564960" y="2987237"/>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4F6D1F2E-E379-4406-8B1A-7B20057EA74A}"/>
              </a:ext>
            </a:extLst>
          </p:cNvPr>
          <p:cNvSpPr txBox="1"/>
          <p:nvPr/>
        </p:nvSpPr>
        <p:spPr>
          <a:xfrm>
            <a:off x="1382418" y="2217162"/>
            <a:ext cx="1257198" cy="738664"/>
          </a:xfrm>
          <a:prstGeom prst="rect">
            <a:avLst/>
          </a:prstGeom>
          <a:noFill/>
        </p:spPr>
        <p:txBody>
          <a:bodyPr wrap="square">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美国</a:t>
            </a:r>
            <a:r>
              <a:rPr lang="zh-CN" altLang="en-US" sz="1400" b="1" dirty="0">
                <a:solidFill>
                  <a:prstClr val="black"/>
                </a:solidFill>
                <a:latin typeface="微软雅黑" panose="020B0503020204020204" pitchFamily="34" charset="-122"/>
                <a:ea typeface="微软雅黑" panose="020B0503020204020204" pitchFamily="34" charset="-122"/>
              </a:rPr>
              <a:t>自动驾驶准入</a:t>
            </a:r>
            <a:r>
              <a:rPr lang="zh-CN" altLang="en-US" sz="1400" dirty="0">
                <a:solidFill>
                  <a:prstClr val="black"/>
                </a:solidFill>
                <a:latin typeface="微软雅黑" panose="020B0503020204020204" pitchFamily="34" charset="-122"/>
                <a:ea typeface="微软雅黑" panose="020B0503020204020204" pitchFamily="34" charset="-122"/>
              </a:rPr>
              <a:t>，合法上路测试开启</a:t>
            </a:r>
          </a:p>
        </p:txBody>
      </p:sp>
      <p:sp>
        <p:nvSpPr>
          <p:cNvPr id="62" name="文本框 61">
            <a:extLst>
              <a:ext uri="{FF2B5EF4-FFF2-40B4-BE49-F238E27FC236}">
                <a16:creationId xmlns:a16="http://schemas.microsoft.com/office/drawing/2014/main" id="{1E01E18C-27E5-45E4-89C9-262AA180E0A3}"/>
              </a:ext>
            </a:extLst>
          </p:cNvPr>
          <p:cNvSpPr txBox="1"/>
          <p:nvPr/>
        </p:nvSpPr>
        <p:spPr>
          <a:xfrm>
            <a:off x="2612337" y="2217162"/>
            <a:ext cx="1539447" cy="738664"/>
          </a:xfrm>
          <a:prstGeom prst="rect">
            <a:avLst/>
          </a:prstGeom>
          <a:noFill/>
        </p:spPr>
        <p:txBody>
          <a:bodyPr wrap="square">
            <a:spAutoFit/>
          </a:bodyPr>
          <a:lstStyle/>
          <a:p>
            <a:pPr algn="ctr"/>
            <a:r>
              <a:rPr lang="en-US" altLang="zh-CN" sz="1400" dirty="0">
                <a:solidFill>
                  <a:prstClr val="black"/>
                </a:solidFill>
                <a:latin typeface="微软雅黑" panose="020B0503020204020204" pitchFamily="34" charset="-122"/>
                <a:ea typeface="微软雅黑" panose="020B0503020204020204" pitchFamily="34" charset="-122"/>
              </a:rPr>
              <a:t>NHTSA</a:t>
            </a:r>
            <a:r>
              <a:rPr lang="zh-CN" altLang="zh-CN" sz="1400" dirty="0">
                <a:solidFill>
                  <a:prstClr val="black"/>
                </a:solidFill>
                <a:latin typeface="微软雅黑" panose="020B0503020204020204" pitchFamily="34" charset="-122"/>
                <a:ea typeface="微软雅黑" panose="020B0503020204020204" pitchFamily="34" charset="-122"/>
              </a:rPr>
              <a:t>发布《自动驾驶车辆政策声明》</a:t>
            </a:r>
            <a:r>
              <a:rPr lang="zh-CN" altLang="zh-CN" sz="1400" b="1" dirty="0">
                <a:solidFill>
                  <a:prstClr val="black"/>
                </a:solidFill>
                <a:latin typeface="微软雅黑" panose="020B0503020204020204" pitchFamily="34" charset="-122"/>
                <a:ea typeface="微软雅黑" panose="020B0503020204020204" pitchFamily="34" charset="-122"/>
              </a:rPr>
              <a:t>联邦监管</a:t>
            </a: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1F66DFC4-7648-448F-BB5E-9B77DC6F2C3C}"/>
              </a:ext>
            </a:extLst>
          </p:cNvPr>
          <p:cNvSpPr/>
          <p:nvPr/>
        </p:nvSpPr>
        <p:spPr>
          <a:xfrm>
            <a:off x="1414807" y="1903872"/>
            <a:ext cx="1152302" cy="272878"/>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5B91DEB6-71F9-4CAE-831B-B1ED014F495D}"/>
              </a:ext>
            </a:extLst>
          </p:cNvPr>
          <p:cNvSpPr txBox="1"/>
          <p:nvPr/>
        </p:nvSpPr>
        <p:spPr>
          <a:xfrm>
            <a:off x="1604442" y="1844824"/>
            <a:ext cx="773032" cy="369332"/>
          </a:xfrm>
          <a:prstGeom prst="rect">
            <a:avLst/>
          </a:prstGeom>
          <a:noFill/>
        </p:spPr>
        <p:txBody>
          <a:bodyPr wrap="square" rtlCol="0" anchor="ctr">
            <a:spAutoFit/>
          </a:bodyPr>
          <a:lstStyle/>
          <a:p>
            <a:pPr algn="ctr"/>
            <a:r>
              <a:rPr lang="en-US" altLang="zh-CN" dirty="0"/>
              <a:t>2012</a:t>
            </a:r>
            <a:endParaRPr lang="zh-CN" altLang="en-US" dirty="0"/>
          </a:p>
        </p:txBody>
      </p:sp>
      <p:sp>
        <p:nvSpPr>
          <p:cNvPr id="63" name="矩形: 圆角 62">
            <a:extLst>
              <a:ext uri="{FF2B5EF4-FFF2-40B4-BE49-F238E27FC236}">
                <a16:creationId xmlns:a16="http://schemas.microsoft.com/office/drawing/2014/main" id="{700FCAA9-51EA-4743-9422-92ACA408FA2E}"/>
              </a:ext>
            </a:extLst>
          </p:cNvPr>
          <p:cNvSpPr/>
          <p:nvPr/>
        </p:nvSpPr>
        <p:spPr>
          <a:xfrm>
            <a:off x="2845439" y="1903872"/>
            <a:ext cx="1152302" cy="272878"/>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B8E1AB55-83A3-480E-9300-D39CE4F35AFE}"/>
              </a:ext>
            </a:extLst>
          </p:cNvPr>
          <p:cNvSpPr txBox="1"/>
          <p:nvPr/>
        </p:nvSpPr>
        <p:spPr>
          <a:xfrm>
            <a:off x="3061550" y="1863359"/>
            <a:ext cx="720080" cy="375548"/>
          </a:xfrm>
          <a:prstGeom prst="rect">
            <a:avLst/>
          </a:prstGeom>
          <a:noFill/>
        </p:spPr>
        <p:txBody>
          <a:bodyPr wrap="square" rtlCol="0">
            <a:spAutoFit/>
          </a:bodyPr>
          <a:lstStyle/>
          <a:p>
            <a:pPr algn="ctr"/>
            <a:r>
              <a:rPr lang="en-US" altLang="zh-CN" dirty="0"/>
              <a:t>2016</a:t>
            </a:r>
            <a:endParaRPr lang="zh-CN" altLang="en-US" dirty="0"/>
          </a:p>
        </p:txBody>
      </p:sp>
      <p:sp>
        <p:nvSpPr>
          <p:cNvPr id="64" name="矩形: 圆角 63">
            <a:extLst>
              <a:ext uri="{FF2B5EF4-FFF2-40B4-BE49-F238E27FC236}">
                <a16:creationId xmlns:a16="http://schemas.microsoft.com/office/drawing/2014/main" id="{53F4C665-2186-4F48-B705-A99229DCAE26}"/>
              </a:ext>
            </a:extLst>
          </p:cNvPr>
          <p:cNvSpPr/>
          <p:nvPr/>
        </p:nvSpPr>
        <p:spPr>
          <a:xfrm>
            <a:off x="4276071" y="1903872"/>
            <a:ext cx="1152302" cy="272878"/>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97AA725E-7B1D-41DD-A248-966EF69CF038}"/>
              </a:ext>
            </a:extLst>
          </p:cNvPr>
          <p:cNvSpPr txBox="1"/>
          <p:nvPr/>
        </p:nvSpPr>
        <p:spPr>
          <a:xfrm>
            <a:off x="4492182" y="1863359"/>
            <a:ext cx="720080" cy="375548"/>
          </a:xfrm>
          <a:prstGeom prst="rect">
            <a:avLst/>
          </a:prstGeom>
          <a:noFill/>
        </p:spPr>
        <p:txBody>
          <a:bodyPr wrap="square" rtlCol="0">
            <a:spAutoFit/>
          </a:bodyPr>
          <a:lstStyle/>
          <a:p>
            <a:pPr algn="ctr"/>
            <a:r>
              <a:rPr lang="en-US" altLang="zh-CN" dirty="0"/>
              <a:t>2020</a:t>
            </a:r>
            <a:endParaRPr lang="zh-CN" altLang="en-US" dirty="0"/>
          </a:p>
        </p:txBody>
      </p:sp>
      <p:sp>
        <p:nvSpPr>
          <p:cNvPr id="65" name="矩形: 圆角 64">
            <a:extLst>
              <a:ext uri="{FF2B5EF4-FFF2-40B4-BE49-F238E27FC236}">
                <a16:creationId xmlns:a16="http://schemas.microsoft.com/office/drawing/2014/main" id="{D8A19841-1232-4667-AA2D-2CB438E06708}"/>
              </a:ext>
            </a:extLst>
          </p:cNvPr>
          <p:cNvSpPr/>
          <p:nvPr/>
        </p:nvSpPr>
        <p:spPr>
          <a:xfrm>
            <a:off x="5706703" y="1903872"/>
            <a:ext cx="1152302" cy="272878"/>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7A5E55CE-BA0D-4460-BD7D-7E485A5186CB}"/>
              </a:ext>
            </a:extLst>
          </p:cNvPr>
          <p:cNvSpPr txBox="1"/>
          <p:nvPr/>
        </p:nvSpPr>
        <p:spPr>
          <a:xfrm>
            <a:off x="5922814" y="1863359"/>
            <a:ext cx="720080" cy="375548"/>
          </a:xfrm>
          <a:prstGeom prst="rect">
            <a:avLst/>
          </a:prstGeom>
          <a:noFill/>
        </p:spPr>
        <p:txBody>
          <a:bodyPr wrap="square" rtlCol="0">
            <a:spAutoFit/>
          </a:bodyPr>
          <a:lstStyle/>
          <a:p>
            <a:pPr algn="ctr"/>
            <a:r>
              <a:rPr lang="en-US" altLang="zh-CN" dirty="0"/>
              <a:t>2021</a:t>
            </a:r>
            <a:endParaRPr lang="zh-CN" altLang="en-US" dirty="0"/>
          </a:p>
        </p:txBody>
      </p:sp>
      <p:sp>
        <p:nvSpPr>
          <p:cNvPr id="66" name="矩形: 圆角 65">
            <a:extLst>
              <a:ext uri="{FF2B5EF4-FFF2-40B4-BE49-F238E27FC236}">
                <a16:creationId xmlns:a16="http://schemas.microsoft.com/office/drawing/2014/main" id="{BE779ACC-2F78-4B4F-910D-2E6AC5B06D1B}"/>
              </a:ext>
            </a:extLst>
          </p:cNvPr>
          <p:cNvSpPr/>
          <p:nvPr/>
        </p:nvSpPr>
        <p:spPr>
          <a:xfrm>
            <a:off x="7137335" y="1903872"/>
            <a:ext cx="1152302" cy="272878"/>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33355AD4-1E11-4895-BE57-9CEF5AB1A5F9}"/>
              </a:ext>
            </a:extLst>
          </p:cNvPr>
          <p:cNvSpPr txBox="1"/>
          <p:nvPr/>
        </p:nvSpPr>
        <p:spPr>
          <a:xfrm>
            <a:off x="7353446" y="1863359"/>
            <a:ext cx="720080" cy="375548"/>
          </a:xfrm>
          <a:prstGeom prst="rect">
            <a:avLst/>
          </a:prstGeom>
          <a:noFill/>
        </p:spPr>
        <p:txBody>
          <a:bodyPr wrap="square" rtlCol="0">
            <a:spAutoFit/>
          </a:bodyPr>
          <a:lstStyle/>
          <a:p>
            <a:pPr algn="ctr"/>
            <a:r>
              <a:rPr lang="en-US" altLang="zh-CN" dirty="0"/>
              <a:t>2022</a:t>
            </a:r>
            <a:endParaRPr lang="zh-CN" altLang="en-US" dirty="0"/>
          </a:p>
        </p:txBody>
      </p:sp>
      <p:sp>
        <p:nvSpPr>
          <p:cNvPr id="68" name="矩形: 圆角 67">
            <a:extLst>
              <a:ext uri="{FF2B5EF4-FFF2-40B4-BE49-F238E27FC236}">
                <a16:creationId xmlns:a16="http://schemas.microsoft.com/office/drawing/2014/main" id="{C1B979A5-6139-4B80-9D66-90B71A965EE5}"/>
              </a:ext>
            </a:extLst>
          </p:cNvPr>
          <p:cNvSpPr/>
          <p:nvPr/>
        </p:nvSpPr>
        <p:spPr>
          <a:xfrm>
            <a:off x="9998597" y="1903872"/>
            <a:ext cx="1152302" cy="272878"/>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F2D4E828-E913-42F6-ABA2-B79861C0DE83}"/>
              </a:ext>
            </a:extLst>
          </p:cNvPr>
          <p:cNvSpPr txBox="1"/>
          <p:nvPr/>
        </p:nvSpPr>
        <p:spPr>
          <a:xfrm>
            <a:off x="10214708" y="1863359"/>
            <a:ext cx="720080" cy="375548"/>
          </a:xfrm>
          <a:prstGeom prst="rect">
            <a:avLst/>
          </a:prstGeom>
          <a:noFill/>
        </p:spPr>
        <p:txBody>
          <a:bodyPr wrap="square" rtlCol="0">
            <a:spAutoFit/>
          </a:bodyPr>
          <a:lstStyle/>
          <a:p>
            <a:pPr algn="ctr"/>
            <a:r>
              <a:rPr lang="en-US" altLang="zh-CN" dirty="0"/>
              <a:t>2026</a:t>
            </a:r>
            <a:endParaRPr lang="zh-CN" altLang="en-US" dirty="0"/>
          </a:p>
        </p:txBody>
      </p:sp>
      <p:sp>
        <p:nvSpPr>
          <p:cNvPr id="67" name="矩形: 圆角 66">
            <a:extLst>
              <a:ext uri="{FF2B5EF4-FFF2-40B4-BE49-F238E27FC236}">
                <a16:creationId xmlns:a16="http://schemas.microsoft.com/office/drawing/2014/main" id="{EBC70F46-BD0C-4A92-8596-377FCCC66C80}"/>
              </a:ext>
            </a:extLst>
          </p:cNvPr>
          <p:cNvSpPr/>
          <p:nvPr/>
        </p:nvSpPr>
        <p:spPr>
          <a:xfrm>
            <a:off x="8567967" y="1903872"/>
            <a:ext cx="1152302" cy="272878"/>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08AB75B5-5408-4E0F-A3DA-C9690ACED84F}"/>
              </a:ext>
            </a:extLst>
          </p:cNvPr>
          <p:cNvSpPr txBox="1"/>
          <p:nvPr/>
        </p:nvSpPr>
        <p:spPr>
          <a:xfrm>
            <a:off x="8784078" y="1863359"/>
            <a:ext cx="720080" cy="375548"/>
          </a:xfrm>
          <a:prstGeom prst="rect">
            <a:avLst/>
          </a:prstGeom>
          <a:noFill/>
        </p:spPr>
        <p:txBody>
          <a:bodyPr wrap="square" rtlCol="0">
            <a:spAutoFit/>
          </a:bodyPr>
          <a:lstStyle/>
          <a:p>
            <a:pPr algn="ctr"/>
            <a:r>
              <a:rPr lang="en-US" altLang="zh-CN" dirty="0"/>
              <a:t>2024</a:t>
            </a:r>
            <a:endParaRPr lang="zh-CN" altLang="en-US" dirty="0"/>
          </a:p>
        </p:txBody>
      </p:sp>
      <p:sp>
        <p:nvSpPr>
          <p:cNvPr id="76" name="文本框 75">
            <a:extLst>
              <a:ext uri="{FF2B5EF4-FFF2-40B4-BE49-F238E27FC236}">
                <a16:creationId xmlns:a16="http://schemas.microsoft.com/office/drawing/2014/main" id="{124FA35E-1923-4A3A-AF9B-7FA566563423}"/>
              </a:ext>
            </a:extLst>
          </p:cNvPr>
          <p:cNvSpPr txBox="1"/>
          <p:nvPr/>
        </p:nvSpPr>
        <p:spPr>
          <a:xfrm>
            <a:off x="4151784" y="2217162"/>
            <a:ext cx="1368152" cy="738664"/>
          </a:xfrm>
          <a:prstGeom prst="rect">
            <a:avLst/>
          </a:prstGeom>
          <a:noFill/>
        </p:spPr>
        <p:txBody>
          <a:bodyPr wrap="square">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联合国</a:t>
            </a:r>
            <a:r>
              <a:rPr lang="en-US" altLang="zh-CN" sz="1400" dirty="0">
                <a:solidFill>
                  <a:prstClr val="black"/>
                </a:solidFill>
                <a:latin typeface="微软雅黑" panose="020B0503020204020204" pitchFamily="34" charset="-122"/>
                <a:ea typeface="微软雅黑" panose="020B0503020204020204" pitchFamily="34" charset="-122"/>
              </a:rPr>
              <a:t>UN R157</a:t>
            </a:r>
            <a:r>
              <a:rPr lang="zh-CN" altLang="en-US" sz="1400" dirty="0">
                <a:solidFill>
                  <a:prstClr val="black"/>
                </a:solidFill>
                <a:latin typeface="微软雅黑" panose="020B0503020204020204" pitchFamily="34" charset="-122"/>
                <a:ea typeface="微软雅黑" panose="020B0503020204020204" pitchFamily="34" charset="-122"/>
              </a:rPr>
              <a:t>法规发布，首个</a:t>
            </a:r>
            <a:r>
              <a:rPr lang="en-US" altLang="zh-CN" sz="1400" b="1" dirty="0">
                <a:solidFill>
                  <a:prstClr val="black"/>
                </a:solidFill>
                <a:latin typeface="微软雅黑" panose="020B0503020204020204" pitchFamily="34" charset="-122"/>
                <a:ea typeface="微软雅黑" panose="020B0503020204020204" pitchFamily="34" charset="-122"/>
              </a:rPr>
              <a:t>L3</a:t>
            </a:r>
            <a:r>
              <a:rPr lang="zh-CN" altLang="en-US" sz="1400" b="1" dirty="0">
                <a:solidFill>
                  <a:prstClr val="black"/>
                </a:solidFill>
                <a:latin typeface="微软雅黑" panose="020B0503020204020204" pitchFamily="34" charset="-122"/>
                <a:ea typeface="微软雅黑" panose="020B0503020204020204" pitchFamily="34" charset="-122"/>
              </a:rPr>
              <a:t>级法规</a:t>
            </a:r>
          </a:p>
        </p:txBody>
      </p:sp>
      <p:sp>
        <p:nvSpPr>
          <p:cNvPr id="77" name="文本框 76">
            <a:extLst>
              <a:ext uri="{FF2B5EF4-FFF2-40B4-BE49-F238E27FC236}">
                <a16:creationId xmlns:a16="http://schemas.microsoft.com/office/drawing/2014/main" id="{C1D52918-739F-44CE-8B50-B0ADA9C4DF3B}"/>
              </a:ext>
            </a:extLst>
          </p:cNvPr>
          <p:cNvSpPr txBox="1"/>
          <p:nvPr/>
        </p:nvSpPr>
        <p:spPr>
          <a:xfrm>
            <a:off x="5305070" y="2217162"/>
            <a:ext cx="1582688" cy="738664"/>
          </a:xfrm>
          <a:prstGeom prst="rect">
            <a:avLst/>
          </a:prstGeom>
          <a:noFill/>
        </p:spPr>
        <p:txBody>
          <a:bodyPr wrap="square">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英国</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自动电动汽车法</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责任转向制造商和保险</a:t>
            </a:r>
          </a:p>
        </p:txBody>
      </p:sp>
      <p:sp>
        <p:nvSpPr>
          <p:cNvPr id="78" name="文本框 77">
            <a:extLst>
              <a:ext uri="{FF2B5EF4-FFF2-40B4-BE49-F238E27FC236}">
                <a16:creationId xmlns:a16="http://schemas.microsoft.com/office/drawing/2014/main" id="{09557848-60DF-400A-B51B-C2379E342D47}"/>
              </a:ext>
            </a:extLst>
          </p:cNvPr>
          <p:cNvSpPr txBox="1"/>
          <p:nvPr/>
        </p:nvSpPr>
        <p:spPr>
          <a:xfrm>
            <a:off x="6744072" y="2217162"/>
            <a:ext cx="1790759" cy="738664"/>
          </a:xfrm>
          <a:prstGeom prst="rect">
            <a:avLst/>
          </a:prstGeom>
          <a:noFill/>
        </p:spPr>
        <p:txBody>
          <a:bodyPr wrap="square">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联合国修订</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维也纳道路交通公约</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允许</a:t>
            </a:r>
            <a:r>
              <a:rPr lang="en-US" altLang="zh-CN" sz="1400" b="1" dirty="0">
                <a:solidFill>
                  <a:prstClr val="black"/>
                </a:solidFill>
                <a:latin typeface="微软雅黑" panose="020B0503020204020204" pitchFamily="34" charset="-122"/>
                <a:ea typeface="微软雅黑" panose="020B0503020204020204" pitchFamily="34" charset="-122"/>
              </a:rPr>
              <a:t>AV</a:t>
            </a:r>
            <a:r>
              <a:rPr lang="zh-CN" altLang="en-US" sz="1400" b="1" dirty="0">
                <a:solidFill>
                  <a:prstClr val="black"/>
                </a:solidFill>
                <a:latin typeface="微软雅黑" panose="020B0503020204020204" pitchFamily="34" charset="-122"/>
                <a:ea typeface="微软雅黑" panose="020B0503020204020204" pitchFamily="34" charset="-122"/>
              </a:rPr>
              <a:t>部分替代驾驶员</a:t>
            </a:r>
          </a:p>
        </p:txBody>
      </p:sp>
      <p:sp>
        <p:nvSpPr>
          <p:cNvPr id="80" name="文本框 79">
            <a:extLst>
              <a:ext uri="{FF2B5EF4-FFF2-40B4-BE49-F238E27FC236}">
                <a16:creationId xmlns:a16="http://schemas.microsoft.com/office/drawing/2014/main" id="{8BE90CCC-945B-4CE8-97E4-ED19D4A2134B}"/>
              </a:ext>
            </a:extLst>
          </p:cNvPr>
          <p:cNvSpPr txBox="1"/>
          <p:nvPr/>
        </p:nvSpPr>
        <p:spPr>
          <a:xfrm>
            <a:off x="8472264" y="2217162"/>
            <a:ext cx="1435617" cy="738664"/>
          </a:xfrm>
          <a:prstGeom prst="rect">
            <a:avLst/>
          </a:prstGeom>
          <a:noFill/>
        </p:spPr>
        <p:txBody>
          <a:bodyPr wrap="square">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联合国要求</a:t>
            </a:r>
            <a:r>
              <a:rPr lang="en-US" altLang="zh-CN" sz="1400" dirty="0">
                <a:solidFill>
                  <a:prstClr val="black"/>
                </a:solidFill>
                <a:latin typeface="微软雅黑" panose="020B0503020204020204" pitchFamily="34" charset="-122"/>
                <a:ea typeface="微软雅黑" panose="020B0503020204020204" pitchFamily="34" charset="-122"/>
              </a:rPr>
              <a:t>SAE </a:t>
            </a:r>
            <a:r>
              <a:rPr lang="en-US" altLang="zh-CN" sz="1400" b="1" dirty="0">
                <a:solidFill>
                  <a:prstClr val="black"/>
                </a:solidFill>
                <a:latin typeface="微软雅黑" panose="020B0503020204020204" pitchFamily="34" charset="-122"/>
                <a:ea typeface="微软雅黑" panose="020B0503020204020204" pitchFamily="34" charset="-122"/>
              </a:rPr>
              <a:t>L2</a:t>
            </a:r>
            <a:r>
              <a:rPr lang="zh-CN" altLang="en-US" sz="1400" dirty="0">
                <a:solidFill>
                  <a:prstClr val="black"/>
                </a:solidFill>
                <a:latin typeface="微软雅黑" panose="020B0503020204020204" pitchFamily="34" charset="-122"/>
                <a:ea typeface="微软雅黑" panose="020B0503020204020204" pitchFamily="34" charset="-122"/>
              </a:rPr>
              <a:t>可以辅助驾驶，</a:t>
            </a:r>
            <a:r>
              <a:rPr lang="zh-CN" altLang="en-US" sz="1400" b="1" dirty="0">
                <a:solidFill>
                  <a:prstClr val="black"/>
                </a:solidFill>
                <a:latin typeface="微软雅黑" panose="020B0503020204020204" pitchFamily="34" charset="-122"/>
                <a:ea typeface="微软雅黑" panose="020B0503020204020204" pitchFamily="34" charset="-122"/>
              </a:rPr>
              <a:t>驾驶员负责</a:t>
            </a:r>
          </a:p>
        </p:txBody>
      </p:sp>
      <p:sp>
        <p:nvSpPr>
          <p:cNvPr id="81" name="文本框 80">
            <a:extLst>
              <a:ext uri="{FF2B5EF4-FFF2-40B4-BE49-F238E27FC236}">
                <a16:creationId xmlns:a16="http://schemas.microsoft.com/office/drawing/2014/main" id="{6BF5D337-CCFE-4DCC-B596-C317F41C18C9}"/>
              </a:ext>
            </a:extLst>
          </p:cNvPr>
          <p:cNvSpPr txBox="1"/>
          <p:nvPr/>
        </p:nvSpPr>
        <p:spPr>
          <a:xfrm>
            <a:off x="9912424" y="2217162"/>
            <a:ext cx="1440242" cy="738664"/>
          </a:xfrm>
          <a:prstGeom prst="rect">
            <a:avLst/>
          </a:prstGeom>
          <a:noFill/>
        </p:spPr>
        <p:txBody>
          <a:bodyPr wrap="square">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联合国通过草案，</a:t>
            </a:r>
            <a:r>
              <a:rPr lang="en-US" altLang="zh-CN" sz="1400" b="1" dirty="0">
                <a:solidFill>
                  <a:prstClr val="black"/>
                </a:solidFill>
                <a:latin typeface="微软雅黑" panose="020B0503020204020204" pitchFamily="34" charset="-122"/>
                <a:ea typeface="微软雅黑" panose="020B0503020204020204" pitchFamily="34" charset="-122"/>
              </a:rPr>
              <a:t>AV</a:t>
            </a:r>
            <a:r>
              <a:rPr lang="zh-CN" altLang="en-US" sz="1400" b="1" dirty="0">
                <a:solidFill>
                  <a:prstClr val="black"/>
                </a:solidFill>
                <a:latin typeface="微软雅黑" panose="020B0503020204020204" pitchFamily="34" charset="-122"/>
                <a:ea typeface="微软雅黑" panose="020B0503020204020204" pitchFamily="34" charset="-122"/>
              </a:rPr>
              <a:t>安全水平不低于谨慎驾驶员</a:t>
            </a:r>
          </a:p>
        </p:txBody>
      </p:sp>
      <p:sp>
        <p:nvSpPr>
          <p:cNvPr id="89" name="椭圆 88">
            <a:extLst>
              <a:ext uri="{FF2B5EF4-FFF2-40B4-BE49-F238E27FC236}">
                <a16:creationId xmlns:a16="http://schemas.microsoft.com/office/drawing/2014/main" id="{C89C1CE3-5476-4F0E-A63C-0A978460B7EA}"/>
              </a:ext>
            </a:extLst>
          </p:cNvPr>
          <p:cNvSpPr/>
          <p:nvPr/>
        </p:nvSpPr>
        <p:spPr>
          <a:xfrm>
            <a:off x="1919536" y="4370325"/>
            <a:ext cx="144016" cy="144016"/>
          </a:xfrm>
          <a:prstGeom prst="ellipse">
            <a:avLst/>
          </a:prstGeom>
          <a:solidFill>
            <a:srgbClr val="8937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48399956-5E26-489F-A3D4-6FF04FA26676}"/>
              </a:ext>
            </a:extLst>
          </p:cNvPr>
          <p:cNvSpPr/>
          <p:nvPr/>
        </p:nvSpPr>
        <p:spPr>
          <a:xfrm>
            <a:off x="3360440" y="4370325"/>
            <a:ext cx="144016" cy="144016"/>
          </a:xfrm>
          <a:prstGeom prst="ellipse">
            <a:avLst/>
          </a:prstGeom>
          <a:solidFill>
            <a:srgbClr val="8937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a:extLst>
              <a:ext uri="{FF2B5EF4-FFF2-40B4-BE49-F238E27FC236}">
                <a16:creationId xmlns:a16="http://schemas.microsoft.com/office/drawing/2014/main" id="{DA2BFD7D-220F-4D23-95B7-796301AACDFE}"/>
              </a:ext>
            </a:extLst>
          </p:cNvPr>
          <p:cNvSpPr/>
          <p:nvPr/>
        </p:nvSpPr>
        <p:spPr>
          <a:xfrm>
            <a:off x="4801344" y="4370325"/>
            <a:ext cx="144016" cy="144016"/>
          </a:xfrm>
          <a:prstGeom prst="ellipse">
            <a:avLst/>
          </a:prstGeom>
          <a:solidFill>
            <a:srgbClr val="8937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C37F886A-D548-43E2-B4C6-FA03D3A0BB20}"/>
              </a:ext>
            </a:extLst>
          </p:cNvPr>
          <p:cNvSpPr/>
          <p:nvPr/>
        </p:nvSpPr>
        <p:spPr>
          <a:xfrm>
            <a:off x="6242248" y="4370325"/>
            <a:ext cx="144016" cy="144016"/>
          </a:xfrm>
          <a:prstGeom prst="ellipse">
            <a:avLst/>
          </a:prstGeom>
          <a:solidFill>
            <a:srgbClr val="8937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BE45433B-7989-4C00-905B-E97045A992F0}"/>
              </a:ext>
            </a:extLst>
          </p:cNvPr>
          <p:cNvSpPr/>
          <p:nvPr/>
        </p:nvSpPr>
        <p:spPr>
          <a:xfrm>
            <a:off x="7683152" y="4370325"/>
            <a:ext cx="144016" cy="144016"/>
          </a:xfrm>
          <a:prstGeom prst="ellipse">
            <a:avLst/>
          </a:prstGeom>
          <a:solidFill>
            <a:srgbClr val="8937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55248BD1-6EE2-447B-BD25-4FE5ECB24778}"/>
              </a:ext>
            </a:extLst>
          </p:cNvPr>
          <p:cNvSpPr/>
          <p:nvPr/>
        </p:nvSpPr>
        <p:spPr>
          <a:xfrm>
            <a:off x="9124056" y="4370325"/>
            <a:ext cx="144016" cy="144016"/>
          </a:xfrm>
          <a:prstGeom prst="ellipse">
            <a:avLst/>
          </a:prstGeom>
          <a:solidFill>
            <a:srgbClr val="8937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1B6402D3-C6AE-49D2-BB94-24E0011E1A1F}"/>
              </a:ext>
            </a:extLst>
          </p:cNvPr>
          <p:cNvSpPr/>
          <p:nvPr/>
        </p:nvSpPr>
        <p:spPr>
          <a:xfrm>
            <a:off x="10564960" y="4370325"/>
            <a:ext cx="144016" cy="144016"/>
          </a:xfrm>
          <a:prstGeom prst="ellipse">
            <a:avLst/>
          </a:prstGeom>
          <a:solidFill>
            <a:srgbClr val="8937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8C7133E2-FE51-4084-9CCE-AF3826543F7F}"/>
              </a:ext>
            </a:extLst>
          </p:cNvPr>
          <p:cNvSpPr/>
          <p:nvPr/>
        </p:nvSpPr>
        <p:spPr>
          <a:xfrm>
            <a:off x="1413484" y="3336319"/>
            <a:ext cx="1152302" cy="272878"/>
          </a:xfrm>
          <a:prstGeom prst="roundRect">
            <a:avLst/>
          </a:prstGeom>
          <a:solidFill>
            <a:srgbClr val="FF0000">
              <a:alpha val="16000"/>
            </a:srgb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97" name="文本框 96">
            <a:extLst>
              <a:ext uri="{FF2B5EF4-FFF2-40B4-BE49-F238E27FC236}">
                <a16:creationId xmlns:a16="http://schemas.microsoft.com/office/drawing/2014/main" id="{74F5AAE5-9E36-470A-98DF-3A27DD2EA576}"/>
              </a:ext>
            </a:extLst>
          </p:cNvPr>
          <p:cNvSpPr txBox="1"/>
          <p:nvPr/>
        </p:nvSpPr>
        <p:spPr>
          <a:xfrm>
            <a:off x="1603119" y="3288092"/>
            <a:ext cx="773032" cy="369332"/>
          </a:xfrm>
          <a:prstGeom prst="rect">
            <a:avLst/>
          </a:prstGeom>
          <a:noFill/>
        </p:spPr>
        <p:txBody>
          <a:bodyPr wrap="square" rtlCol="0" anchor="ctr">
            <a:spAutoFit/>
          </a:bodyPr>
          <a:lstStyle/>
          <a:p>
            <a:pPr algn="ctr"/>
            <a:r>
              <a:rPr lang="en-US" altLang="zh-CN" dirty="0"/>
              <a:t>2018</a:t>
            </a:r>
            <a:endParaRPr lang="zh-CN" altLang="en-US" dirty="0"/>
          </a:p>
        </p:txBody>
      </p:sp>
      <p:sp>
        <p:nvSpPr>
          <p:cNvPr id="99" name="矩形: 圆角 98">
            <a:extLst>
              <a:ext uri="{FF2B5EF4-FFF2-40B4-BE49-F238E27FC236}">
                <a16:creationId xmlns:a16="http://schemas.microsoft.com/office/drawing/2014/main" id="{8445B471-09FA-4494-A943-5C1F01C5CB72}"/>
              </a:ext>
            </a:extLst>
          </p:cNvPr>
          <p:cNvSpPr/>
          <p:nvPr/>
        </p:nvSpPr>
        <p:spPr>
          <a:xfrm>
            <a:off x="2844116" y="3336319"/>
            <a:ext cx="1152302" cy="272878"/>
          </a:xfrm>
          <a:prstGeom prst="roundRect">
            <a:avLst/>
          </a:prstGeom>
          <a:solidFill>
            <a:srgbClr val="FF0000">
              <a:alpha val="16000"/>
            </a:srgb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100" name="文本框 99">
            <a:extLst>
              <a:ext uri="{FF2B5EF4-FFF2-40B4-BE49-F238E27FC236}">
                <a16:creationId xmlns:a16="http://schemas.microsoft.com/office/drawing/2014/main" id="{8647C0D1-27A6-4DAE-8CA8-A1DAA60560BC}"/>
              </a:ext>
            </a:extLst>
          </p:cNvPr>
          <p:cNvSpPr txBox="1"/>
          <p:nvPr/>
        </p:nvSpPr>
        <p:spPr>
          <a:xfrm>
            <a:off x="3060227" y="3284984"/>
            <a:ext cx="720080" cy="375548"/>
          </a:xfrm>
          <a:prstGeom prst="rect">
            <a:avLst/>
          </a:prstGeom>
          <a:noFill/>
        </p:spPr>
        <p:txBody>
          <a:bodyPr wrap="square" rtlCol="0">
            <a:spAutoFit/>
          </a:bodyPr>
          <a:lstStyle/>
          <a:p>
            <a:pPr algn="ctr"/>
            <a:r>
              <a:rPr lang="en-US" altLang="zh-CN" dirty="0"/>
              <a:t>2020</a:t>
            </a:r>
            <a:endParaRPr lang="zh-CN" altLang="en-US" dirty="0"/>
          </a:p>
        </p:txBody>
      </p:sp>
      <p:sp>
        <p:nvSpPr>
          <p:cNvPr id="102" name="矩形: 圆角 101">
            <a:extLst>
              <a:ext uri="{FF2B5EF4-FFF2-40B4-BE49-F238E27FC236}">
                <a16:creationId xmlns:a16="http://schemas.microsoft.com/office/drawing/2014/main" id="{A82DB4ED-3457-4FC2-AD5D-AEB9CC379C8B}"/>
              </a:ext>
            </a:extLst>
          </p:cNvPr>
          <p:cNvSpPr/>
          <p:nvPr/>
        </p:nvSpPr>
        <p:spPr>
          <a:xfrm>
            <a:off x="4274748" y="3336319"/>
            <a:ext cx="1152302" cy="272878"/>
          </a:xfrm>
          <a:prstGeom prst="roundRect">
            <a:avLst/>
          </a:prstGeom>
          <a:solidFill>
            <a:srgbClr val="FF0000">
              <a:alpha val="16000"/>
            </a:srgb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103" name="文本框 102">
            <a:extLst>
              <a:ext uri="{FF2B5EF4-FFF2-40B4-BE49-F238E27FC236}">
                <a16:creationId xmlns:a16="http://schemas.microsoft.com/office/drawing/2014/main" id="{F484E411-E8FE-4265-9A33-B0F72410535C}"/>
              </a:ext>
            </a:extLst>
          </p:cNvPr>
          <p:cNvSpPr txBox="1"/>
          <p:nvPr/>
        </p:nvSpPr>
        <p:spPr>
          <a:xfrm>
            <a:off x="4490859" y="3284984"/>
            <a:ext cx="720080" cy="369332"/>
          </a:xfrm>
          <a:prstGeom prst="rect">
            <a:avLst/>
          </a:prstGeom>
          <a:noFill/>
        </p:spPr>
        <p:txBody>
          <a:bodyPr wrap="square" rtlCol="0">
            <a:spAutoFit/>
          </a:bodyPr>
          <a:lstStyle/>
          <a:p>
            <a:pPr algn="ctr"/>
            <a:r>
              <a:rPr lang="en-US" altLang="zh-CN" dirty="0"/>
              <a:t>2021</a:t>
            </a:r>
            <a:endParaRPr lang="zh-CN" altLang="en-US" dirty="0"/>
          </a:p>
        </p:txBody>
      </p:sp>
      <p:sp>
        <p:nvSpPr>
          <p:cNvPr id="105" name="矩形: 圆角 104">
            <a:extLst>
              <a:ext uri="{FF2B5EF4-FFF2-40B4-BE49-F238E27FC236}">
                <a16:creationId xmlns:a16="http://schemas.microsoft.com/office/drawing/2014/main" id="{14655CEE-B17B-4048-8F4C-6EA1FAC217DB}"/>
              </a:ext>
            </a:extLst>
          </p:cNvPr>
          <p:cNvSpPr/>
          <p:nvPr/>
        </p:nvSpPr>
        <p:spPr>
          <a:xfrm>
            <a:off x="5705380" y="3336319"/>
            <a:ext cx="1152302" cy="272878"/>
          </a:xfrm>
          <a:prstGeom prst="roundRect">
            <a:avLst/>
          </a:prstGeom>
          <a:solidFill>
            <a:srgbClr val="FF0000">
              <a:alpha val="16000"/>
            </a:srgb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106" name="文本框 105">
            <a:extLst>
              <a:ext uri="{FF2B5EF4-FFF2-40B4-BE49-F238E27FC236}">
                <a16:creationId xmlns:a16="http://schemas.microsoft.com/office/drawing/2014/main" id="{6E54F111-80CA-44C2-8447-5E6193CF11C4}"/>
              </a:ext>
            </a:extLst>
          </p:cNvPr>
          <p:cNvSpPr txBox="1"/>
          <p:nvPr/>
        </p:nvSpPr>
        <p:spPr>
          <a:xfrm>
            <a:off x="5921491" y="3284984"/>
            <a:ext cx="720080" cy="375548"/>
          </a:xfrm>
          <a:prstGeom prst="rect">
            <a:avLst/>
          </a:prstGeom>
          <a:noFill/>
        </p:spPr>
        <p:txBody>
          <a:bodyPr wrap="square" rtlCol="0">
            <a:spAutoFit/>
          </a:bodyPr>
          <a:lstStyle/>
          <a:p>
            <a:pPr algn="ctr"/>
            <a:r>
              <a:rPr lang="en-US" altLang="zh-CN" dirty="0"/>
              <a:t>2022</a:t>
            </a:r>
            <a:endParaRPr lang="zh-CN" altLang="en-US" dirty="0"/>
          </a:p>
        </p:txBody>
      </p:sp>
      <p:sp>
        <p:nvSpPr>
          <p:cNvPr id="108" name="矩形: 圆角 107">
            <a:extLst>
              <a:ext uri="{FF2B5EF4-FFF2-40B4-BE49-F238E27FC236}">
                <a16:creationId xmlns:a16="http://schemas.microsoft.com/office/drawing/2014/main" id="{44FECC88-47BE-43E1-9752-8A295EA7DDDD}"/>
              </a:ext>
            </a:extLst>
          </p:cNvPr>
          <p:cNvSpPr/>
          <p:nvPr/>
        </p:nvSpPr>
        <p:spPr>
          <a:xfrm>
            <a:off x="7136012" y="3336319"/>
            <a:ext cx="1152302" cy="272878"/>
          </a:xfrm>
          <a:prstGeom prst="roundRect">
            <a:avLst/>
          </a:prstGeom>
          <a:solidFill>
            <a:srgbClr val="FF0000">
              <a:alpha val="16000"/>
            </a:srgb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109" name="文本框 108">
            <a:extLst>
              <a:ext uri="{FF2B5EF4-FFF2-40B4-BE49-F238E27FC236}">
                <a16:creationId xmlns:a16="http://schemas.microsoft.com/office/drawing/2014/main" id="{EC8F8687-160B-4B8F-9B46-C48AAF3D1CA0}"/>
              </a:ext>
            </a:extLst>
          </p:cNvPr>
          <p:cNvSpPr txBox="1"/>
          <p:nvPr/>
        </p:nvSpPr>
        <p:spPr>
          <a:xfrm>
            <a:off x="7352123" y="3284984"/>
            <a:ext cx="720080" cy="375548"/>
          </a:xfrm>
          <a:prstGeom prst="rect">
            <a:avLst/>
          </a:prstGeom>
          <a:noFill/>
        </p:spPr>
        <p:txBody>
          <a:bodyPr wrap="square" rtlCol="0">
            <a:spAutoFit/>
          </a:bodyPr>
          <a:lstStyle/>
          <a:p>
            <a:pPr algn="ctr"/>
            <a:r>
              <a:rPr lang="en-US" altLang="zh-CN" dirty="0"/>
              <a:t>2024</a:t>
            </a:r>
            <a:endParaRPr lang="zh-CN" altLang="en-US" dirty="0"/>
          </a:p>
        </p:txBody>
      </p:sp>
      <p:sp>
        <p:nvSpPr>
          <p:cNvPr id="111" name="矩形: 圆角 110">
            <a:extLst>
              <a:ext uri="{FF2B5EF4-FFF2-40B4-BE49-F238E27FC236}">
                <a16:creationId xmlns:a16="http://schemas.microsoft.com/office/drawing/2014/main" id="{80B7951F-D3D5-4F00-BEA8-E1A0CE106265}"/>
              </a:ext>
            </a:extLst>
          </p:cNvPr>
          <p:cNvSpPr/>
          <p:nvPr/>
        </p:nvSpPr>
        <p:spPr>
          <a:xfrm>
            <a:off x="9997274" y="3336319"/>
            <a:ext cx="1152302" cy="272878"/>
          </a:xfrm>
          <a:prstGeom prst="roundRect">
            <a:avLst/>
          </a:prstGeom>
          <a:solidFill>
            <a:srgbClr val="FF0000">
              <a:alpha val="16000"/>
            </a:srgb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112" name="文本框 111">
            <a:extLst>
              <a:ext uri="{FF2B5EF4-FFF2-40B4-BE49-F238E27FC236}">
                <a16:creationId xmlns:a16="http://schemas.microsoft.com/office/drawing/2014/main" id="{EDBE2084-5924-40A5-BEBB-167AA26882CC}"/>
              </a:ext>
            </a:extLst>
          </p:cNvPr>
          <p:cNvSpPr txBox="1"/>
          <p:nvPr/>
        </p:nvSpPr>
        <p:spPr>
          <a:xfrm>
            <a:off x="10213385" y="3284984"/>
            <a:ext cx="720080" cy="375548"/>
          </a:xfrm>
          <a:prstGeom prst="rect">
            <a:avLst/>
          </a:prstGeom>
          <a:noFill/>
        </p:spPr>
        <p:txBody>
          <a:bodyPr wrap="square" rtlCol="0">
            <a:spAutoFit/>
          </a:bodyPr>
          <a:lstStyle/>
          <a:p>
            <a:pPr algn="ctr"/>
            <a:r>
              <a:rPr lang="en-US" altLang="zh-CN" dirty="0"/>
              <a:t>2026</a:t>
            </a:r>
            <a:endParaRPr lang="zh-CN" altLang="en-US" dirty="0"/>
          </a:p>
        </p:txBody>
      </p:sp>
      <p:sp>
        <p:nvSpPr>
          <p:cNvPr id="114" name="矩形: 圆角 113">
            <a:extLst>
              <a:ext uri="{FF2B5EF4-FFF2-40B4-BE49-F238E27FC236}">
                <a16:creationId xmlns:a16="http://schemas.microsoft.com/office/drawing/2014/main" id="{A6E0DEDA-FD3A-4A42-8F9C-9A02C312D1F9}"/>
              </a:ext>
            </a:extLst>
          </p:cNvPr>
          <p:cNvSpPr/>
          <p:nvPr/>
        </p:nvSpPr>
        <p:spPr>
          <a:xfrm>
            <a:off x="8566644" y="3341540"/>
            <a:ext cx="1152302" cy="272878"/>
          </a:xfrm>
          <a:prstGeom prst="roundRect">
            <a:avLst/>
          </a:prstGeom>
          <a:solidFill>
            <a:srgbClr val="FF0000">
              <a:alpha val="16000"/>
            </a:srgb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115" name="文本框 114">
            <a:extLst>
              <a:ext uri="{FF2B5EF4-FFF2-40B4-BE49-F238E27FC236}">
                <a16:creationId xmlns:a16="http://schemas.microsoft.com/office/drawing/2014/main" id="{1D260F60-CDCA-4707-BDD2-F01B25B67D36}"/>
              </a:ext>
            </a:extLst>
          </p:cNvPr>
          <p:cNvSpPr txBox="1"/>
          <p:nvPr/>
        </p:nvSpPr>
        <p:spPr>
          <a:xfrm>
            <a:off x="8782755" y="3290205"/>
            <a:ext cx="720080" cy="375548"/>
          </a:xfrm>
          <a:prstGeom prst="rect">
            <a:avLst/>
          </a:prstGeom>
          <a:noFill/>
        </p:spPr>
        <p:txBody>
          <a:bodyPr wrap="square" rtlCol="0">
            <a:spAutoFit/>
          </a:bodyPr>
          <a:lstStyle/>
          <a:p>
            <a:pPr algn="ctr"/>
            <a:r>
              <a:rPr lang="en-US" altLang="zh-CN" dirty="0"/>
              <a:t>2025</a:t>
            </a:r>
            <a:endParaRPr lang="zh-CN" altLang="en-US" dirty="0"/>
          </a:p>
        </p:txBody>
      </p:sp>
      <p:sp>
        <p:nvSpPr>
          <p:cNvPr id="126" name="文本框 125">
            <a:extLst>
              <a:ext uri="{FF2B5EF4-FFF2-40B4-BE49-F238E27FC236}">
                <a16:creationId xmlns:a16="http://schemas.microsoft.com/office/drawing/2014/main" id="{D59BC4AE-4EC6-4EA6-85E5-1C3726472BCF}"/>
              </a:ext>
            </a:extLst>
          </p:cNvPr>
          <p:cNvSpPr txBox="1"/>
          <p:nvPr/>
        </p:nvSpPr>
        <p:spPr>
          <a:xfrm>
            <a:off x="1188123" y="3637877"/>
            <a:ext cx="1641020" cy="738664"/>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智能网联汽车道路测试管理规范（试行）</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发布</a:t>
            </a:r>
          </a:p>
        </p:txBody>
      </p:sp>
      <p:sp>
        <p:nvSpPr>
          <p:cNvPr id="127" name="文本框 126">
            <a:extLst>
              <a:ext uri="{FF2B5EF4-FFF2-40B4-BE49-F238E27FC236}">
                <a16:creationId xmlns:a16="http://schemas.microsoft.com/office/drawing/2014/main" id="{B16F166A-F537-4D38-906E-B46072AB66B3}"/>
              </a:ext>
            </a:extLst>
          </p:cNvPr>
          <p:cNvSpPr txBox="1"/>
          <p:nvPr/>
        </p:nvSpPr>
        <p:spPr>
          <a:xfrm>
            <a:off x="2784282" y="3631661"/>
            <a:ext cx="1513731" cy="738664"/>
          </a:xfrm>
          <a:prstGeom prst="rect">
            <a:avLst/>
          </a:prstGeom>
          <a:noFill/>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汽车驾驶自动化分级</a:t>
            </a:r>
            <a:r>
              <a:rPr kumimoji="0" lang="en-US" altLang="zh-CN"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发布，明确</a:t>
            </a: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AV</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分级体系</a:t>
            </a:r>
          </a:p>
        </p:txBody>
      </p:sp>
      <p:sp>
        <p:nvSpPr>
          <p:cNvPr id="128" name="文本框 127">
            <a:extLst>
              <a:ext uri="{FF2B5EF4-FFF2-40B4-BE49-F238E27FC236}">
                <a16:creationId xmlns:a16="http://schemas.microsoft.com/office/drawing/2014/main" id="{F825365A-9A66-48E6-B2C5-BD593A8549FB}"/>
              </a:ext>
            </a:extLst>
          </p:cNvPr>
          <p:cNvSpPr txBox="1"/>
          <p:nvPr/>
        </p:nvSpPr>
        <p:spPr>
          <a:xfrm>
            <a:off x="4253152" y="3631661"/>
            <a:ext cx="1271243" cy="73866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dirty="0">
                <a:solidFill>
                  <a:prstClr val="black"/>
                </a:solidFill>
                <a:latin typeface="微软雅黑" panose="020B0503020204020204" pitchFamily="34" charset="-122"/>
                <a:ea typeface="微软雅黑" panose="020B0503020204020204" pitchFamily="34" charset="-122"/>
              </a:rPr>
              <a:t>深圳明确智能网联汽车</a:t>
            </a:r>
            <a:r>
              <a:rPr lang="zh-CN" altLang="en-US" sz="1400" b="1" dirty="0">
                <a:solidFill>
                  <a:prstClr val="black"/>
                </a:solidFill>
                <a:latin typeface="微软雅黑" panose="020B0503020204020204" pitchFamily="34" charset="-122"/>
                <a:ea typeface="微软雅黑" panose="020B0503020204020204" pitchFamily="34" charset="-122"/>
              </a:rPr>
              <a:t>事故处理机制</a:t>
            </a:r>
          </a:p>
        </p:txBody>
      </p:sp>
      <p:sp>
        <p:nvSpPr>
          <p:cNvPr id="129" name="文本框 128">
            <a:extLst>
              <a:ext uri="{FF2B5EF4-FFF2-40B4-BE49-F238E27FC236}">
                <a16:creationId xmlns:a16="http://schemas.microsoft.com/office/drawing/2014/main" id="{3D01D823-BEEE-4842-89CB-1A6AF40FAEDD}"/>
              </a:ext>
            </a:extLst>
          </p:cNvPr>
          <p:cNvSpPr txBox="1"/>
          <p:nvPr/>
        </p:nvSpPr>
        <p:spPr>
          <a:xfrm>
            <a:off x="5479534" y="3631661"/>
            <a:ext cx="1481609" cy="73866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dirty="0">
                <a:solidFill>
                  <a:prstClr val="black"/>
                </a:solidFill>
                <a:latin typeface="微软雅黑" panose="020B0503020204020204" pitchFamily="34" charset="-122"/>
                <a:ea typeface="微软雅黑" panose="020B0503020204020204" pitchFamily="34" charset="-122"/>
              </a:rPr>
              <a:t>北京正式开放首个</a:t>
            </a:r>
            <a:r>
              <a:rPr lang="zh-CN" altLang="en-US" sz="1400" b="1" dirty="0">
                <a:solidFill>
                  <a:prstClr val="black"/>
                </a:solidFill>
                <a:latin typeface="微软雅黑" panose="020B0503020204020204" pitchFamily="34" charset="-122"/>
                <a:ea typeface="微软雅黑" panose="020B0503020204020204" pitchFamily="34" charset="-122"/>
              </a:rPr>
              <a:t>无人化</a:t>
            </a:r>
            <a:r>
              <a:rPr lang="zh-CN" altLang="en-US" sz="1400" dirty="0">
                <a:solidFill>
                  <a:prstClr val="black"/>
                </a:solidFill>
                <a:latin typeface="微软雅黑" panose="020B0503020204020204" pitchFamily="34" charset="-122"/>
                <a:ea typeface="微软雅黑" panose="020B0503020204020204" pitchFamily="34" charset="-122"/>
              </a:rPr>
              <a:t>出行服务</a:t>
            </a:r>
            <a:r>
              <a:rPr lang="zh-CN" altLang="en-US" sz="1400" b="1" dirty="0">
                <a:solidFill>
                  <a:prstClr val="black"/>
                </a:solidFill>
                <a:latin typeface="微软雅黑" panose="020B0503020204020204" pitchFamily="34" charset="-122"/>
                <a:ea typeface="微软雅黑" panose="020B0503020204020204" pitchFamily="34" charset="-122"/>
              </a:rPr>
              <a:t>商业化试点</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1" name="文本框 130">
            <a:extLst>
              <a:ext uri="{FF2B5EF4-FFF2-40B4-BE49-F238E27FC236}">
                <a16:creationId xmlns:a16="http://schemas.microsoft.com/office/drawing/2014/main" id="{2D03B04C-2DD2-4F8B-A35A-EA349788CA2D}"/>
              </a:ext>
            </a:extLst>
          </p:cNvPr>
          <p:cNvSpPr txBox="1"/>
          <p:nvPr/>
        </p:nvSpPr>
        <p:spPr>
          <a:xfrm>
            <a:off x="8557998" y="3631661"/>
            <a:ext cx="1471297" cy="73866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上海浦东全域开放自动驾驶、推进</a:t>
            </a: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L4</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商业化运营</a:t>
            </a:r>
          </a:p>
        </p:txBody>
      </p:sp>
      <p:sp>
        <p:nvSpPr>
          <p:cNvPr id="132" name="文本框 131">
            <a:extLst>
              <a:ext uri="{FF2B5EF4-FFF2-40B4-BE49-F238E27FC236}">
                <a16:creationId xmlns:a16="http://schemas.microsoft.com/office/drawing/2014/main" id="{C560B55B-4951-4982-BB70-DAE33556777D}"/>
              </a:ext>
            </a:extLst>
          </p:cNvPr>
          <p:cNvSpPr txBox="1"/>
          <p:nvPr/>
        </p:nvSpPr>
        <p:spPr>
          <a:xfrm>
            <a:off x="9984432" y="3631661"/>
            <a:ext cx="1289803" cy="73866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北京启动商业保险开发应用，适配</a:t>
            </a: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L2-L4</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3" name="矩形 132">
            <a:extLst>
              <a:ext uri="{FF2B5EF4-FFF2-40B4-BE49-F238E27FC236}">
                <a16:creationId xmlns:a16="http://schemas.microsoft.com/office/drawing/2014/main" id="{6DBE25B0-E76F-404B-A6D2-469B76E2627E}"/>
              </a:ext>
            </a:extLst>
          </p:cNvPr>
          <p:cNvSpPr/>
          <p:nvPr/>
        </p:nvSpPr>
        <p:spPr>
          <a:xfrm>
            <a:off x="551384" y="5683834"/>
            <a:ext cx="720080" cy="1057534"/>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典型判责思路</a:t>
            </a:r>
          </a:p>
        </p:txBody>
      </p:sp>
      <p:sp>
        <p:nvSpPr>
          <p:cNvPr id="134" name="文本框 133">
            <a:extLst>
              <a:ext uri="{FF2B5EF4-FFF2-40B4-BE49-F238E27FC236}">
                <a16:creationId xmlns:a16="http://schemas.microsoft.com/office/drawing/2014/main" id="{72A50CD8-BB64-4705-862D-08697C17B262}"/>
              </a:ext>
            </a:extLst>
          </p:cNvPr>
          <p:cNvSpPr txBox="1"/>
          <p:nvPr/>
        </p:nvSpPr>
        <p:spPr>
          <a:xfrm>
            <a:off x="1273696" y="5683834"/>
            <a:ext cx="4418994" cy="1057534"/>
          </a:xfrm>
          <a:prstGeom prst="rect">
            <a:avLst/>
          </a:prstGeom>
          <a:noFill/>
          <a:ln w="12700">
            <a:solidFill>
              <a:schemeClr val="tx1"/>
            </a:solidFill>
            <a:prstDash val="dash"/>
          </a:ln>
        </p:spPr>
        <p:txBody>
          <a:bodyPr wrap="square">
            <a:spAutoFit/>
          </a:bodyPr>
          <a:lstStyle/>
          <a:p>
            <a:pPr marL="285750" indent="-285750" algn="just">
              <a:lnSpc>
                <a:spcPct val="130000"/>
              </a:lnSpc>
              <a:buFont typeface="Wingdings" panose="05000000000000000000" pitchFamily="2" charset="2"/>
              <a:buChar char="Ø"/>
            </a:pPr>
            <a:r>
              <a:rPr lang="zh-CN" altLang="en-US" sz="1600" b="1" dirty="0">
                <a:solidFill>
                  <a:prstClr val="black"/>
                </a:solidFill>
                <a:latin typeface="微软雅黑" panose="020B0503020204020204" pitchFamily="34" charset="-122"/>
                <a:ea typeface="微软雅黑" panose="020B0503020204020204" pitchFamily="34" charset="-122"/>
              </a:rPr>
              <a:t>根据车辆控制权确定责任主体</a:t>
            </a:r>
            <a:endParaRPr lang="en-US" altLang="zh-CN" sz="1600" b="1" dirty="0">
              <a:solidFill>
                <a:prstClr val="black"/>
              </a:solidFill>
              <a:latin typeface="微软雅黑" panose="020B0503020204020204" pitchFamily="34" charset="-122"/>
              <a:ea typeface="微软雅黑" panose="020B0503020204020204" pitchFamily="34" charset="-122"/>
            </a:endParaRPr>
          </a:p>
          <a:p>
            <a:pPr marL="285750" indent="-285750" algn="just">
              <a:lnSpc>
                <a:spcPct val="130000"/>
              </a:lnSpc>
              <a:buFont typeface="Wingdings" panose="05000000000000000000" pitchFamily="2" charset="2"/>
              <a:buChar char="Ø"/>
            </a:pPr>
            <a:r>
              <a:rPr lang="zh-CN" altLang="en-US" sz="1600" b="1" dirty="0">
                <a:solidFill>
                  <a:prstClr val="black"/>
                </a:solidFill>
                <a:latin typeface="微软雅黑" panose="020B0503020204020204" pitchFamily="34" charset="-122"/>
                <a:ea typeface="微软雅黑" panose="020B0503020204020204" pitchFamily="34" charset="-122"/>
              </a:rPr>
              <a:t>过错责任、产品责任认定判责</a:t>
            </a:r>
            <a:endParaRPr lang="en-US" altLang="zh-CN" sz="1600" b="1" dirty="0">
              <a:solidFill>
                <a:prstClr val="black"/>
              </a:solidFill>
              <a:latin typeface="微软雅黑" panose="020B0503020204020204" pitchFamily="34" charset="-122"/>
              <a:ea typeface="微软雅黑" panose="020B0503020204020204" pitchFamily="34" charset="-122"/>
            </a:endParaRPr>
          </a:p>
          <a:p>
            <a:pPr marL="285750" indent="-285750" algn="just">
              <a:lnSpc>
                <a:spcPct val="130000"/>
              </a:lnSpc>
              <a:buFont typeface="Wingdings" panose="05000000000000000000" pitchFamily="2" charset="2"/>
              <a:buChar char="Ø"/>
            </a:pPr>
            <a:r>
              <a:rPr lang="zh-CN" altLang="en-US" sz="1600" b="1" dirty="0">
                <a:solidFill>
                  <a:prstClr val="black"/>
                </a:solidFill>
                <a:latin typeface="微软雅黑" panose="020B0503020204020204" pitchFamily="34" charset="-122"/>
                <a:ea typeface="微软雅黑" panose="020B0503020204020204" pitchFamily="34" charset="-122"/>
              </a:rPr>
              <a:t>根据系统激活状态及驾驶人可控性判责</a:t>
            </a:r>
            <a:endParaRPr lang="en-US" altLang="zh-CN" sz="1600" b="1" dirty="0">
              <a:solidFill>
                <a:prstClr val="black"/>
              </a:solidFill>
              <a:latin typeface="微软雅黑" panose="020B0503020204020204" pitchFamily="34" charset="-122"/>
              <a:ea typeface="微软雅黑" panose="020B0503020204020204" pitchFamily="34" charset="-122"/>
            </a:endParaRPr>
          </a:p>
        </p:txBody>
      </p:sp>
      <p:pic>
        <p:nvPicPr>
          <p:cNvPr id="11277" name="图片 11276">
            <a:extLst>
              <a:ext uri="{FF2B5EF4-FFF2-40B4-BE49-F238E27FC236}">
                <a16:creationId xmlns:a16="http://schemas.microsoft.com/office/drawing/2014/main" id="{EF51E6AA-BBA1-4775-8B2D-A7E34A64F374}"/>
              </a:ext>
            </a:extLst>
          </p:cNvPr>
          <p:cNvPicPr>
            <a:picLocks noChangeAspect="1"/>
          </p:cNvPicPr>
          <p:nvPr/>
        </p:nvPicPr>
        <p:blipFill>
          <a:blip r:embed="rId5">
            <a:clrChange>
              <a:clrFrom>
                <a:srgbClr val="F6F6F6"/>
              </a:clrFrom>
              <a:clrTo>
                <a:srgbClr val="F6F6F6">
                  <a:alpha val="0"/>
                </a:srgbClr>
              </a:clrTo>
            </a:clrChange>
          </a:blip>
          <a:stretch>
            <a:fillRect/>
          </a:stretch>
        </p:blipFill>
        <p:spPr>
          <a:xfrm>
            <a:off x="710909" y="4666941"/>
            <a:ext cx="360041" cy="360041"/>
          </a:xfrm>
          <a:prstGeom prst="rect">
            <a:avLst/>
          </a:prstGeom>
        </p:spPr>
      </p:pic>
      <p:sp>
        <p:nvSpPr>
          <p:cNvPr id="143" name="文本框 142">
            <a:extLst>
              <a:ext uri="{FF2B5EF4-FFF2-40B4-BE49-F238E27FC236}">
                <a16:creationId xmlns:a16="http://schemas.microsoft.com/office/drawing/2014/main" id="{2C5DCD0C-2C97-44B7-9792-EE16917AA296}"/>
              </a:ext>
            </a:extLst>
          </p:cNvPr>
          <p:cNvSpPr txBox="1"/>
          <p:nvPr/>
        </p:nvSpPr>
        <p:spPr>
          <a:xfrm>
            <a:off x="1004447" y="4585351"/>
            <a:ext cx="1303257"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人类驾驶阶段</a:t>
            </a:r>
            <a:endParaRPr lang="en-US" altLang="zh-CN" sz="1400" b="1"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a:t>
            </a:r>
            <a:r>
              <a:rPr lang="en-US" altLang="zh-CN" sz="1400" b="1" dirty="0">
                <a:solidFill>
                  <a:srgbClr val="FF0000"/>
                </a:solidFill>
                <a:latin typeface="微软雅黑" panose="020B0503020204020204" pitchFamily="34" charset="-122"/>
                <a:ea typeface="微软雅黑" panose="020B0503020204020204" pitchFamily="34" charset="-122"/>
              </a:rPr>
              <a:t>L0-L2</a:t>
            </a:r>
            <a:r>
              <a:rPr lang="zh-CN" altLang="en-US" sz="1400" b="1" dirty="0">
                <a:solidFill>
                  <a:prstClr val="black"/>
                </a:solidFill>
                <a:latin typeface="微软雅黑" panose="020B0503020204020204" pitchFamily="34" charset="-122"/>
                <a:ea typeface="微软雅黑" panose="020B0503020204020204" pitchFamily="34" charset="-122"/>
              </a:rPr>
              <a:t>）</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1279" name="Picture 12" descr="方向盘图标_方向盘icon_方向盘矢量图标_88ICON">
            <a:extLst>
              <a:ext uri="{FF2B5EF4-FFF2-40B4-BE49-F238E27FC236}">
                <a16:creationId xmlns:a16="http://schemas.microsoft.com/office/drawing/2014/main" id="{A8177D1B-69CA-492D-8B97-52C3C51F9124}"/>
              </a:ext>
            </a:extLst>
          </p:cNvPr>
          <p:cNvPicPr>
            <a:picLocks noChangeAspect="1" noChangeArrowheads="1"/>
          </p:cNvPicPr>
          <p:nvPr/>
        </p:nvPicPr>
        <p:blipFill>
          <a:blip r:embed="rId6" cstate="print">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711624" y="4585351"/>
            <a:ext cx="523220" cy="523220"/>
          </a:xfrm>
          <a:prstGeom prst="rect">
            <a:avLst/>
          </a:prstGeom>
          <a:noFill/>
          <a:extLst>
            <a:ext uri="{909E8E84-426E-40DD-AFC4-6F175D3DCCD1}">
              <a14:hiddenFill xmlns:a14="http://schemas.microsoft.com/office/drawing/2010/main">
                <a:solidFill>
                  <a:srgbClr val="FFFFFF"/>
                </a:solidFill>
              </a14:hiddenFill>
            </a:ext>
          </a:extLst>
        </p:spPr>
      </p:pic>
      <p:sp>
        <p:nvSpPr>
          <p:cNvPr id="145" name="文本框 144">
            <a:extLst>
              <a:ext uri="{FF2B5EF4-FFF2-40B4-BE49-F238E27FC236}">
                <a16:creationId xmlns:a16="http://schemas.microsoft.com/office/drawing/2014/main" id="{DFA0EC5D-D6B1-4A84-904A-D6F8D8978CA7}"/>
              </a:ext>
            </a:extLst>
          </p:cNvPr>
          <p:cNvSpPr txBox="1"/>
          <p:nvPr/>
        </p:nvSpPr>
        <p:spPr>
          <a:xfrm>
            <a:off x="3029259" y="4585351"/>
            <a:ext cx="1626581"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过渡阶段</a:t>
            </a:r>
            <a:endParaRPr lang="en-US" altLang="zh-CN" sz="1400" b="1"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a:t>
            </a:r>
            <a:r>
              <a:rPr lang="en-US" altLang="zh-CN" sz="1400" b="1" dirty="0">
                <a:solidFill>
                  <a:srgbClr val="FF0000"/>
                </a:solidFill>
                <a:latin typeface="微软雅黑" panose="020B0503020204020204" pitchFamily="34" charset="-122"/>
                <a:ea typeface="微软雅黑" panose="020B0503020204020204" pitchFamily="34" charset="-122"/>
              </a:rPr>
              <a:t>L2+</a:t>
            </a:r>
            <a:r>
              <a:rPr lang="zh-CN" altLang="en-US" sz="1400" b="1" dirty="0">
                <a:solidFill>
                  <a:prstClr val="black"/>
                </a:solidFill>
                <a:latin typeface="微软雅黑" panose="020B0503020204020204" pitchFamily="34" charset="-122"/>
                <a:ea typeface="微软雅黑" panose="020B0503020204020204" pitchFamily="34" charset="-122"/>
              </a:rPr>
              <a:t>）</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人机共驾</a:t>
            </a:r>
          </a:p>
        </p:txBody>
      </p:sp>
      <p:pic>
        <p:nvPicPr>
          <p:cNvPr id="11280" name="Picture 14" descr="自动驾驶免抠元素_自动驾驶汽车_模板免费下载_svg格式_512像素_编号52430524-千图网">
            <a:extLst>
              <a:ext uri="{FF2B5EF4-FFF2-40B4-BE49-F238E27FC236}">
                <a16:creationId xmlns:a16="http://schemas.microsoft.com/office/drawing/2014/main" id="{AEA1C52D-EA89-4E55-96BE-6BFAD877E63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14695" y="4628217"/>
            <a:ext cx="437489" cy="437489"/>
          </a:xfrm>
          <a:prstGeom prst="rect">
            <a:avLst/>
          </a:prstGeom>
          <a:noFill/>
          <a:extLst>
            <a:ext uri="{909E8E84-426E-40DD-AFC4-6F175D3DCCD1}">
              <a14:hiddenFill xmlns:a14="http://schemas.microsoft.com/office/drawing/2010/main">
                <a:solidFill>
                  <a:srgbClr val="FFFFFF"/>
                </a:solidFill>
              </a14:hiddenFill>
            </a:ext>
          </a:extLst>
        </p:spPr>
      </p:pic>
      <p:sp>
        <p:nvSpPr>
          <p:cNvPr id="147" name="文本框 146">
            <a:extLst>
              <a:ext uri="{FF2B5EF4-FFF2-40B4-BE49-F238E27FC236}">
                <a16:creationId xmlns:a16="http://schemas.microsoft.com/office/drawing/2014/main" id="{B589FD88-DED9-4B9C-90E6-0DEDCB5BDA59}"/>
              </a:ext>
            </a:extLst>
          </p:cNvPr>
          <p:cNvSpPr txBox="1"/>
          <p:nvPr/>
        </p:nvSpPr>
        <p:spPr>
          <a:xfrm>
            <a:off x="5447928" y="4581128"/>
            <a:ext cx="144016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有条件自动驾驶（</a:t>
            </a:r>
            <a:r>
              <a:rPr lang="en-US" altLang="zh-CN" sz="1400" b="1" dirty="0">
                <a:solidFill>
                  <a:srgbClr val="FF0000"/>
                </a:solidFill>
                <a:latin typeface="微软雅黑" panose="020B0503020204020204" pitchFamily="34" charset="-122"/>
                <a:ea typeface="微软雅黑" panose="020B0503020204020204" pitchFamily="34" charset="-122"/>
              </a:rPr>
              <a:t>L3</a:t>
            </a:r>
            <a:r>
              <a:rPr lang="zh-CN" altLang="en-US" sz="1400" b="1" dirty="0">
                <a:solidFill>
                  <a:prstClr val="black"/>
                </a:solidFill>
                <a:latin typeface="微软雅黑" panose="020B0503020204020204" pitchFamily="34" charset="-122"/>
                <a:ea typeface="微软雅黑" panose="020B0503020204020204" pitchFamily="34" charset="-122"/>
              </a:rPr>
              <a:t>）</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49" name="文本框 148">
            <a:extLst>
              <a:ext uri="{FF2B5EF4-FFF2-40B4-BE49-F238E27FC236}">
                <a16:creationId xmlns:a16="http://schemas.microsoft.com/office/drawing/2014/main" id="{A1E744ED-4597-43AA-A0F1-5105976CD7E7}"/>
              </a:ext>
            </a:extLst>
          </p:cNvPr>
          <p:cNvSpPr txBox="1"/>
          <p:nvPr/>
        </p:nvSpPr>
        <p:spPr>
          <a:xfrm>
            <a:off x="6916282" y="3631661"/>
            <a:ext cx="1686577" cy="738664"/>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dirty="0">
                <a:solidFill>
                  <a:prstClr val="black"/>
                </a:solidFill>
                <a:latin typeface="微软雅黑" panose="020B0503020204020204" pitchFamily="34" charset="-122"/>
                <a:ea typeface="微软雅黑" panose="020B0503020204020204" pitchFamily="34" charset="-122"/>
              </a:rPr>
              <a:t>工信部等部门推进</a:t>
            </a:r>
            <a:r>
              <a:rPr lang="en-US" altLang="zh-CN" sz="1400" b="1" dirty="0">
                <a:solidFill>
                  <a:prstClr val="black"/>
                </a:solidFill>
                <a:latin typeface="微软雅黑" panose="020B0503020204020204" pitchFamily="34" charset="-122"/>
                <a:ea typeface="微软雅黑" panose="020B0503020204020204" pitchFamily="34" charset="-122"/>
              </a:rPr>
              <a:t>L3</a:t>
            </a:r>
            <a:r>
              <a:rPr lang="zh-CN" altLang="en-US" sz="1400" b="1" dirty="0">
                <a:solidFill>
                  <a:prstClr val="black"/>
                </a:solidFill>
                <a:latin typeface="微软雅黑" panose="020B0503020204020204" pitchFamily="34" charset="-122"/>
                <a:ea typeface="微软雅黑" panose="020B0503020204020204" pitchFamily="34" charset="-122"/>
              </a:rPr>
              <a:t>准入试点</a:t>
            </a:r>
            <a:r>
              <a:rPr lang="zh-CN" altLang="en-US" sz="1400" dirty="0">
                <a:solidFill>
                  <a:prstClr val="black"/>
                </a:solidFill>
                <a:latin typeface="微软雅黑" panose="020B0503020204020204" pitchFamily="34" charset="-122"/>
                <a:ea typeface="微软雅黑" panose="020B0503020204020204" pitchFamily="34" charset="-122"/>
              </a:rPr>
              <a:t>，由测试转向量产监管</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1281" name="Picture 16" descr="无人驾驶汽车图标、智能智能车辆和自动驾驶自主运输、线矢量。背景图片免费下载_海报banner/高清大图_千库网(图片编号6202238)">
            <a:extLst>
              <a:ext uri="{FF2B5EF4-FFF2-40B4-BE49-F238E27FC236}">
                <a16:creationId xmlns:a16="http://schemas.microsoft.com/office/drawing/2014/main" id="{EC83D62B-D04F-456B-881A-69E016380409}"/>
              </a:ext>
            </a:extLst>
          </p:cNvPr>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15880" y="4581810"/>
            <a:ext cx="531632" cy="530303"/>
          </a:xfrm>
          <a:prstGeom prst="rect">
            <a:avLst/>
          </a:prstGeom>
          <a:noFill/>
          <a:extLst>
            <a:ext uri="{909E8E84-426E-40DD-AFC4-6F175D3DCCD1}">
              <a14:hiddenFill xmlns:a14="http://schemas.microsoft.com/office/drawing/2010/main">
                <a:solidFill>
                  <a:srgbClr val="FFFFFF"/>
                </a:solidFill>
              </a14:hiddenFill>
            </a:ext>
          </a:extLst>
        </p:spPr>
      </p:pic>
      <p:sp>
        <p:nvSpPr>
          <p:cNvPr id="151" name="文本框 150">
            <a:extLst>
              <a:ext uri="{FF2B5EF4-FFF2-40B4-BE49-F238E27FC236}">
                <a16:creationId xmlns:a16="http://schemas.microsoft.com/office/drawing/2014/main" id="{FDAB3624-DED0-4B97-8955-FAB752381ACC}"/>
              </a:ext>
            </a:extLst>
          </p:cNvPr>
          <p:cNvSpPr txBox="1"/>
          <p:nvPr/>
        </p:nvSpPr>
        <p:spPr>
          <a:xfrm>
            <a:off x="7536160" y="4581128"/>
            <a:ext cx="1481608"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高度自动驾驶（</a:t>
            </a:r>
            <a:r>
              <a:rPr lang="en-US" altLang="zh-CN" sz="1400" b="1" dirty="0">
                <a:solidFill>
                  <a:srgbClr val="FF0000"/>
                </a:solidFill>
                <a:latin typeface="微软雅黑" panose="020B0503020204020204" pitchFamily="34" charset="-122"/>
                <a:ea typeface="微软雅黑" panose="020B0503020204020204" pitchFamily="34" charset="-122"/>
              </a:rPr>
              <a:t>L4</a:t>
            </a:r>
            <a:r>
              <a:rPr lang="zh-CN" altLang="en-US" sz="1400" b="1" dirty="0">
                <a:solidFill>
                  <a:prstClr val="black"/>
                </a:solidFill>
                <a:latin typeface="微软雅黑" panose="020B0503020204020204" pitchFamily="34" charset="-122"/>
                <a:ea typeface="微软雅黑" panose="020B0503020204020204" pitchFamily="34" charset="-122"/>
              </a:rPr>
              <a:t>）</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1283" name="图片 11282">
            <a:extLst>
              <a:ext uri="{FF2B5EF4-FFF2-40B4-BE49-F238E27FC236}">
                <a16:creationId xmlns:a16="http://schemas.microsoft.com/office/drawing/2014/main" id="{A1AA41FD-D926-4C46-A927-893497B18A15}"/>
              </a:ext>
            </a:extLst>
          </p:cNvPr>
          <p:cNvPicPr>
            <a:picLocks noChangeAspect="1"/>
          </p:cNvPicPr>
          <p:nvPr/>
        </p:nvPicPr>
        <p:blipFill rotWithShape="1">
          <a:blip r:embed="rId9">
            <a:clrChange>
              <a:clrFrom>
                <a:srgbClr val="FFFFFF"/>
              </a:clrFrom>
              <a:clrTo>
                <a:srgbClr val="FFFFFF">
                  <a:alpha val="0"/>
                </a:srgbClr>
              </a:clrTo>
            </a:clrChange>
            <a:biLevel thresh="75000"/>
          </a:blip>
          <a:srcRect l="16787" t="21713" r="17967" b="31135"/>
          <a:stretch/>
        </p:blipFill>
        <p:spPr>
          <a:xfrm>
            <a:off x="9264352" y="4611145"/>
            <a:ext cx="652616" cy="471632"/>
          </a:xfrm>
          <a:prstGeom prst="rect">
            <a:avLst/>
          </a:prstGeom>
        </p:spPr>
      </p:pic>
      <p:sp>
        <p:nvSpPr>
          <p:cNvPr id="154" name="文本框 153">
            <a:extLst>
              <a:ext uri="{FF2B5EF4-FFF2-40B4-BE49-F238E27FC236}">
                <a16:creationId xmlns:a16="http://schemas.microsoft.com/office/drawing/2014/main" id="{CAFB8196-826E-4A37-980F-C962E6226593}"/>
              </a:ext>
            </a:extLst>
          </p:cNvPr>
          <p:cNvSpPr txBox="1"/>
          <p:nvPr/>
        </p:nvSpPr>
        <p:spPr>
          <a:xfrm>
            <a:off x="9696400" y="4585351"/>
            <a:ext cx="1481608"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完全自动驾驶（</a:t>
            </a:r>
            <a:r>
              <a:rPr lang="en-US" altLang="zh-CN" sz="1400" b="1" dirty="0">
                <a:solidFill>
                  <a:srgbClr val="FF0000"/>
                </a:solidFill>
                <a:latin typeface="微软雅黑" panose="020B0503020204020204" pitchFamily="34" charset="-122"/>
                <a:ea typeface="微软雅黑" panose="020B0503020204020204" pitchFamily="34" charset="-122"/>
              </a:rPr>
              <a:t>L5</a:t>
            </a:r>
            <a:r>
              <a:rPr lang="zh-CN" altLang="en-US" sz="1400" b="1" dirty="0">
                <a:solidFill>
                  <a:prstClr val="black"/>
                </a:solidFill>
                <a:latin typeface="微软雅黑" panose="020B0503020204020204" pitchFamily="34" charset="-122"/>
                <a:ea typeface="微软雅黑" panose="020B0503020204020204" pitchFamily="34" charset="-122"/>
              </a:rPr>
              <a:t>）</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1284" name="箭头: 右 11283">
            <a:extLst>
              <a:ext uri="{FF2B5EF4-FFF2-40B4-BE49-F238E27FC236}">
                <a16:creationId xmlns:a16="http://schemas.microsoft.com/office/drawing/2014/main" id="{68424366-72B7-40D8-A550-ED5AF1D6229D}"/>
              </a:ext>
            </a:extLst>
          </p:cNvPr>
          <p:cNvSpPr/>
          <p:nvPr/>
        </p:nvSpPr>
        <p:spPr>
          <a:xfrm>
            <a:off x="2279576" y="4682358"/>
            <a:ext cx="391206" cy="329206"/>
          </a:xfrm>
          <a:prstGeom prst="rightArrow">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箭头: 右 155">
            <a:extLst>
              <a:ext uri="{FF2B5EF4-FFF2-40B4-BE49-F238E27FC236}">
                <a16:creationId xmlns:a16="http://schemas.microsoft.com/office/drawing/2014/main" id="{489B6DE0-FE45-4634-BE4F-C322F7C19B41}"/>
              </a:ext>
            </a:extLst>
          </p:cNvPr>
          <p:cNvSpPr/>
          <p:nvPr/>
        </p:nvSpPr>
        <p:spPr>
          <a:xfrm>
            <a:off x="4624674" y="4682358"/>
            <a:ext cx="391206" cy="329206"/>
          </a:xfrm>
          <a:prstGeom prst="rightArrow">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箭头: 右 156">
            <a:extLst>
              <a:ext uri="{FF2B5EF4-FFF2-40B4-BE49-F238E27FC236}">
                <a16:creationId xmlns:a16="http://schemas.microsoft.com/office/drawing/2014/main" id="{525DE313-BE33-49CB-8489-C8739493B07A}"/>
              </a:ext>
            </a:extLst>
          </p:cNvPr>
          <p:cNvSpPr/>
          <p:nvPr/>
        </p:nvSpPr>
        <p:spPr>
          <a:xfrm>
            <a:off x="6856922" y="4682358"/>
            <a:ext cx="391206" cy="329206"/>
          </a:xfrm>
          <a:prstGeom prst="rightArrow">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箭头: 右 157">
            <a:extLst>
              <a:ext uri="{FF2B5EF4-FFF2-40B4-BE49-F238E27FC236}">
                <a16:creationId xmlns:a16="http://schemas.microsoft.com/office/drawing/2014/main" id="{876F9E9C-AC0C-4E32-82EB-8BB49A3EDC49}"/>
              </a:ext>
            </a:extLst>
          </p:cNvPr>
          <p:cNvSpPr/>
          <p:nvPr/>
        </p:nvSpPr>
        <p:spPr>
          <a:xfrm>
            <a:off x="8873146" y="4682358"/>
            <a:ext cx="391206" cy="329206"/>
          </a:xfrm>
          <a:prstGeom prst="rightArrow">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文本框 161">
            <a:extLst>
              <a:ext uri="{FF2B5EF4-FFF2-40B4-BE49-F238E27FC236}">
                <a16:creationId xmlns:a16="http://schemas.microsoft.com/office/drawing/2014/main" id="{7743BD9F-26BA-4BE3-A0DE-8AF3E405252E}"/>
              </a:ext>
            </a:extLst>
          </p:cNvPr>
          <p:cNvSpPr txBox="1"/>
          <p:nvPr/>
        </p:nvSpPr>
        <p:spPr>
          <a:xfrm>
            <a:off x="510033" y="5183324"/>
            <a:ext cx="1903261"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驾驶人</a:t>
            </a: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承担主要责任</a:t>
            </a:r>
          </a:p>
        </p:txBody>
      </p:sp>
      <p:sp>
        <p:nvSpPr>
          <p:cNvPr id="163" name="文本框 162">
            <a:extLst>
              <a:ext uri="{FF2B5EF4-FFF2-40B4-BE49-F238E27FC236}">
                <a16:creationId xmlns:a16="http://schemas.microsoft.com/office/drawing/2014/main" id="{722BECA4-1B6B-4DB2-8BD3-80B54D88AF69}"/>
              </a:ext>
            </a:extLst>
          </p:cNvPr>
          <p:cNvSpPr txBox="1"/>
          <p:nvPr/>
        </p:nvSpPr>
        <p:spPr>
          <a:xfrm>
            <a:off x="2680571" y="5075602"/>
            <a:ext cx="1903261"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驾驶人</a:t>
            </a: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为主，</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企业</a:t>
            </a: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承担部分产品缺陷责任</a:t>
            </a:r>
          </a:p>
        </p:txBody>
      </p:sp>
      <p:sp>
        <p:nvSpPr>
          <p:cNvPr id="164" name="文本框 163">
            <a:extLst>
              <a:ext uri="{FF2B5EF4-FFF2-40B4-BE49-F238E27FC236}">
                <a16:creationId xmlns:a16="http://schemas.microsoft.com/office/drawing/2014/main" id="{34F8C880-D8FC-4BDD-A2F6-85C4B0E28367}"/>
              </a:ext>
            </a:extLst>
          </p:cNvPr>
          <p:cNvSpPr txBox="1"/>
          <p:nvPr/>
        </p:nvSpPr>
        <p:spPr>
          <a:xfrm>
            <a:off x="4819228" y="5183324"/>
            <a:ext cx="2140868"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根据</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系统激活状态</a:t>
            </a: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判责</a:t>
            </a:r>
          </a:p>
        </p:txBody>
      </p:sp>
      <p:sp>
        <p:nvSpPr>
          <p:cNvPr id="165" name="文本框 164">
            <a:extLst>
              <a:ext uri="{FF2B5EF4-FFF2-40B4-BE49-F238E27FC236}">
                <a16:creationId xmlns:a16="http://schemas.microsoft.com/office/drawing/2014/main" id="{1CF4CE42-72D5-48BB-9122-D0DBABACB33D}"/>
              </a:ext>
            </a:extLst>
          </p:cNvPr>
          <p:cNvSpPr txBox="1"/>
          <p:nvPr/>
        </p:nvSpPr>
        <p:spPr>
          <a:xfrm>
            <a:off x="6908509" y="5075602"/>
            <a:ext cx="2211827"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制造商</a:t>
            </a:r>
            <a:r>
              <a:rPr lang="zh-CN" altLang="en-US" sz="1400" dirty="0">
                <a:solidFill>
                  <a:prstClr val="black"/>
                </a:solidFill>
                <a:latin typeface="微软雅黑" panose="020B0503020204020204" pitchFamily="34" charset="-122"/>
                <a:ea typeface="微软雅黑" panose="020B0503020204020204" pitchFamily="34" charset="-122"/>
              </a:rPr>
              <a:t>承担主要责任</a:t>
            </a:r>
            <a:endParaRPr lang="en-US" altLang="zh-CN" sz="1400"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驾驶人</a:t>
            </a: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一般不承担责任</a:t>
            </a:r>
          </a:p>
        </p:txBody>
      </p:sp>
      <p:sp>
        <p:nvSpPr>
          <p:cNvPr id="166" name="文本框 165">
            <a:extLst>
              <a:ext uri="{FF2B5EF4-FFF2-40B4-BE49-F238E27FC236}">
                <a16:creationId xmlns:a16="http://schemas.microsoft.com/office/drawing/2014/main" id="{F3C5B243-B40B-4BE1-8D57-69A70BE29437}"/>
              </a:ext>
            </a:extLst>
          </p:cNvPr>
          <p:cNvSpPr txBox="1"/>
          <p:nvPr/>
        </p:nvSpPr>
        <p:spPr>
          <a:xfrm>
            <a:off x="9048328" y="5075602"/>
            <a:ext cx="2304338"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zh-CN" altLang="en-US" sz="1400" dirty="0">
                <a:solidFill>
                  <a:prstClr val="black"/>
                </a:solidFill>
                <a:latin typeface="微软雅黑" panose="020B0503020204020204" pitchFamily="34" charset="-122"/>
                <a:ea typeface="微软雅黑" panose="020B0503020204020204" pitchFamily="34" charset="-122"/>
              </a:rPr>
              <a:t>制造商</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运营者</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软件提供方承担</a:t>
            </a:r>
            <a:r>
              <a:rPr lang="zh-CN" altLang="en-US" sz="1400" b="1" dirty="0">
                <a:solidFill>
                  <a:prstClr val="black"/>
                </a:solidFill>
                <a:latin typeface="微软雅黑" panose="020B0503020204020204" pitchFamily="34" charset="-122"/>
                <a:ea typeface="微软雅黑" panose="020B0503020204020204" pitchFamily="34" charset="-122"/>
              </a:rPr>
              <a:t>全部责任</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7" name="箭头: 右 166">
            <a:extLst>
              <a:ext uri="{FF2B5EF4-FFF2-40B4-BE49-F238E27FC236}">
                <a16:creationId xmlns:a16="http://schemas.microsoft.com/office/drawing/2014/main" id="{8BB480B3-9E22-4ECD-934C-EA0F4A90DAAA}"/>
              </a:ext>
            </a:extLst>
          </p:cNvPr>
          <p:cNvSpPr/>
          <p:nvPr/>
        </p:nvSpPr>
        <p:spPr>
          <a:xfrm>
            <a:off x="5822369" y="5942601"/>
            <a:ext cx="576000" cy="540000"/>
          </a:xfrm>
          <a:prstGeom prst="rightArrow">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矩形 167">
            <a:extLst>
              <a:ext uri="{FF2B5EF4-FFF2-40B4-BE49-F238E27FC236}">
                <a16:creationId xmlns:a16="http://schemas.microsoft.com/office/drawing/2014/main" id="{4866B602-2D19-4562-8BDF-6A0A11370092}"/>
              </a:ext>
            </a:extLst>
          </p:cNvPr>
          <p:cNvSpPr/>
          <p:nvPr/>
        </p:nvSpPr>
        <p:spPr>
          <a:xfrm>
            <a:off x="6528048" y="5670830"/>
            <a:ext cx="720080" cy="1057534"/>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研究问题</a:t>
            </a:r>
          </a:p>
        </p:txBody>
      </p:sp>
      <p:sp>
        <p:nvSpPr>
          <p:cNvPr id="169" name="文本框 168">
            <a:extLst>
              <a:ext uri="{FF2B5EF4-FFF2-40B4-BE49-F238E27FC236}">
                <a16:creationId xmlns:a16="http://schemas.microsoft.com/office/drawing/2014/main" id="{410D25C1-F1F6-4F25-86D7-85B6E1251830}"/>
              </a:ext>
            </a:extLst>
          </p:cNvPr>
          <p:cNvSpPr txBox="1"/>
          <p:nvPr/>
        </p:nvSpPr>
        <p:spPr>
          <a:xfrm>
            <a:off x="7250360" y="5670830"/>
            <a:ext cx="4023875" cy="1021433"/>
          </a:xfrm>
          <a:prstGeom prst="rect">
            <a:avLst/>
          </a:prstGeom>
          <a:noFill/>
          <a:ln w="12700">
            <a:solidFill>
              <a:schemeClr val="tx1"/>
            </a:solidFill>
            <a:prstDash val="dash"/>
          </a:ln>
        </p:spPr>
        <p:txBody>
          <a:bodyPr wrap="square">
            <a:spAutoFit/>
          </a:bodyPr>
          <a:lstStyle/>
          <a:p>
            <a:pPr indent="457200" algn="just">
              <a:lnSpc>
                <a:spcPct val="130000"/>
              </a:lnSpc>
            </a:pPr>
            <a:r>
              <a:rPr lang="zh-CN" altLang="en-US" sz="1600" b="1" dirty="0">
                <a:solidFill>
                  <a:prstClr val="black"/>
                </a:solidFill>
                <a:latin typeface="微软雅黑" panose="020B0503020204020204" pitchFamily="34" charset="-122"/>
                <a:ea typeface="微软雅黑" panose="020B0503020204020204" pitchFamily="34" charset="-122"/>
              </a:rPr>
              <a:t>在不同典型场景和不同主导因素下，公众对于制造商、驾驶员等相关方责任划分的期望。</a:t>
            </a:r>
            <a:endParaRPr lang="en-US" altLang="zh-CN" sz="1600" b="1"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4332529"/>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9">
            <a:extLst>
              <a:ext uri="{FF2B5EF4-FFF2-40B4-BE49-F238E27FC236}">
                <a16:creationId xmlns:a16="http://schemas.microsoft.com/office/drawing/2014/main" id="{71CE0525-4CDF-9451-C39A-45C92D5CD305}"/>
              </a:ext>
            </a:extLst>
          </p:cNvPr>
          <p:cNvSpPr>
            <a:spLocks noChangeArrowheads="1"/>
          </p:cNvSpPr>
          <p:nvPr/>
        </p:nvSpPr>
        <p:spPr bwMode="auto">
          <a:xfrm>
            <a:off x="335360" y="116632"/>
            <a:ext cx="24479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研究现状</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04226A3F-D092-4DD0-B5E5-9ACCCA7057EC}"/>
              </a:ext>
            </a:extLst>
          </p:cNvPr>
          <p:cNvSpPr/>
          <p:nvPr/>
        </p:nvSpPr>
        <p:spPr>
          <a:xfrm>
            <a:off x="997572" y="1167180"/>
            <a:ext cx="9994972" cy="6120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现有研究对自动驾驶车辆技术特性的适配性不足</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 name="表格 2">
            <a:extLst>
              <a:ext uri="{FF2B5EF4-FFF2-40B4-BE49-F238E27FC236}">
                <a16:creationId xmlns:a16="http://schemas.microsoft.com/office/drawing/2014/main" id="{E6942D98-D374-4099-B5B5-2BE2357CF45A}"/>
              </a:ext>
            </a:extLst>
          </p:cNvPr>
          <p:cNvGraphicFramePr>
            <a:graphicFrameLocks noGrp="1"/>
          </p:cNvGraphicFramePr>
          <p:nvPr>
            <p:extLst>
              <p:ext uri="{D42A27DB-BD31-4B8C-83A1-F6EECF244321}">
                <p14:modId xmlns:p14="http://schemas.microsoft.com/office/powerpoint/2010/main" val="2925256724"/>
              </p:ext>
            </p:extLst>
          </p:nvPr>
        </p:nvGraphicFramePr>
        <p:xfrm>
          <a:off x="997572" y="1916832"/>
          <a:ext cx="9994971" cy="4435976"/>
        </p:xfrm>
        <a:graphic>
          <a:graphicData uri="http://schemas.openxmlformats.org/drawingml/2006/table">
            <a:tbl>
              <a:tblPr firstRow="1" bandRow="1">
                <a:tableStyleId>{5C22544A-7EE6-4342-B048-85BDC9FD1C3A}</a:tableStyleId>
              </a:tblPr>
              <a:tblGrid>
                <a:gridCol w="1137990">
                  <a:extLst>
                    <a:ext uri="{9D8B030D-6E8A-4147-A177-3AD203B41FA5}">
                      <a16:colId xmlns:a16="http://schemas.microsoft.com/office/drawing/2014/main" val="1265272874"/>
                    </a:ext>
                  </a:extLst>
                </a:gridCol>
                <a:gridCol w="2736304">
                  <a:extLst>
                    <a:ext uri="{9D8B030D-6E8A-4147-A177-3AD203B41FA5}">
                      <a16:colId xmlns:a16="http://schemas.microsoft.com/office/drawing/2014/main" val="3020359087"/>
                    </a:ext>
                  </a:extLst>
                </a:gridCol>
                <a:gridCol w="2664296">
                  <a:extLst>
                    <a:ext uri="{9D8B030D-6E8A-4147-A177-3AD203B41FA5}">
                      <a16:colId xmlns:a16="http://schemas.microsoft.com/office/drawing/2014/main" val="2496182635"/>
                    </a:ext>
                  </a:extLst>
                </a:gridCol>
                <a:gridCol w="3456381">
                  <a:extLst>
                    <a:ext uri="{9D8B030D-6E8A-4147-A177-3AD203B41FA5}">
                      <a16:colId xmlns:a16="http://schemas.microsoft.com/office/drawing/2014/main" val="1855393558"/>
                    </a:ext>
                  </a:extLst>
                </a:gridCol>
              </a:tblGrid>
              <a:tr h="504056">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研究主题</a:t>
                      </a:r>
                    </a:p>
                  </a:txBody>
                  <a:tcPr anchor="ct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现有研究成果</a:t>
                      </a:r>
                    </a:p>
                  </a:txBody>
                  <a:tcPr anchor="ct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代表文献</a:t>
                      </a:r>
                    </a:p>
                  </a:txBody>
                  <a:tcPr anchor="ct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研究局限</a:t>
                      </a:r>
                    </a:p>
                  </a:txBody>
                  <a:tcPr anchor="ctr"/>
                </a:tc>
                <a:extLst>
                  <a:ext uri="{0D108BD9-81ED-4DB2-BD59-A6C34878D82A}">
                    <a16:rowId xmlns:a16="http://schemas.microsoft.com/office/drawing/2014/main" val="3186998248"/>
                  </a:ext>
                </a:extLst>
              </a:tr>
              <a:tr h="1310640">
                <a:tc>
                  <a:txBody>
                    <a:bodyPr/>
                    <a:lstStyle/>
                    <a:p>
                      <a:pPr marL="0" algn="ctr"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事故场景分析与风险识别</a:t>
                      </a:r>
                    </a:p>
                  </a:txBody>
                  <a:tcPr anchor="ctr"/>
                </a:tc>
                <a:tc>
                  <a:txBody>
                    <a:bodyPr/>
                    <a:lstStyle/>
                    <a:p>
                      <a:pPr marL="0" algn="just"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已形成从统计分析到智能场景识别的发展路径，</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LCA</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TAN</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等方法已用于识别典型场景及变量依赖关系</a:t>
                      </a:r>
                    </a:p>
                  </a:txBody>
                  <a:tcPr anchor="ctr"/>
                </a:tc>
                <a:tc>
                  <a:txBody>
                    <a:bodyPr/>
                    <a:lstStyle/>
                    <a:p>
                      <a:pPr marL="0" algn="ctr" defTabSz="914400" rtl="0" eaLnBrk="1" latinLnBrk="0" hangingPunct="1"/>
                      <a:r>
                        <a:rPr lang="en-US" altLang="zh-CN" sz="1600" b="0" kern="1200" dirty="0" err="1">
                          <a:solidFill>
                            <a:schemeClr val="tx1"/>
                          </a:solidFill>
                          <a:latin typeface="微软雅黑" panose="020B0503020204020204" pitchFamily="34" charset="-122"/>
                          <a:ea typeface="微软雅黑" panose="020B0503020204020204" pitchFamily="34" charset="-122"/>
                          <a:cs typeface="+mn-cs"/>
                        </a:rPr>
                        <a:t>Abdel-Aty&amp;Ding</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 (2024)</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 </a:t>
                      </a:r>
                      <a:endParaRPr lang="en-US" altLang="zh-CN" sz="1600" b="0" kern="1200" dirty="0">
                        <a:solidFill>
                          <a:schemeClr val="tx1"/>
                        </a:solidFill>
                        <a:latin typeface="微软雅黑" panose="020B0503020204020204" pitchFamily="34" charset="-122"/>
                        <a:ea typeface="微软雅黑" panose="020B0503020204020204" pitchFamily="34" charset="-122"/>
                        <a:cs typeface="+mn-cs"/>
                      </a:endParaRPr>
                    </a:p>
                    <a:p>
                      <a:pPr marL="0" algn="ctr" defTabSz="914400" rtl="0" eaLnBrk="1" latinLnBrk="0" hangingPunct="1"/>
                      <a:r>
                        <a:rPr lang="en-US" altLang="zh-CN" sz="1600" b="0" kern="1200" dirty="0">
                          <a:solidFill>
                            <a:schemeClr val="tx1"/>
                          </a:solidFill>
                          <a:latin typeface="微软雅黑" panose="020B0503020204020204" pitchFamily="34" charset="-122"/>
                          <a:ea typeface="微软雅黑" panose="020B0503020204020204" pitchFamily="34" charset="-122"/>
                          <a:cs typeface="+mn-cs"/>
                        </a:rPr>
                        <a:t>Ren &amp; Xu (2025)</a:t>
                      </a:r>
                    </a:p>
                    <a:p>
                      <a:pPr marL="0" algn="ctr"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阎莹等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(2025)</a:t>
                      </a:r>
                    </a:p>
                    <a:p>
                      <a:pPr marL="0" algn="ctr" defTabSz="914400" rtl="0" eaLnBrk="1" latinLnBrk="0" hangingPunct="1"/>
                      <a:r>
                        <a:rPr lang="en-US" altLang="zh-CN" sz="1600" b="0" kern="1200" dirty="0" err="1">
                          <a:solidFill>
                            <a:schemeClr val="tx1"/>
                          </a:solidFill>
                          <a:latin typeface="微软雅黑" panose="020B0503020204020204" pitchFamily="34" charset="-122"/>
                          <a:ea typeface="微软雅黑" panose="020B0503020204020204" pitchFamily="34" charset="-122"/>
                          <a:cs typeface="+mn-cs"/>
                        </a:rPr>
                        <a:t>Esenturk</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(2022)</a:t>
                      </a:r>
                      <a:endParaRPr lang="zh-CN" altLang="en-US" sz="1600" b="0"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marL="285750" indent="-285750" algn="just">
                        <a:buFont typeface="Wingdings" panose="05000000000000000000" pitchFamily="2" charset="2"/>
                        <a:buChar char="Ø"/>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面向自动驾驶系统特性的事故场景画像指标体系尚不完善；</a:t>
                      </a:r>
                      <a:endParaRPr lang="en-US" altLang="zh-CN" sz="1600" b="0" kern="1200" dirty="0">
                        <a:solidFill>
                          <a:schemeClr val="tx1"/>
                        </a:solidFill>
                        <a:latin typeface="微软雅黑" panose="020B0503020204020204" pitchFamily="34" charset="-122"/>
                        <a:ea typeface="微软雅黑" panose="020B0503020204020204" pitchFamily="34" charset="-122"/>
                        <a:cs typeface="+mn-cs"/>
                      </a:endParaRPr>
                    </a:p>
                    <a:p>
                      <a:pPr marL="285750" indent="-285750" algn="just">
                        <a:buFont typeface="Wingdings" panose="05000000000000000000" pitchFamily="2" charset="2"/>
                        <a:buChar char="Ø"/>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不同干预条件下事故场景的动态迁移规律研究薄弱</a:t>
                      </a:r>
                    </a:p>
                  </a:txBody>
                  <a:tcPr anchor="ctr"/>
                </a:tc>
                <a:extLst>
                  <a:ext uri="{0D108BD9-81ED-4DB2-BD59-A6C34878D82A}">
                    <a16:rowId xmlns:a16="http://schemas.microsoft.com/office/drawing/2014/main" val="3239387791"/>
                  </a:ext>
                </a:extLst>
              </a:tr>
              <a:tr h="1310640">
                <a:tc>
                  <a:txBody>
                    <a:bodyPr/>
                    <a:lstStyle/>
                    <a:p>
                      <a:pPr marL="0" algn="ctr"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事故因果推断与干预策略</a:t>
                      </a:r>
                    </a:p>
                  </a:txBody>
                  <a:tcPr anchor="ctr"/>
                </a:tc>
                <a:tc>
                  <a:txBody>
                    <a:bodyPr/>
                    <a:lstStyle/>
                    <a:p>
                      <a:pPr marL="0" algn="just"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贝叶斯网络、链式因果推断、反事实推理等方法已在交通安全领域得到应用，可识别致因因素、量化干预效应</a:t>
                      </a:r>
                    </a:p>
                  </a:txBody>
                  <a:tcPr anchor="ctr"/>
                </a:tc>
                <a:tc>
                  <a:txBody>
                    <a:bodyPr/>
                    <a:lstStyle/>
                    <a:p>
                      <a:pPr marL="0" algn="ctr" defTabSz="914400" rtl="0" eaLnBrk="1" latinLnBrk="0" hangingPunct="1"/>
                      <a:r>
                        <a:rPr lang="en-US" altLang="zh-CN" sz="1600" b="0" kern="1200" dirty="0">
                          <a:solidFill>
                            <a:schemeClr val="tx1"/>
                          </a:solidFill>
                          <a:latin typeface="微软雅黑" panose="020B0503020204020204" pitchFamily="34" charset="-122"/>
                          <a:ea typeface="微软雅黑" panose="020B0503020204020204" pitchFamily="34" charset="-122"/>
                          <a:cs typeface="+mn-cs"/>
                        </a:rPr>
                        <a:t>Xuan</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(2025)</a:t>
                      </a:r>
                    </a:p>
                    <a:p>
                      <a:pPr marL="0" algn="ctr"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姚亮等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(2026)</a:t>
                      </a:r>
                    </a:p>
                    <a:p>
                      <a:pPr marL="0" algn="ctr" defTabSz="914400" rtl="0" eaLnBrk="1" latinLnBrk="0" hangingPunct="1"/>
                      <a:r>
                        <a:rPr lang="en-US" altLang="zh-CN" sz="1600" b="0" kern="1200" dirty="0" err="1">
                          <a:solidFill>
                            <a:schemeClr val="tx1"/>
                          </a:solidFill>
                          <a:latin typeface="微软雅黑" panose="020B0503020204020204" pitchFamily="34" charset="-122"/>
                          <a:ea typeface="微软雅黑" panose="020B0503020204020204" pitchFamily="34" charset="-122"/>
                          <a:cs typeface="+mn-cs"/>
                        </a:rPr>
                        <a:t>Xie</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(2026)</a:t>
                      </a:r>
                    </a:p>
                    <a:p>
                      <a:pPr marL="0" algn="ctr" defTabSz="914400" rtl="0" eaLnBrk="1" latinLnBrk="0" hangingPunct="1"/>
                      <a:r>
                        <a:rPr lang="en-US" altLang="zh-CN" sz="1600" b="0" kern="1200" dirty="0">
                          <a:solidFill>
                            <a:schemeClr val="tx1"/>
                          </a:solidFill>
                          <a:latin typeface="微软雅黑" panose="020B0503020204020204" pitchFamily="34" charset="-122"/>
                          <a:ea typeface="微软雅黑" panose="020B0503020204020204" pitchFamily="34" charset="-122"/>
                          <a:cs typeface="+mn-cs"/>
                        </a:rPr>
                        <a:t>Huang</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(2026)</a:t>
                      </a:r>
                      <a:endParaRPr lang="zh-CN" altLang="en-US" sz="1600" b="0"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marL="285750" indent="-285750" algn="just" defTabSz="914400" rtl="0" eaLnBrk="1" latinLnBrk="0" hangingPunct="1">
                        <a:buFont typeface="Wingdings" panose="05000000000000000000" pitchFamily="2" charset="2"/>
                        <a:buChar char="Ø"/>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多因素链式交互深度解析不足；</a:t>
                      </a:r>
                      <a:endParaRPr lang="en-US" altLang="zh-CN" sz="1600" b="0" kern="1200" dirty="0">
                        <a:solidFill>
                          <a:schemeClr val="tx1"/>
                        </a:solidFill>
                        <a:latin typeface="微软雅黑" panose="020B0503020204020204" pitchFamily="34" charset="-122"/>
                        <a:ea typeface="微软雅黑" panose="020B0503020204020204" pitchFamily="34" charset="-122"/>
                        <a:cs typeface="+mn-cs"/>
                      </a:endParaRPr>
                    </a:p>
                    <a:p>
                      <a:pPr marL="285750" indent="-285750" algn="just" defTabSz="914400" rtl="0" eaLnBrk="1" latinLnBrk="0" hangingPunct="1">
                        <a:buFont typeface="Wingdings" panose="05000000000000000000" pitchFamily="2" charset="2"/>
                        <a:buChar char="Ø"/>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干预效果的异质性挖掘有限；</a:t>
                      </a:r>
                      <a:endParaRPr lang="en-US" altLang="zh-CN" sz="1600" b="0" kern="1200" dirty="0">
                        <a:solidFill>
                          <a:schemeClr val="tx1"/>
                        </a:solidFill>
                        <a:latin typeface="微软雅黑" panose="020B0503020204020204" pitchFamily="34" charset="-122"/>
                        <a:ea typeface="微软雅黑" panose="020B0503020204020204" pitchFamily="34" charset="-122"/>
                        <a:cs typeface="+mn-cs"/>
                      </a:endParaRPr>
                    </a:p>
                    <a:p>
                      <a:pPr marL="285750" indent="-285750" algn="just" defTabSz="914400" rtl="0" eaLnBrk="1" latinLnBrk="0" hangingPunct="1">
                        <a:buFont typeface="Wingdings" panose="05000000000000000000" pitchFamily="2" charset="2"/>
                        <a:buChar char="Ø"/>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从致因识别到策略优化的闭环验证不足</a:t>
                      </a:r>
                    </a:p>
                  </a:txBody>
                  <a:tcPr anchor="ctr"/>
                </a:tc>
                <a:extLst>
                  <a:ext uri="{0D108BD9-81ED-4DB2-BD59-A6C34878D82A}">
                    <a16:rowId xmlns:a16="http://schemas.microsoft.com/office/drawing/2014/main" val="4048546404"/>
                  </a:ext>
                </a:extLst>
              </a:tr>
              <a:tr h="1310640">
                <a:tc>
                  <a:txBody>
                    <a:bodyPr/>
                    <a:lstStyle/>
                    <a:p>
                      <a:pPr marL="0" algn="ctr"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事故归责与公众意向</a:t>
                      </a:r>
                    </a:p>
                  </a:txBody>
                  <a:tcPr anchor="ctr"/>
                </a:tc>
                <a:tc>
                  <a:txBody>
                    <a:bodyPr/>
                    <a:lstStyle/>
                    <a:p>
                      <a:pPr marL="0" algn="just"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揭示了归责悖论、责任归于制造商可提升接受度等关键规律；已形成法律论证与实证调查相结合的研究趋势</a:t>
                      </a:r>
                    </a:p>
                  </a:txBody>
                  <a:tcPr anchor="ctr"/>
                </a:tc>
                <a:tc>
                  <a:txBody>
                    <a:bodyPr/>
                    <a:lstStyle/>
                    <a:p>
                      <a:pPr marL="0" algn="ctr" defTabSz="914400" rtl="0" eaLnBrk="1" latinLnBrk="0" hangingPunct="1"/>
                      <a:r>
                        <a:rPr lang="en-US" altLang="zh-CN" sz="1600" b="0" kern="1200" dirty="0" err="1">
                          <a:solidFill>
                            <a:schemeClr val="tx1"/>
                          </a:solidFill>
                          <a:latin typeface="微软雅黑" panose="020B0503020204020204" pitchFamily="34" charset="-122"/>
                          <a:ea typeface="微软雅黑" panose="020B0503020204020204" pitchFamily="34" charset="-122"/>
                          <a:cs typeface="+mn-cs"/>
                        </a:rPr>
                        <a:t>Zhai</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(2023)</a:t>
                      </a:r>
                    </a:p>
                    <a:p>
                      <a:pPr marL="0" algn="ctr" defTabSz="914400" rtl="0" eaLnBrk="1" latinLnBrk="0" hangingPunct="1"/>
                      <a:r>
                        <a:rPr lang="en-US" altLang="zh-CN" sz="1600" b="0" kern="1200" dirty="0">
                          <a:solidFill>
                            <a:schemeClr val="tx1"/>
                          </a:solidFill>
                          <a:latin typeface="微软雅黑" panose="020B0503020204020204" pitchFamily="34" charset="-122"/>
                          <a:ea typeface="微软雅黑" panose="020B0503020204020204" pitchFamily="34" charset="-122"/>
                          <a:cs typeface="+mn-cs"/>
                        </a:rPr>
                        <a:t>Kim</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(2026)</a:t>
                      </a:r>
                    </a:p>
                    <a:p>
                      <a:pPr marL="0" algn="ctr" defTabSz="914400" rtl="0" eaLnBrk="1" latinLnBrk="0" hangingPunct="1"/>
                      <a:r>
                        <a:rPr lang="en-US" altLang="zh-CN" sz="1600" b="0" kern="1200" dirty="0">
                          <a:solidFill>
                            <a:schemeClr val="tx1"/>
                          </a:solidFill>
                          <a:latin typeface="微软雅黑" panose="020B0503020204020204" pitchFamily="34" charset="-122"/>
                          <a:ea typeface="微软雅黑" panose="020B0503020204020204" pitchFamily="34" charset="-122"/>
                          <a:cs typeface="+mn-cs"/>
                        </a:rPr>
                        <a:t>Sun</a:t>
                      </a:r>
                      <a:r>
                        <a:rPr lang="zh-CN" altLang="en-US" sz="1600" b="0" kern="1200" dirty="0">
                          <a:solidFill>
                            <a:schemeClr val="tx1"/>
                          </a:solidFill>
                          <a:latin typeface="微软雅黑" panose="020B0503020204020204" pitchFamily="34" charset="-122"/>
                          <a:ea typeface="微软雅黑" panose="020B0503020204020204" pitchFamily="34" charset="-122"/>
                          <a:cs typeface="+mn-cs"/>
                        </a:rPr>
                        <a:t>等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(2025)</a:t>
                      </a:r>
                    </a:p>
                    <a:p>
                      <a:pPr marL="0" algn="ctr" defTabSz="914400" rtl="0" eaLnBrk="1" latinLnBrk="0" hangingPunct="1"/>
                      <a:r>
                        <a:rPr lang="zh-CN" altLang="en-US" sz="1600" b="0" kern="1200" dirty="0">
                          <a:solidFill>
                            <a:schemeClr val="tx1"/>
                          </a:solidFill>
                          <a:latin typeface="微软雅黑" panose="020B0503020204020204" pitchFamily="34" charset="-122"/>
                          <a:ea typeface="微软雅黑" panose="020B0503020204020204" pitchFamily="34" charset="-122"/>
                          <a:cs typeface="+mn-cs"/>
                        </a:rPr>
                        <a:t>周玉华 </a:t>
                      </a:r>
                      <a:r>
                        <a:rPr lang="en-US" altLang="zh-CN" sz="1600" b="0" kern="1200" dirty="0">
                          <a:solidFill>
                            <a:schemeClr val="tx1"/>
                          </a:solidFill>
                          <a:latin typeface="微软雅黑" panose="020B0503020204020204" pitchFamily="34" charset="-122"/>
                          <a:ea typeface="微软雅黑" panose="020B0503020204020204" pitchFamily="34" charset="-122"/>
                          <a:cs typeface="+mn-cs"/>
                        </a:rPr>
                        <a:t>(2025)</a:t>
                      </a:r>
                      <a:endParaRPr lang="zh-CN" altLang="en-US" sz="1600" b="0" kern="1200" dirty="0">
                        <a:solidFill>
                          <a:schemeClr val="tx1"/>
                        </a:solidFill>
                        <a:latin typeface="微软雅黑" panose="020B0503020204020204" pitchFamily="34" charset="-122"/>
                        <a:ea typeface="微软雅黑" panose="020B0503020204020204" pitchFamily="34" charset="-122"/>
                        <a:cs typeface="+mn-cs"/>
                      </a:endParaRPr>
                    </a:p>
                  </a:txBody>
                  <a:tcPr anchor="ctr"/>
                </a:tc>
                <a:tc>
                  <a:txBody>
                    <a:bodyPr/>
                    <a:lstStyle/>
                    <a:p>
                      <a:pPr marL="285750" indent="-285750" algn="just" defTabSz="914400" rtl="0" eaLnBrk="1" latinLnBrk="0" hangingPunct="1">
                        <a:buFont typeface="Wingdings" panose="05000000000000000000" pitchFamily="2" charset="2"/>
                        <a:buChar char="Ø"/>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多基于抽象情景或假设案例，缺乏对真实事故场景特征与因果主导因素的系统考量</a:t>
                      </a:r>
                      <a:endParaRPr lang="en-US" altLang="zh-CN" sz="1600" b="0" kern="1200" dirty="0">
                        <a:solidFill>
                          <a:schemeClr val="tx1"/>
                        </a:solidFill>
                        <a:latin typeface="微软雅黑" panose="020B0503020204020204" pitchFamily="34" charset="-122"/>
                        <a:ea typeface="微软雅黑" panose="020B0503020204020204" pitchFamily="34" charset="-122"/>
                        <a:cs typeface="+mn-cs"/>
                      </a:endParaRPr>
                    </a:p>
                    <a:p>
                      <a:pPr marL="285750" indent="-285750" algn="just" defTabSz="914400" rtl="0" eaLnBrk="1" latinLnBrk="0" hangingPunct="1">
                        <a:buFont typeface="Wingdings" panose="05000000000000000000" pitchFamily="2" charset="2"/>
                        <a:buChar char="Ø"/>
                      </a:pPr>
                      <a:r>
                        <a:rPr lang="zh-CN" altLang="en-US" sz="1600" b="0" kern="1200" dirty="0">
                          <a:solidFill>
                            <a:schemeClr val="tx1"/>
                          </a:solidFill>
                          <a:latin typeface="微软雅黑" panose="020B0503020204020204" pitchFamily="34" charset="-122"/>
                          <a:ea typeface="微软雅黑" panose="020B0503020204020204" pitchFamily="34" charset="-122"/>
                          <a:cs typeface="+mn-cs"/>
                        </a:rPr>
                        <a:t>不同场景、不同主导致因下的三方责任分配调查有限</a:t>
                      </a:r>
                    </a:p>
                  </a:txBody>
                  <a:tcPr anchor="ctr"/>
                </a:tc>
                <a:extLst>
                  <a:ext uri="{0D108BD9-81ED-4DB2-BD59-A6C34878D82A}">
                    <a16:rowId xmlns:a16="http://schemas.microsoft.com/office/drawing/2014/main" val="1090366985"/>
                  </a:ext>
                </a:extLst>
              </a:tr>
            </a:tbl>
          </a:graphicData>
        </a:graphic>
      </p:graphicFrame>
    </p:spTree>
    <p:extLst>
      <p:ext uri="{BB962C8B-B14F-4D97-AF65-F5344CB8AC3E}">
        <p14:creationId xmlns:p14="http://schemas.microsoft.com/office/powerpoint/2010/main" val="106071046"/>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59">
            <a:extLst>
              <a:ext uri="{FF2B5EF4-FFF2-40B4-BE49-F238E27FC236}">
                <a16:creationId xmlns:a16="http://schemas.microsoft.com/office/drawing/2014/main" id="{71CE0525-4CDF-9451-C39A-45C92D5CD305}"/>
              </a:ext>
            </a:extLst>
          </p:cNvPr>
          <p:cNvSpPr>
            <a:spLocks noChangeArrowheads="1"/>
          </p:cNvSpPr>
          <p:nvPr/>
        </p:nvSpPr>
        <p:spPr bwMode="auto">
          <a:xfrm>
            <a:off x="335360" y="116632"/>
            <a:ext cx="24479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研究思路</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C8008BD5-9C81-4F94-A81A-71A43F0154DA}"/>
              </a:ext>
            </a:extLst>
          </p:cNvPr>
          <p:cNvSpPr/>
          <p:nvPr/>
        </p:nvSpPr>
        <p:spPr>
          <a:xfrm>
            <a:off x="549367" y="1772816"/>
            <a:ext cx="5269385" cy="263525"/>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anose="020B0503020204020204" charset="-122"/>
                <a:ea typeface="微软雅黑" panose="020B0503020204020204" charset="-122"/>
              </a:rPr>
              <a:t>自动驾驶车辆事故理论框架构建与数据特征分析</a:t>
            </a:r>
          </a:p>
        </p:txBody>
      </p:sp>
      <p:sp>
        <p:nvSpPr>
          <p:cNvPr id="7" name="矩形: 圆角 6">
            <a:extLst>
              <a:ext uri="{FF2B5EF4-FFF2-40B4-BE49-F238E27FC236}">
                <a16:creationId xmlns:a16="http://schemas.microsoft.com/office/drawing/2014/main" id="{BB90903D-81B0-410D-A7D3-C142816797CD}"/>
              </a:ext>
            </a:extLst>
          </p:cNvPr>
          <p:cNvSpPr/>
          <p:nvPr/>
        </p:nvSpPr>
        <p:spPr>
          <a:xfrm>
            <a:off x="549314" y="2102202"/>
            <a:ext cx="1663156" cy="1658664"/>
          </a:xfrm>
          <a:prstGeom prst="roundRect">
            <a:avLst>
              <a:gd name="adj" fmla="val 2372"/>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b="1" dirty="0">
              <a:solidFill>
                <a:schemeClr val="tx1"/>
              </a:solidFill>
              <a:latin typeface="微软雅黑" panose="020B0503020204020204" charset="-122"/>
              <a:ea typeface="微软雅黑" panose="020B0503020204020204" charset="-122"/>
            </a:endParaRPr>
          </a:p>
        </p:txBody>
      </p:sp>
      <p:sp>
        <p:nvSpPr>
          <p:cNvPr id="10" name="矩形: 圆角 9">
            <a:extLst>
              <a:ext uri="{FF2B5EF4-FFF2-40B4-BE49-F238E27FC236}">
                <a16:creationId xmlns:a16="http://schemas.microsoft.com/office/drawing/2014/main" id="{05E25B7C-F4C6-4508-B4C3-188EDD7416D8}"/>
              </a:ext>
            </a:extLst>
          </p:cNvPr>
          <p:cNvSpPr/>
          <p:nvPr/>
        </p:nvSpPr>
        <p:spPr>
          <a:xfrm>
            <a:off x="703684" y="2190759"/>
            <a:ext cx="1320438" cy="234315"/>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基础理论</a:t>
            </a:r>
          </a:p>
        </p:txBody>
      </p:sp>
      <p:sp>
        <p:nvSpPr>
          <p:cNvPr id="11" name="矩形: 圆角 10">
            <a:extLst>
              <a:ext uri="{FF2B5EF4-FFF2-40B4-BE49-F238E27FC236}">
                <a16:creationId xmlns:a16="http://schemas.microsoft.com/office/drawing/2014/main" id="{8E5F5760-8FCF-4EAD-A6F2-D9F96FBB51CD}"/>
              </a:ext>
            </a:extLst>
          </p:cNvPr>
          <p:cNvSpPr/>
          <p:nvPr/>
        </p:nvSpPr>
        <p:spPr>
          <a:xfrm>
            <a:off x="2409339" y="2102544"/>
            <a:ext cx="1660384" cy="1657981"/>
          </a:xfrm>
          <a:prstGeom prst="roundRect">
            <a:avLst>
              <a:gd name="adj" fmla="val 2372"/>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b="1" dirty="0">
              <a:solidFill>
                <a:schemeClr val="tx1"/>
              </a:solidFill>
              <a:latin typeface="微软雅黑" panose="020B0503020204020204" charset="-122"/>
              <a:ea typeface="微软雅黑" panose="020B0503020204020204" charset="-122"/>
            </a:endParaRPr>
          </a:p>
        </p:txBody>
      </p:sp>
      <p:sp>
        <p:nvSpPr>
          <p:cNvPr id="12" name="矩形: 圆角 11">
            <a:extLst>
              <a:ext uri="{FF2B5EF4-FFF2-40B4-BE49-F238E27FC236}">
                <a16:creationId xmlns:a16="http://schemas.microsoft.com/office/drawing/2014/main" id="{02D09373-947D-4FCD-81E6-DC3EA3E691BE}"/>
              </a:ext>
            </a:extLst>
          </p:cNvPr>
          <p:cNvSpPr/>
          <p:nvPr/>
        </p:nvSpPr>
        <p:spPr>
          <a:xfrm>
            <a:off x="2524428" y="2199139"/>
            <a:ext cx="1411183" cy="234315"/>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数据预处理</a:t>
            </a:r>
          </a:p>
        </p:txBody>
      </p:sp>
      <p:sp>
        <p:nvSpPr>
          <p:cNvPr id="13" name="箭头: 右 12">
            <a:extLst>
              <a:ext uri="{FF2B5EF4-FFF2-40B4-BE49-F238E27FC236}">
                <a16:creationId xmlns:a16="http://schemas.microsoft.com/office/drawing/2014/main" id="{850B2E4A-83F2-4E7C-A5E9-41A4C99DB840}"/>
              </a:ext>
            </a:extLst>
          </p:cNvPr>
          <p:cNvSpPr/>
          <p:nvPr/>
        </p:nvSpPr>
        <p:spPr>
          <a:xfrm>
            <a:off x="2242423" y="2833744"/>
            <a:ext cx="180000" cy="195580"/>
          </a:xfrm>
          <a:prstGeom prst="rightArrow">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14" name="箭头: 右 13">
            <a:extLst>
              <a:ext uri="{FF2B5EF4-FFF2-40B4-BE49-F238E27FC236}">
                <a16:creationId xmlns:a16="http://schemas.microsoft.com/office/drawing/2014/main" id="{1D258A1F-7893-44B7-BD08-36D5502E463C}"/>
              </a:ext>
            </a:extLst>
          </p:cNvPr>
          <p:cNvSpPr/>
          <p:nvPr/>
        </p:nvSpPr>
        <p:spPr>
          <a:xfrm>
            <a:off x="4080113" y="2833744"/>
            <a:ext cx="190297" cy="195580"/>
          </a:xfrm>
          <a:prstGeom prst="rightArrow">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15" name="矩形: 圆角 14">
            <a:extLst>
              <a:ext uri="{FF2B5EF4-FFF2-40B4-BE49-F238E27FC236}">
                <a16:creationId xmlns:a16="http://schemas.microsoft.com/office/drawing/2014/main" id="{6F2E8272-ACE0-489A-A03B-FB8B8A76CD9E}"/>
              </a:ext>
            </a:extLst>
          </p:cNvPr>
          <p:cNvSpPr/>
          <p:nvPr/>
        </p:nvSpPr>
        <p:spPr>
          <a:xfrm>
            <a:off x="4267104" y="2102745"/>
            <a:ext cx="1551360" cy="1657579"/>
          </a:xfrm>
          <a:prstGeom prst="roundRect">
            <a:avLst>
              <a:gd name="adj" fmla="val 2372"/>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b="1" dirty="0">
              <a:solidFill>
                <a:schemeClr val="tx1"/>
              </a:solidFill>
              <a:latin typeface="微软雅黑" panose="020B0503020204020204" charset="-122"/>
              <a:ea typeface="微软雅黑" panose="020B0503020204020204" charset="-122"/>
            </a:endParaRPr>
          </a:p>
        </p:txBody>
      </p:sp>
      <p:sp>
        <p:nvSpPr>
          <p:cNvPr id="16" name="矩形: 圆角 15">
            <a:extLst>
              <a:ext uri="{FF2B5EF4-FFF2-40B4-BE49-F238E27FC236}">
                <a16:creationId xmlns:a16="http://schemas.microsoft.com/office/drawing/2014/main" id="{ED5CF896-4AA8-4451-B993-56205B909463}"/>
              </a:ext>
            </a:extLst>
          </p:cNvPr>
          <p:cNvSpPr/>
          <p:nvPr/>
        </p:nvSpPr>
        <p:spPr>
          <a:xfrm>
            <a:off x="4378674" y="2186439"/>
            <a:ext cx="1320438" cy="234315"/>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基本特征统计分析</a:t>
            </a:r>
          </a:p>
        </p:txBody>
      </p:sp>
      <p:sp>
        <p:nvSpPr>
          <p:cNvPr id="17" name="矩形: 圆角 16">
            <a:extLst>
              <a:ext uri="{FF2B5EF4-FFF2-40B4-BE49-F238E27FC236}">
                <a16:creationId xmlns:a16="http://schemas.microsoft.com/office/drawing/2014/main" id="{95072328-6144-430D-B7BF-79D0F68B7C93}"/>
              </a:ext>
            </a:extLst>
          </p:cNvPr>
          <p:cNvSpPr/>
          <p:nvPr/>
        </p:nvSpPr>
        <p:spPr>
          <a:xfrm>
            <a:off x="594226" y="2792865"/>
            <a:ext cx="478800" cy="875062"/>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场景分析及风险识别</a:t>
            </a:r>
          </a:p>
        </p:txBody>
      </p:sp>
      <p:sp>
        <p:nvSpPr>
          <p:cNvPr id="18" name="矩形: 圆角 17">
            <a:extLst>
              <a:ext uri="{FF2B5EF4-FFF2-40B4-BE49-F238E27FC236}">
                <a16:creationId xmlns:a16="http://schemas.microsoft.com/office/drawing/2014/main" id="{2B433BFD-7678-44BA-A581-FA833B1B8D24}"/>
              </a:ext>
            </a:extLst>
          </p:cNvPr>
          <p:cNvSpPr/>
          <p:nvPr/>
        </p:nvSpPr>
        <p:spPr>
          <a:xfrm>
            <a:off x="1124503" y="2798863"/>
            <a:ext cx="478800" cy="878591"/>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因果推断及干预策略</a:t>
            </a:r>
          </a:p>
        </p:txBody>
      </p:sp>
      <p:sp>
        <p:nvSpPr>
          <p:cNvPr id="19" name="矩形: 圆角 18">
            <a:extLst>
              <a:ext uri="{FF2B5EF4-FFF2-40B4-BE49-F238E27FC236}">
                <a16:creationId xmlns:a16="http://schemas.microsoft.com/office/drawing/2014/main" id="{EAF6B63D-4D29-4777-9E14-69569887EB93}"/>
              </a:ext>
            </a:extLst>
          </p:cNvPr>
          <p:cNvSpPr/>
          <p:nvPr/>
        </p:nvSpPr>
        <p:spPr>
          <a:xfrm>
            <a:off x="1656760" y="2794486"/>
            <a:ext cx="478800" cy="888902"/>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责任归因与公众意向</a:t>
            </a:r>
          </a:p>
        </p:txBody>
      </p:sp>
      <p:sp>
        <p:nvSpPr>
          <p:cNvPr id="20" name="矩形: 圆角 19">
            <a:extLst>
              <a:ext uri="{FF2B5EF4-FFF2-40B4-BE49-F238E27FC236}">
                <a16:creationId xmlns:a16="http://schemas.microsoft.com/office/drawing/2014/main" id="{4271C0FF-B235-412B-A404-B36FFB4B798F}"/>
              </a:ext>
            </a:extLst>
          </p:cNvPr>
          <p:cNvSpPr/>
          <p:nvPr/>
        </p:nvSpPr>
        <p:spPr>
          <a:xfrm>
            <a:off x="4378674" y="2596331"/>
            <a:ext cx="239226" cy="1077595"/>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时空分布特征</a:t>
            </a:r>
          </a:p>
        </p:txBody>
      </p:sp>
      <p:sp>
        <p:nvSpPr>
          <p:cNvPr id="21" name="矩形: 圆角 20">
            <a:extLst>
              <a:ext uri="{FF2B5EF4-FFF2-40B4-BE49-F238E27FC236}">
                <a16:creationId xmlns:a16="http://schemas.microsoft.com/office/drawing/2014/main" id="{07D304B5-B03C-45ED-BDFF-9D95373148C2}"/>
              </a:ext>
            </a:extLst>
          </p:cNvPr>
          <p:cNvSpPr/>
          <p:nvPr/>
        </p:nvSpPr>
        <p:spPr>
          <a:xfrm>
            <a:off x="4739078" y="2596331"/>
            <a:ext cx="239226" cy="1077595"/>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050" dirty="0">
              <a:solidFill>
                <a:schemeClr val="tx1"/>
              </a:solidFill>
              <a:latin typeface="微软雅黑" panose="020B0503020204020204" charset="-122"/>
              <a:ea typeface="微软雅黑" panose="020B0503020204020204" charset="-122"/>
            </a:endParaRPr>
          </a:p>
          <a:p>
            <a:pPr algn="ctr"/>
            <a:r>
              <a:rPr lang="zh-CN" altLang="en-US" sz="1050" dirty="0">
                <a:solidFill>
                  <a:schemeClr val="tx1"/>
                </a:solidFill>
                <a:latin typeface="微软雅黑" panose="020B0503020204020204" charset="-122"/>
                <a:ea typeface="微软雅黑" panose="020B0503020204020204" charset="-122"/>
              </a:rPr>
              <a:t>属性特征</a:t>
            </a:r>
          </a:p>
        </p:txBody>
      </p:sp>
      <p:sp>
        <p:nvSpPr>
          <p:cNvPr id="22" name="矩形: 圆角 21">
            <a:extLst>
              <a:ext uri="{FF2B5EF4-FFF2-40B4-BE49-F238E27FC236}">
                <a16:creationId xmlns:a16="http://schemas.microsoft.com/office/drawing/2014/main" id="{77589C67-A5F8-4165-A5B1-AC0383B410D1}"/>
              </a:ext>
            </a:extLst>
          </p:cNvPr>
          <p:cNvSpPr/>
          <p:nvPr/>
        </p:nvSpPr>
        <p:spPr>
          <a:xfrm>
            <a:off x="5099482" y="2596331"/>
            <a:ext cx="239226" cy="1077595"/>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碰撞对象特征</a:t>
            </a:r>
          </a:p>
        </p:txBody>
      </p:sp>
      <p:sp>
        <p:nvSpPr>
          <p:cNvPr id="23" name="矩形: 圆角 22">
            <a:extLst>
              <a:ext uri="{FF2B5EF4-FFF2-40B4-BE49-F238E27FC236}">
                <a16:creationId xmlns:a16="http://schemas.microsoft.com/office/drawing/2014/main" id="{00E88447-54C1-4258-BC52-E61786BBC6AB}"/>
              </a:ext>
            </a:extLst>
          </p:cNvPr>
          <p:cNvSpPr/>
          <p:nvPr/>
        </p:nvSpPr>
        <p:spPr>
          <a:xfrm>
            <a:off x="5459886" y="2596331"/>
            <a:ext cx="239226" cy="1077595"/>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人车交互特征</a:t>
            </a:r>
          </a:p>
        </p:txBody>
      </p:sp>
      <p:cxnSp>
        <p:nvCxnSpPr>
          <p:cNvPr id="24" name="连接符: 肘形 23">
            <a:extLst>
              <a:ext uri="{FF2B5EF4-FFF2-40B4-BE49-F238E27FC236}">
                <a16:creationId xmlns:a16="http://schemas.microsoft.com/office/drawing/2014/main" id="{DF24A7DC-DF35-473E-9D1F-726FCE9CF663}"/>
              </a:ext>
            </a:extLst>
          </p:cNvPr>
          <p:cNvCxnSpPr>
            <a:cxnSpLocks/>
            <a:stCxn id="16" idx="2"/>
            <a:endCxn id="20" idx="0"/>
          </p:cNvCxnSpPr>
          <p:nvPr/>
        </p:nvCxnSpPr>
        <p:spPr>
          <a:xfrm rot="5400000">
            <a:off x="4680802" y="2238239"/>
            <a:ext cx="175577" cy="540606"/>
          </a:xfrm>
          <a:prstGeom prst="bentConnector3">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25" name="连接符: 肘形 24">
            <a:extLst>
              <a:ext uri="{FF2B5EF4-FFF2-40B4-BE49-F238E27FC236}">
                <a16:creationId xmlns:a16="http://schemas.microsoft.com/office/drawing/2014/main" id="{ADB8C4BC-DB44-46F9-A324-49AF950A6D77}"/>
              </a:ext>
            </a:extLst>
          </p:cNvPr>
          <p:cNvCxnSpPr>
            <a:cxnSpLocks/>
            <a:stCxn id="16" idx="2"/>
            <a:endCxn id="21" idx="0"/>
          </p:cNvCxnSpPr>
          <p:nvPr/>
        </p:nvCxnSpPr>
        <p:spPr>
          <a:xfrm rot="5400000">
            <a:off x="4861004" y="2418441"/>
            <a:ext cx="175577" cy="180202"/>
          </a:xfrm>
          <a:prstGeom prst="bentConnector3">
            <a:avLst>
              <a:gd name="adj1" fmla="val 50000"/>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26" name="连接符: 肘形 25">
            <a:extLst>
              <a:ext uri="{FF2B5EF4-FFF2-40B4-BE49-F238E27FC236}">
                <a16:creationId xmlns:a16="http://schemas.microsoft.com/office/drawing/2014/main" id="{2C5F83A9-73B6-4D3C-A470-672F219C1766}"/>
              </a:ext>
            </a:extLst>
          </p:cNvPr>
          <p:cNvCxnSpPr>
            <a:cxnSpLocks/>
            <a:stCxn id="16" idx="2"/>
            <a:endCxn id="22" idx="0"/>
          </p:cNvCxnSpPr>
          <p:nvPr/>
        </p:nvCxnSpPr>
        <p:spPr>
          <a:xfrm rot="16200000" flipH="1">
            <a:off x="5041206" y="2418441"/>
            <a:ext cx="175577" cy="180202"/>
          </a:xfrm>
          <a:prstGeom prst="bentConnector3">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27" name="连接符: 肘形 26">
            <a:extLst>
              <a:ext uri="{FF2B5EF4-FFF2-40B4-BE49-F238E27FC236}">
                <a16:creationId xmlns:a16="http://schemas.microsoft.com/office/drawing/2014/main" id="{6D200E20-49A9-4AFC-9E15-4045064EEEB6}"/>
              </a:ext>
            </a:extLst>
          </p:cNvPr>
          <p:cNvCxnSpPr>
            <a:cxnSpLocks/>
            <a:stCxn id="16" idx="2"/>
            <a:endCxn id="23" idx="0"/>
          </p:cNvCxnSpPr>
          <p:nvPr/>
        </p:nvCxnSpPr>
        <p:spPr>
          <a:xfrm rot="16200000" flipH="1">
            <a:off x="5221408" y="2238239"/>
            <a:ext cx="175577" cy="540606"/>
          </a:xfrm>
          <a:prstGeom prst="bentConnector3">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29" name="连接符: 肘形 28">
            <a:extLst>
              <a:ext uri="{FF2B5EF4-FFF2-40B4-BE49-F238E27FC236}">
                <a16:creationId xmlns:a16="http://schemas.microsoft.com/office/drawing/2014/main" id="{41A66AA7-BAA7-4A04-AAA6-BF4E0C5E2F10}"/>
              </a:ext>
            </a:extLst>
          </p:cNvPr>
          <p:cNvCxnSpPr>
            <a:stCxn id="10" idx="2"/>
            <a:endCxn id="17" idx="0"/>
          </p:cNvCxnSpPr>
          <p:nvPr/>
        </p:nvCxnSpPr>
        <p:spPr>
          <a:xfrm rot="5400000">
            <a:off x="914870" y="2343831"/>
            <a:ext cx="367791" cy="530277"/>
          </a:xfrm>
          <a:prstGeom prst="bentConnector3">
            <a:avLst/>
          </a:prstGeom>
          <a:ln w="12700">
            <a:headEnd type="none"/>
            <a:tailEnd type="triangle" w="sm" len="med"/>
          </a:ln>
        </p:spPr>
        <p:style>
          <a:lnRef idx="1">
            <a:schemeClr val="dk1"/>
          </a:lnRef>
          <a:fillRef idx="0">
            <a:schemeClr val="dk1"/>
          </a:fillRef>
          <a:effectRef idx="0">
            <a:schemeClr val="dk1"/>
          </a:effectRef>
          <a:fontRef idx="minor">
            <a:schemeClr val="tx1"/>
          </a:fontRef>
        </p:style>
      </p:cxnSp>
      <p:cxnSp>
        <p:nvCxnSpPr>
          <p:cNvPr id="30" name="连接符: 肘形 29">
            <a:extLst>
              <a:ext uri="{FF2B5EF4-FFF2-40B4-BE49-F238E27FC236}">
                <a16:creationId xmlns:a16="http://schemas.microsoft.com/office/drawing/2014/main" id="{EE5973B7-0D45-479A-A882-4AE3A56B3773}"/>
              </a:ext>
            </a:extLst>
          </p:cNvPr>
          <p:cNvCxnSpPr>
            <a:stCxn id="10" idx="2"/>
            <a:endCxn id="19" idx="0"/>
          </p:cNvCxnSpPr>
          <p:nvPr/>
        </p:nvCxnSpPr>
        <p:spPr>
          <a:xfrm rot="16200000" flipH="1">
            <a:off x="1445325" y="2343651"/>
            <a:ext cx="369412" cy="532257"/>
          </a:xfrm>
          <a:prstGeom prst="bentConnector3">
            <a:avLst/>
          </a:prstGeom>
          <a:ln w="12700">
            <a:headEnd type="none"/>
            <a:tailEnd type="triangle" w="sm" len="med"/>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F9614455-3D71-4EC5-A63A-E8678A820CC1}"/>
              </a:ext>
            </a:extLst>
          </p:cNvPr>
          <p:cNvCxnSpPr>
            <a:stCxn id="10" idx="2"/>
            <a:endCxn id="18" idx="0"/>
          </p:cNvCxnSpPr>
          <p:nvPr/>
        </p:nvCxnSpPr>
        <p:spPr>
          <a:xfrm>
            <a:off x="1363903" y="2425074"/>
            <a:ext cx="0" cy="373789"/>
          </a:xfrm>
          <a:prstGeom prst="straightConnector1">
            <a:avLst/>
          </a:prstGeom>
          <a:ln w="12700">
            <a:headEnd type="none"/>
            <a:tailEnd type="triangle" w="sm" len="med"/>
          </a:ln>
        </p:spPr>
        <p:style>
          <a:lnRef idx="1">
            <a:schemeClr val="dk1"/>
          </a:lnRef>
          <a:fillRef idx="0">
            <a:schemeClr val="dk1"/>
          </a:fillRef>
          <a:effectRef idx="0">
            <a:schemeClr val="dk1"/>
          </a:effectRef>
          <a:fontRef idx="minor">
            <a:schemeClr val="tx1"/>
          </a:fontRef>
        </p:style>
      </p:cxnSp>
      <p:sp>
        <p:nvSpPr>
          <p:cNvPr id="32" name="矩形: 圆角 31">
            <a:extLst>
              <a:ext uri="{FF2B5EF4-FFF2-40B4-BE49-F238E27FC236}">
                <a16:creationId xmlns:a16="http://schemas.microsoft.com/office/drawing/2014/main" id="{7B92454C-159A-4E74-B8CF-D67F833972D7}"/>
              </a:ext>
            </a:extLst>
          </p:cNvPr>
          <p:cNvSpPr/>
          <p:nvPr/>
        </p:nvSpPr>
        <p:spPr>
          <a:xfrm>
            <a:off x="2524428" y="2540246"/>
            <a:ext cx="612000" cy="234315"/>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chemeClr val="tx1"/>
                </a:solidFill>
                <a:latin typeface="微软雅黑" panose="020B0503020204020204" charset="-122"/>
                <a:ea typeface="微软雅黑" panose="020B0503020204020204" charset="-122"/>
              </a:rPr>
              <a:t>DMV</a:t>
            </a:r>
            <a:endParaRPr lang="zh-CN" altLang="en-US" sz="1050" dirty="0">
              <a:solidFill>
                <a:schemeClr val="tx1"/>
              </a:solidFill>
              <a:latin typeface="微软雅黑" panose="020B0503020204020204" charset="-122"/>
              <a:ea typeface="微软雅黑" panose="020B0503020204020204" charset="-122"/>
            </a:endParaRPr>
          </a:p>
        </p:txBody>
      </p:sp>
      <p:sp>
        <p:nvSpPr>
          <p:cNvPr id="33" name="矩形: 圆角 32">
            <a:extLst>
              <a:ext uri="{FF2B5EF4-FFF2-40B4-BE49-F238E27FC236}">
                <a16:creationId xmlns:a16="http://schemas.microsoft.com/office/drawing/2014/main" id="{0F127EB7-4796-4302-886D-3175CE763CE3}"/>
              </a:ext>
            </a:extLst>
          </p:cNvPr>
          <p:cNvSpPr/>
          <p:nvPr/>
        </p:nvSpPr>
        <p:spPr>
          <a:xfrm>
            <a:off x="2524428" y="2881353"/>
            <a:ext cx="612000" cy="341414"/>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属性</a:t>
            </a:r>
            <a:endParaRPr lang="en-US" altLang="zh-CN" sz="1050" dirty="0">
              <a:solidFill>
                <a:schemeClr val="tx1"/>
              </a:solidFill>
              <a:latin typeface="微软雅黑" panose="020B0503020204020204" charset="-122"/>
              <a:ea typeface="微软雅黑" panose="020B0503020204020204" charset="-122"/>
            </a:endParaRPr>
          </a:p>
          <a:p>
            <a:pPr algn="ctr"/>
            <a:r>
              <a:rPr lang="zh-CN" altLang="en-US" sz="1050" dirty="0">
                <a:solidFill>
                  <a:schemeClr val="tx1"/>
                </a:solidFill>
                <a:latin typeface="微软雅黑" panose="020B0503020204020204" charset="-122"/>
                <a:ea typeface="微软雅黑" panose="020B0503020204020204" charset="-122"/>
              </a:rPr>
              <a:t>扩展</a:t>
            </a:r>
          </a:p>
        </p:txBody>
      </p:sp>
      <p:sp>
        <p:nvSpPr>
          <p:cNvPr id="34" name="矩形: 圆角 33">
            <a:extLst>
              <a:ext uri="{FF2B5EF4-FFF2-40B4-BE49-F238E27FC236}">
                <a16:creationId xmlns:a16="http://schemas.microsoft.com/office/drawing/2014/main" id="{5307B03F-8798-4D3F-817B-830354095D59}"/>
              </a:ext>
            </a:extLst>
          </p:cNvPr>
          <p:cNvSpPr/>
          <p:nvPr/>
        </p:nvSpPr>
        <p:spPr>
          <a:xfrm>
            <a:off x="3321788" y="2880767"/>
            <a:ext cx="612000" cy="342000"/>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结构化解析</a:t>
            </a:r>
          </a:p>
        </p:txBody>
      </p:sp>
      <p:sp>
        <p:nvSpPr>
          <p:cNvPr id="35" name="矩形: 圆角 34">
            <a:extLst>
              <a:ext uri="{FF2B5EF4-FFF2-40B4-BE49-F238E27FC236}">
                <a16:creationId xmlns:a16="http://schemas.microsoft.com/office/drawing/2014/main" id="{8D4A3736-670C-4933-ABCC-111100D7FBC2}"/>
              </a:ext>
            </a:extLst>
          </p:cNvPr>
          <p:cNvSpPr/>
          <p:nvPr/>
        </p:nvSpPr>
        <p:spPr>
          <a:xfrm>
            <a:off x="2524428" y="3329558"/>
            <a:ext cx="612000" cy="342000"/>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清洗</a:t>
            </a:r>
            <a:endParaRPr lang="en-US" altLang="zh-CN" sz="1050" dirty="0">
              <a:solidFill>
                <a:schemeClr val="tx1"/>
              </a:solidFill>
              <a:latin typeface="微软雅黑" panose="020B0503020204020204" charset="-122"/>
              <a:ea typeface="微软雅黑" panose="020B0503020204020204" charset="-122"/>
            </a:endParaRPr>
          </a:p>
          <a:p>
            <a:pPr algn="ctr"/>
            <a:r>
              <a:rPr lang="zh-CN" altLang="en-US" sz="1050" dirty="0">
                <a:solidFill>
                  <a:schemeClr val="tx1"/>
                </a:solidFill>
                <a:latin typeface="微软雅黑" panose="020B0503020204020204" charset="-122"/>
                <a:ea typeface="微软雅黑" panose="020B0503020204020204" charset="-122"/>
              </a:rPr>
              <a:t>补充</a:t>
            </a:r>
          </a:p>
        </p:txBody>
      </p:sp>
      <p:sp>
        <p:nvSpPr>
          <p:cNvPr id="36" name="矩形: 圆角 35">
            <a:extLst>
              <a:ext uri="{FF2B5EF4-FFF2-40B4-BE49-F238E27FC236}">
                <a16:creationId xmlns:a16="http://schemas.microsoft.com/office/drawing/2014/main" id="{1843001B-4AE0-4EB3-9743-6BFCF4146C5E}"/>
              </a:ext>
            </a:extLst>
          </p:cNvPr>
          <p:cNvSpPr/>
          <p:nvPr/>
        </p:nvSpPr>
        <p:spPr>
          <a:xfrm>
            <a:off x="3322586" y="3329558"/>
            <a:ext cx="612000" cy="342000"/>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数据离散化</a:t>
            </a:r>
          </a:p>
        </p:txBody>
      </p:sp>
      <p:sp>
        <p:nvSpPr>
          <p:cNvPr id="37" name="矩形: 圆角 36">
            <a:extLst>
              <a:ext uri="{FF2B5EF4-FFF2-40B4-BE49-F238E27FC236}">
                <a16:creationId xmlns:a16="http://schemas.microsoft.com/office/drawing/2014/main" id="{695B4D10-EB8D-4404-B1E0-BA76158FA3A5}"/>
              </a:ext>
            </a:extLst>
          </p:cNvPr>
          <p:cNvSpPr/>
          <p:nvPr/>
        </p:nvSpPr>
        <p:spPr>
          <a:xfrm>
            <a:off x="3322745" y="2538063"/>
            <a:ext cx="612000" cy="234315"/>
          </a:xfrm>
          <a:prstGeom prst="roundRect">
            <a:avLst>
              <a:gd name="adj" fmla="val 10309"/>
            </a:avLst>
          </a:prstGeom>
          <a:solidFill>
            <a:schemeClr val="accent1">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微软雅黑" panose="020B0503020204020204" charset="-122"/>
              <a:ea typeface="微软雅黑" panose="020B0503020204020204" charset="-122"/>
            </a:endParaRPr>
          </a:p>
        </p:txBody>
      </p:sp>
      <p:cxnSp>
        <p:nvCxnSpPr>
          <p:cNvPr id="38" name="直接箭头连接符 37">
            <a:extLst>
              <a:ext uri="{FF2B5EF4-FFF2-40B4-BE49-F238E27FC236}">
                <a16:creationId xmlns:a16="http://schemas.microsoft.com/office/drawing/2014/main" id="{6858C72F-7F95-43DC-8D48-8802247719F3}"/>
              </a:ext>
            </a:extLst>
          </p:cNvPr>
          <p:cNvCxnSpPr>
            <a:cxnSpLocks/>
          </p:cNvCxnSpPr>
          <p:nvPr/>
        </p:nvCxnSpPr>
        <p:spPr>
          <a:xfrm flipH="1" flipV="1">
            <a:off x="3136428" y="3051767"/>
            <a:ext cx="185360" cy="293"/>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39" name="直接箭头连接符 38">
            <a:extLst>
              <a:ext uri="{FF2B5EF4-FFF2-40B4-BE49-F238E27FC236}">
                <a16:creationId xmlns:a16="http://schemas.microsoft.com/office/drawing/2014/main" id="{AF47BB06-83A8-4BC2-9F77-4817709C7862}"/>
              </a:ext>
            </a:extLst>
          </p:cNvPr>
          <p:cNvCxnSpPr>
            <a:cxnSpLocks/>
          </p:cNvCxnSpPr>
          <p:nvPr/>
        </p:nvCxnSpPr>
        <p:spPr>
          <a:xfrm flipV="1">
            <a:off x="3136428" y="3519387"/>
            <a:ext cx="185360" cy="293"/>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40" name="连接符: 肘形 39">
            <a:extLst>
              <a:ext uri="{FF2B5EF4-FFF2-40B4-BE49-F238E27FC236}">
                <a16:creationId xmlns:a16="http://schemas.microsoft.com/office/drawing/2014/main" id="{5CCC25E4-F129-4EB4-AF85-070A7F14E129}"/>
              </a:ext>
            </a:extLst>
          </p:cNvPr>
          <p:cNvCxnSpPr>
            <a:stCxn id="32" idx="2"/>
            <a:endCxn id="34" idx="0"/>
          </p:cNvCxnSpPr>
          <p:nvPr/>
        </p:nvCxnSpPr>
        <p:spPr>
          <a:xfrm rot="16200000" flipH="1">
            <a:off x="3176005" y="2428984"/>
            <a:ext cx="106206" cy="797360"/>
          </a:xfrm>
          <a:prstGeom prst="bentConnector3">
            <a:avLst>
              <a:gd name="adj1" fmla="val 32063"/>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41" name="直接箭头连接符 40">
            <a:extLst>
              <a:ext uri="{FF2B5EF4-FFF2-40B4-BE49-F238E27FC236}">
                <a16:creationId xmlns:a16="http://schemas.microsoft.com/office/drawing/2014/main" id="{C5F2C510-8227-40CE-8FB9-0B0DA70B4C9F}"/>
              </a:ext>
            </a:extLst>
          </p:cNvPr>
          <p:cNvCxnSpPr>
            <a:cxnSpLocks/>
            <a:stCxn id="37" idx="2"/>
            <a:endCxn id="34" idx="0"/>
          </p:cNvCxnSpPr>
          <p:nvPr/>
        </p:nvCxnSpPr>
        <p:spPr>
          <a:xfrm flipH="1">
            <a:off x="3627788" y="2772378"/>
            <a:ext cx="957" cy="108389"/>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42" name="文本框 41">
            <a:extLst>
              <a:ext uri="{FF2B5EF4-FFF2-40B4-BE49-F238E27FC236}">
                <a16:creationId xmlns:a16="http://schemas.microsoft.com/office/drawing/2014/main" id="{40695914-A25B-497F-AEA6-9A346417BB6B}"/>
              </a:ext>
            </a:extLst>
          </p:cNvPr>
          <p:cNvSpPr txBox="1"/>
          <p:nvPr/>
        </p:nvSpPr>
        <p:spPr>
          <a:xfrm>
            <a:off x="3297083" y="2528262"/>
            <a:ext cx="661410" cy="253916"/>
          </a:xfrm>
          <a:prstGeom prst="rect">
            <a:avLst/>
          </a:prstGeom>
          <a:noFill/>
        </p:spPr>
        <p:txBody>
          <a:bodyPr wrap="square">
            <a:spAutoFit/>
          </a:bodyPr>
          <a:lstStyle/>
          <a:p>
            <a:pPr algn="ctr"/>
            <a:r>
              <a:rPr lang="en-US" altLang="zh-CN" sz="1050" dirty="0">
                <a:solidFill>
                  <a:schemeClr val="tx1"/>
                </a:solidFill>
                <a:latin typeface="微软雅黑" panose="020B0503020204020204" charset="-122"/>
                <a:ea typeface="微软雅黑" panose="020B0503020204020204" charset="-122"/>
              </a:rPr>
              <a:t>NHTSA</a:t>
            </a:r>
            <a:endParaRPr lang="zh-CN" altLang="en-US" sz="1050" dirty="0">
              <a:solidFill>
                <a:schemeClr val="tx1"/>
              </a:solidFill>
              <a:latin typeface="微软雅黑" panose="020B0503020204020204" charset="-122"/>
              <a:ea typeface="微软雅黑" panose="020B0503020204020204" charset="-122"/>
            </a:endParaRPr>
          </a:p>
        </p:txBody>
      </p:sp>
      <p:cxnSp>
        <p:nvCxnSpPr>
          <p:cNvPr id="43" name="直接箭头连接符 42">
            <a:extLst>
              <a:ext uri="{FF2B5EF4-FFF2-40B4-BE49-F238E27FC236}">
                <a16:creationId xmlns:a16="http://schemas.microsoft.com/office/drawing/2014/main" id="{95D486BB-D95B-4C45-AA52-249B8CAF5581}"/>
              </a:ext>
            </a:extLst>
          </p:cNvPr>
          <p:cNvCxnSpPr>
            <a:cxnSpLocks/>
            <a:stCxn id="33" idx="2"/>
            <a:endCxn id="35" idx="0"/>
          </p:cNvCxnSpPr>
          <p:nvPr/>
        </p:nvCxnSpPr>
        <p:spPr>
          <a:xfrm>
            <a:off x="2830428" y="3222767"/>
            <a:ext cx="0" cy="106791"/>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44" name="文本框 43">
            <a:extLst>
              <a:ext uri="{FF2B5EF4-FFF2-40B4-BE49-F238E27FC236}">
                <a16:creationId xmlns:a16="http://schemas.microsoft.com/office/drawing/2014/main" id="{52C3235A-48CA-4C27-A5C7-12C0BAB2636D}"/>
              </a:ext>
            </a:extLst>
          </p:cNvPr>
          <p:cNvSpPr txBox="1"/>
          <p:nvPr/>
        </p:nvSpPr>
        <p:spPr>
          <a:xfrm>
            <a:off x="4678488" y="2682807"/>
            <a:ext cx="367907" cy="253916"/>
          </a:xfrm>
          <a:prstGeom prst="rect">
            <a:avLst/>
          </a:prstGeom>
          <a:noFill/>
        </p:spPr>
        <p:txBody>
          <a:bodyPr wrap="square">
            <a:spAutoFit/>
          </a:bodyPr>
          <a:lstStyle/>
          <a:p>
            <a:r>
              <a:rPr lang="en-US" altLang="zh-CN" sz="1050" dirty="0">
                <a:latin typeface="微软雅黑" panose="020B0503020204020204" charset="-122"/>
                <a:ea typeface="微软雅黑" panose="020B0503020204020204" charset="-122"/>
              </a:rPr>
              <a:t>AV</a:t>
            </a:r>
            <a:endParaRPr lang="zh-CN" altLang="en-US" sz="1050" dirty="0">
              <a:latin typeface="微软雅黑" panose="020B0503020204020204" charset="-122"/>
              <a:ea typeface="微软雅黑" panose="020B0503020204020204" charset="-122"/>
            </a:endParaRPr>
          </a:p>
        </p:txBody>
      </p:sp>
      <p:sp>
        <p:nvSpPr>
          <p:cNvPr id="45" name="圆角矩形 68">
            <a:extLst>
              <a:ext uri="{FF2B5EF4-FFF2-40B4-BE49-F238E27FC236}">
                <a16:creationId xmlns:a16="http://schemas.microsoft.com/office/drawing/2014/main" id="{316AD58A-A9A3-4505-A2BB-1E125B13D9E1}"/>
              </a:ext>
            </a:extLst>
          </p:cNvPr>
          <p:cNvSpPr/>
          <p:nvPr/>
        </p:nvSpPr>
        <p:spPr>
          <a:xfrm>
            <a:off x="8181325" y="5801119"/>
            <a:ext cx="555381" cy="483108"/>
          </a:xfrm>
          <a:prstGeom prst="rect">
            <a:avLst/>
          </a:prstGeom>
          <a:solidFill>
            <a:schemeClr val="accent6">
              <a:lumMod val="20000"/>
              <a:lumOff val="80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出行目的</a:t>
            </a:r>
            <a:endParaRPr lang="en-US" altLang="zh-CN"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风险场景</a:t>
            </a:r>
            <a:endParaRPr lang="en-US" altLang="zh-CN"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主导因素</a:t>
            </a:r>
            <a:endParaRPr lang="en-US" altLang="zh-CN"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年龄等</a:t>
            </a:r>
            <a:endParaRPr lang="en-US" altLang="zh-CN"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46" name="矩形: 圆角 45">
            <a:extLst>
              <a:ext uri="{FF2B5EF4-FFF2-40B4-BE49-F238E27FC236}">
                <a16:creationId xmlns:a16="http://schemas.microsoft.com/office/drawing/2014/main" id="{0A38AD56-0304-4CC3-8BB8-EC1A66D4F1BF}"/>
              </a:ext>
            </a:extLst>
          </p:cNvPr>
          <p:cNvSpPr/>
          <p:nvPr/>
        </p:nvSpPr>
        <p:spPr>
          <a:xfrm>
            <a:off x="8288206" y="4081139"/>
            <a:ext cx="465098" cy="579967"/>
          </a:xfrm>
          <a:prstGeom prst="roundRect">
            <a:avLst/>
          </a:prstGeom>
          <a:solidFill>
            <a:schemeClr val="accent6">
              <a:lumMod val="40000"/>
              <a:lumOff val="60000"/>
            </a:schemeClr>
          </a:solidFill>
          <a:ln w="12700">
            <a:solidFill>
              <a:schemeClr val="tx1"/>
            </a:solidFill>
          </a:ln>
        </p:spPr>
        <p:txBody>
          <a:bodyPr wrap="square" lIns="0" tIns="0" rIns="0" bIns="0" rtlCol="0"/>
          <a:lstStyle/>
          <a:p>
            <a:endParaRPr lang="zh-CN" altLang="en-US" kern="0">
              <a:solidFill>
                <a:srgbClr val="000000"/>
              </a:solidFill>
              <a:latin typeface="Microsoft YaHei" panose="020B0503020204020204" charset="-122"/>
              <a:ea typeface="Microsoft YaHei" panose="020B0503020204020204" charset="-122"/>
            </a:endParaRPr>
          </a:p>
        </p:txBody>
      </p:sp>
      <p:sp>
        <p:nvSpPr>
          <p:cNvPr id="47" name="文本框 98">
            <a:extLst>
              <a:ext uri="{FF2B5EF4-FFF2-40B4-BE49-F238E27FC236}">
                <a16:creationId xmlns:a16="http://schemas.microsoft.com/office/drawing/2014/main" id="{B3887A16-D4FB-4DD0-A77C-502D82510FB9}"/>
              </a:ext>
            </a:extLst>
          </p:cNvPr>
          <p:cNvSpPr txBox="1"/>
          <p:nvPr/>
        </p:nvSpPr>
        <p:spPr>
          <a:xfrm>
            <a:off x="6947886" y="1716591"/>
            <a:ext cx="4079493" cy="259671"/>
          </a:xfrm>
          <a:prstGeom prst="rect">
            <a:avLst/>
          </a:prstGeom>
          <a:noFill/>
          <a:ln w="6350">
            <a:no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0000"/>
              </a:lnSpc>
            </a:pPr>
            <a:r>
              <a:rPr lang="zh-CN" altLang="en-US" sz="1200" b="1" kern="100" dirty="0">
                <a:solidFill>
                  <a:srgbClr val="000000"/>
                </a:solidFill>
                <a:latin typeface="微软雅黑" panose="020B0503020204020204" charset="-122"/>
                <a:ea typeface="微软雅黑" panose="020B0503020204020204" charset="-122"/>
                <a:cs typeface="微软雅黑" panose="020B0503020204020204" charset="-122"/>
                <a:sym typeface="Times New Roman" panose="02020603050405020304"/>
              </a:rPr>
              <a:t>自动驾驶车辆事故风险认知与责任归因研究</a:t>
            </a:r>
          </a:p>
        </p:txBody>
      </p:sp>
      <p:sp>
        <p:nvSpPr>
          <p:cNvPr id="48" name="圆角矩形 99">
            <a:extLst>
              <a:ext uri="{FF2B5EF4-FFF2-40B4-BE49-F238E27FC236}">
                <a16:creationId xmlns:a16="http://schemas.microsoft.com/office/drawing/2014/main" id="{0E9B1DCB-F37C-4F55-A222-728185C869FB}"/>
              </a:ext>
            </a:extLst>
          </p:cNvPr>
          <p:cNvSpPr/>
          <p:nvPr/>
        </p:nvSpPr>
        <p:spPr>
          <a:xfrm>
            <a:off x="11047039" y="1628800"/>
            <a:ext cx="600214" cy="394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fontAlgn="auto" latinLnBrk="0" hangingPunct="1">
              <a:lnSpc>
                <a:spcPts val="12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多维度要素</a:t>
            </a:r>
            <a:endParaRPr lang="en-US" altLang="zh-CN"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49" name="圆角矩形 99">
            <a:extLst>
              <a:ext uri="{FF2B5EF4-FFF2-40B4-BE49-F238E27FC236}">
                <a16:creationId xmlns:a16="http://schemas.microsoft.com/office/drawing/2014/main" id="{612BD46B-93E5-47F4-8F94-76D76B0BCB45}"/>
              </a:ext>
            </a:extLst>
          </p:cNvPr>
          <p:cNvSpPr/>
          <p:nvPr/>
        </p:nvSpPr>
        <p:spPr>
          <a:xfrm>
            <a:off x="6274813" y="1628800"/>
            <a:ext cx="653413" cy="394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fontAlgn="auto" latinLnBrk="0" hangingPunct="1">
              <a:lnSpc>
                <a:spcPts val="12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多碰撞</a:t>
            </a:r>
            <a:endParaRPr lang="en-US" altLang="zh-CN"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rtl="0" eaLnBrk="1" fontAlgn="auto" latinLnBrk="0" hangingPunct="1">
              <a:lnSpc>
                <a:spcPts val="12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对象</a:t>
            </a:r>
            <a:endParaRPr lang="en-US" altLang="zh-CN"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51" name="圆角矩形 68">
            <a:extLst>
              <a:ext uri="{FF2B5EF4-FFF2-40B4-BE49-F238E27FC236}">
                <a16:creationId xmlns:a16="http://schemas.microsoft.com/office/drawing/2014/main" id="{9F76E0E9-07DF-4956-BA30-6E9D7E658292}"/>
              </a:ext>
            </a:extLst>
          </p:cNvPr>
          <p:cNvSpPr/>
          <p:nvPr/>
        </p:nvSpPr>
        <p:spPr>
          <a:xfrm>
            <a:off x="7144328" y="2659144"/>
            <a:ext cx="206883" cy="767107"/>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指标体系</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52" name="右大括号 51">
            <a:extLst>
              <a:ext uri="{FF2B5EF4-FFF2-40B4-BE49-F238E27FC236}">
                <a16:creationId xmlns:a16="http://schemas.microsoft.com/office/drawing/2014/main" id="{2E4A8FC7-7933-4427-8DAA-772C536CE61A}"/>
              </a:ext>
            </a:extLst>
          </p:cNvPr>
          <p:cNvSpPr/>
          <p:nvPr/>
        </p:nvSpPr>
        <p:spPr>
          <a:xfrm>
            <a:off x="7018356" y="2663920"/>
            <a:ext cx="74880" cy="753294"/>
          </a:xfrm>
          <a:prstGeom prst="rightBrace">
            <a:avLst>
              <a:gd name="adj1" fmla="val 111394"/>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53" name="圆角矩形 68">
            <a:extLst>
              <a:ext uri="{FF2B5EF4-FFF2-40B4-BE49-F238E27FC236}">
                <a16:creationId xmlns:a16="http://schemas.microsoft.com/office/drawing/2014/main" id="{2A492424-7103-4182-BE44-277EFE16200C}"/>
              </a:ext>
            </a:extLst>
          </p:cNvPr>
          <p:cNvSpPr/>
          <p:nvPr/>
        </p:nvSpPr>
        <p:spPr>
          <a:xfrm>
            <a:off x="6329158" y="2044843"/>
            <a:ext cx="5225829" cy="186419"/>
          </a:xfrm>
          <a:prstGeom prst="roundRect">
            <a:avLst>
              <a:gd name="adj" fmla="val 24526"/>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0000"/>
              </a:lnSpc>
            </a:pPr>
            <a:r>
              <a:rPr lang="zh-CN" altLang="en-US" sz="900" b="1" kern="100" dirty="0">
                <a:solidFill>
                  <a:schemeClr val="tx1"/>
                </a:solidFill>
                <a:latin typeface="微软雅黑" panose="020B0503020204020204" charset="-122"/>
                <a:ea typeface="微软雅黑" panose="020B0503020204020204" charset="-122"/>
                <a:cs typeface="微软雅黑" panose="020B0503020204020204" charset="-122"/>
                <a:sym typeface="Times New Roman" panose="02020603050405020304"/>
              </a:rPr>
              <a:t>自动驾驶车辆事故典型场景识别与特征分析</a:t>
            </a:r>
          </a:p>
        </p:txBody>
      </p:sp>
      <p:sp>
        <p:nvSpPr>
          <p:cNvPr id="54" name="圆角矩形 68">
            <a:extLst>
              <a:ext uri="{FF2B5EF4-FFF2-40B4-BE49-F238E27FC236}">
                <a16:creationId xmlns:a16="http://schemas.microsoft.com/office/drawing/2014/main" id="{088A8049-F9F5-4977-A3DC-7AE3BBE7BEDA}"/>
              </a:ext>
            </a:extLst>
          </p:cNvPr>
          <p:cNvSpPr/>
          <p:nvPr/>
        </p:nvSpPr>
        <p:spPr>
          <a:xfrm>
            <a:off x="6329158" y="3573016"/>
            <a:ext cx="5225829" cy="186419"/>
          </a:xfrm>
          <a:prstGeom prst="roundRect">
            <a:avLst>
              <a:gd name="adj" fmla="val 24526"/>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0000"/>
              </a:lnSpc>
            </a:pPr>
            <a:r>
              <a:rPr lang="zh-CN" altLang="en-US" sz="900" b="1" kern="100" dirty="0">
                <a:solidFill>
                  <a:schemeClr val="tx1"/>
                </a:solidFill>
                <a:latin typeface="微软雅黑" panose="020B0503020204020204" charset="-122"/>
                <a:ea typeface="微软雅黑" panose="020B0503020204020204" charset="-122"/>
              </a:rPr>
              <a:t>自动驾驶车辆事故因果推断与反事实干预分析</a:t>
            </a:r>
            <a:endParaRPr lang="zh-CN" altLang="en-US" sz="900" b="1" kern="100" dirty="0">
              <a:solidFill>
                <a:schemeClr val="tx1"/>
              </a:solidFill>
              <a:latin typeface="微软雅黑" panose="020B0503020204020204" charset="-122"/>
              <a:ea typeface="微软雅黑" panose="020B0503020204020204" charset="-122"/>
              <a:sym typeface="Times New Roman" panose="02020603050405020304"/>
            </a:endParaRPr>
          </a:p>
        </p:txBody>
      </p:sp>
      <p:sp>
        <p:nvSpPr>
          <p:cNvPr id="55" name="圆角矩形 99">
            <a:extLst>
              <a:ext uri="{FF2B5EF4-FFF2-40B4-BE49-F238E27FC236}">
                <a16:creationId xmlns:a16="http://schemas.microsoft.com/office/drawing/2014/main" id="{7A1A263D-B91D-42C6-88B5-7D161C240447}"/>
              </a:ext>
            </a:extLst>
          </p:cNvPr>
          <p:cNvSpPr/>
          <p:nvPr/>
        </p:nvSpPr>
        <p:spPr>
          <a:xfrm>
            <a:off x="8287511" y="4182822"/>
            <a:ext cx="465099" cy="394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fontAlgn="auto" latinLnBrk="0" hangingPunct="1">
              <a:lnSpc>
                <a:spcPts val="12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因果推断</a:t>
            </a:r>
            <a:endParaRPr lang="en-US" altLang="zh-CN"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grpSp>
        <p:nvGrpSpPr>
          <p:cNvPr id="56" name="组合 55">
            <a:extLst>
              <a:ext uri="{FF2B5EF4-FFF2-40B4-BE49-F238E27FC236}">
                <a16:creationId xmlns:a16="http://schemas.microsoft.com/office/drawing/2014/main" id="{18270986-3ABB-421B-930D-3899B5052330}"/>
              </a:ext>
            </a:extLst>
          </p:cNvPr>
          <p:cNvGrpSpPr/>
          <p:nvPr/>
        </p:nvGrpSpPr>
        <p:grpSpPr>
          <a:xfrm>
            <a:off x="8914649" y="4081139"/>
            <a:ext cx="584935" cy="579967"/>
            <a:chOff x="3665804" y="5462693"/>
            <a:chExt cx="584935" cy="579967"/>
          </a:xfrm>
        </p:grpSpPr>
        <p:sp>
          <p:nvSpPr>
            <p:cNvPr id="57" name="矩形: 圆角 56">
              <a:extLst>
                <a:ext uri="{FF2B5EF4-FFF2-40B4-BE49-F238E27FC236}">
                  <a16:creationId xmlns:a16="http://schemas.microsoft.com/office/drawing/2014/main" id="{531C6AA3-A5DB-4FAB-B3A4-2BA3E6940B4F}"/>
                </a:ext>
              </a:extLst>
            </p:cNvPr>
            <p:cNvSpPr/>
            <p:nvPr/>
          </p:nvSpPr>
          <p:spPr>
            <a:xfrm>
              <a:off x="3725722" y="5462693"/>
              <a:ext cx="465098" cy="579967"/>
            </a:xfrm>
            <a:prstGeom prst="roundRect">
              <a:avLst/>
            </a:prstGeom>
            <a:solidFill>
              <a:schemeClr val="accent6">
                <a:lumMod val="40000"/>
                <a:lumOff val="60000"/>
              </a:schemeClr>
            </a:solidFill>
            <a:ln w="12700">
              <a:solidFill>
                <a:schemeClr val="tx1"/>
              </a:solidFill>
            </a:ln>
          </p:spPr>
          <p:txBody>
            <a:bodyPr wrap="square" lIns="0" tIns="0" rIns="0" bIns="0" rtlCol="0"/>
            <a:lstStyle/>
            <a:p>
              <a:endParaRPr lang="zh-CN" altLang="en-US" kern="0">
                <a:solidFill>
                  <a:srgbClr val="000000"/>
                </a:solidFill>
                <a:latin typeface="Microsoft YaHei" panose="020B0503020204020204" charset="-122"/>
                <a:ea typeface="Microsoft YaHei" panose="020B0503020204020204" charset="-122"/>
              </a:endParaRPr>
            </a:p>
          </p:txBody>
        </p:sp>
        <p:sp>
          <p:nvSpPr>
            <p:cNvPr id="58" name="圆角矩形 99">
              <a:extLst>
                <a:ext uri="{FF2B5EF4-FFF2-40B4-BE49-F238E27FC236}">
                  <a16:creationId xmlns:a16="http://schemas.microsoft.com/office/drawing/2014/main" id="{EB574761-36DF-4158-90C1-BA083E457076}"/>
                </a:ext>
              </a:extLst>
            </p:cNvPr>
            <p:cNvSpPr/>
            <p:nvPr/>
          </p:nvSpPr>
          <p:spPr>
            <a:xfrm>
              <a:off x="3665804" y="5555470"/>
              <a:ext cx="584935" cy="3944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fontAlgn="auto" latinLnBrk="0" hangingPunct="1">
                <a:lnSpc>
                  <a:spcPts val="12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反事实干预</a:t>
              </a:r>
              <a:endParaRPr lang="en-US" altLang="zh-CN" sz="900" b="1"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grpSp>
      <p:sp>
        <p:nvSpPr>
          <p:cNvPr id="59" name="圆角矩形 68">
            <a:extLst>
              <a:ext uri="{FF2B5EF4-FFF2-40B4-BE49-F238E27FC236}">
                <a16:creationId xmlns:a16="http://schemas.microsoft.com/office/drawing/2014/main" id="{BF464AFB-C734-4945-9BED-5F3F2A0344A7}"/>
              </a:ext>
            </a:extLst>
          </p:cNvPr>
          <p:cNvSpPr/>
          <p:nvPr/>
        </p:nvSpPr>
        <p:spPr>
          <a:xfrm>
            <a:off x="6329158" y="5002843"/>
            <a:ext cx="5225829" cy="186419"/>
          </a:xfrm>
          <a:prstGeom prst="roundRect">
            <a:avLst>
              <a:gd name="adj" fmla="val 24526"/>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00000"/>
              </a:lnSpc>
            </a:pPr>
            <a:r>
              <a:rPr lang="zh-CN" altLang="en-US" sz="900" b="1" kern="100" dirty="0">
                <a:solidFill>
                  <a:schemeClr val="tx1"/>
                </a:solidFill>
                <a:latin typeface="微软雅黑" panose="020B0503020204020204" charset="-122"/>
                <a:ea typeface="微软雅黑" panose="020B0503020204020204" charset="-122"/>
                <a:cs typeface="微软雅黑" panose="020B0503020204020204" charset="-122"/>
                <a:sym typeface="Times New Roman" panose="02020603050405020304"/>
              </a:rPr>
              <a:t>自动驾驶车辆事故责任划分意向调查研究</a:t>
            </a:r>
          </a:p>
        </p:txBody>
      </p:sp>
      <p:sp>
        <p:nvSpPr>
          <p:cNvPr id="60" name="圆角矩形 68">
            <a:extLst>
              <a:ext uri="{FF2B5EF4-FFF2-40B4-BE49-F238E27FC236}">
                <a16:creationId xmlns:a16="http://schemas.microsoft.com/office/drawing/2014/main" id="{327FC467-4099-4AF2-8B27-4DB6B546FDD5}"/>
              </a:ext>
            </a:extLst>
          </p:cNvPr>
          <p:cNvSpPr/>
          <p:nvPr/>
        </p:nvSpPr>
        <p:spPr>
          <a:xfrm>
            <a:off x="7400220" y="3934027"/>
            <a:ext cx="272624" cy="867227"/>
          </a:xfrm>
          <a:prstGeom prst="roundRect">
            <a:avLst>
              <a:gd name="adj" fmla="val 16392"/>
            </a:avLst>
          </a:prstGeom>
          <a:solidFill>
            <a:schemeClr val="accent6">
              <a:lumMod val="20000"/>
              <a:lumOff val="80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因果图构建</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61" name="圆角矩形 68">
            <a:extLst>
              <a:ext uri="{FF2B5EF4-FFF2-40B4-BE49-F238E27FC236}">
                <a16:creationId xmlns:a16="http://schemas.microsoft.com/office/drawing/2014/main" id="{FE0E1F36-D743-4212-A7E1-5052E0127814}"/>
              </a:ext>
            </a:extLst>
          </p:cNvPr>
          <p:cNvSpPr/>
          <p:nvPr/>
        </p:nvSpPr>
        <p:spPr>
          <a:xfrm flipH="1">
            <a:off x="10475600" y="4247548"/>
            <a:ext cx="1078049" cy="2304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多变量联合干预</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62" name="箭头: 右 61">
            <a:extLst>
              <a:ext uri="{FF2B5EF4-FFF2-40B4-BE49-F238E27FC236}">
                <a16:creationId xmlns:a16="http://schemas.microsoft.com/office/drawing/2014/main" id="{1797DE98-BB48-431A-8021-8F1A749ABDA9}"/>
              </a:ext>
            </a:extLst>
          </p:cNvPr>
          <p:cNvSpPr/>
          <p:nvPr/>
        </p:nvSpPr>
        <p:spPr>
          <a:xfrm>
            <a:off x="8781161" y="4273332"/>
            <a:ext cx="190297" cy="195580"/>
          </a:xfrm>
          <a:prstGeom prst="rightArrow">
            <a:avLst/>
          </a:prstGeom>
          <a:solidFill>
            <a:srgbClr val="C5E0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63" name="圆角矩形 68">
            <a:extLst>
              <a:ext uri="{FF2B5EF4-FFF2-40B4-BE49-F238E27FC236}">
                <a16:creationId xmlns:a16="http://schemas.microsoft.com/office/drawing/2014/main" id="{B1A0244A-7543-4BDC-AAFB-D736CC3B10FF}"/>
              </a:ext>
            </a:extLst>
          </p:cNvPr>
          <p:cNvSpPr/>
          <p:nvPr/>
        </p:nvSpPr>
        <p:spPr>
          <a:xfrm flipH="1">
            <a:off x="10475601" y="3926551"/>
            <a:ext cx="1066101" cy="2304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64" name="圆角矩形 68">
            <a:extLst>
              <a:ext uri="{FF2B5EF4-FFF2-40B4-BE49-F238E27FC236}">
                <a16:creationId xmlns:a16="http://schemas.microsoft.com/office/drawing/2014/main" id="{87EF50C7-F7FA-41B4-B8CE-242A79DA7F05}"/>
              </a:ext>
            </a:extLst>
          </p:cNvPr>
          <p:cNvSpPr/>
          <p:nvPr/>
        </p:nvSpPr>
        <p:spPr>
          <a:xfrm flipH="1">
            <a:off x="9573174" y="3924758"/>
            <a:ext cx="351690" cy="875801"/>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65" name="圆角矩形 68">
            <a:extLst>
              <a:ext uri="{FF2B5EF4-FFF2-40B4-BE49-F238E27FC236}">
                <a16:creationId xmlns:a16="http://schemas.microsoft.com/office/drawing/2014/main" id="{DCB408DC-7C28-4608-A169-99AB2099426E}"/>
              </a:ext>
            </a:extLst>
          </p:cNvPr>
          <p:cNvSpPr/>
          <p:nvPr/>
        </p:nvSpPr>
        <p:spPr>
          <a:xfrm>
            <a:off x="7881194" y="3934027"/>
            <a:ext cx="269494" cy="867227"/>
          </a:xfrm>
          <a:prstGeom prst="roundRect">
            <a:avLst>
              <a:gd name="adj" fmla="val 24526"/>
            </a:avLst>
          </a:prstGeom>
          <a:solidFill>
            <a:schemeClr val="accent6">
              <a:lumMod val="20000"/>
              <a:lumOff val="80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66" name="文本框 65">
            <a:extLst>
              <a:ext uri="{FF2B5EF4-FFF2-40B4-BE49-F238E27FC236}">
                <a16:creationId xmlns:a16="http://schemas.microsoft.com/office/drawing/2014/main" id="{1873E16D-7E6B-4222-BD44-FF14156889C3}"/>
              </a:ext>
            </a:extLst>
          </p:cNvPr>
          <p:cNvSpPr txBox="1"/>
          <p:nvPr/>
        </p:nvSpPr>
        <p:spPr>
          <a:xfrm>
            <a:off x="7885921" y="4055176"/>
            <a:ext cx="269494" cy="646331"/>
          </a:xfrm>
          <a:prstGeom prst="rect">
            <a:avLst/>
          </a:prstGeom>
          <a:noFill/>
        </p:spPr>
        <p:txBody>
          <a:bodyPr wrap="square">
            <a:spAutoFit/>
          </a:bodyPr>
          <a:lstStyle/>
          <a:p>
            <a:pPr marR="0" lvl="0" indent="0" algn="ctr" fontAlgn="auto">
              <a:lnSpc>
                <a:spcPct val="100000"/>
              </a:lnSpc>
              <a:spcBef>
                <a:spcPts val="0"/>
              </a:spcBef>
              <a:spcAft>
                <a:spcPts val="0"/>
              </a:spcAft>
              <a:buClrTx/>
              <a:buSzTx/>
              <a:buFontTx/>
              <a:buNone/>
              <a:tabLst/>
              <a:defRPr/>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因果效应</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grpSp>
        <p:nvGrpSpPr>
          <p:cNvPr id="67" name="组合 66">
            <a:extLst>
              <a:ext uri="{FF2B5EF4-FFF2-40B4-BE49-F238E27FC236}">
                <a16:creationId xmlns:a16="http://schemas.microsoft.com/office/drawing/2014/main" id="{9BC2F335-0975-4101-B144-22A2353A2FF9}"/>
              </a:ext>
            </a:extLst>
          </p:cNvPr>
          <p:cNvGrpSpPr/>
          <p:nvPr/>
        </p:nvGrpSpPr>
        <p:grpSpPr>
          <a:xfrm>
            <a:off x="8175957" y="2655027"/>
            <a:ext cx="196853" cy="769526"/>
            <a:chOff x="3412364" y="3937253"/>
            <a:chExt cx="196853" cy="753292"/>
          </a:xfrm>
        </p:grpSpPr>
        <p:sp>
          <p:nvSpPr>
            <p:cNvPr id="68" name="矩形 67">
              <a:extLst>
                <a:ext uri="{FF2B5EF4-FFF2-40B4-BE49-F238E27FC236}">
                  <a16:creationId xmlns:a16="http://schemas.microsoft.com/office/drawing/2014/main" id="{5A306FE8-9E49-4400-91AC-196261FF3D08}"/>
                </a:ext>
              </a:extLst>
            </p:cNvPr>
            <p:cNvSpPr/>
            <p:nvPr/>
          </p:nvSpPr>
          <p:spPr>
            <a:xfrm>
              <a:off x="3412364" y="3937253"/>
              <a:ext cx="196853" cy="753292"/>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a:extLst>
                <a:ext uri="{FF2B5EF4-FFF2-40B4-BE49-F238E27FC236}">
                  <a16:creationId xmlns:a16="http://schemas.microsoft.com/office/drawing/2014/main" id="{93BF93F0-66CB-45A9-B195-EABDE3D486DB}"/>
                </a:ext>
              </a:extLst>
            </p:cNvPr>
            <p:cNvSpPr/>
            <p:nvPr/>
          </p:nvSpPr>
          <p:spPr>
            <a:xfrm>
              <a:off x="3426284" y="4045980"/>
              <a:ext cx="169013" cy="535839"/>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特征变量</a:t>
              </a:r>
            </a:p>
          </p:txBody>
        </p:sp>
      </p:grpSp>
      <p:grpSp>
        <p:nvGrpSpPr>
          <p:cNvPr id="70" name="组合 69">
            <a:extLst>
              <a:ext uri="{FF2B5EF4-FFF2-40B4-BE49-F238E27FC236}">
                <a16:creationId xmlns:a16="http://schemas.microsoft.com/office/drawing/2014/main" id="{E7C05ACD-CE1D-4C5D-98CA-DA33E4A91283}"/>
              </a:ext>
            </a:extLst>
          </p:cNvPr>
          <p:cNvGrpSpPr/>
          <p:nvPr/>
        </p:nvGrpSpPr>
        <p:grpSpPr>
          <a:xfrm>
            <a:off x="8663256" y="2655070"/>
            <a:ext cx="196853" cy="769440"/>
            <a:chOff x="3795990" y="4191814"/>
            <a:chExt cx="272256" cy="753292"/>
          </a:xfrm>
          <a:solidFill>
            <a:srgbClr val="E2F0D9"/>
          </a:solidFill>
        </p:grpSpPr>
        <p:sp>
          <p:nvSpPr>
            <p:cNvPr id="71" name="矩形 70">
              <a:extLst>
                <a:ext uri="{FF2B5EF4-FFF2-40B4-BE49-F238E27FC236}">
                  <a16:creationId xmlns:a16="http://schemas.microsoft.com/office/drawing/2014/main" id="{6ED91375-92B0-4D88-8310-CAC6EC47B9D9}"/>
                </a:ext>
              </a:extLst>
            </p:cNvPr>
            <p:cNvSpPr/>
            <p:nvPr/>
          </p:nvSpPr>
          <p:spPr>
            <a:xfrm>
              <a:off x="3795990" y="4191814"/>
              <a:ext cx="272256" cy="753292"/>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C19A1DE4-214C-416F-AF96-F42FBD60A771}"/>
                </a:ext>
              </a:extLst>
            </p:cNvPr>
            <p:cNvSpPr txBox="1"/>
            <p:nvPr/>
          </p:nvSpPr>
          <p:spPr>
            <a:xfrm>
              <a:off x="3848070" y="4210670"/>
              <a:ext cx="168096" cy="715581"/>
            </a:xfrm>
            <a:prstGeom prst="rect">
              <a:avLst/>
            </a:prstGeom>
            <a:grpFill/>
          </p:spPr>
          <p:txBody>
            <a:bodyPr wrap="square">
              <a:spAutoFit/>
            </a:bodyPr>
            <a:lstStyle/>
            <a:p>
              <a:pPr marR="0" lvl="0" indent="0" algn="ctr" fontAlgn="auto">
                <a:lnSpc>
                  <a:spcPct val="90000"/>
                </a:lnSpc>
                <a:spcBef>
                  <a:spcPts val="0"/>
                </a:spcBef>
                <a:spcAft>
                  <a:spcPts val="0"/>
                </a:spcAft>
                <a:buClrTx/>
                <a:buSzTx/>
                <a:buFontTx/>
                <a:buNone/>
                <a:tabLst/>
                <a:defRPr/>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有向无环图</a:t>
              </a:r>
            </a:p>
          </p:txBody>
        </p:sp>
      </p:grpSp>
      <p:grpSp>
        <p:nvGrpSpPr>
          <p:cNvPr id="73" name="组合 72">
            <a:extLst>
              <a:ext uri="{FF2B5EF4-FFF2-40B4-BE49-F238E27FC236}">
                <a16:creationId xmlns:a16="http://schemas.microsoft.com/office/drawing/2014/main" id="{E44B4843-BFE9-44C7-9208-4F868A0B09AC}"/>
              </a:ext>
            </a:extLst>
          </p:cNvPr>
          <p:cNvGrpSpPr/>
          <p:nvPr/>
        </p:nvGrpSpPr>
        <p:grpSpPr>
          <a:xfrm>
            <a:off x="10019688" y="2355180"/>
            <a:ext cx="1535937" cy="256708"/>
            <a:chOff x="3400473" y="3937253"/>
            <a:chExt cx="272256" cy="753292"/>
          </a:xfrm>
        </p:grpSpPr>
        <p:sp>
          <p:nvSpPr>
            <p:cNvPr id="74" name="矩形 73">
              <a:extLst>
                <a:ext uri="{FF2B5EF4-FFF2-40B4-BE49-F238E27FC236}">
                  <a16:creationId xmlns:a16="http://schemas.microsoft.com/office/drawing/2014/main" id="{C437F2EB-6078-46DD-8F93-7733633D3465}"/>
                </a:ext>
              </a:extLst>
            </p:cNvPr>
            <p:cNvSpPr/>
            <p:nvPr/>
          </p:nvSpPr>
          <p:spPr>
            <a:xfrm>
              <a:off x="3400473" y="3937253"/>
              <a:ext cx="272256" cy="753292"/>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圆角 74">
              <a:extLst>
                <a:ext uri="{FF2B5EF4-FFF2-40B4-BE49-F238E27FC236}">
                  <a16:creationId xmlns:a16="http://schemas.microsoft.com/office/drawing/2014/main" id="{2A7AB33F-278A-4C29-B55A-5D177F53ABE2}"/>
                </a:ext>
              </a:extLst>
            </p:cNvPr>
            <p:cNvSpPr/>
            <p:nvPr/>
          </p:nvSpPr>
          <p:spPr>
            <a:xfrm>
              <a:off x="3400473" y="4045980"/>
              <a:ext cx="272256" cy="535839"/>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事故样本聚类迁移分析</a:t>
              </a:r>
            </a:p>
          </p:txBody>
        </p:sp>
      </p:grpSp>
      <p:sp>
        <p:nvSpPr>
          <p:cNvPr id="76" name="箭头: 右 75">
            <a:extLst>
              <a:ext uri="{FF2B5EF4-FFF2-40B4-BE49-F238E27FC236}">
                <a16:creationId xmlns:a16="http://schemas.microsoft.com/office/drawing/2014/main" id="{206F59B2-B090-4980-8AA2-D26DAFD6D9FC}"/>
              </a:ext>
            </a:extLst>
          </p:cNvPr>
          <p:cNvSpPr/>
          <p:nvPr/>
        </p:nvSpPr>
        <p:spPr>
          <a:xfrm>
            <a:off x="9781022" y="2385744"/>
            <a:ext cx="180000" cy="195580"/>
          </a:xfrm>
          <a:prstGeom prst="rightArrow">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77" name="圆角矩形 68">
            <a:extLst>
              <a:ext uri="{FF2B5EF4-FFF2-40B4-BE49-F238E27FC236}">
                <a16:creationId xmlns:a16="http://schemas.microsoft.com/office/drawing/2014/main" id="{83A95BC6-8691-4839-AE17-740920D9FE5D}"/>
              </a:ext>
            </a:extLst>
          </p:cNvPr>
          <p:cNvSpPr/>
          <p:nvPr/>
        </p:nvSpPr>
        <p:spPr>
          <a:xfrm>
            <a:off x="6329158" y="2657840"/>
            <a:ext cx="684000" cy="1440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人车交互</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78" name="圆角矩形 68">
            <a:extLst>
              <a:ext uri="{FF2B5EF4-FFF2-40B4-BE49-F238E27FC236}">
                <a16:creationId xmlns:a16="http://schemas.microsoft.com/office/drawing/2014/main" id="{95F83327-9E19-409D-9C14-28B2F789EB54}"/>
              </a:ext>
            </a:extLst>
          </p:cNvPr>
          <p:cNvSpPr/>
          <p:nvPr/>
        </p:nvSpPr>
        <p:spPr>
          <a:xfrm>
            <a:off x="6329158" y="2864817"/>
            <a:ext cx="684000" cy="1440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系统特性</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79" name="圆角矩形 68">
            <a:extLst>
              <a:ext uri="{FF2B5EF4-FFF2-40B4-BE49-F238E27FC236}">
                <a16:creationId xmlns:a16="http://schemas.microsoft.com/office/drawing/2014/main" id="{890A76B0-2BAF-4C81-8D13-F5872AD06DC6}"/>
              </a:ext>
            </a:extLst>
          </p:cNvPr>
          <p:cNvSpPr/>
          <p:nvPr/>
        </p:nvSpPr>
        <p:spPr>
          <a:xfrm>
            <a:off x="6329158" y="3071794"/>
            <a:ext cx="684000" cy="1440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道路条件</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80" name="圆角矩形 68">
            <a:extLst>
              <a:ext uri="{FF2B5EF4-FFF2-40B4-BE49-F238E27FC236}">
                <a16:creationId xmlns:a16="http://schemas.microsoft.com/office/drawing/2014/main" id="{0354FBAF-FC09-4CE6-956F-BF97C79AEEEF}"/>
              </a:ext>
            </a:extLst>
          </p:cNvPr>
          <p:cNvSpPr/>
          <p:nvPr/>
        </p:nvSpPr>
        <p:spPr>
          <a:xfrm>
            <a:off x="6329158" y="3278772"/>
            <a:ext cx="684000" cy="1440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环境要素</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cxnSp>
        <p:nvCxnSpPr>
          <p:cNvPr id="81" name="直接箭头连接符 80">
            <a:extLst>
              <a:ext uri="{FF2B5EF4-FFF2-40B4-BE49-F238E27FC236}">
                <a16:creationId xmlns:a16="http://schemas.microsoft.com/office/drawing/2014/main" id="{FAEE0F6B-1EFB-45B9-8A8A-4843BE7A3897}"/>
              </a:ext>
            </a:extLst>
          </p:cNvPr>
          <p:cNvCxnSpPr>
            <a:cxnSpLocks/>
            <a:stCxn id="51" idx="3"/>
            <a:endCxn id="82" idx="1"/>
          </p:cNvCxnSpPr>
          <p:nvPr/>
        </p:nvCxnSpPr>
        <p:spPr>
          <a:xfrm flipV="1">
            <a:off x="7351211" y="3042654"/>
            <a:ext cx="263231" cy="44"/>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82" name="圆角矩形 68">
            <a:extLst>
              <a:ext uri="{FF2B5EF4-FFF2-40B4-BE49-F238E27FC236}">
                <a16:creationId xmlns:a16="http://schemas.microsoft.com/office/drawing/2014/main" id="{5BC84403-5AD5-45D0-9B40-CE3BF6949435}"/>
              </a:ext>
            </a:extLst>
          </p:cNvPr>
          <p:cNvSpPr/>
          <p:nvPr/>
        </p:nvSpPr>
        <p:spPr>
          <a:xfrm>
            <a:off x="7614442" y="2659100"/>
            <a:ext cx="300648" cy="767107"/>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83" name="文本框 82">
            <a:extLst>
              <a:ext uri="{FF2B5EF4-FFF2-40B4-BE49-F238E27FC236}">
                <a16:creationId xmlns:a16="http://schemas.microsoft.com/office/drawing/2014/main" id="{15005C04-0E6A-406E-9E77-67C7BB791F94}"/>
              </a:ext>
            </a:extLst>
          </p:cNvPr>
          <p:cNvSpPr txBox="1"/>
          <p:nvPr/>
        </p:nvSpPr>
        <p:spPr>
          <a:xfrm>
            <a:off x="7508220" y="2719488"/>
            <a:ext cx="513093" cy="646331"/>
          </a:xfrm>
          <a:prstGeom prst="rect">
            <a:avLst/>
          </a:prstGeom>
          <a:noFill/>
        </p:spPr>
        <p:txBody>
          <a:bodyPr wrap="square">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不同风险场景画像</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84" name="文本框 83">
            <a:extLst>
              <a:ext uri="{FF2B5EF4-FFF2-40B4-BE49-F238E27FC236}">
                <a16:creationId xmlns:a16="http://schemas.microsoft.com/office/drawing/2014/main" id="{BB3CBF2F-6B37-4167-8E42-74F11C9B6774}"/>
              </a:ext>
            </a:extLst>
          </p:cNvPr>
          <p:cNvSpPr txBox="1"/>
          <p:nvPr/>
        </p:nvSpPr>
        <p:spPr>
          <a:xfrm>
            <a:off x="7301416" y="2870725"/>
            <a:ext cx="362822" cy="230832"/>
          </a:xfrm>
          <a:prstGeom prst="rect">
            <a:avLst/>
          </a:prstGeom>
          <a:noFill/>
        </p:spPr>
        <p:txBody>
          <a:bodyPr wrap="square" rtlCol="0">
            <a:spAutoFit/>
          </a:bodyPr>
          <a:lstStyle/>
          <a:p>
            <a:pPr algn="ctr"/>
            <a:r>
              <a:rPr lang="en-US" altLang="zh-CN" sz="900" dirty="0">
                <a:solidFill>
                  <a:srgbClr val="FF0000"/>
                </a:solidFill>
              </a:rPr>
              <a:t>LCA</a:t>
            </a:r>
            <a:endParaRPr lang="zh-CN" altLang="en-US" sz="900" dirty="0">
              <a:solidFill>
                <a:srgbClr val="FF0000"/>
              </a:solidFill>
            </a:endParaRPr>
          </a:p>
        </p:txBody>
      </p:sp>
      <p:cxnSp>
        <p:nvCxnSpPr>
          <p:cNvPr id="85" name="直接箭头连接符 84">
            <a:extLst>
              <a:ext uri="{FF2B5EF4-FFF2-40B4-BE49-F238E27FC236}">
                <a16:creationId xmlns:a16="http://schemas.microsoft.com/office/drawing/2014/main" id="{6ABE7B5B-7202-4716-A9BF-8A8C8357C954}"/>
              </a:ext>
            </a:extLst>
          </p:cNvPr>
          <p:cNvCxnSpPr>
            <a:cxnSpLocks/>
            <a:endCxn id="71" idx="1"/>
          </p:cNvCxnSpPr>
          <p:nvPr/>
        </p:nvCxnSpPr>
        <p:spPr>
          <a:xfrm flipV="1">
            <a:off x="8371302" y="3039790"/>
            <a:ext cx="291954" cy="148"/>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86" name="文本框 85">
            <a:extLst>
              <a:ext uri="{FF2B5EF4-FFF2-40B4-BE49-F238E27FC236}">
                <a16:creationId xmlns:a16="http://schemas.microsoft.com/office/drawing/2014/main" id="{CB7D10ED-C1B5-46E7-9B1C-4D2EAE5CDB4D}"/>
              </a:ext>
            </a:extLst>
          </p:cNvPr>
          <p:cNvSpPr txBox="1"/>
          <p:nvPr/>
        </p:nvSpPr>
        <p:spPr>
          <a:xfrm>
            <a:off x="8251447" y="2851951"/>
            <a:ext cx="515173" cy="230832"/>
          </a:xfrm>
          <a:prstGeom prst="rect">
            <a:avLst/>
          </a:prstGeom>
          <a:noFill/>
        </p:spPr>
        <p:txBody>
          <a:bodyPr wrap="square" rtlCol="0">
            <a:spAutoFit/>
          </a:bodyPr>
          <a:lstStyle/>
          <a:p>
            <a:pPr algn="ctr"/>
            <a:r>
              <a:rPr lang="en-US" altLang="zh-CN" sz="900" dirty="0">
                <a:solidFill>
                  <a:srgbClr val="FF0000"/>
                </a:solidFill>
              </a:rPr>
              <a:t>TAN</a:t>
            </a:r>
            <a:endParaRPr lang="zh-CN" altLang="en-US" sz="900" dirty="0">
              <a:solidFill>
                <a:srgbClr val="FF0000"/>
              </a:solidFill>
            </a:endParaRPr>
          </a:p>
        </p:txBody>
      </p:sp>
      <p:sp>
        <p:nvSpPr>
          <p:cNvPr id="87" name="矩形 86">
            <a:extLst>
              <a:ext uri="{FF2B5EF4-FFF2-40B4-BE49-F238E27FC236}">
                <a16:creationId xmlns:a16="http://schemas.microsoft.com/office/drawing/2014/main" id="{3AEC1859-CFF0-4F18-9925-EE5DD9215408}"/>
              </a:ext>
            </a:extLst>
          </p:cNvPr>
          <p:cNvSpPr/>
          <p:nvPr/>
        </p:nvSpPr>
        <p:spPr>
          <a:xfrm>
            <a:off x="9090020" y="2656117"/>
            <a:ext cx="196853" cy="769440"/>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加号 87">
            <a:extLst>
              <a:ext uri="{FF2B5EF4-FFF2-40B4-BE49-F238E27FC236}">
                <a16:creationId xmlns:a16="http://schemas.microsoft.com/office/drawing/2014/main" id="{7F5703B0-01BC-421D-B00D-29ADA6B09EA4}"/>
              </a:ext>
            </a:extLst>
          </p:cNvPr>
          <p:cNvSpPr/>
          <p:nvPr/>
        </p:nvSpPr>
        <p:spPr>
          <a:xfrm>
            <a:off x="7946180" y="2380241"/>
            <a:ext cx="195263" cy="207140"/>
          </a:xfrm>
          <a:prstGeom prst="mathPlus">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89" name="加号 88">
            <a:extLst>
              <a:ext uri="{FF2B5EF4-FFF2-40B4-BE49-F238E27FC236}">
                <a16:creationId xmlns:a16="http://schemas.microsoft.com/office/drawing/2014/main" id="{E904147C-ACC9-41E8-84AF-6B898AB38ACA}"/>
              </a:ext>
            </a:extLst>
          </p:cNvPr>
          <p:cNvSpPr/>
          <p:nvPr/>
        </p:nvSpPr>
        <p:spPr>
          <a:xfrm>
            <a:off x="8871611" y="2936220"/>
            <a:ext cx="195263" cy="207140"/>
          </a:xfrm>
          <a:prstGeom prst="mathPlus">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cxnSp>
        <p:nvCxnSpPr>
          <p:cNvPr id="90" name="直接箭头连接符 89">
            <a:extLst>
              <a:ext uri="{FF2B5EF4-FFF2-40B4-BE49-F238E27FC236}">
                <a16:creationId xmlns:a16="http://schemas.microsoft.com/office/drawing/2014/main" id="{27F5BE07-C190-49A5-9EDA-6B11CB7444EF}"/>
              </a:ext>
            </a:extLst>
          </p:cNvPr>
          <p:cNvCxnSpPr>
            <a:cxnSpLocks/>
            <a:stCxn id="87" idx="3"/>
            <a:endCxn id="92" idx="1"/>
          </p:cNvCxnSpPr>
          <p:nvPr/>
        </p:nvCxnSpPr>
        <p:spPr>
          <a:xfrm flipV="1">
            <a:off x="9286873" y="3039790"/>
            <a:ext cx="145903" cy="1047"/>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91" name="文本框 90">
            <a:extLst>
              <a:ext uri="{FF2B5EF4-FFF2-40B4-BE49-F238E27FC236}">
                <a16:creationId xmlns:a16="http://schemas.microsoft.com/office/drawing/2014/main" id="{FBA3D859-10BE-4B5F-AADD-5FCED1238700}"/>
              </a:ext>
            </a:extLst>
          </p:cNvPr>
          <p:cNvSpPr txBox="1"/>
          <p:nvPr/>
        </p:nvSpPr>
        <p:spPr>
          <a:xfrm>
            <a:off x="9127676" y="2675377"/>
            <a:ext cx="121541" cy="715581"/>
          </a:xfrm>
          <a:prstGeom prst="rect">
            <a:avLst/>
          </a:prstGeom>
          <a:noFill/>
        </p:spPr>
        <p:txBody>
          <a:bodyPr wrap="square">
            <a:spAutoFit/>
          </a:bodyPr>
          <a:lstStyle/>
          <a:p>
            <a:pPr marR="0" lvl="0" indent="0" algn="ctr" fontAlgn="auto">
              <a:lnSpc>
                <a:spcPct val="90000"/>
              </a:lnSpc>
              <a:spcBef>
                <a:spcPts val="0"/>
              </a:spcBef>
              <a:spcAft>
                <a:spcPts val="0"/>
              </a:spcAft>
              <a:buClrTx/>
              <a:buSzTx/>
              <a:buFontTx/>
              <a:buNone/>
              <a:tabLst/>
              <a:defRPr/>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条件概率表</a:t>
            </a:r>
          </a:p>
        </p:txBody>
      </p:sp>
      <p:sp>
        <p:nvSpPr>
          <p:cNvPr id="92" name="矩形 91">
            <a:extLst>
              <a:ext uri="{FF2B5EF4-FFF2-40B4-BE49-F238E27FC236}">
                <a16:creationId xmlns:a16="http://schemas.microsoft.com/office/drawing/2014/main" id="{A86E8A3D-29EF-4BE3-B51D-B74686AA11FA}"/>
              </a:ext>
            </a:extLst>
          </p:cNvPr>
          <p:cNvSpPr/>
          <p:nvPr/>
        </p:nvSpPr>
        <p:spPr>
          <a:xfrm>
            <a:off x="9432776" y="2655070"/>
            <a:ext cx="278396" cy="769440"/>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圆角矩形 68">
            <a:extLst>
              <a:ext uri="{FF2B5EF4-FFF2-40B4-BE49-F238E27FC236}">
                <a16:creationId xmlns:a16="http://schemas.microsoft.com/office/drawing/2014/main" id="{B60AD7DC-6FEB-47DC-9FEB-B07EA64573B1}"/>
              </a:ext>
            </a:extLst>
          </p:cNvPr>
          <p:cNvSpPr/>
          <p:nvPr/>
        </p:nvSpPr>
        <p:spPr>
          <a:xfrm>
            <a:off x="10019473" y="2661893"/>
            <a:ext cx="300648" cy="767107"/>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94" name="文本框 93">
            <a:extLst>
              <a:ext uri="{FF2B5EF4-FFF2-40B4-BE49-F238E27FC236}">
                <a16:creationId xmlns:a16="http://schemas.microsoft.com/office/drawing/2014/main" id="{B7A3C4E7-4054-4FE0-B2F6-E12BBF7C54A6}"/>
              </a:ext>
            </a:extLst>
          </p:cNvPr>
          <p:cNvSpPr txBox="1"/>
          <p:nvPr/>
        </p:nvSpPr>
        <p:spPr>
          <a:xfrm>
            <a:off x="9352231" y="2812307"/>
            <a:ext cx="436039" cy="466281"/>
          </a:xfrm>
          <a:prstGeom prst="rect">
            <a:avLst/>
          </a:prstGeom>
          <a:noFill/>
        </p:spPr>
        <p:txBody>
          <a:bodyPr wrap="square">
            <a:spAutoFit/>
          </a:bodyPr>
          <a:lstStyle/>
          <a:p>
            <a:pPr marR="0" lvl="0" indent="0" algn="ctr" fontAlgn="auto">
              <a:lnSpc>
                <a:spcPct val="90000"/>
              </a:lnSpc>
              <a:spcBef>
                <a:spcPts val="0"/>
              </a:spcBef>
              <a:spcAft>
                <a:spcPts val="0"/>
              </a:spcAft>
              <a:buClrTx/>
              <a:buSzTx/>
              <a:buFontTx/>
              <a:buNone/>
              <a:tabLst/>
              <a:defRPr/>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变量依赖关系</a:t>
            </a:r>
          </a:p>
        </p:txBody>
      </p:sp>
      <p:cxnSp>
        <p:nvCxnSpPr>
          <p:cNvPr id="95" name="直接箭头连接符 94">
            <a:extLst>
              <a:ext uri="{FF2B5EF4-FFF2-40B4-BE49-F238E27FC236}">
                <a16:creationId xmlns:a16="http://schemas.microsoft.com/office/drawing/2014/main" id="{DAB8E305-2BC4-4519-87D0-E264C61D63E3}"/>
              </a:ext>
            </a:extLst>
          </p:cNvPr>
          <p:cNvCxnSpPr>
            <a:cxnSpLocks/>
            <a:stCxn id="93" idx="3"/>
            <a:endCxn id="101" idx="1"/>
          </p:cNvCxnSpPr>
          <p:nvPr/>
        </p:nvCxnSpPr>
        <p:spPr>
          <a:xfrm flipV="1">
            <a:off x="10320121" y="3043820"/>
            <a:ext cx="466964" cy="1627"/>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96" name="文本框 95">
            <a:extLst>
              <a:ext uri="{FF2B5EF4-FFF2-40B4-BE49-F238E27FC236}">
                <a16:creationId xmlns:a16="http://schemas.microsoft.com/office/drawing/2014/main" id="{389E144E-6FE5-4658-B148-249D16C67C14}"/>
              </a:ext>
            </a:extLst>
          </p:cNvPr>
          <p:cNvSpPr txBox="1"/>
          <p:nvPr/>
        </p:nvSpPr>
        <p:spPr>
          <a:xfrm>
            <a:off x="9956103" y="2791531"/>
            <a:ext cx="427389" cy="507831"/>
          </a:xfrm>
          <a:prstGeom prst="rect">
            <a:avLst/>
          </a:prstGeom>
          <a:noFill/>
        </p:spPr>
        <p:txBody>
          <a:bodyPr wrap="square">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干预方案设计</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97" name="矩形: 圆角 96">
            <a:extLst>
              <a:ext uri="{FF2B5EF4-FFF2-40B4-BE49-F238E27FC236}">
                <a16:creationId xmlns:a16="http://schemas.microsoft.com/office/drawing/2014/main" id="{5EFD382C-6EF2-467E-9D2D-374673CE8D60}"/>
              </a:ext>
            </a:extLst>
          </p:cNvPr>
          <p:cNvSpPr/>
          <p:nvPr/>
        </p:nvSpPr>
        <p:spPr>
          <a:xfrm>
            <a:off x="11275254" y="2655070"/>
            <a:ext cx="278396" cy="769440"/>
          </a:xfrm>
          <a:prstGeom prst="round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文本框 97">
            <a:extLst>
              <a:ext uri="{FF2B5EF4-FFF2-40B4-BE49-F238E27FC236}">
                <a16:creationId xmlns:a16="http://schemas.microsoft.com/office/drawing/2014/main" id="{BAC29BB8-3327-4EF2-BFCB-C2654C34C957}"/>
              </a:ext>
            </a:extLst>
          </p:cNvPr>
          <p:cNvSpPr txBox="1"/>
          <p:nvPr/>
        </p:nvSpPr>
        <p:spPr>
          <a:xfrm>
            <a:off x="10141745" y="2850760"/>
            <a:ext cx="807891" cy="215444"/>
          </a:xfrm>
          <a:prstGeom prst="rect">
            <a:avLst/>
          </a:prstGeom>
          <a:noFill/>
        </p:spPr>
        <p:txBody>
          <a:bodyPr wrap="square" rtlCol="0">
            <a:spAutoFit/>
          </a:bodyPr>
          <a:lstStyle/>
          <a:p>
            <a:pPr algn="ctr"/>
            <a:r>
              <a:rPr lang="zh-CN" altLang="en-US" sz="800" kern="100" dirty="0">
                <a:solidFill>
                  <a:srgbClr val="FF0000"/>
                </a:solidFill>
                <a:latin typeface="微软雅黑" panose="020B0503020204020204" charset="-122"/>
                <a:ea typeface="微软雅黑" panose="020B0503020204020204" charset="-122"/>
                <a:cs typeface="Times New Roman" panose="02020603050405020304"/>
              </a:rPr>
              <a:t>情景模拟</a:t>
            </a:r>
          </a:p>
        </p:txBody>
      </p:sp>
      <p:sp>
        <p:nvSpPr>
          <p:cNvPr id="99" name="加号 98">
            <a:extLst>
              <a:ext uri="{FF2B5EF4-FFF2-40B4-BE49-F238E27FC236}">
                <a16:creationId xmlns:a16="http://schemas.microsoft.com/office/drawing/2014/main" id="{967B7359-0094-435C-BB8E-E0CA5653BA62}"/>
              </a:ext>
            </a:extLst>
          </p:cNvPr>
          <p:cNvSpPr/>
          <p:nvPr/>
        </p:nvSpPr>
        <p:spPr>
          <a:xfrm>
            <a:off x="11072736" y="2945506"/>
            <a:ext cx="195263" cy="207140"/>
          </a:xfrm>
          <a:prstGeom prst="mathPlus">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100" name="文本框 99">
            <a:extLst>
              <a:ext uri="{FF2B5EF4-FFF2-40B4-BE49-F238E27FC236}">
                <a16:creationId xmlns:a16="http://schemas.microsoft.com/office/drawing/2014/main" id="{5FC4726E-B9CE-4A28-8561-327E11888EE6}"/>
              </a:ext>
            </a:extLst>
          </p:cNvPr>
          <p:cNvSpPr txBox="1"/>
          <p:nvPr/>
        </p:nvSpPr>
        <p:spPr>
          <a:xfrm>
            <a:off x="11196107" y="2687529"/>
            <a:ext cx="436039" cy="715581"/>
          </a:xfrm>
          <a:prstGeom prst="rect">
            <a:avLst/>
          </a:prstGeom>
          <a:noFill/>
        </p:spPr>
        <p:txBody>
          <a:bodyPr wrap="square">
            <a:spAutoFit/>
          </a:bodyPr>
          <a:lstStyle/>
          <a:p>
            <a:pPr marR="0" lvl="0" indent="0" algn="ctr" fontAlgn="auto">
              <a:lnSpc>
                <a:spcPct val="90000"/>
              </a:lnSpc>
              <a:spcBef>
                <a:spcPts val="0"/>
              </a:spcBef>
              <a:spcAft>
                <a:spcPts val="0"/>
              </a:spcAft>
              <a:buClrTx/>
              <a:buSzTx/>
              <a:buFontTx/>
              <a:buNone/>
              <a:tabLst/>
              <a:defRPr/>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多因素干预聚类迁移</a:t>
            </a:r>
          </a:p>
        </p:txBody>
      </p:sp>
      <p:sp>
        <p:nvSpPr>
          <p:cNvPr id="101" name="矩形: 圆角 100">
            <a:extLst>
              <a:ext uri="{FF2B5EF4-FFF2-40B4-BE49-F238E27FC236}">
                <a16:creationId xmlns:a16="http://schemas.microsoft.com/office/drawing/2014/main" id="{D4D8177E-30A9-44B0-8D84-AFA72DD78919}"/>
              </a:ext>
            </a:extLst>
          </p:cNvPr>
          <p:cNvSpPr/>
          <p:nvPr/>
        </p:nvSpPr>
        <p:spPr>
          <a:xfrm>
            <a:off x="10787085" y="2659100"/>
            <a:ext cx="278396" cy="769440"/>
          </a:xfrm>
          <a:prstGeom prst="round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a:extLst>
              <a:ext uri="{FF2B5EF4-FFF2-40B4-BE49-F238E27FC236}">
                <a16:creationId xmlns:a16="http://schemas.microsoft.com/office/drawing/2014/main" id="{4EFC7818-6AEB-4712-885A-B80DED406893}"/>
              </a:ext>
            </a:extLst>
          </p:cNvPr>
          <p:cNvSpPr txBox="1"/>
          <p:nvPr/>
        </p:nvSpPr>
        <p:spPr>
          <a:xfrm>
            <a:off x="10708264" y="2686030"/>
            <a:ext cx="436039" cy="715581"/>
          </a:xfrm>
          <a:prstGeom prst="rect">
            <a:avLst/>
          </a:prstGeom>
          <a:noFill/>
        </p:spPr>
        <p:txBody>
          <a:bodyPr wrap="square">
            <a:spAutoFit/>
          </a:bodyPr>
          <a:lstStyle/>
          <a:p>
            <a:pPr marR="0" lvl="0" indent="0" algn="ctr" fontAlgn="auto">
              <a:lnSpc>
                <a:spcPct val="90000"/>
              </a:lnSpc>
              <a:spcBef>
                <a:spcPts val="0"/>
              </a:spcBef>
              <a:spcAft>
                <a:spcPts val="0"/>
              </a:spcAft>
              <a:buClrTx/>
              <a:buSzTx/>
              <a:buFontTx/>
              <a:buNone/>
              <a:tabLst/>
              <a:defRPr/>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单因素干预聚类迁移</a:t>
            </a:r>
          </a:p>
        </p:txBody>
      </p:sp>
      <p:grpSp>
        <p:nvGrpSpPr>
          <p:cNvPr id="103" name="组合 102">
            <a:extLst>
              <a:ext uri="{FF2B5EF4-FFF2-40B4-BE49-F238E27FC236}">
                <a16:creationId xmlns:a16="http://schemas.microsoft.com/office/drawing/2014/main" id="{BA0050C1-F959-4AC7-8665-8EBD91765935}"/>
              </a:ext>
            </a:extLst>
          </p:cNvPr>
          <p:cNvGrpSpPr/>
          <p:nvPr/>
        </p:nvGrpSpPr>
        <p:grpSpPr>
          <a:xfrm>
            <a:off x="6329158" y="2355180"/>
            <a:ext cx="1581574" cy="256708"/>
            <a:chOff x="1080313" y="3812571"/>
            <a:chExt cx="1581574" cy="256708"/>
          </a:xfrm>
        </p:grpSpPr>
        <p:sp>
          <p:nvSpPr>
            <p:cNvPr id="104" name="矩形 103">
              <a:extLst>
                <a:ext uri="{FF2B5EF4-FFF2-40B4-BE49-F238E27FC236}">
                  <a16:creationId xmlns:a16="http://schemas.microsoft.com/office/drawing/2014/main" id="{01A4597D-1C1E-4721-84C1-B53B75CBABEB}"/>
                </a:ext>
              </a:extLst>
            </p:cNvPr>
            <p:cNvSpPr/>
            <p:nvPr/>
          </p:nvSpPr>
          <p:spPr>
            <a:xfrm>
              <a:off x="1080313" y="3812571"/>
              <a:ext cx="1581574" cy="256708"/>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圆角 104">
              <a:extLst>
                <a:ext uri="{FF2B5EF4-FFF2-40B4-BE49-F238E27FC236}">
                  <a16:creationId xmlns:a16="http://schemas.microsoft.com/office/drawing/2014/main" id="{0B1EAFB0-3534-4390-8E6E-1625EE1A2D03}"/>
                </a:ext>
              </a:extLst>
            </p:cNvPr>
            <p:cNvSpPr/>
            <p:nvPr/>
          </p:nvSpPr>
          <p:spPr>
            <a:xfrm>
              <a:off x="1080313" y="3849623"/>
              <a:ext cx="1581574" cy="182604"/>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事故典型场景画像</a:t>
              </a:r>
            </a:p>
          </p:txBody>
        </p:sp>
      </p:grpSp>
      <p:grpSp>
        <p:nvGrpSpPr>
          <p:cNvPr id="106" name="组合 105">
            <a:extLst>
              <a:ext uri="{FF2B5EF4-FFF2-40B4-BE49-F238E27FC236}">
                <a16:creationId xmlns:a16="http://schemas.microsoft.com/office/drawing/2014/main" id="{289914DF-EBA6-4B2E-AA96-C4AEA9EE0ABE}"/>
              </a:ext>
            </a:extLst>
          </p:cNvPr>
          <p:cNvGrpSpPr/>
          <p:nvPr/>
        </p:nvGrpSpPr>
        <p:grpSpPr>
          <a:xfrm>
            <a:off x="8176890" y="2355180"/>
            <a:ext cx="1535937" cy="256708"/>
            <a:chOff x="2928045" y="3812571"/>
            <a:chExt cx="1535937" cy="256708"/>
          </a:xfrm>
        </p:grpSpPr>
        <p:sp>
          <p:nvSpPr>
            <p:cNvPr id="107" name="矩形 106">
              <a:extLst>
                <a:ext uri="{FF2B5EF4-FFF2-40B4-BE49-F238E27FC236}">
                  <a16:creationId xmlns:a16="http://schemas.microsoft.com/office/drawing/2014/main" id="{F1D5C04B-13A9-46CF-851C-AF896CA8D486}"/>
                </a:ext>
              </a:extLst>
            </p:cNvPr>
            <p:cNvSpPr/>
            <p:nvPr/>
          </p:nvSpPr>
          <p:spPr>
            <a:xfrm>
              <a:off x="2928045" y="3812571"/>
              <a:ext cx="1535937" cy="256708"/>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圆角 107">
              <a:extLst>
                <a:ext uri="{FF2B5EF4-FFF2-40B4-BE49-F238E27FC236}">
                  <a16:creationId xmlns:a16="http://schemas.microsoft.com/office/drawing/2014/main" id="{571FAC1D-7DE4-4CD4-AF0D-6751099E21A0}"/>
                </a:ext>
              </a:extLst>
            </p:cNvPr>
            <p:cNvSpPr/>
            <p:nvPr/>
          </p:nvSpPr>
          <p:spPr>
            <a:xfrm>
              <a:off x="2928045" y="3849623"/>
              <a:ext cx="1535937" cy="182604"/>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特征变量依赖关系分析</a:t>
              </a:r>
            </a:p>
          </p:txBody>
        </p:sp>
      </p:grpSp>
      <p:cxnSp>
        <p:nvCxnSpPr>
          <p:cNvPr id="109" name="连接符: 肘形 108">
            <a:extLst>
              <a:ext uri="{FF2B5EF4-FFF2-40B4-BE49-F238E27FC236}">
                <a16:creationId xmlns:a16="http://schemas.microsoft.com/office/drawing/2014/main" id="{C834184A-4701-46F2-B728-01073B78E699}"/>
              </a:ext>
            </a:extLst>
          </p:cNvPr>
          <p:cNvCxnSpPr>
            <a:cxnSpLocks/>
            <a:stCxn id="71" idx="2"/>
            <a:endCxn id="60" idx="1"/>
          </p:cNvCxnSpPr>
          <p:nvPr/>
        </p:nvCxnSpPr>
        <p:spPr>
          <a:xfrm rot="5400000">
            <a:off x="7609387" y="3215344"/>
            <a:ext cx="943131" cy="1361463"/>
          </a:xfrm>
          <a:prstGeom prst="bentConnector4">
            <a:avLst>
              <a:gd name="adj1" fmla="val 8833"/>
              <a:gd name="adj2" fmla="val 188152"/>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110" name="圆角矩形 68">
            <a:extLst>
              <a:ext uri="{FF2B5EF4-FFF2-40B4-BE49-F238E27FC236}">
                <a16:creationId xmlns:a16="http://schemas.microsoft.com/office/drawing/2014/main" id="{5F89E0E1-A201-4AD9-A004-AD50F82FE88C}"/>
              </a:ext>
            </a:extLst>
          </p:cNvPr>
          <p:cNvSpPr/>
          <p:nvPr/>
        </p:nvSpPr>
        <p:spPr>
          <a:xfrm>
            <a:off x="6318680" y="3929364"/>
            <a:ext cx="684000" cy="1440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领域知识</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11" name="圆角矩形 68">
            <a:extLst>
              <a:ext uri="{FF2B5EF4-FFF2-40B4-BE49-F238E27FC236}">
                <a16:creationId xmlns:a16="http://schemas.microsoft.com/office/drawing/2014/main" id="{5ED6D3EF-B2B4-46C6-9297-946A179A1B90}"/>
              </a:ext>
            </a:extLst>
          </p:cNvPr>
          <p:cNvSpPr/>
          <p:nvPr/>
        </p:nvSpPr>
        <p:spPr>
          <a:xfrm>
            <a:off x="6318680" y="4171762"/>
            <a:ext cx="684000" cy="1440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因果假设</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12" name="圆角矩形 68">
            <a:extLst>
              <a:ext uri="{FF2B5EF4-FFF2-40B4-BE49-F238E27FC236}">
                <a16:creationId xmlns:a16="http://schemas.microsoft.com/office/drawing/2014/main" id="{7672D1CB-73B5-484B-B205-6D4190B8D40B}"/>
              </a:ext>
            </a:extLst>
          </p:cNvPr>
          <p:cNvSpPr/>
          <p:nvPr/>
        </p:nvSpPr>
        <p:spPr>
          <a:xfrm>
            <a:off x="6318680" y="4414160"/>
            <a:ext cx="684000" cy="1440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事故数据</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13" name="圆角矩形 68">
            <a:extLst>
              <a:ext uri="{FF2B5EF4-FFF2-40B4-BE49-F238E27FC236}">
                <a16:creationId xmlns:a16="http://schemas.microsoft.com/office/drawing/2014/main" id="{002AE258-42C6-4684-96BA-0536CE5E7E24}"/>
              </a:ext>
            </a:extLst>
          </p:cNvPr>
          <p:cNvSpPr/>
          <p:nvPr/>
        </p:nvSpPr>
        <p:spPr>
          <a:xfrm>
            <a:off x="6318680" y="4656559"/>
            <a:ext cx="684000" cy="1440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时间顺序</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14" name="文本框 113">
            <a:extLst>
              <a:ext uri="{FF2B5EF4-FFF2-40B4-BE49-F238E27FC236}">
                <a16:creationId xmlns:a16="http://schemas.microsoft.com/office/drawing/2014/main" id="{7633E4E9-785E-489A-A24F-F26095B5BEAC}"/>
              </a:ext>
            </a:extLst>
          </p:cNvPr>
          <p:cNvSpPr txBox="1"/>
          <p:nvPr/>
        </p:nvSpPr>
        <p:spPr>
          <a:xfrm>
            <a:off x="6905133" y="4197735"/>
            <a:ext cx="546107" cy="338554"/>
          </a:xfrm>
          <a:prstGeom prst="rect">
            <a:avLst/>
          </a:prstGeom>
          <a:noFill/>
        </p:spPr>
        <p:txBody>
          <a:bodyPr wrap="square" rtlCol="0">
            <a:spAutoFit/>
          </a:bodyPr>
          <a:lstStyle/>
          <a:p>
            <a:pPr algn="ctr"/>
            <a:r>
              <a:rPr lang="zh-CN" altLang="en-US" sz="800" kern="100" dirty="0">
                <a:solidFill>
                  <a:srgbClr val="FF0000"/>
                </a:solidFill>
                <a:latin typeface="微软雅黑" panose="020B0503020204020204" charset="-122"/>
                <a:ea typeface="微软雅黑" panose="020B0503020204020204" charset="-122"/>
                <a:cs typeface="Times New Roman" panose="02020603050405020304"/>
              </a:rPr>
              <a:t>专家</a:t>
            </a:r>
            <a:endParaRPr lang="en-US" altLang="zh-CN" sz="800" kern="100" dirty="0">
              <a:solidFill>
                <a:srgbClr val="FF0000"/>
              </a:solidFill>
              <a:latin typeface="微软雅黑" panose="020B0503020204020204" charset="-122"/>
              <a:ea typeface="微软雅黑" panose="020B0503020204020204" charset="-122"/>
              <a:cs typeface="Times New Roman" panose="02020603050405020304"/>
            </a:endParaRPr>
          </a:p>
          <a:p>
            <a:pPr algn="ctr"/>
            <a:r>
              <a:rPr lang="zh-CN" altLang="en-US" sz="800" kern="100" dirty="0">
                <a:solidFill>
                  <a:srgbClr val="FF0000"/>
                </a:solidFill>
                <a:latin typeface="微软雅黑" panose="020B0503020204020204" charset="-122"/>
                <a:ea typeface="微软雅黑" panose="020B0503020204020204" charset="-122"/>
                <a:cs typeface="Times New Roman" panose="02020603050405020304"/>
              </a:rPr>
              <a:t>知识法</a:t>
            </a:r>
          </a:p>
        </p:txBody>
      </p:sp>
      <p:cxnSp>
        <p:nvCxnSpPr>
          <p:cNvPr id="115" name="直接箭头连接符 114">
            <a:extLst>
              <a:ext uri="{FF2B5EF4-FFF2-40B4-BE49-F238E27FC236}">
                <a16:creationId xmlns:a16="http://schemas.microsoft.com/office/drawing/2014/main" id="{AEC909D0-27C2-499C-8606-3FF19665B88D}"/>
              </a:ext>
            </a:extLst>
          </p:cNvPr>
          <p:cNvCxnSpPr>
            <a:cxnSpLocks/>
          </p:cNvCxnSpPr>
          <p:nvPr/>
        </p:nvCxnSpPr>
        <p:spPr>
          <a:xfrm flipV="1">
            <a:off x="7002891" y="4001004"/>
            <a:ext cx="396000" cy="293"/>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116" name="直接箭头连接符 115">
            <a:extLst>
              <a:ext uri="{FF2B5EF4-FFF2-40B4-BE49-F238E27FC236}">
                <a16:creationId xmlns:a16="http://schemas.microsoft.com/office/drawing/2014/main" id="{8DA5C612-57BC-4D87-98FC-5BD54814D9CD}"/>
              </a:ext>
            </a:extLst>
          </p:cNvPr>
          <p:cNvCxnSpPr>
            <a:cxnSpLocks/>
          </p:cNvCxnSpPr>
          <p:nvPr/>
        </p:nvCxnSpPr>
        <p:spPr>
          <a:xfrm flipV="1">
            <a:off x="6999493" y="4243616"/>
            <a:ext cx="396000" cy="293"/>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117" name="直接箭头连接符 116">
            <a:extLst>
              <a:ext uri="{FF2B5EF4-FFF2-40B4-BE49-F238E27FC236}">
                <a16:creationId xmlns:a16="http://schemas.microsoft.com/office/drawing/2014/main" id="{EF7E767B-F0A5-4315-981E-08DB4D970BF2}"/>
              </a:ext>
            </a:extLst>
          </p:cNvPr>
          <p:cNvCxnSpPr>
            <a:cxnSpLocks/>
          </p:cNvCxnSpPr>
          <p:nvPr/>
        </p:nvCxnSpPr>
        <p:spPr>
          <a:xfrm flipV="1">
            <a:off x="7008131" y="4486014"/>
            <a:ext cx="396000" cy="293"/>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118" name="直接箭头连接符 117">
            <a:extLst>
              <a:ext uri="{FF2B5EF4-FFF2-40B4-BE49-F238E27FC236}">
                <a16:creationId xmlns:a16="http://schemas.microsoft.com/office/drawing/2014/main" id="{4C182D6C-FA1A-45C9-9557-95CC2C31F7E2}"/>
              </a:ext>
            </a:extLst>
          </p:cNvPr>
          <p:cNvCxnSpPr>
            <a:cxnSpLocks/>
          </p:cNvCxnSpPr>
          <p:nvPr/>
        </p:nvCxnSpPr>
        <p:spPr>
          <a:xfrm flipV="1">
            <a:off x="7008131" y="4728413"/>
            <a:ext cx="396000" cy="293"/>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119" name="文本框 118">
            <a:extLst>
              <a:ext uri="{FF2B5EF4-FFF2-40B4-BE49-F238E27FC236}">
                <a16:creationId xmlns:a16="http://schemas.microsoft.com/office/drawing/2014/main" id="{0386A748-115A-47F5-8870-560AD1AA7E7B}"/>
              </a:ext>
            </a:extLst>
          </p:cNvPr>
          <p:cNvSpPr txBox="1"/>
          <p:nvPr/>
        </p:nvSpPr>
        <p:spPr>
          <a:xfrm>
            <a:off x="6918208" y="3832678"/>
            <a:ext cx="546107" cy="338554"/>
          </a:xfrm>
          <a:prstGeom prst="rect">
            <a:avLst/>
          </a:prstGeom>
          <a:noFill/>
        </p:spPr>
        <p:txBody>
          <a:bodyPr wrap="square" rtlCol="0">
            <a:spAutoFit/>
          </a:bodyPr>
          <a:lstStyle/>
          <a:p>
            <a:pPr algn="ctr"/>
            <a:r>
              <a:rPr lang="zh-CN" altLang="en-US" sz="800" kern="100" dirty="0">
                <a:solidFill>
                  <a:srgbClr val="FF0000"/>
                </a:solidFill>
                <a:latin typeface="微软雅黑" panose="020B0503020204020204" charset="-122"/>
                <a:ea typeface="微软雅黑" panose="020B0503020204020204" charset="-122"/>
                <a:cs typeface="Times New Roman" panose="02020603050405020304"/>
              </a:rPr>
              <a:t>结构因果模型</a:t>
            </a:r>
          </a:p>
        </p:txBody>
      </p:sp>
      <p:sp>
        <p:nvSpPr>
          <p:cNvPr id="120" name="加号 119">
            <a:extLst>
              <a:ext uri="{FF2B5EF4-FFF2-40B4-BE49-F238E27FC236}">
                <a16:creationId xmlns:a16="http://schemas.microsoft.com/office/drawing/2014/main" id="{47B8D1E0-37B9-4844-949F-B11B85ECDEFD}"/>
              </a:ext>
            </a:extLst>
          </p:cNvPr>
          <p:cNvSpPr/>
          <p:nvPr/>
        </p:nvSpPr>
        <p:spPr>
          <a:xfrm>
            <a:off x="7681751" y="4274771"/>
            <a:ext cx="195263" cy="207140"/>
          </a:xfrm>
          <a:prstGeom prst="mathPlus">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121" name="圆角矩形 68">
            <a:extLst>
              <a:ext uri="{FF2B5EF4-FFF2-40B4-BE49-F238E27FC236}">
                <a16:creationId xmlns:a16="http://schemas.microsoft.com/office/drawing/2014/main" id="{110C8E9C-C59F-44D7-BE86-204CD6E316F0}"/>
              </a:ext>
            </a:extLst>
          </p:cNvPr>
          <p:cNvSpPr/>
          <p:nvPr/>
        </p:nvSpPr>
        <p:spPr>
          <a:xfrm flipH="1">
            <a:off x="10470958" y="4568329"/>
            <a:ext cx="1078049" cy="23040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条件干预</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cxnSp>
        <p:nvCxnSpPr>
          <p:cNvPr id="122" name="直接箭头连接符 121">
            <a:extLst>
              <a:ext uri="{FF2B5EF4-FFF2-40B4-BE49-F238E27FC236}">
                <a16:creationId xmlns:a16="http://schemas.microsoft.com/office/drawing/2014/main" id="{A457A413-19EC-48FB-A7B1-520409913DAC}"/>
              </a:ext>
            </a:extLst>
          </p:cNvPr>
          <p:cNvCxnSpPr>
            <a:cxnSpLocks/>
            <a:stCxn id="64" idx="1"/>
            <a:endCxn id="61" idx="3"/>
          </p:cNvCxnSpPr>
          <p:nvPr/>
        </p:nvCxnSpPr>
        <p:spPr>
          <a:xfrm>
            <a:off x="9924864" y="4362659"/>
            <a:ext cx="550736" cy="89"/>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123" name="文本框 122">
            <a:extLst>
              <a:ext uri="{FF2B5EF4-FFF2-40B4-BE49-F238E27FC236}">
                <a16:creationId xmlns:a16="http://schemas.microsoft.com/office/drawing/2014/main" id="{F99DECCE-A434-4221-BD8A-C923287A9647}"/>
              </a:ext>
            </a:extLst>
          </p:cNvPr>
          <p:cNvSpPr txBox="1"/>
          <p:nvPr/>
        </p:nvSpPr>
        <p:spPr>
          <a:xfrm>
            <a:off x="9516470" y="4039493"/>
            <a:ext cx="465098" cy="646331"/>
          </a:xfrm>
          <a:prstGeom prst="rect">
            <a:avLst/>
          </a:prstGeom>
          <a:noFill/>
        </p:spPr>
        <p:txBody>
          <a:bodyPr wrap="square">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变量可干预性识别</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24" name="文本框 123">
            <a:extLst>
              <a:ext uri="{FF2B5EF4-FFF2-40B4-BE49-F238E27FC236}">
                <a16:creationId xmlns:a16="http://schemas.microsoft.com/office/drawing/2014/main" id="{497820D9-812E-42F6-BCFD-F6DCF80FF215}"/>
              </a:ext>
            </a:extLst>
          </p:cNvPr>
          <p:cNvSpPr txBox="1"/>
          <p:nvPr/>
        </p:nvSpPr>
        <p:spPr>
          <a:xfrm>
            <a:off x="9820401" y="4193255"/>
            <a:ext cx="670367" cy="338554"/>
          </a:xfrm>
          <a:prstGeom prst="rect">
            <a:avLst/>
          </a:prstGeom>
          <a:noFill/>
        </p:spPr>
        <p:txBody>
          <a:bodyPr wrap="square" rtlCol="0">
            <a:spAutoFit/>
          </a:bodyPr>
          <a:lstStyle/>
          <a:p>
            <a:pPr algn="ctr"/>
            <a:r>
              <a:rPr lang="en-US" altLang="zh-CN" sz="800" kern="100" dirty="0">
                <a:solidFill>
                  <a:srgbClr val="FF0000"/>
                </a:solidFill>
                <a:latin typeface="微软雅黑" panose="020B0503020204020204" charset="-122"/>
                <a:ea typeface="微软雅黑" panose="020B0503020204020204" charset="-122"/>
                <a:cs typeface="Times New Roman" panose="02020603050405020304"/>
              </a:rPr>
              <a:t>Do-operator</a:t>
            </a:r>
            <a:endParaRPr lang="zh-CN" altLang="en-US" sz="800" kern="100" dirty="0">
              <a:solidFill>
                <a:srgbClr val="FF0000"/>
              </a:solidFill>
              <a:latin typeface="微软雅黑" panose="020B0503020204020204" charset="-122"/>
              <a:ea typeface="微软雅黑" panose="020B0503020204020204" charset="-122"/>
              <a:cs typeface="Times New Roman" panose="02020603050405020304"/>
            </a:endParaRPr>
          </a:p>
        </p:txBody>
      </p:sp>
      <p:cxnSp>
        <p:nvCxnSpPr>
          <p:cNvPr id="125" name="连接符: 肘形 124">
            <a:extLst>
              <a:ext uri="{FF2B5EF4-FFF2-40B4-BE49-F238E27FC236}">
                <a16:creationId xmlns:a16="http://schemas.microsoft.com/office/drawing/2014/main" id="{75FB4682-941F-4018-B83D-A15ACBB339EA}"/>
              </a:ext>
            </a:extLst>
          </p:cNvPr>
          <p:cNvCxnSpPr>
            <a:stCxn id="63" idx="3"/>
            <a:endCxn id="121" idx="3"/>
          </p:cNvCxnSpPr>
          <p:nvPr/>
        </p:nvCxnSpPr>
        <p:spPr>
          <a:xfrm rot="10800000" flipV="1">
            <a:off x="10470959" y="4041751"/>
            <a:ext cx="4643" cy="641778"/>
          </a:xfrm>
          <a:prstGeom prst="bentConnector3">
            <a:avLst>
              <a:gd name="adj1" fmla="val 1923519"/>
            </a:avLst>
          </a:prstGeom>
          <a:ln w="12700">
            <a:headEnd type="triangle" w="sm" len="sm"/>
            <a:tailEnd type="triangle" w="sm" len="sm"/>
          </a:ln>
        </p:spPr>
        <p:style>
          <a:lnRef idx="1">
            <a:schemeClr val="dk1"/>
          </a:lnRef>
          <a:fillRef idx="0">
            <a:schemeClr val="dk1"/>
          </a:fillRef>
          <a:effectRef idx="0">
            <a:schemeClr val="dk1"/>
          </a:effectRef>
          <a:fontRef idx="minor">
            <a:schemeClr val="tx1"/>
          </a:fontRef>
        </p:style>
      </p:cxnSp>
      <p:sp>
        <p:nvSpPr>
          <p:cNvPr id="126" name="文本框 125">
            <a:extLst>
              <a:ext uri="{FF2B5EF4-FFF2-40B4-BE49-F238E27FC236}">
                <a16:creationId xmlns:a16="http://schemas.microsoft.com/office/drawing/2014/main" id="{2ECDC3B3-70B9-4E9D-B2B9-A95F4D7F84D6}"/>
              </a:ext>
            </a:extLst>
          </p:cNvPr>
          <p:cNvSpPr txBox="1"/>
          <p:nvPr/>
        </p:nvSpPr>
        <p:spPr>
          <a:xfrm>
            <a:off x="10453357" y="3926335"/>
            <a:ext cx="1108192" cy="230832"/>
          </a:xfrm>
          <a:prstGeom prst="rect">
            <a:avLst/>
          </a:prstGeom>
          <a:noFill/>
        </p:spPr>
        <p:txBody>
          <a:bodyPr wrap="square">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单变量反事实干预</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grpSp>
        <p:nvGrpSpPr>
          <p:cNvPr id="127" name="组合 126">
            <a:extLst>
              <a:ext uri="{FF2B5EF4-FFF2-40B4-BE49-F238E27FC236}">
                <a16:creationId xmlns:a16="http://schemas.microsoft.com/office/drawing/2014/main" id="{32AA8ED9-C692-4935-A675-29463A2F1583}"/>
              </a:ext>
            </a:extLst>
          </p:cNvPr>
          <p:cNvGrpSpPr/>
          <p:nvPr/>
        </p:nvGrpSpPr>
        <p:grpSpPr>
          <a:xfrm>
            <a:off x="6329158" y="5251618"/>
            <a:ext cx="1581574" cy="256708"/>
            <a:chOff x="1080313" y="3812571"/>
            <a:chExt cx="1581574" cy="256708"/>
          </a:xfrm>
        </p:grpSpPr>
        <p:sp>
          <p:nvSpPr>
            <p:cNvPr id="128" name="矩形 127">
              <a:extLst>
                <a:ext uri="{FF2B5EF4-FFF2-40B4-BE49-F238E27FC236}">
                  <a16:creationId xmlns:a16="http://schemas.microsoft.com/office/drawing/2014/main" id="{B42688BB-A367-4F90-9E56-0D67F3E09F6E}"/>
                </a:ext>
              </a:extLst>
            </p:cNvPr>
            <p:cNvSpPr/>
            <p:nvPr/>
          </p:nvSpPr>
          <p:spPr>
            <a:xfrm>
              <a:off x="1080313" y="3812571"/>
              <a:ext cx="1581574" cy="256708"/>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矩形: 圆角 128">
              <a:extLst>
                <a:ext uri="{FF2B5EF4-FFF2-40B4-BE49-F238E27FC236}">
                  <a16:creationId xmlns:a16="http://schemas.microsoft.com/office/drawing/2014/main" id="{21E05906-7E0C-4D55-898E-87C81C2744D9}"/>
                </a:ext>
              </a:extLst>
            </p:cNvPr>
            <p:cNvSpPr/>
            <p:nvPr/>
          </p:nvSpPr>
          <p:spPr>
            <a:xfrm>
              <a:off x="1080313" y="3849623"/>
              <a:ext cx="1581574" cy="182604"/>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事故责任认知情景构建</a:t>
              </a:r>
            </a:p>
          </p:txBody>
        </p:sp>
      </p:grpSp>
      <p:grpSp>
        <p:nvGrpSpPr>
          <p:cNvPr id="130" name="组合 129">
            <a:extLst>
              <a:ext uri="{FF2B5EF4-FFF2-40B4-BE49-F238E27FC236}">
                <a16:creationId xmlns:a16="http://schemas.microsoft.com/office/drawing/2014/main" id="{1D1FC0A6-2A78-4711-A1E5-78C54428783F}"/>
              </a:ext>
            </a:extLst>
          </p:cNvPr>
          <p:cNvGrpSpPr/>
          <p:nvPr/>
        </p:nvGrpSpPr>
        <p:grpSpPr>
          <a:xfrm>
            <a:off x="7482826" y="5626796"/>
            <a:ext cx="502239" cy="662290"/>
            <a:chOff x="2241645" y="6917041"/>
            <a:chExt cx="502239" cy="662290"/>
          </a:xfrm>
        </p:grpSpPr>
        <p:sp>
          <p:nvSpPr>
            <p:cNvPr id="131" name="圆角矩形 68">
              <a:extLst>
                <a:ext uri="{FF2B5EF4-FFF2-40B4-BE49-F238E27FC236}">
                  <a16:creationId xmlns:a16="http://schemas.microsoft.com/office/drawing/2014/main" id="{77C1CA68-F882-4190-9DF6-96B493AC73FE}"/>
                </a:ext>
              </a:extLst>
            </p:cNvPr>
            <p:cNvSpPr/>
            <p:nvPr/>
          </p:nvSpPr>
          <p:spPr>
            <a:xfrm>
              <a:off x="2312990" y="6917041"/>
              <a:ext cx="359548" cy="66229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32" name="文本框 131">
              <a:extLst>
                <a:ext uri="{FF2B5EF4-FFF2-40B4-BE49-F238E27FC236}">
                  <a16:creationId xmlns:a16="http://schemas.microsoft.com/office/drawing/2014/main" id="{45DC9667-8B0E-4917-A9AA-C5427BEFFBD3}"/>
                </a:ext>
              </a:extLst>
            </p:cNvPr>
            <p:cNvSpPr txBox="1"/>
            <p:nvPr/>
          </p:nvSpPr>
          <p:spPr>
            <a:xfrm>
              <a:off x="2241645" y="6994271"/>
              <a:ext cx="502239" cy="507831"/>
            </a:xfrm>
            <a:prstGeom prst="rect">
              <a:avLst/>
            </a:prstGeom>
            <a:noFill/>
          </p:spPr>
          <p:txBody>
            <a:bodyPr wrap="square">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问卷情景设计</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grpSp>
      <p:sp>
        <p:nvSpPr>
          <p:cNvPr id="133" name="加号 132">
            <a:extLst>
              <a:ext uri="{FF2B5EF4-FFF2-40B4-BE49-F238E27FC236}">
                <a16:creationId xmlns:a16="http://schemas.microsoft.com/office/drawing/2014/main" id="{8D9E5047-441C-429F-8440-A46E4ADF2D14}"/>
              </a:ext>
            </a:extLst>
          </p:cNvPr>
          <p:cNvSpPr/>
          <p:nvPr/>
        </p:nvSpPr>
        <p:spPr>
          <a:xfrm>
            <a:off x="6715657" y="5854371"/>
            <a:ext cx="195263" cy="207140"/>
          </a:xfrm>
          <a:prstGeom prst="mathPlus">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134" name="箭头: 右 133">
            <a:extLst>
              <a:ext uri="{FF2B5EF4-FFF2-40B4-BE49-F238E27FC236}">
                <a16:creationId xmlns:a16="http://schemas.microsoft.com/office/drawing/2014/main" id="{735CD4AE-36BB-410B-9E08-FB260DFBE515}"/>
              </a:ext>
            </a:extLst>
          </p:cNvPr>
          <p:cNvSpPr/>
          <p:nvPr/>
        </p:nvSpPr>
        <p:spPr>
          <a:xfrm>
            <a:off x="7334785" y="5860151"/>
            <a:ext cx="190297" cy="195580"/>
          </a:xfrm>
          <a:prstGeom prst="rightArrow">
            <a:avLst/>
          </a:prstGeom>
          <a:solidFill>
            <a:srgbClr val="C5E0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grpSp>
        <p:nvGrpSpPr>
          <p:cNvPr id="135" name="组合 134">
            <a:extLst>
              <a:ext uri="{FF2B5EF4-FFF2-40B4-BE49-F238E27FC236}">
                <a16:creationId xmlns:a16="http://schemas.microsoft.com/office/drawing/2014/main" id="{01B38827-8DB1-49D0-B6AD-0410B37E989D}"/>
              </a:ext>
            </a:extLst>
          </p:cNvPr>
          <p:cNvGrpSpPr/>
          <p:nvPr/>
        </p:nvGrpSpPr>
        <p:grpSpPr>
          <a:xfrm>
            <a:off x="8184859" y="5251618"/>
            <a:ext cx="1756810" cy="256708"/>
            <a:chOff x="1080313" y="3812571"/>
            <a:chExt cx="1581574" cy="256708"/>
          </a:xfrm>
        </p:grpSpPr>
        <p:sp>
          <p:nvSpPr>
            <p:cNvPr id="136" name="矩形 135">
              <a:extLst>
                <a:ext uri="{FF2B5EF4-FFF2-40B4-BE49-F238E27FC236}">
                  <a16:creationId xmlns:a16="http://schemas.microsoft.com/office/drawing/2014/main" id="{D396C589-7A1B-40DD-9BE1-15D14C609191}"/>
                </a:ext>
              </a:extLst>
            </p:cNvPr>
            <p:cNvSpPr/>
            <p:nvPr/>
          </p:nvSpPr>
          <p:spPr>
            <a:xfrm>
              <a:off x="1080313" y="3812571"/>
              <a:ext cx="1581574" cy="256708"/>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圆角 136">
              <a:extLst>
                <a:ext uri="{FF2B5EF4-FFF2-40B4-BE49-F238E27FC236}">
                  <a16:creationId xmlns:a16="http://schemas.microsoft.com/office/drawing/2014/main" id="{C8BCDA24-79D2-4A58-B39A-F481C5C33635}"/>
                </a:ext>
              </a:extLst>
            </p:cNvPr>
            <p:cNvSpPr/>
            <p:nvPr/>
          </p:nvSpPr>
          <p:spPr>
            <a:xfrm>
              <a:off x="1080313" y="3849623"/>
              <a:ext cx="1581574" cy="182604"/>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责任划分机制建模</a:t>
              </a:r>
            </a:p>
          </p:txBody>
        </p:sp>
      </p:grpSp>
      <p:grpSp>
        <p:nvGrpSpPr>
          <p:cNvPr id="138" name="组合 137">
            <a:extLst>
              <a:ext uri="{FF2B5EF4-FFF2-40B4-BE49-F238E27FC236}">
                <a16:creationId xmlns:a16="http://schemas.microsoft.com/office/drawing/2014/main" id="{0ADF0A09-D223-459E-BA09-B3B5F7125EF8}"/>
              </a:ext>
            </a:extLst>
          </p:cNvPr>
          <p:cNvGrpSpPr/>
          <p:nvPr/>
        </p:nvGrpSpPr>
        <p:grpSpPr>
          <a:xfrm>
            <a:off x="10215796" y="5251618"/>
            <a:ext cx="1338842" cy="256708"/>
            <a:chOff x="1080313" y="3812571"/>
            <a:chExt cx="1581574" cy="256708"/>
          </a:xfrm>
        </p:grpSpPr>
        <p:sp>
          <p:nvSpPr>
            <p:cNvPr id="139" name="矩形 138">
              <a:extLst>
                <a:ext uri="{FF2B5EF4-FFF2-40B4-BE49-F238E27FC236}">
                  <a16:creationId xmlns:a16="http://schemas.microsoft.com/office/drawing/2014/main" id="{E2B976EA-F202-4A77-985F-4413D1C435E1}"/>
                </a:ext>
              </a:extLst>
            </p:cNvPr>
            <p:cNvSpPr/>
            <p:nvPr/>
          </p:nvSpPr>
          <p:spPr>
            <a:xfrm>
              <a:off x="1080313" y="3812571"/>
              <a:ext cx="1581574" cy="256708"/>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圆角 139">
              <a:extLst>
                <a:ext uri="{FF2B5EF4-FFF2-40B4-BE49-F238E27FC236}">
                  <a16:creationId xmlns:a16="http://schemas.microsoft.com/office/drawing/2014/main" id="{74FB123D-0F57-4B2F-87BE-569D2BEBE525}"/>
                </a:ext>
              </a:extLst>
            </p:cNvPr>
            <p:cNvSpPr/>
            <p:nvPr/>
          </p:nvSpPr>
          <p:spPr>
            <a:xfrm>
              <a:off x="1080313" y="3849623"/>
              <a:ext cx="1581574" cy="182604"/>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责任划分异质性解析</a:t>
              </a:r>
            </a:p>
          </p:txBody>
        </p:sp>
      </p:grpSp>
      <p:sp>
        <p:nvSpPr>
          <p:cNvPr id="141" name="圆角矩形 68">
            <a:extLst>
              <a:ext uri="{FF2B5EF4-FFF2-40B4-BE49-F238E27FC236}">
                <a16:creationId xmlns:a16="http://schemas.microsoft.com/office/drawing/2014/main" id="{F5B55C87-A176-44EA-AE4E-A72889BBD9C0}"/>
              </a:ext>
            </a:extLst>
          </p:cNvPr>
          <p:cNvSpPr/>
          <p:nvPr/>
        </p:nvSpPr>
        <p:spPr>
          <a:xfrm>
            <a:off x="6327274" y="5629226"/>
            <a:ext cx="357825" cy="65743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grpSp>
        <p:nvGrpSpPr>
          <p:cNvPr id="142" name="组合 141">
            <a:extLst>
              <a:ext uri="{FF2B5EF4-FFF2-40B4-BE49-F238E27FC236}">
                <a16:creationId xmlns:a16="http://schemas.microsoft.com/office/drawing/2014/main" id="{72BF5BD1-9394-4C68-BDD1-05A0B05F6B36}"/>
              </a:ext>
            </a:extLst>
          </p:cNvPr>
          <p:cNvGrpSpPr/>
          <p:nvPr/>
        </p:nvGrpSpPr>
        <p:grpSpPr>
          <a:xfrm>
            <a:off x="6865456" y="5626796"/>
            <a:ext cx="503265" cy="662290"/>
            <a:chOff x="1616611" y="6917041"/>
            <a:chExt cx="503265" cy="662290"/>
          </a:xfrm>
        </p:grpSpPr>
        <p:sp>
          <p:nvSpPr>
            <p:cNvPr id="143" name="圆角矩形 68">
              <a:extLst>
                <a:ext uri="{FF2B5EF4-FFF2-40B4-BE49-F238E27FC236}">
                  <a16:creationId xmlns:a16="http://schemas.microsoft.com/office/drawing/2014/main" id="{C6D03979-3FBE-483C-8589-747AF556D3BB}"/>
                </a:ext>
              </a:extLst>
            </p:cNvPr>
            <p:cNvSpPr/>
            <p:nvPr/>
          </p:nvSpPr>
          <p:spPr>
            <a:xfrm>
              <a:off x="1686882" y="6917041"/>
              <a:ext cx="359548" cy="662290"/>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44" name="文本框 143">
              <a:extLst>
                <a:ext uri="{FF2B5EF4-FFF2-40B4-BE49-F238E27FC236}">
                  <a16:creationId xmlns:a16="http://schemas.microsoft.com/office/drawing/2014/main" id="{2AA9E924-BDEE-42B3-91FE-87FFB46E4308}"/>
                </a:ext>
              </a:extLst>
            </p:cNvPr>
            <p:cNvSpPr txBox="1"/>
            <p:nvPr/>
          </p:nvSpPr>
          <p:spPr>
            <a:xfrm>
              <a:off x="1616611" y="6923698"/>
              <a:ext cx="503265" cy="646331"/>
            </a:xfrm>
            <a:prstGeom prst="rect">
              <a:avLst/>
            </a:prstGeom>
            <a:noFill/>
          </p:spPr>
          <p:txBody>
            <a:bodyPr wrap="square">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主导风险因素植入</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grpSp>
      <p:grpSp>
        <p:nvGrpSpPr>
          <p:cNvPr id="145" name="组合 144">
            <a:extLst>
              <a:ext uri="{FF2B5EF4-FFF2-40B4-BE49-F238E27FC236}">
                <a16:creationId xmlns:a16="http://schemas.microsoft.com/office/drawing/2014/main" id="{07E8FDF9-73E8-41AB-8173-C946563C971F}"/>
              </a:ext>
            </a:extLst>
          </p:cNvPr>
          <p:cNvGrpSpPr/>
          <p:nvPr/>
        </p:nvGrpSpPr>
        <p:grpSpPr>
          <a:xfrm>
            <a:off x="8149404" y="5623138"/>
            <a:ext cx="616869" cy="180715"/>
            <a:chOff x="3400956" y="3937253"/>
            <a:chExt cx="218647" cy="753292"/>
          </a:xfrm>
        </p:grpSpPr>
        <p:sp>
          <p:nvSpPr>
            <p:cNvPr id="146" name="矩形 145">
              <a:extLst>
                <a:ext uri="{FF2B5EF4-FFF2-40B4-BE49-F238E27FC236}">
                  <a16:creationId xmlns:a16="http://schemas.microsoft.com/office/drawing/2014/main" id="{7594A22F-8AF6-4947-BDC0-93A20D82EE59}"/>
                </a:ext>
              </a:extLst>
            </p:cNvPr>
            <p:cNvSpPr/>
            <p:nvPr/>
          </p:nvSpPr>
          <p:spPr>
            <a:xfrm>
              <a:off x="3412364" y="3937253"/>
              <a:ext cx="196853" cy="753292"/>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圆角 146">
              <a:extLst>
                <a:ext uri="{FF2B5EF4-FFF2-40B4-BE49-F238E27FC236}">
                  <a16:creationId xmlns:a16="http://schemas.microsoft.com/office/drawing/2014/main" id="{90A7486D-6FC2-40D4-98EE-747ED3D44EB2}"/>
                </a:ext>
              </a:extLst>
            </p:cNvPr>
            <p:cNvSpPr/>
            <p:nvPr/>
          </p:nvSpPr>
          <p:spPr>
            <a:xfrm>
              <a:off x="3400956" y="4045981"/>
              <a:ext cx="218647" cy="535839"/>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显变量</a:t>
              </a:r>
            </a:p>
          </p:txBody>
        </p:sp>
      </p:grpSp>
      <p:sp>
        <p:nvSpPr>
          <p:cNvPr id="148" name="圆角矩形 68">
            <a:extLst>
              <a:ext uri="{FF2B5EF4-FFF2-40B4-BE49-F238E27FC236}">
                <a16:creationId xmlns:a16="http://schemas.microsoft.com/office/drawing/2014/main" id="{F388FE91-C8B4-4294-871D-B35105228934}"/>
              </a:ext>
            </a:extLst>
          </p:cNvPr>
          <p:cNvSpPr/>
          <p:nvPr/>
        </p:nvSpPr>
        <p:spPr>
          <a:xfrm>
            <a:off x="8877518" y="5801119"/>
            <a:ext cx="555381" cy="483108"/>
          </a:xfrm>
          <a:prstGeom prst="rect">
            <a:avLst/>
          </a:prstGeom>
          <a:solidFill>
            <a:schemeClr val="accent6">
              <a:lumMod val="20000"/>
              <a:lumOff val="80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技术认知</a:t>
            </a:r>
            <a:endParaRPr lang="en-US" altLang="zh-CN"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归责意识</a:t>
            </a:r>
            <a:endParaRPr lang="en-US" altLang="zh-CN"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保险意识</a:t>
            </a:r>
            <a:endParaRPr lang="en-US" altLang="zh-CN"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等</a:t>
            </a:r>
            <a:endParaRPr lang="en-US" altLang="zh-CN" sz="7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grpSp>
        <p:nvGrpSpPr>
          <p:cNvPr id="149" name="组合 148">
            <a:extLst>
              <a:ext uri="{FF2B5EF4-FFF2-40B4-BE49-F238E27FC236}">
                <a16:creationId xmlns:a16="http://schemas.microsoft.com/office/drawing/2014/main" id="{551118F6-0626-4580-9E92-BC9CCE8D6D4C}"/>
              </a:ext>
            </a:extLst>
          </p:cNvPr>
          <p:cNvGrpSpPr/>
          <p:nvPr/>
        </p:nvGrpSpPr>
        <p:grpSpPr>
          <a:xfrm>
            <a:off x="8844043" y="5623138"/>
            <a:ext cx="616869" cy="180715"/>
            <a:chOff x="3400956" y="3937253"/>
            <a:chExt cx="218647" cy="753292"/>
          </a:xfrm>
        </p:grpSpPr>
        <p:sp>
          <p:nvSpPr>
            <p:cNvPr id="150" name="矩形 149">
              <a:extLst>
                <a:ext uri="{FF2B5EF4-FFF2-40B4-BE49-F238E27FC236}">
                  <a16:creationId xmlns:a16="http://schemas.microsoft.com/office/drawing/2014/main" id="{B8050BDA-8F72-4F5F-8351-AF60C838062F}"/>
                </a:ext>
              </a:extLst>
            </p:cNvPr>
            <p:cNvSpPr/>
            <p:nvPr/>
          </p:nvSpPr>
          <p:spPr>
            <a:xfrm>
              <a:off x="3412364" y="3937253"/>
              <a:ext cx="196853" cy="753292"/>
            </a:xfrm>
            <a:prstGeom prst="rect">
              <a:avLst/>
            </a:prstGeom>
            <a:solidFill>
              <a:srgbClr val="E2F0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圆角 150">
              <a:extLst>
                <a:ext uri="{FF2B5EF4-FFF2-40B4-BE49-F238E27FC236}">
                  <a16:creationId xmlns:a16="http://schemas.microsoft.com/office/drawing/2014/main" id="{8A8DA2D6-8F4B-4A77-A833-5A5C0179A26E}"/>
                </a:ext>
              </a:extLst>
            </p:cNvPr>
            <p:cNvSpPr/>
            <p:nvPr/>
          </p:nvSpPr>
          <p:spPr>
            <a:xfrm>
              <a:off x="3400956" y="4045981"/>
              <a:ext cx="218647" cy="535839"/>
            </a:xfrm>
            <a:prstGeom prst="roundRect">
              <a:avLst>
                <a:gd name="adj" fmla="val 10309"/>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90000"/>
                </a:lnSpc>
              </a:pPr>
              <a:r>
                <a:rPr lang="zh-CN" altLang="en-US" sz="900" kern="100" dirty="0">
                  <a:solidFill>
                    <a:srgbClr val="000000"/>
                  </a:solidFill>
                  <a:latin typeface="微软雅黑" panose="020B0503020204020204" charset="-122"/>
                  <a:ea typeface="微软雅黑" panose="020B0503020204020204" charset="-122"/>
                  <a:cs typeface="Times New Roman" panose="02020603050405020304"/>
                </a:rPr>
                <a:t>潜变量</a:t>
              </a:r>
            </a:p>
          </p:txBody>
        </p:sp>
      </p:grpSp>
      <p:sp>
        <p:nvSpPr>
          <p:cNvPr id="152" name="圆角矩形 68">
            <a:extLst>
              <a:ext uri="{FF2B5EF4-FFF2-40B4-BE49-F238E27FC236}">
                <a16:creationId xmlns:a16="http://schemas.microsoft.com/office/drawing/2014/main" id="{311204CE-4F47-4AAB-AC22-C8201E4E55E1}"/>
              </a:ext>
            </a:extLst>
          </p:cNvPr>
          <p:cNvSpPr/>
          <p:nvPr/>
        </p:nvSpPr>
        <p:spPr>
          <a:xfrm>
            <a:off x="9709539" y="5617027"/>
            <a:ext cx="227126" cy="675936"/>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53" name="文本框 152">
            <a:extLst>
              <a:ext uri="{FF2B5EF4-FFF2-40B4-BE49-F238E27FC236}">
                <a16:creationId xmlns:a16="http://schemas.microsoft.com/office/drawing/2014/main" id="{C7BC9ABA-F28F-43F3-AC39-6F96BBB4CACE}"/>
              </a:ext>
            </a:extLst>
          </p:cNvPr>
          <p:cNvSpPr txBox="1"/>
          <p:nvPr/>
        </p:nvSpPr>
        <p:spPr>
          <a:xfrm>
            <a:off x="9702296" y="5631829"/>
            <a:ext cx="241613" cy="646332"/>
          </a:xfrm>
          <a:prstGeom prst="rect">
            <a:avLst/>
          </a:prstGeom>
          <a:noFill/>
        </p:spPr>
        <p:txBody>
          <a:bodyPr wrap="square">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责任划分</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54" name="加号 153">
            <a:extLst>
              <a:ext uri="{FF2B5EF4-FFF2-40B4-BE49-F238E27FC236}">
                <a16:creationId xmlns:a16="http://schemas.microsoft.com/office/drawing/2014/main" id="{AF91AD0F-8F9D-43EF-8E39-EBC7D1177521}"/>
              </a:ext>
            </a:extLst>
          </p:cNvPr>
          <p:cNvSpPr/>
          <p:nvPr/>
        </p:nvSpPr>
        <p:spPr>
          <a:xfrm>
            <a:off x="8753071" y="5901098"/>
            <a:ext cx="109054" cy="108000"/>
          </a:xfrm>
          <a:prstGeom prst="mathPlus">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cxnSp>
        <p:nvCxnSpPr>
          <p:cNvPr id="155" name="直接箭头连接符 154">
            <a:extLst>
              <a:ext uri="{FF2B5EF4-FFF2-40B4-BE49-F238E27FC236}">
                <a16:creationId xmlns:a16="http://schemas.microsoft.com/office/drawing/2014/main" id="{C64349E0-D016-4B4D-B30B-2E9427F26834}"/>
              </a:ext>
            </a:extLst>
          </p:cNvPr>
          <p:cNvCxnSpPr>
            <a:cxnSpLocks/>
          </p:cNvCxnSpPr>
          <p:nvPr/>
        </p:nvCxnSpPr>
        <p:spPr>
          <a:xfrm flipV="1">
            <a:off x="9450571" y="5951561"/>
            <a:ext cx="252000" cy="293"/>
          </a:xfrm>
          <a:prstGeom prst="straightConnector1">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156" name="文本框 155">
            <a:extLst>
              <a:ext uri="{FF2B5EF4-FFF2-40B4-BE49-F238E27FC236}">
                <a16:creationId xmlns:a16="http://schemas.microsoft.com/office/drawing/2014/main" id="{C4302DE2-7AAB-4053-A11F-D99D31B5C831}"/>
              </a:ext>
            </a:extLst>
          </p:cNvPr>
          <p:cNvSpPr txBox="1"/>
          <p:nvPr/>
        </p:nvSpPr>
        <p:spPr>
          <a:xfrm>
            <a:off x="9364661" y="5761643"/>
            <a:ext cx="408248" cy="230832"/>
          </a:xfrm>
          <a:prstGeom prst="rect">
            <a:avLst/>
          </a:prstGeom>
          <a:noFill/>
        </p:spPr>
        <p:txBody>
          <a:bodyPr wrap="square">
            <a:spAutoFit/>
          </a:bodyPr>
          <a:lstStyle/>
          <a:p>
            <a:pPr algn="ctr"/>
            <a:r>
              <a:rPr lang="en-US" altLang="zh-CN" sz="900" dirty="0">
                <a:solidFill>
                  <a:srgbClr val="FF0000"/>
                </a:solidFill>
              </a:rPr>
              <a:t>ICLV</a:t>
            </a:r>
            <a:endParaRPr lang="zh-CN" altLang="en-US" sz="900" dirty="0">
              <a:solidFill>
                <a:srgbClr val="FF0000"/>
              </a:solidFill>
            </a:endParaRPr>
          </a:p>
        </p:txBody>
      </p:sp>
      <p:sp>
        <p:nvSpPr>
          <p:cNvPr id="157" name="圆角矩形 68">
            <a:extLst>
              <a:ext uri="{FF2B5EF4-FFF2-40B4-BE49-F238E27FC236}">
                <a16:creationId xmlns:a16="http://schemas.microsoft.com/office/drawing/2014/main" id="{C3775983-6F4D-4CE5-A82C-28961E398069}"/>
              </a:ext>
            </a:extLst>
          </p:cNvPr>
          <p:cNvSpPr/>
          <p:nvPr/>
        </p:nvSpPr>
        <p:spPr>
          <a:xfrm>
            <a:off x="10214265" y="5615296"/>
            <a:ext cx="402333" cy="680104"/>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58" name="文本框 157">
            <a:extLst>
              <a:ext uri="{FF2B5EF4-FFF2-40B4-BE49-F238E27FC236}">
                <a16:creationId xmlns:a16="http://schemas.microsoft.com/office/drawing/2014/main" id="{35EFC879-2E90-4833-9BEC-5B13CC80425A}"/>
              </a:ext>
            </a:extLst>
          </p:cNvPr>
          <p:cNvSpPr txBox="1"/>
          <p:nvPr/>
        </p:nvSpPr>
        <p:spPr>
          <a:xfrm>
            <a:off x="10199650" y="5701433"/>
            <a:ext cx="431563" cy="507831"/>
          </a:xfrm>
          <a:prstGeom prst="rect">
            <a:avLst/>
          </a:prstGeom>
          <a:noFill/>
        </p:spPr>
        <p:txBody>
          <a:bodyPr wrap="square" anchor="ctr">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主导因素差异</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59" name="圆角矩形 68">
            <a:extLst>
              <a:ext uri="{FF2B5EF4-FFF2-40B4-BE49-F238E27FC236}">
                <a16:creationId xmlns:a16="http://schemas.microsoft.com/office/drawing/2014/main" id="{A2966C0F-3ECB-456B-BD66-444FF3FB7676}"/>
              </a:ext>
            </a:extLst>
          </p:cNvPr>
          <p:cNvSpPr/>
          <p:nvPr/>
        </p:nvSpPr>
        <p:spPr>
          <a:xfrm>
            <a:off x="10686591" y="5615296"/>
            <a:ext cx="402333" cy="680104"/>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60" name="文本框 159">
            <a:extLst>
              <a:ext uri="{FF2B5EF4-FFF2-40B4-BE49-F238E27FC236}">
                <a16:creationId xmlns:a16="http://schemas.microsoft.com/office/drawing/2014/main" id="{5405E68D-F1A0-4FE4-AA38-2C3E3F3780C7}"/>
              </a:ext>
            </a:extLst>
          </p:cNvPr>
          <p:cNvSpPr txBox="1"/>
          <p:nvPr/>
        </p:nvSpPr>
        <p:spPr>
          <a:xfrm>
            <a:off x="10671976" y="5770682"/>
            <a:ext cx="431563" cy="369332"/>
          </a:xfrm>
          <a:prstGeom prst="rect">
            <a:avLst/>
          </a:prstGeom>
          <a:noFill/>
        </p:spPr>
        <p:txBody>
          <a:bodyPr wrap="square" anchor="ctr">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场景差异</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61" name="圆角矩形 68">
            <a:extLst>
              <a:ext uri="{FF2B5EF4-FFF2-40B4-BE49-F238E27FC236}">
                <a16:creationId xmlns:a16="http://schemas.microsoft.com/office/drawing/2014/main" id="{BC1C8130-238A-41B2-8766-DF8BECE64D4F}"/>
              </a:ext>
            </a:extLst>
          </p:cNvPr>
          <p:cNvSpPr/>
          <p:nvPr/>
        </p:nvSpPr>
        <p:spPr>
          <a:xfrm>
            <a:off x="11158918" y="5618871"/>
            <a:ext cx="402333" cy="672955"/>
          </a:xfrm>
          <a:prstGeom prst="roundRect">
            <a:avLst>
              <a:gd name="adj" fmla="val 24526"/>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62" name="文本框 161">
            <a:extLst>
              <a:ext uri="{FF2B5EF4-FFF2-40B4-BE49-F238E27FC236}">
                <a16:creationId xmlns:a16="http://schemas.microsoft.com/office/drawing/2014/main" id="{9FE8E93F-6411-41F0-A3A1-1F39EDEED9B1}"/>
              </a:ext>
            </a:extLst>
          </p:cNvPr>
          <p:cNvSpPr txBox="1"/>
          <p:nvPr/>
        </p:nvSpPr>
        <p:spPr>
          <a:xfrm>
            <a:off x="11139843" y="5701433"/>
            <a:ext cx="431563" cy="507831"/>
          </a:xfrm>
          <a:prstGeom prst="rect">
            <a:avLst/>
          </a:prstGeom>
          <a:noFill/>
        </p:spPr>
        <p:txBody>
          <a:bodyPr wrap="square" anchor="ctr">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受访者差异</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63" name="箭头: 右 162">
            <a:extLst>
              <a:ext uri="{FF2B5EF4-FFF2-40B4-BE49-F238E27FC236}">
                <a16:creationId xmlns:a16="http://schemas.microsoft.com/office/drawing/2014/main" id="{E3D84143-1656-4323-AD10-B5AC68E5DACD}"/>
              </a:ext>
            </a:extLst>
          </p:cNvPr>
          <p:cNvSpPr/>
          <p:nvPr/>
        </p:nvSpPr>
        <p:spPr>
          <a:xfrm>
            <a:off x="7965797" y="5292544"/>
            <a:ext cx="190297" cy="195580"/>
          </a:xfrm>
          <a:prstGeom prst="rightArrow">
            <a:avLst/>
          </a:prstGeom>
          <a:solidFill>
            <a:srgbClr val="C5E0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sp>
        <p:nvSpPr>
          <p:cNvPr id="164" name="箭头: 右 163">
            <a:extLst>
              <a:ext uri="{FF2B5EF4-FFF2-40B4-BE49-F238E27FC236}">
                <a16:creationId xmlns:a16="http://schemas.microsoft.com/office/drawing/2014/main" id="{CAD37A97-DA45-4E89-A7A2-615CB2DF7395}"/>
              </a:ext>
            </a:extLst>
          </p:cNvPr>
          <p:cNvSpPr/>
          <p:nvPr/>
        </p:nvSpPr>
        <p:spPr>
          <a:xfrm>
            <a:off x="9994709" y="5290620"/>
            <a:ext cx="190297" cy="195580"/>
          </a:xfrm>
          <a:prstGeom prst="rightArrow">
            <a:avLst/>
          </a:prstGeom>
          <a:solidFill>
            <a:srgbClr val="C5E0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微软雅黑" panose="020B0503020204020204" charset="-122"/>
              <a:ea typeface="微软雅黑" panose="020B0503020204020204" charset="-122"/>
            </a:endParaRPr>
          </a:p>
        </p:txBody>
      </p:sp>
      <p:cxnSp>
        <p:nvCxnSpPr>
          <p:cNvPr id="165" name="连接符: 肘形 164">
            <a:extLst>
              <a:ext uri="{FF2B5EF4-FFF2-40B4-BE49-F238E27FC236}">
                <a16:creationId xmlns:a16="http://schemas.microsoft.com/office/drawing/2014/main" id="{83712856-36F8-4F6C-99BE-01BDF5E51066}"/>
              </a:ext>
            </a:extLst>
          </p:cNvPr>
          <p:cNvCxnSpPr>
            <a:cxnSpLocks/>
            <a:stCxn id="104" idx="1"/>
            <a:endCxn id="141" idx="1"/>
          </p:cNvCxnSpPr>
          <p:nvPr/>
        </p:nvCxnSpPr>
        <p:spPr>
          <a:xfrm rot="10800000" flipV="1">
            <a:off x="6327274" y="2483533"/>
            <a:ext cx="1884" cy="3474407"/>
          </a:xfrm>
          <a:prstGeom prst="bentConnector3">
            <a:avLst>
              <a:gd name="adj1" fmla="val 12233758"/>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166" name="文本框 165">
            <a:extLst>
              <a:ext uri="{FF2B5EF4-FFF2-40B4-BE49-F238E27FC236}">
                <a16:creationId xmlns:a16="http://schemas.microsoft.com/office/drawing/2014/main" id="{5D6958A0-8223-48A7-9AB1-54FBDC13378B}"/>
              </a:ext>
            </a:extLst>
          </p:cNvPr>
          <p:cNvSpPr txBox="1"/>
          <p:nvPr/>
        </p:nvSpPr>
        <p:spPr>
          <a:xfrm>
            <a:off x="6294104" y="5631119"/>
            <a:ext cx="432677" cy="646331"/>
          </a:xfrm>
          <a:prstGeom prst="rect">
            <a:avLst/>
          </a:prstGeom>
          <a:noFill/>
        </p:spPr>
        <p:txBody>
          <a:bodyPr wrap="square">
            <a:spAutoFit/>
          </a:bodyPr>
          <a:lstStyle/>
          <a:p>
            <a:pPr algn="ctr"/>
            <a:r>
              <a:rPr lang="zh-CN" altLang="en-US"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典型事故场景选取</a:t>
            </a:r>
            <a:endParaRPr lang="en-US" altLang="zh-CN" sz="90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cxnSp>
        <p:nvCxnSpPr>
          <p:cNvPr id="167" name="直接连接符 166">
            <a:extLst>
              <a:ext uri="{FF2B5EF4-FFF2-40B4-BE49-F238E27FC236}">
                <a16:creationId xmlns:a16="http://schemas.microsoft.com/office/drawing/2014/main" id="{69EBE5B0-35C0-449E-9053-E679C8F78A2F}"/>
              </a:ext>
            </a:extLst>
          </p:cNvPr>
          <p:cNvCxnSpPr/>
          <p:nvPr/>
        </p:nvCxnSpPr>
        <p:spPr>
          <a:xfrm>
            <a:off x="6225868" y="4939866"/>
            <a:ext cx="1796400" cy="0"/>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8" name="直接连接符 167">
            <a:extLst>
              <a:ext uri="{FF2B5EF4-FFF2-40B4-BE49-F238E27FC236}">
                <a16:creationId xmlns:a16="http://schemas.microsoft.com/office/drawing/2014/main" id="{913A0C20-E98D-44BA-90A9-C35F66D3CB42}"/>
              </a:ext>
            </a:extLst>
          </p:cNvPr>
          <p:cNvCxnSpPr>
            <a:cxnSpLocks/>
            <a:endCxn id="65" idx="2"/>
          </p:cNvCxnSpPr>
          <p:nvPr/>
        </p:nvCxnSpPr>
        <p:spPr>
          <a:xfrm flipV="1">
            <a:off x="8015941" y="4801254"/>
            <a:ext cx="0" cy="133091"/>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9" name="连接符: 肘形 168">
            <a:extLst>
              <a:ext uri="{FF2B5EF4-FFF2-40B4-BE49-F238E27FC236}">
                <a16:creationId xmlns:a16="http://schemas.microsoft.com/office/drawing/2014/main" id="{C12BB4BD-333F-487A-99B1-BDF85B395B39}"/>
              </a:ext>
            </a:extLst>
          </p:cNvPr>
          <p:cNvCxnSpPr>
            <a:cxnSpLocks/>
            <a:endCxn id="46" idx="0"/>
          </p:cNvCxnSpPr>
          <p:nvPr/>
        </p:nvCxnSpPr>
        <p:spPr>
          <a:xfrm>
            <a:off x="6096000" y="3824431"/>
            <a:ext cx="2424755" cy="256708"/>
          </a:xfrm>
          <a:prstGeom prst="bentConnector2">
            <a:avLst/>
          </a:prstGeom>
          <a:ln w="12700">
            <a:headEnd type="none"/>
            <a:tailEnd type="triangle" w="sm" len="sm"/>
          </a:ln>
        </p:spPr>
        <p:style>
          <a:lnRef idx="1">
            <a:schemeClr val="dk1"/>
          </a:lnRef>
          <a:fillRef idx="0">
            <a:schemeClr val="dk1"/>
          </a:fillRef>
          <a:effectRef idx="0">
            <a:schemeClr val="dk1"/>
          </a:effectRef>
          <a:fontRef idx="minor">
            <a:schemeClr val="tx1"/>
          </a:fontRef>
        </p:style>
      </p:cxnSp>
      <p:cxnSp>
        <p:nvCxnSpPr>
          <p:cNvPr id="170" name="直接连接符 169">
            <a:extLst>
              <a:ext uri="{FF2B5EF4-FFF2-40B4-BE49-F238E27FC236}">
                <a16:creationId xmlns:a16="http://schemas.microsoft.com/office/drawing/2014/main" id="{5891D55F-3EF1-4D23-9801-632B0A827510}"/>
              </a:ext>
            </a:extLst>
          </p:cNvPr>
          <p:cNvCxnSpPr/>
          <p:nvPr/>
        </p:nvCxnSpPr>
        <p:spPr>
          <a:xfrm>
            <a:off x="6229919" y="4934345"/>
            <a:ext cx="0" cy="630000"/>
          </a:xfrm>
          <a:prstGeom prst="line">
            <a:avLst/>
          </a:prstGeom>
          <a:ln w="127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1" name="连接符: 肘形 170">
            <a:extLst>
              <a:ext uri="{FF2B5EF4-FFF2-40B4-BE49-F238E27FC236}">
                <a16:creationId xmlns:a16="http://schemas.microsoft.com/office/drawing/2014/main" id="{D47F4EF9-6E08-44E5-AB68-101B19E60F45}"/>
              </a:ext>
            </a:extLst>
          </p:cNvPr>
          <p:cNvCxnSpPr>
            <a:cxnSpLocks/>
          </p:cNvCxnSpPr>
          <p:nvPr/>
        </p:nvCxnSpPr>
        <p:spPr>
          <a:xfrm>
            <a:off x="6228328" y="5558222"/>
            <a:ext cx="889200" cy="72000"/>
          </a:xfrm>
          <a:prstGeom prst="bentConnector2">
            <a:avLst/>
          </a:prstGeom>
          <a:ln w="12700">
            <a:headEnd type="none"/>
            <a:tailEnd type="triangle" w="sm" len="sm"/>
          </a:ln>
        </p:spPr>
        <p:style>
          <a:lnRef idx="1">
            <a:schemeClr val="dk1"/>
          </a:lnRef>
          <a:fillRef idx="0">
            <a:schemeClr val="dk1"/>
          </a:fillRef>
          <a:effectRef idx="0">
            <a:schemeClr val="dk1"/>
          </a:effectRef>
          <a:fontRef idx="minor">
            <a:schemeClr val="tx1"/>
          </a:fontRef>
        </p:style>
      </p:cxnSp>
      <p:sp>
        <p:nvSpPr>
          <p:cNvPr id="172" name="矩形: 圆角 171">
            <a:extLst>
              <a:ext uri="{FF2B5EF4-FFF2-40B4-BE49-F238E27FC236}">
                <a16:creationId xmlns:a16="http://schemas.microsoft.com/office/drawing/2014/main" id="{DBD4AE42-ED6D-4211-8620-861508A9957F}"/>
              </a:ext>
            </a:extLst>
          </p:cNvPr>
          <p:cNvSpPr/>
          <p:nvPr/>
        </p:nvSpPr>
        <p:spPr>
          <a:xfrm>
            <a:off x="538288" y="4893667"/>
            <a:ext cx="5372441" cy="263525"/>
          </a:xfrm>
          <a:prstGeom prst="roundRect">
            <a:avLst>
              <a:gd name="adj" fmla="val 19948"/>
            </a:avLst>
          </a:prstGeom>
          <a:solidFill>
            <a:schemeClr val="accent2">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anose="020B0503020204020204" charset="-122"/>
                <a:ea typeface="微软雅黑" panose="020B0503020204020204" charset="-122"/>
              </a:rPr>
              <a:t>自动驾驶车辆事故风险形成与责任划分机制总结展望</a:t>
            </a:r>
          </a:p>
        </p:txBody>
      </p:sp>
      <p:sp>
        <p:nvSpPr>
          <p:cNvPr id="175" name="矩形: 圆角 174">
            <a:extLst>
              <a:ext uri="{FF2B5EF4-FFF2-40B4-BE49-F238E27FC236}">
                <a16:creationId xmlns:a16="http://schemas.microsoft.com/office/drawing/2014/main" id="{E7D2836D-F291-4975-BD6F-CBE96B76E979}"/>
              </a:ext>
            </a:extLst>
          </p:cNvPr>
          <p:cNvSpPr/>
          <p:nvPr/>
        </p:nvSpPr>
        <p:spPr>
          <a:xfrm>
            <a:off x="538059" y="5247683"/>
            <a:ext cx="1257895" cy="197541"/>
          </a:xfrm>
          <a:prstGeom prst="roundRect">
            <a:avLst>
              <a:gd name="adj" fmla="val 10309"/>
            </a:avLst>
          </a:prstGeom>
          <a:solidFill>
            <a:schemeClr val="accent2">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结论</a:t>
            </a:r>
          </a:p>
        </p:txBody>
      </p:sp>
      <p:sp>
        <p:nvSpPr>
          <p:cNvPr id="176" name="矩形: 圆角 175">
            <a:extLst>
              <a:ext uri="{FF2B5EF4-FFF2-40B4-BE49-F238E27FC236}">
                <a16:creationId xmlns:a16="http://schemas.microsoft.com/office/drawing/2014/main" id="{C1589DCE-065B-4FC4-BBD7-8564424FA965}"/>
              </a:ext>
            </a:extLst>
          </p:cNvPr>
          <p:cNvSpPr/>
          <p:nvPr/>
        </p:nvSpPr>
        <p:spPr>
          <a:xfrm>
            <a:off x="2409339" y="5247683"/>
            <a:ext cx="1509125" cy="197541"/>
          </a:xfrm>
          <a:prstGeom prst="roundRect">
            <a:avLst>
              <a:gd name="adj" fmla="val 10309"/>
            </a:avLst>
          </a:prstGeom>
          <a:solidFill>
            <a:schemeClr val="accent2">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建议与启示</a:t>
            </a:r>
          </a:p>
        </p:txBody>
      </p:sp>
      <p:sp>
        <p:nvSpPr>
          <p:cNvPr id="177" name="矩形: 圆角 176">
            <a:extLst>
              <a:ext uri="{FF2B5EF4-FFF2-40B4-BE49-F238E27FC236}">
                <a16:creationId xmlns:a16="http://schemas.microsoft.com/office/drawing/2014/main" id="{04252872-2189-48AE-930B-6D41C304562B}"/>
              </a:ext>
            </a:extLst>
          </p:cNvPr>
          <p:cNvSpPr/>
          <p:nvPr/>
        </p:nvSpPr>
        <p:spPr>
          <a:xfrm>
            <a:off x="4494440" y="5247683"/>
            <a:ext cx="1416290" cy="197541"/>
          </a:xfrm>
          <a:prstGeom prst="roundRect">
            <a:avLst>
              <a:gd name="adj" fmla="val 10309"/>
            </a:avLst>
          </a:prstGeom>
          <a:solidFill>
            <a:schemeClr val="accent2">
              <a:lumMod val="20000"/>
              <a:lumOff val="8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kern="100" dirty="0">
                <a:solidFill>
                  <a:srgbClr val="000000"/>
                </a:solidFill>
                <a:latin typeface="微软雅黑" panose="020B0503020204020204" charset="-122"/>
                <a:ea typeface="微软雅黑" panose="020B0503020204020204" charset="-122"/>
                <a:cs typeface="Times New Roman" panose="02020603050405020304"/>
              </a:rPr>
              <a:t>研究展望</a:t>
            </a:r>
          </a:p>
        </p:txBody>
      </p:sp>
      <p:sp>
        <p:nvSpPr>
          <p:cNvPr id="178" name="矩形 177">
            <a:extLst>
              <a:ext uri="{FF2B5EF4-FFF2-40B4-BE49-F238E27FC236}">
                <a16:creationId xmlns:a16="http://schemas.microsoft.com/office/drawing/2014/main" id="{BE879BC4-1B11-4090-AD67-BF92D3FC1D8A}"/>
              </a:ext>
            </a:extLst>
          </p:cNvPr>
          <p:cNvSpPr/>
          <p:nvPr/>
        </p:nvSpPr>
        <p:spPr>
          <a:xfrm>
            <a:off x="538288" y="5445224"/>
            <a:ext cx="1255527" cy="802637"/>
          </a:xfrm>
          <a:prstGeom prst="rect">
            <a:avLst/>
          </a:prstGeom>
          <a:solidFill>
            <a:srgbClr val="FBE5D6"/>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900" kern="100">
              <a:solidFill>
                <a:srgbClr val="000000"/>
              </a:solidFill>
              <a:latin typeface="微软雅黑" panose="020B0503020204020204" charset="-122"/>
              <a:ea typeface="微软雅黑" panose="020B0503020204020204" charset="-122"/>
              <a:cs typeface="Times New Roman" panose="02020603050405020304"/>
            </a:endParaRPr>
          </a:p>
        </p:txBody>
      </p:sp>
      <p:sp>
        <p:nvSpPr>
          <p:cNvPr id="180" name="矩形 179">
            <a:extLst>
              <a:ext uri="{FF2B5EF4-FFF2-40B4-BE49-F238E27FC236}">
                <a16:creationId xmlns:a16="http://schemas.microsoft.com/office/drawing/2014/main" id="{334CF891-1433-4CCA-8B6B-347566DA2008}"/>
              </a:ext>
            </a:extLst>
          </p:cNvPr>
          <p:cNvSpPr/>
          <p:nvPr/>
        </p:nvSpPr>
        <p:spPr>
          <a:xfrm>
            <a:off x="2409339" y="5445224"/>
            <a:ext cx="1509123" cy="780591"/>
          </a:xfrm>
          <a:prstGeom prst="rect">
            <a:avLst/>
          </a:prstGeom>
          <a:solidFill>
            <a:srgbClr val="FBE5D6"/>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900" kern="100">
              <a:solidFill>
                <a:srgbClr val="000000"/>
              </a:solidFill>
              <a:latin typeface="微软雅黑" panose="020B0503020204020204" charset="-122"/>
              <a:ea typeface="微软雅黑" panose="020B0503020204020204" charset="-122"/>
              <a:cs typeface="Times New Roman" panose="02020603050405020304"/>
            </a:endParaRPr>
          </a:p>
        </p:txBody>
      </p:sp>
      <p:sp>
        <p:nvSpPr>
          <p:cNvPr id="182" name="矩形 181">
            <a:extLst>
              <a:ext uri="{FF2B5EF4-FFF2-40B4-BE49-F238E27FC236}">
                <a16:creationId xmlns:a16="http://schemas.microsoft.com/office/drawing/2014/main" id="{3779233F-EC40-4830-BB57-081872AB3DA4}"/>
              </a:ext>
            </a:extLst>
          </p:cNvPr>
          <p:cNvSpPr/>
          <p:nvPr/>
        </p:nvSpPr>
        <p:spPr>
          <a:xfrm>
            <a:off x="4497628" y="5444599"/>
            <a:ext cx="1412442" cy="780591"/>
          </a:xfrm>
          <a:prstGeom prst="rect">
            <a:avLst/>
          </a:prstGeom>
          <a:solidFill>
            <a:srgbClr val="FBE5D6"/>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900" kern="100">
              <a:solidFill>
                <a:srgbClr val="000000"/>
              </a:solidFill>
              <a:latin typeface="微软雅黑" panose="020B0503020204020204" charset="-122"/>
              <a:ea typeface="微软雅黑" panose="020B0503020204020204" charset="-122"/>
              <a:cs typeface="Times New Roman" panose="02020603050405020304"/>
            </a:endParaRPr>
          </a:p>
        </p:txBody>
      </p:sp>
      <p:sp>
        <p:nvSpPr>
          <p:cNvPr id="184" name="虚尾箭头 20">
            <a:extLst>
              <a:ext uri="{FF2B5EF4-FFF2-40B4-BE49-F238E27FC236}">
                <a16:creationId xmlns:a16="http://schemas.microsoft.com/office/drawing/2014/main" id="{ADF3109B-CC83-408F-867C-61F8241C5232}"/>
              </a:ext>
            </a:extLst>
          </p:cNvPr>
          <p:cNvSpPr/>
          <p:nvPr/>
        </p:nvSpPr>
        <p:spPr>
          <a:xfrm>
            <a:off x="1847528" y="5517288"/>
            <a:ext cx="494126" cy="504000"/>
          </a:xfrm>
          <a:prstGeom prst="stripedRightArrow">
            <a:avLst/>
          </a:prstGeom>
          <a:gradFill>
            <a:gsLst>
              <a:gs pos="0">
                <a:schemeClr val="accent1">
                  <a:lumMod val="5000"/>
                  <a:lumOff val="95000"/>
                </a:schemeClr>
              </a:gs>
              <a:gs pos="74000">
                <a:srgbClr val="C5E0B4"/>
              </a:gs>
              <a:gs pos="100000">
                <a:schemeClr val="accent1">
                  <a:lumMod val="30000"/>
                  <a:lumOff val="70000"/>
                </a:schemeClr>
              </a:gs>
            </a:gsLst>
            <a:lin ang="0" scaled="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虚尾箭头 20">
            <a:extLst>
              <a:ext uri="{FF2B5EF4-FFF2-40B4-BE49-F238E27FC236}">
                <a16:creationId xmlns:a16="http://schemas.microsoft.com/office/drawing/2014/main" id="{26B60715-95C7-461C-9651-6C20A61DFA5E}"/>
              </a:ext>
            </a:extLst>
          </p:cNvPr>
          <p:cNvSpPr/>
          <p:nvPr/>
        </p:nvSpPr>
        <p:spPr>
          <a:xfrm>
            <a:off x="3935760" y="5600905"/>
            <a:ext cx="494126" cy="504000"/>
          </a:xfrm>
          <a:prstGeom prst="stripedRightArrow">
            <a:avLst/>
          </a:prstGeom>
          <a:gradFill>
            <a:gsLst>
              <a:gs pos="0">
                <a:schemeClr val="accent1">
                  <a:lumMod val="5000"/>
                  <a:lumOff val="95000"/>
                </a:schemeClr>
              </a:gs>
              <a:gs pos="74000">
                <a:srgbClr val="C5E0B4"/>
              </a:gs>
              <a:gs pos="100000">
                <a:schemeClr val="accent1">
                  <a:lumMod val="30000"/>
                  <a:lumOff val="70000"/>
                </a:schemeClr>
              </a:gs>
            </a:gsLst>
            <a:lin ang="0" scaled="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a:extLst>
              <a:ext uri="{FF2B5EF4-FFF2-40B4-BE49-F238E27FC236}">
                <a16:creationId xmlns:a16="http://schemas.microsoft.com/office/drawing/2014/main" id="{E418B4ED-190C-4080-813F-B51CAF72E164}"/>
              </a:ext>
            </a:extLst>
          </p:cNvPr>
          <p:cNvSpPr txBox="1"/>
          <p:nvPr/>
        </p:nvSpPr>
        <p:spPr>
          <a:xfrm>
            <a:off x="407368" y="3951790"/>
            <a:ext cx="5373187" cy="701346"/>
          </a:xfrm>
          <a:prstGeom prst="rect">
            <a:avLst/>
          </a:prstGeom>
          <a:noFill/>
        </p:spPr>
        <p:txBody>
          <a:bodyPr wrap="square">
            <a:spAutoFit/>
          </a:bodyPr>
          <a:lstStyle/>
          <a:p>
            <a:pPr algn="just">
              <a:lnSpc>
                <a:spcPct val="130000"/>
              </a:lnSpc>
            </a:pPr>
            <a:r>
              <a:rPr lang="zh-CN" altLang="en-US" sz="1600" b="1" dirty="0">
                <a:solidFill>
                  <a:prstClr val="black"/>
                </a:solidFill>
                <a:latin typeface="微软雅黑" panose="020B0503020204020204" pitchFamily="34" charset="-122"/>
                <a:ea typeface="微软雅黑" panose="020B0503020204020204" pitchFamily="34" charset="-122"/>
              </a:rPr>
              <a:t>场景聚类识别典型场景→因果推断量化干预效果→责任划分调查公众期望：从客观事故数据到主观责任偏好分析</a:t>
            </a:r>
          </a:p>
        </p:txBody>
      </p:sp>
      <p:sp>
        <p:nvSpPr>
          <p:cNvPr id="187" name="箭头: 右 186">
            <a:extLst>
              <a:ext uri="{FF2B5EF4-FFF2-40B4-BE49-F238E27FC236}">
                <a16:creationId xmlns:a16="http://schemas.microsoft.com/office/drawing/2014/main" id="{5516F0B0-5358-4F24-8802-D1DAE16140D8}"/>
              </a:ext>
            </a:extLst>
          </p:cNvPr>
          <p:cNvSpPr/>
          <p:nvPr/>
        </p:nvSpPr>
        <p:spPr>
          <a:xfrm>
            <a:off x="5840604" y="2703162"/>
            <a:ext cx="255396" cy="243775"/>
          </a:xfrm>
          <a:prstGeom prst="rightArrow">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箭头: 右 187">
            <a:extLst>
              <a:ext uri="{FF2B5EF4-FFF2-40B4-BE49-F238E27FC236}">
                <a16:creationId xmlns:a16="http://schemas.microsoft.com/office/drawing/2014/main" id="{62BFC962-DF16-4033-B037-421D933B8845}"/>
              </a:ext>
            </a:extLst>
          </p:cNvPr>
          <p:cNvSpPr/>
          <p:nvPr/>
        </p:nvSpPr>
        <p:spPr>
          <a:xfrm flipH="1">
            <a:off x="5912612" y="5556566"/>
            <a:ext cx="255396" cy="243775"/>
          </a:xfrm>
          <a:prstGeom prst="rightArrow">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文本框 188">
            <a:extLst>
              <a:ext uri="{FF2B5EF4-FFF2-40B4-BE49-F238E27FC236}">
                <a16:creationId xmlns:a16="http://schemas.microsoft.com/office/drawing/2014/main" id="{938C1A79-DD11-42F9-83F0-5AB7425205DB}"/>
              </a:ext>
            </a:extLst>
          </p:cNvPr>
          <p:cNvSpPr txBox="1"/>
          <p:nvPr/>
        </p:nvSpPr>
        <p:spPr>
          <a:xfrm>
            <a:off x="538059" y="903993"/>
            <a:ext cx="11010948" cy="1156855"/>
          </a:xfrm>
          <a:prstGeom prst="rect">
            <a:avLst/>
          </a:prstGeom>
          <a:noFill/>
        </p:spPr>
        <p:txBody>
          <a:bodyPr wrap="square">
            <a:spAutoFit/>
          </a:bodyPr>
          <a:lstStyle/>
          <a:p>
            <a:pPr indent="457200">
              <a:lnSpc>
                <a:spcPct val="150000"/>
              </a:lnSpc>
            </a:pPr>
            <a:r>
              <a:rPr lang="zh-CN" altLang="en-US" sz="1600" b="1" dirty="0">
                <a:solidFill>
                  <a:prstClr val="black"/>
                </a:solidFill>
                <a:latin typeface="微软雅黑" panose="020B0503020204020204" pitchFamily="34" charset="-122"/>
                <a:ea typeface="微软雅黑" panose="020B0503020204020204" pitchFamily="34" charset="-122"/>
              </a:rPr>
              <a:t>针对自动驾驶事故研究在场景画像、因果推断及动态验证与责任划分方面的不足，本研究以结构因果模型、潜类别分析与集成选择模型为理论基础，基于</a:t>
            </a:r>
            <a:r>
              <a:rPr lang="en-US" altLang="zh-CN" sz="1600" b="1" dirty="0">
                <a:solidFill>
                  <a:prstClr val="black"/>
                </a:solidFill>
                <a:latin typeface="微软雅黑" panose="020B0503020204020204" pitchFamily="34" charset="-122"/>
                <a:ea typeface="微软雅黑" panose="020B0503020204020204" pitchFamily="34" charset="-122"/>
              </a:rPr>
              <a:t>DMV</a:t>
            </a:r>
            <a:r>
              <a:rPr lang="zh-CN" altLang="en-US" sz="1600" b="1" dirty="0">
                <a:solidFill>
                  <a:prstClr val="black"/>
                </a:solidFill>
                <a:latin typeface="微软雅黑" panose="020B0503020204020204" pitchFamily="34" charset="-122"/>
                <a:ea typeface="微软雅黑" panose="020B0503020204020204" pitchFamily="34" charset="-122"/>
              </a:rPr>
              <a:t>与</a:t>
            </a:r>
            <a:r>
              <a:rPr lang="en-US" altLang="zh-CN" sz="1600" b="1" dirty="0">
                <a:solidFill>
                  <a:prstClr val="black"/>
                </a:solidFill>
                <a:latin typeface="微软雅黑" panose="020B0503020204020204" pitchFamily="34" charset="-122"/>
                <a:ea typeface="微软雅黑" panose="020B0503020204020204" pitchFamily="34" charset="-122"/>
              </a:rPr>
              <a:t>NHTSA</a:t>
            </a:r>
            <a:r>
              <a:rPr lang="zh-CN" altLang="en-US" sz="1600" b="1" dirty="0">
                <a:solidFill>
                  <a:prstClr val="black"/>
                </a:solidFill>
                <a:latin typeface="微软雅黑" panose="020B0503020204020204" pitchFamily="34" charset="-122"/>
                <a:ea typeface="微软雅黑" panose="020B0503020204020204" pitchFamily="34" charset="-122"/>
              </a:rPr>
              <a:t>事故数据，依次开展场景聚类、因果推断与责任划分调查研究。</a:t>
            </a:r>
            <a:br>
              <a:rPr lang="zh-CN" altLang="en-US" sz="1600" b="1" dirty="0">
                <a:solidFill>
                  <a:prstClr val="black"/>
                </a:solidFill>
                <a:latin typeface="微软雅黑" panose="020B0503020204020204" pitchFamily="34" charset="-122"/>
                <a:ea typeface="微软雅黑" panose="020B0503020204020204" pitchFamily="34" charset="-122"/>
              </a:rPr>
            </a:br>
            <a:endParaRPr lang="zh-CN" altLang="en-US" sz="1600" b="1" dirty="0">
              <a:solidFill>
                <a:prstClr val="black"/>
              </a:solidFill>
              <a:latin typeface="微软雅黑" panose="020B0503020204020204" pitchFamily="34" charset="-122"/>
              <a:ea typeface="微软雅黑" panose="020B0503020204020204" pitchFamily="34" charset="-122"/>
            </a:endParaRPr>
          </a:p>
        </p:txBody>
      </p:sp>
      <p:sp>
        <p:nvSpPr>
          <p:cNvPr id="192" name="文本框 191">
            <a:extLst>
              <a:ext uri="{FF2B5EF4-FFF2-40B4-BE49-F238E27FC236}">
                <a16:creationId xmlns:a16="http://schemas.microsoft.com/office/drawing/2014/main" id="{83CF270B-E117-4AEC-AA53-511DA3303F13}"/>
              </a:ext>
            </a:extLst>
          </p:cNvPr>
          <p:cNvSpPr txBox="1"/>
          <p:nvPr/>
        </p:nvSpPr>
        <p:spPr>
          <a:xfrm>
            <a:off x="529910" y="5447038"/>
            <a:ext cx="1255527" cy="738664"/>
          </a:xfrm>
          <a:prstGeom prst="rect">
            <a:avLst/>
          </a:prstGeom>
          <a:noFill/>
        </p:spPr>
        <p:txBody>
          <a:bodyPr wrap="square">
            <a:spAutoFit/>
          </a:bodyPr>
          <a:lstStyle/>
          <a:p>
            <a:pPr algn="ctr"/>
            <a:r>
              <a:rPr lang="zh-CN" altLang="en-US" sz="105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事故风险场景特征</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105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事故风险形成机制</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105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公众责任认知规律</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a:p>
            <a:pPr algn="ctr"/>
            <a:r>
              <a:rPr lang="zh-CN" altLang="en-US" sz="105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rPr>
              <a:t>责任划分机制</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sym typeface="Times New Roman" panose="02020603050405020304"/>
            </a:endParaRPr>
          </a:p>
        </p:txBody>
      </p:sp>
      <p:sp>
        <p:nvSpPr>
          <p:cNvPr id="194" name="文本框 193">
            <a:extLst>
              <a:ext uri="{FF2B5EF4-FFF2-40B4-BE49-F238E27FC236}">
                <a16:creationId xmlns:a16="http://schemas.microsoft.com/office/drawing/2014/main" id="{286A3CEF-08D8-49D4-97A0-E6C1C2AC0318}"/>
              </a:ext>
            </a:extLst>
          </p:cNvPr>
          <p:cNvSpPr txBox="1"/>
          <p:nvPr/>
        </p:nvSpPr>
        <p:spPr>
          <a:xfrm>
            <a:off x="2355059" y="5445224"/>
            <a:ext cx="1652709" cy="738664"/>
          </a:xfrm>
          <a:prstGeom prst="rect">
            <a:avLst/>
          </a:prstGeom>
          <a:noFill/>
        </p:spPr>
        <p:txBody>
          <a:bodyPr wrap="square">
            <a:spAutoFit/>
          </a:bodyPr>
          <a:lstStyle/>
          <a:p>
            <a:r>
              <a:rPr lang="zh-CN" altLang="en-US" sz="1050" b="1" kern="100" dirty="0">
                <a:solidFill>
                  <a:srgbClr val="000000"/>
                </a:solidFill>
                <a:latin typeface="微软雅黑" panose="020B0503020204020204" charset="-122"/>
                <a:ea typeface="微软雅黑" panose="020B0503020204020204" charset="-122"/>
                <a:cs typeface="Times New Roman" panose="02020603050405020304"/>
              </a:rPr>
              <a:t>技术：</a:t>
            </a:r>
            <a:r>
              <a:rPr lang="en-US" altLang="zh-CN" sz="1050" kern="100" dirty="0">
                <a:solidFill>
                  <a:srgbClr val="000000"/>
                </a:solidFill>
                <a:latin typeface="微软雅黑" panose="020B0503020204020204" charset="-122"/>
                <a:ea typeface="微软雅黑" panose="020B0503020204020204" charset="-122"/>
                <a:cs typeface="Times New Roman" panose="02020603050405020304"/>
              </a:rPr>
              <a:t>AV</a:t>
            </a:r>
            <a:r>
              <a:rPr lang="zh-CN" altLang="en-US" sz="1050" kern="100" dirty="0">
                <a:solidFill>
                  <a:srgbClr val="000000"/>
                </a:solidFill>
                <a:latin typeface="微软雅黑" panose="020B0503020204020204" charset="-122"/>
                <a:ea typeface="微软雅黑" panose="020B0503020204020204" charset="-122"/>
                <a:cs typeface="Times New Roman" panose="02020603050405020304"/>
              </a:rPr>
              <a:t>系统安全优化</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endParaRPr>
          </a:p>
          <a:p>
            <a:r>
              <a:rPr lang="zh-CN" altLang="en-US" sz="1050" b="1" kern="100" dirty="0">
                <a:solidFill>
                  <a:srgbClr val="000000"/>
                </a:solidFill>
                <a:latin typeface="微软雅黑" panose="020B0503020204020204" charset="-122"/>
                <a:ea typeface="微软雅黑" panose="020B0503020204020204" charset="-122"/>
                <a:cs typeface="Times New Roman" panose="02020603050405020304"/>
              </a:rPr>
              <a:t>法律：</a:t>
            </a:r>
            <a:r>
              <a:rPr lang="zh-CN" altLang="en-US" sz="1050" kern="100" dirty="0">
                <a:solidFill>
                  <a:srgbClr val="000000"/>
                </a:solidFill>
                <a:latin typeface="微软雅黑" panose="020B0503020204020204" charset="-122"/>
                <a:ea typeface="微软雅黑" panose="020B0503020204020204" charset="-122"/>
                <a:cs typeface="Times New Roman" panose="02020603050405020304"/>
              </a:rPr>
              <a:t>事故责任认定机制</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endParaRPr>
          </a:p>
          <a:p>
            <a:r>
              <a:rPr lang="zh-CN" altLang="en-US" sz="1050" b="1" kern="100" dirty="0">
                <a:solidFill>
                  <a:srgbClr val="000000"/>
                </a:solidFill>
                <a:latin typeface="微软雅黑" panose="020B0503020204020204" charset="-122"/>
                <a:ea typeface="微软雅黑" panose="020B0503020204020204" charset="-122"/>
                <a:cs typeface="Times New Roman" panose="02020603050405020304"/>
              </a:rPr>
              <a:t>社会：</a:t>
            </a:r>
            <a:r>
              <a:rPr lang="zh-CN" altLang="en-US" sz="1050" kern="100" dirty="0">
                <a:solidFill>
                  <a:srgbClr val="000000"/>
                </a:solidFill>
                <a:latin typeface="微软雅黑" panose="020B0503020204020204" charset="-122"/>
                <a:ea typeface="微软雅黑" panose="020B0503020204020204" charset="-122"/>
                <a:cs typeface="Times New Roman" panose="02020603050405020304"/>
              </a:rPr>
              <a:t>企业监管、数据共享、事故调查机制</a:t>
            </a:r>
            <a:endParaRPr lang="en-US" altLang="zh-CN" sz="1050" b="1" kern="100" dirty="0">
              <a:solidFill>
                <a:srgbClr val="000000"/>
              </a:solidFill>
              <a:latin typeface="微软雅黑" panose="020B0503020204020204" charset="-122"/>
              <a:ea typeface="微软雅黑" panose="020B0503020204020204" charset="-122"/>
              <a:cs typeface="Times New Roman" panose="02020603050405020304"/>
            </a:endParaRPr>
          </a:p>
        </p:txBody>
      </p:sp>
      <p:sp>
        <p:nvSpPr>
          <p:cNvPr id="195" name="文本框 194">
            <a:extLst>
              <a:ext uri="{FF2B5EF4-FFF2-40B4-BE49-F238E27FC236}">
                <a16:creationId xmlns:a16="http://schemas.microsoft.com/office/drawing/2014/main" id="{DD7DA4DD-E9A6-482B-BE4A-831741B37F73}"/>
              </a:ext>
            </a:extLst>
          </p:cNvPr>
          <p:cNvSpPr txBox="1"/>
          <p:nvPr/>
        </p:nvSpPr>
        <p:spPr>
          <a:xfrm>
            <a:off x="4500544" y="5445224"/>
            <a:ext cx="1451440" cy="738664"/>
          </a:xfrm>
          <a:prstGeom prst="rect">
            <a:avLst/>
          </a:prstGeom>
          <a:noFill/>
        </p:spPr>
        <p:txBody>
          <a:bodyPr wrap="square">
            <a:spAutoFit/>
          </a:bodyPr>
          <a:lstStyle/>
          <a:p>
            <a:pPr algn="ctr"/>
            <a:r>
              <a:rPr lang="zh-CN" altLang="en-US" sz="1050" kern="100" dirty="0">
                <a:solidFill>
                  <a:srgbClr val="000000"/>
                </a:solidFill>
                <a:latin typeface="微软雅黑" panose="020B0503020204020204" charset="-122"/>
                <a:ea typeface="微软雅黑" panose="020B0503020204020204" charset="-122"/>
                <a:cs typeface="Times New Roman" panose="02020603050405020304"/>
              </a:rPr>
              <a:t>多源异构数据</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endParaRPr>
          </a:p>
          <a:p>
            <a:pPr algn="ctr"/>
            <a:r>
              <a:rPr lang="zh-CN" altLang="en-US" sz="1050" kern="100" dirty="0">
                <a:solidFill>
                  <a:srgbClr val="000000"/>
                </a:solidFill>
                <a:latin typeface="微软雅黑" panose="020B0503020204020204" charset="-122"/>
                <a:ea typeface="微软雅黑" panose="020B0503020204020204" charset="-122"/>
                <a:cs typeface="Times New Roman" panose="02020603050405020304"/>
              </a:rPr>
              <a:t>数字孪生技术</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endParaRPr>
          </a:p>
          <a:p>
            <a:pPr algn="ctr"/>
            <a:r>
              <a:rPr lang="zh-CN" altLang="en-US" sz="1050" kern="100" dirty="0">
                <a:solidFill>
                  <a:srgbClr val="000000"/>
                </a:solidFill>
                <a:latin typeface="微软雅黑" panose="020B0503020204020204" charset="-122"/>
                <a:ea typeface="微软雅黑" panose="020B0503020204020204" charset="-122"/>
                <a:cs typeface="Times New Roman" panose="02020603050405020304"/>
              </a:rPr>
              <a:t>动态因果模型</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endParaRPr>
          </a:p>
          <a:p>
            <a:pPr algn="ctr"/>
            <a:r>
              <a:rPr lang="zh-CN" altLang="en-US" sz="1050" kern="100" dirty="0">
                <a:solidFill>
                  <a:srgbClr val="000000"/>
                </a:solidFill>
                <a:latin typeface="微软雅黑" panose="020B0503020204020204" charset="-122"/>
                <a:ea typeface="微软雅黑" panose="020B0503020204020204" charset="-122"/>
                <a:cs typeface="Times New Roman" panose="02020603050405020304"/>
              </a:rPr>
              <a:t>分等级法律适应机制</a:t>
            </a:r>
            <a:endParaRPr lang="en-US" altLang="zh-CN" sz="1050" kern="100" dirty="0">
              <a:solidFill>
                <a:srgbClr val="000000"/>
              </a:solidFill>
              <a:latin typeface="微软雅黑" panose="020B0503020204020204" charset="-122"/>
              <a:ea typeface="微软雅黑" panose="020B0503020204020204" charset="-122"/>
              <a:cs typeface="Times New Roman" panose="02020603050405020304"/>
            </a:endParaRPr>
          </a:p>
        </p:txBody>
      </p:sp>
      <p:sp>
        <p:nvSpPr>
          <p:cNvPr id="196" name="箭头: 左右 195">
            <a:extLst>
              <a:ext uri="{FF2B5EF4-FFF2-40B4-BE49-F238E27FC236}">
                <a16:creationId xmlns:a16="http://schemas.microsoft.com/office/drawing/2014/main" id="{12CF11F1-CE08-48B6-9492-EF064D7F8FB9}"/>
              </a:ext>
            </a:extLst>
          </p:cNvPr>
          <p:cNvSpPr/>
          <p:nvPr/>
        </p:nvSpPr>
        <p:spPr>
          <a:xfrm>
            <a:off x="5687758" y="4305872"/>
            <a:ext cx="376119" cy="201646"/>
          </a:xfrm>
          <a:prstGeom prst="leftRightArrow">
            <a:avLst>
              <a:gd name="adj1" fmla="val 61907"/>
              <a:gd name="adj2" fmla="val 50000"/>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02960110"/>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9">
            <a:extLst>
              <a:ext uri="{FF2B5EF4-FFF2-40B4-BE49-F238E27FC236}">
                <a16:creationId xmlns:a16="http://schemas.microsoft.com/office/drawing/2014/main" id="{70BAD42F-ABFA-4BC7-BABB-34AED09E417F}"/>
              </a:ext>
            </a:extLst>
          </p:cNvPr>
          <p:cNvSpPr/>
          <p:nvPr/>
        </p:nvSpPr>
        <p:spPr>
          <a:xfrm>
            <a:off x="546344" y="4509120"/>
            <a:ext cx="4392389" cy="2058731"/>
          </a:xfrm>
          <a:prstGeom prst="roundRect">
            <a:avLst>
              <a:gd name="adj" fmla="val 2933"/>
            </a:avLst>
          </a:prstGeom>
          <a:solidFill>
            <a:schemeClr val="bg1"/>
          </a:solidFill>
          <a:ln w="3175">
            <a:solidFill>
              <a:schemeClr val="accent5">
                <a:lumMod val="20000"/>
                <a:lumOff val="80000"/>
              </a:schemeClr>
            </a:solid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defTabSz="2400300">
              <a:lnSpc>
                <a:spcPct val="125000"/>
              </a:lnSpc>
              <a:spcBef>
                <a:spcPct val="0"/>
              </a:spcBef>
              <a:spcAft>
                <a:spcPct val="35000"/>
              </a:spcAft>
            </a:pPr>
            <a:endParaRPr lang="zh-CN" altLang="en-US" sz="1800" dirty="0">
              <a:solidFill>
                <a:schemeClr val="tx1"/>
              </a:solidFill>
              <a:latin typeface="黑体" panose="02010609060101010101" charset="-122"/>
              <a:ea typeface="黑体" panose="02010609060101010101" charset="-122"/>
              <a:cs typeface="黑体" panose="02010609060101010101" charset="-122"/>
            </a:endParaRPr>
          </a:p>
        </p:txBody>
      </p:sp>
      <p:sp>
        <p:nvSpPr>
          <p:cNvPr id="3" name="矩形: 圆角 9">
            <a:extLst>
              <a:ext uri="{FF2B5EF4-FFF2-40B4-BE49-F238E27FC236}">
                <a16:creationId xmlns:a16="http://schemas.microsoft.com/office/drawing/2014/main" id="{46190AF5-AD56-495A-BC43-A248056AD982}"/>
              </a:ext>
            </a:extLst>
          </p:cNvPr>
          <p:cNvSpPr/>
          <p:nvPr/>
        </p:nvSpPr>
        <p:spPr>
          <a:xfrm>
            <a:off x="551483" y="1844824"/>
            <a:ext cx="4392389" cy="2476026"/>
          </a:xfrm>
          <a:prstGeom prst="roundRect">
            <a:avLst>
              <a:gd name="adj" fmla="val 2933"/>
            </a:avLst>
          </a:prstGeom>
          <a:solidFill>
            <a:schemeClr val="bg1"/>
          </a:solidFill>
          <a:ln w="3175">
            <a:solidFill>
              <a:schemeClr val="accent5">
                <a:lumMod val="20000"/>
                <a:lumOff val="80000"/>
              </a:schemeClr>
            </a:solid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defTabSz="2400300">
              <a:lnSpc>
                <a:spcPct val="125000"/>
              </a:lnSpc>
              <a:spcBef>
                <a:spcPct val="0"/>
              </a:spcBef>
              <a:spcAft>
                <a:spcPct val="35000"/>
              </a:spcAft>
            </a:pPr>
            <a:endParaRPr lang="zh-CN" altLang="en-US" sz="1800" dirty="0">
              <a:solidFill>
                <a:schemeClr val="tx1"/>
              </a:solidFill>
              <a:latin typeface="黑体" panose="02010609060101010101" charset="-122"/>
              <a:ea typeface="黑体" panose="02010609060101010101" charset="-122"/>
              <a:cs typeface="黑体" panose="02010609060101010101" charset="-122"/>
            </a:endParaRPr>
          </a:p>
        </p:txBody>
      </p:sp>
      <p:sp>
        <p:nvSpPr>
          <p:cNvPr id="5" name="文本框 4">
            <a:extLst>
              <a:ext uri="{FF2B5EF4-FFF2-40B4-BE49-F238E27FC236}">
                <a16:creationId xmlns:a16="http://schemas.microsoft.com/office/drawing/2014/main" id="{5E04B274-D500-48A2-9E46-09185BE2F4AF}"/>
              </a:ext>
            </a:extLst>
          </p:cNvPr>
          <p:cNvSpPr txBox="1"/>
          <p:nvPr/>
        </p:nvSpPr>
        <p:spPr>
          <a:xfrm>
            <a:off x="782216" y="1956346"/>
            <a:ext cx="3877985" cy="362792"/>
          </a:xfrm>
          <a:prstGeom prst="rect">
            <a:avLst/>
          </a:prstGeom>
          <a:noFill/>
        </p:spPr>
        <p:txBody>
          <a:bodyPr wrap="none" rtlCol="0">
            <a:spAutoFit/>
          </a:bodyPr>
          <a:lstStyle/>
          <a:p>
            <a:pPr algn="ctr">
              <a:lnSpc>
                <a:spcPct val="120000"/>
              </a:lnSpc>
            </a:pPr>
            <a:r>
              <a:rPr lang="zh-CN" altLang="en-US" sz="1600" b="1" dirty="0">
                <a:latin typeface="微软雅黑" panose="020B0503020204020204" pitchFamily="34" charset="-122"/>
                <a:ea typeface="微软雅黑" panose="020B0503020204020204" pitchFamily="34" charset="-122"/>
              </a:rPr>
              <a:t>加州自动驾驶车辆碰撞事故报告数据提取</a:t>
            </a:r>
          </a:p>
        </p:txBody>
      </p:sp>
      <p:pic>
        <p:nvPicPr>
          <p:cNvPr id="6" name="图片 5">
            <a:extLst>
              <a:ext uri="{FF2B5EF4-FFF2-40B4-BE49-F238E27FC236}">
                <a16:creationId xmlns:a16="http://schemas.microsoft.com/office/drawing/2014/main" id="{D0BDC550-DE46-47B9-9749-69C219E2C693}"/>
              </a:ext>
            </a:extLst>
          </p:cNvPr>
          <p:cNvPicPr>
            <a:picLocks noChangeAspect="1"/>
          </p:cNvPicPr>
          <p:nvPr/>
        </p:nvPicPr>
        <p:blipFill>
          <a:blip r:embed="rId2"/>
          <a:srcRect r="689"/>
          <a:stretch>
            <a:fillRect/>
          </a:stretch>
        </p:blipFill>
        <p:spPr>
          <a:xfrm>
            <a:off x="887149" y="2384726"/>
            <a:ext cx="3912707" cy="1784301"/>
          </a:xfrm>
          <a:prstGeom prst="rect">
            <a:avLst/>
          </a:prstGeom>
        </p:spPr>
      </p:pic>
      <p:sp>
        <p:nvSpPr>
          <p:cNvPr id="9" name="文本框 8">
            <a:extLst>
              <a:ext uri="{FF2B5EF4-FFF2-40B4-BE49-F238E27FC236}">
                <a16:creationId xmlns:a16="http://schemas.microsoft.com/office/drawing/2014/main" id="{C1DF2D97-171A-421E-A938-1722964C3F32}"/>
              </a:ext>
            </a:extLst>
          </p:cNvPr>
          <p:cNvSpPr txBox="1"/>
          <p:nvPr/>
        </p:nvSpPr>
        <p:spPr>
          <a:xfrm>
            <a:off x="527454" y="4620642"/>
            <a:ext cx="4560434" cy="362792"/>
          </a:xfrm>
          <a:prstGeom prst="rect">
            <a:avLst/>
          </a:prstGeom>
          <a:noFill/>
        </p:spPr>
        <p:txBody>
          <a:bodyPr wrap="square" rtlCol="0">
            <a:spAutoFit/>
          </a:bodyPr>
          <a:lstStyle/>
          <a:p>
            <a:pPr algn="ctr">
              <a:lnSpc>
                <a:spcPct val="120000"/>
              </a:lnSpc>
            </a:pPr>
            <a:r>
              <a:rPr lang="zh-CN" altLang="en-US" sz="1600" b="1" dirty="0">
                <a:latin typeface="微软雅黑" panose="020B0503020204020204" pitchFamily="34" charset="-122"/>
                <a:ea typeface="微软雅黑" panose="020B0503020204020204" pitchFamily="34" charset="-122"/>
              </a:rPr>
              <a:t>美国公路交通安全管理局</a:t>
            </a:r>
            <a:r>
              <a:rPr lang="en-US" altLang="zh-CN" sz="1600" b="1" dirty="0">
                <a:latin typeface="微软雅黑" panose="020B0503020204020204" pitchFamily="34" charset="-122"/>
                <a:ea typeface="微软雅黑" panose="020B0503020204020204" pitchFamily="34" charset="-122"/>
              </a:rPr>
              <a:t>NHTSA</a:t>
            </a:r>
            <a:r>
              <a:rPr lang="zh-CN" altLang="en-US" sz="1600" b="1" dirty="0">
                <a:latin typeface="微软雅黑" panose="020B0503020204020204" pitchFamily="34" charset="-122"/>
                <a:ea typeface="微软雅黑" panose="020B0503020204020204" pitchFamily="34" charset="-122"/>
              </a:rPr>
              <a:t>事故数据统计</a:t>
            </a:r>
          </a:p>
        </p:txBody>
      </p:sp>
      <p:pic>
        <p:nvPicPr>
          <p:cNvPr id="10" name="图片 9">
            <a:extLst>
              <a:ext uri="{FF2B5EF4-FFF2-40B4-BE49-F238E27FC236}">
                <a16:creationId xmlns:a16="http://schemas.microsoft.com/office/drawing/2014/main" id="{957451C3-96A0-46DA-A63E-428EEF4B7221}"/>
              </a:ext>
            </a:extLst>
          </p:cNvPr>
          <p:cNvPicPr>
            <a:picLocks noChangeAspect="1"/>
          </p:cNvPicPr>
          <p:nvPr/>
        </p:nvPicPr>
        <p:blipFill>
          <a:blip r:embed="rId3"/>
          <a:srcRect l="5397" r="5397" b="2736"/>
          <a:stretch>
            <a:fillRect/>
          </a:stretch>
        </p:blipFill>
        <p:spPr>
          <a:xfrm>
            <a:off x="743345" y="5029704"/>
            <a:ext cx="2184303" cy="1381196"/>
          </a:xfrm>
          <a:prstGeom prst="rect">
            <a:avLst/>
          </a:prstGeom>
        </p:spPr>
      </p:pic>
      <p:sp>
        <p:nvSpPr>
          <p:cNvPr id="11" name="文本框 10">
            <a:extLst>
              <a:ext uri="{FF2B5EF4-FFF2-40B4-BE49-F238E27FC236}">
                <a16:creationId xmlns:a16="http://schemas.microsoft.com/office/drawing/2014/main" id="{A2F5A45F-1C20-40FF-9516-314E63DBE1E7}"/>
              </a:ext>
            </a:extLst>
          </p:cNvPr>
          <p:cNvSpPr txBox="1"/>
          <p:nvPr/>
        </p:nvSpPr>
        <p:spPr>
          <a:xfrm>
            <a:off x="2946539" y="4947975"/>
            <a:ext cx="1997334" cy="1544654"/>
          </a:xfrm>
          <a:prstGeom prst="rect">
            <a:avLst/>
          </a:prstGeom>
          <a:noFill/>
        </p:spPr>
        <p:txBody>
          <a:bodyPr wrap="square" rtlCol="0">
            <a:spAutoFit/>
          </a:bodyPr>
          <a:lstStyle/>
          <a:p>
            <a:pPr algn="just">
              <a:lnSpc>
                <a:spcPct val="120000"/>
              </a:lnSpc>
            </a:pPr>
            <a:r>
              <a:rPr lang="zh-CN" altLang="en-US" sz="1600" dirty="0">
                <a:latin typeface="微软雅黑" panose="020B0503020204020204" pitchFamily="34" charset="-122"/>
                <a:ea typeface="微软雅黑" panose="020B0503020204020204" pitchFamily="34" charset="-122"/>
              </a:rPr>
              <a:t>该数据集收录自动驾驶车辆事故相关信息，共有字段</a:t>
            </a:r>
            <a:r>
              <a:rPr lang="en-US" altLang="zh-CN" sz="1600" dirty="0">
                <a:latin typeface="微软雅黑" panose="020B0503020204020204" pitchFamily="34" charset="-122"/>
                <a:ea typeface="微软雅黑" panose="020B0503020204020204" pitchFamily="34" charset="-122"/>
              </a:rPr>
              <a:t>137</a:t>
            </a:r>
            <a:r>
              <a:rPr lang="zh-CN" altLang="en-US" sz="1600" dirty="0">
                <a:latin typeface="微软雅黑" panose="020B0503020204020204" pitchFamily="34" charset="-122"/>
                <a:ea typeface="微软雅黑" panose="020B0503020204020204" pitchFamily="34" charset="-122"/>
              </a:rPr>
              <a:t>个，包括车辆属性、交通环境、车辆等。</a:t>
            </a:r>
          </a:p>
        </p:txBody>
      </p:sp>
      <p:pic>
        <p:nvPicPr>
          <p:cNvPr id="36" name="图片 80" descr="1016-1">
            <a:extLst>
              <a:ext uri="{FF2B5EF4-FFF2-40B4-BE49-F238E27FC236}">
                <a16:creationId xmlns:a16="http://schemas.microsoft.com/office/drawing/2014/main" id="{48A7F85B-B81B-40C8-89DE-1755EB0C3B00}"/>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3598" y="2381331"/>
            <a:ext cx="1283376" cy="1670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图片 81" descr="1016-2">
            <a:extLst>
              <a:ext uri="{FF2B5EF4-FFF2-40B4-BE49-F238E27FC236}">
                <a16:creationId xmlns:a16="http://schemas.microsoft.com/office/drawing/2014/main" id="{9E60CAD2-AB93-4832-BDBB-F5D74275609F}"/>
              </a:ext>
            </a:extLst>
          </p:cNvPr>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40133" y="2381331"/>
            <a:ext cx="1283376" cy="1670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矩形 59">
            <a:extLst>
              <a:ext uri="{FF2B5EF4-FFF2-40B4-BE49-F238E27FC236}">
                <a16:creationId xmlns:a16="http://schemas.microsoft.com/office/drawing/2014/main" id="{C2D275FB-F2F5-498A-A50F-AF3AC247C09C}"/>
              </a:ext>
            </a:extLst>
          </p:cNvPr>
          <p:cNvSpPr>
            <a:spLocks noChangeArrowheads="1"/>
          </p:cNvSpPr>
          <p:nvPr/>
        </p:nvSpPr>
        <p:spPr bwMode="auto">
          <a:xfrm>
            <a:off x="335359" y="116632"/>
            <a:ext cx="77234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研究内容一：</a:t>
            </a:r>
            <a:r>
              <a:rPr lang="zh-CN" altLang="en-US" sz="2400" b="1" dirty="0">
                <a:solidFill>
                  <a:srgbClr val="FFC000"/>
                </a:solidFill>
                <a:latin typeface="微软雅黑" panose="020B0503020204020204" pitchFamily="34" charset="-122"/>
                <a:ea typeface="微软雅黑" panose="020B0503020204020204" pitchFamily="34" charset="-122"/>
              </a:rPr>
              <a:t>数据预处理与基本特征分析</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CB2F461D-7F49-4510-BA9A-EF61071D0448}"/>
              </a:ext>
            </a:extLst>
          </p:cNvPr>
          <p:cNvSpPr/>
          <p:nvPr/>
        </p:nvSpPr>
        <p:spPr>
          <a:xfrm>
            <a:off x="529342" y="1052736"/>
            <a:ext cx="11183282" cy="6120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融合多源数据集，共得到</a:t>
            </a: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2435</a:t>
            </a: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条数据（持续补充）</a:t>
            </a:r>
          </a:p>
        </p:txBody>
      </p:sp>
      <p:sp>
        <p:nvSpPr>
          <p:cNvPr id="71" name="矩形 70">
            <a:extLst>
              <a:ext uri="{FF2B5EF4-FFF2-40B4-BE49-F238E27FC236}">
                <a16:creationId xmlns:a16="http://schemas.microsoft.com/office/drawing/2014/main" id="{787BFC1A-978C-49FE-80FF-A898BA051750}"/>
              </a:ext>
            </a:extLst>
          </p:cNvPr>
          <p:cNvSpPr/>
          <p:nvPr/>
        </p:nvSpPr>
        <p:spPr>
          <a:xfrm>
            <a:off x="5132732" y="2467824"/>
            <a:ext cx="499500" cy="11772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latin typeface="微软雅黑" panose="020B0503020204020204" pitchFamily="34" charset="-122"/>
              <a:ea typeface="微软雅黑" panose="020B0503020204020204" pitchFamily="34" charset="-122"/>
            </a:endParaRPr>
          </a:p>
        </p:txBody>
      </p:sp>
      <p:sp>
        <p:nvSpPr>
          <p:cNvPr id="84" name="矩形 83">
            <a:extLst>
              <a:ext uri="{FF2B5EF4-FFF2-40B4-BE49-F238E27FC236}">
                <a16:creationId xmlns:a16="http://schemas.microsoft.com/office/drawing/2014/main" id="{CB72D7BC-1ED3-4C30-92B1-A59DDA17898F}"/>
              </a:ext>
            </a:extLst>
          </p:cNvPr>
          <p:cNvSpPr/>
          <p:nvPr/>
        </p:nvSpPr>
        <p:spPr>
          <a:xfrm>
            <a:off x="6092611" y="2467824"/>
            <a:ext cx="463770" cy="1177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a:extLst>
              <a:ext uri="{FF2B5EF4-FFF2-40B4-BE49-F238E27FC236}">
                <a16:creationId xmlns:a16="http://schemas.microsoft.com/office/drawing/2014/main" id="{E9F97B52-D7AD-4691-A9EE-DC7E5F7AF129}"/>
              </a:ext>
            </a:extLst>
          </p:cNvPr>
          <p:cNvSpPr/>
          <p:nvPr/>
        </p:nvSpPr>
        <p:spPr>
          <a:xfrm>
            <a:off x="7016760" y="2467824"/>
            <a:ext cx="463770" cy="11772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文本框 88">
            <a:extLst>
              <a:ext uri="{FF2B5EF4-FFF2-40B4-BE49-F238E27FC236}">
                <a16:creationId xmlns:a16="http://schemas.microsoft.com/office/drawing/2014/main" id="{B3AAF5D0-FE72-4B19-87C9-80D90A8C047E}"/>
              </a:ext>
            </a:extLst>
          </p:cNvPr>
          <p:cNvSpPr txBox="1"/>
          <p:nvPr/>
        </p:nvSpPr>
        <p:spPr>
          <a:xfrm>
            <a:off x="6960270" y="2687092"/>
            <a:ext cx="589188" cy="738664"/>
          </a:xfrm>
          <a:prstGeom prst="rect">
            <a:avLst/>
          </a:prstGeom>
          <a:noFill/>
        </p:spPr>
        <p:txBody>
          <a:bodyPr wrap="square" anchor="ctr">
            <a:spAutoFit/>
          </a:bodyPr>
          <a:lstStyle/>
          <a:p>
            <a:pPr algn="ctr"/>
            <a:r>
              <a:rPr lang="zh-CN" altLang="en-US" sz="1400" b="1" dirty="0">
                <a:latin typeface="微软雅黑" panose="020B0503020204020204" pitchFamily="34" charset="-122"/>
                <a:ea typeface="微软雅黑" panose="020B0503020204020204" pitchFamily="34" charset="-122"/>
              </a:rPr>
              <a:t>文本标记检测</a:t>
            </a:r>
          </a:p>
        </p:txBody>
      </p:sp>
      <p:sp>
        <p:nvSpPr>
          <p:cNvPr id="90" name="矩形 89">
            <a:extLst>
              <a:ext uri="{FF2B5EF4-FFF2-40B4-BE49-F238E27FC236}">
                <a16:creationId xmlns:a16="http://schemas.microsoft.com/office/drawing/2014/main" id="{7218E1F2-8877-41B3-8930-7FB021AEE850}"/>
              </a:ext>
            </a:extLst>
          </p:cNvPr>
          <p:cNvSpPr/>
          <p:nvPr/>
        </p:nvSpPr>
        <p:spPr>
          <a:xfrm>
            <a:off x="7940909" y="2467824"/>
            <a:ext cx="463770" cy="11772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文本框 91">
            <a:extLst>
              <a:ext uri="{FF2B5EF4-FFF2-40B4-BE49-F238E27FC236}">
                <a16:creationId xmlns:a16="http://schemas.microsoft.com/office/drawing/2014/main" id="{C0F26F5C-9C54-466A-8C10-08E97C361839}"/>
              </a:ext>
            </a:extLst>
          </p:cNvPr>
          <p:cNvSpPr txBox="1"/>
          <p:nvPr/>
        </p:nvSpPr>
        <p:spPr>
          <a:xfrm>
            <a:off x="7824192" y="2579371"/>
            <a:ext cx="672902" cy="954107"/>
          </a:xfrm>
          <a:prstGeom prst="rect">
            <a:avLst/>
          </a:prstGeom>
          <a:noFill/>
        </p:spPr>
        <p:txBody>
          <a:bodyPr wrap="square" anchor="ctr">
            <a:spAutoFit/>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DMV</a:t>
            </a:r>
          </a:p>
          <a:p>
            <a:pPr algn="ctr"/>
            <a:r>
              <a:rPr lang="en-US" altLang="zh-CN" sz="1400" b="1" dirty="0">
                <a:solidFill>
                  <a:schemeClr val="tx1"/>
                </a:solidFill>
                <a:latin typeface="微软雅黑" panose="020B0503020204020204" pitchFamily="34" charset="-122"/>
                <a:ea typeface="微软雅黑" panose="020B0503020204020204" pitchFamily="34" charset="-122"/>
              </a:rPr>
              <a:t>csv</a:t>
            </a:r>
          </a:p>
          <a:p>
            <a:pPr algn="ctr"/>
            <a:r>
              <a:rPr lang="zh-CN" altLang="en-US" sz="1400" b="1" dirty="0">
                <a:solidFill>
                  <a:schemeClr val="tx1"/>
                </a:solidFill>
                <a:latin typeface="微软雅黑" panose="020B0503020204020204" pitchFamily="34" charset="-122"/>
                <a:ea typeface="微软雅黑" panose="020B0503020204020204" pitchFamily="34" charset="-122"/>
              </a:rPr>
              <a:t>格式文件</a:t>
            </a:r>
          </a:p>
        </p:txBody>
      </p:sp>
      <p:sp>
        <p:nvSpPr>
          <p:cNvPr id="93" name="矩形 92">
            <a:extLst>
              <a:ext uri="{FF2B5EF4-FFF2-40B4-BE49-F238E27FC236}">
                <a16:creationId xmlns:a16="http://schemas.microsoft.com/office/drawing/2014/main" id="{DBC67004-7FAD-48E3-A581-BCB7BEC6BF82}"/>
              </a:ext>
            </a:extLst>
          </p:cNvPr>
          <p:cNvSpPr/>
          <p:nvPr/>
        </p:nvSpPr>
        <p:spPr>
          <a:xfrm>
            <a:off x="8865058" y="2467824"/>
            <a:ext cx="629828" cy="11772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矩形 94">
            <a:extLst>
              <a:ext uri="{FF2B5EF4-FFF2-40B4-BE49-F238E27FC236}">
                <a16:creationId xmlns:a16="http://schemas.microsoft.com/office/drawing/2014/main" id="{A3456C0F-BD72-4BD4-B8F3-64FB1324B7BA}"/>
              </a:ext>
            </a:extLst>
          </p:cNvPr>
          <p:cNvSpPr/>
          <p:nvPr/>
        </p:nvSpPr>
        <p:spPr>
          <a:xfrm>
            <a:off x="9955265" y="2468106"/>
            <a:ext cx="463770" cy="117663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矩形 97">
            <a:extLst>
              <a:ext uri="{FF2B5EF4-FFF2-40B4-BE49-F238E27FC236}">
                <a16:creationId xmlns:a16="http://schemas.microsoft.com/office/drawing/2014/main" id="{ED087C41-23C7-42C9-87A5-E40E079CA8C2}"/>
              </a:ext>
            </a:extLst>
          </p:cNvPr>
          <p:cNvSpPr/>
          <p:nvPr/>
        </p:nvSpPr>
        <p:spPr>
          <a:xfrm>
            <a:off x="10879415" y="2467824"/>
            <a:ext cx="629828" cy="11772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文本框 98">
            <a:extLst>
              <a:ext uri="{FF2B5EF4-FFF2-40B4-BE49-F238E27FC236}">
                <a16:creationId xmlns:a16="http://schemas.microsoft.com/office/drawing/2014/main" id="{F4292B83-DC19-4757-A860-8D75DA6C34D6}"/>
              </a:ext>
            </a:extLst>
          </p:cNvPr>
          <p:cNvSpPr txBox="1"/>
          <p:nvPr/>
        </p:nvSpPr>
        <p:spPr>
          <a:xfrm>
            <a:off x="10875193" y="2579371"/>
            <a:ext cx="638272" cy="954107"/>
          </a:xfrm>
          <a:prstGeom prst="rect">
            <a:avLst/>
          </a:prstGeom>
          <a:noFill/>
        </p:spPr>
        <p:txBody>
          <a:bodyPr wrap="square" anchor="ctr">
            <a:spAutoFit/>
          </a:bodyPr>
          <a:lstStyle/>
          <a:p>
            <a:pPr algn="ctr"/>
            <a:r>
              <a:rPr lang="en-US" altLang="zh-CN" sz="1400" b="1" dirty="0">
                <a:solidFill>
                  <a:schemeClr val="tx1"/>
                </a:solidFill>
                <a:latin typeface="微软雅黑" panose="020B0503020204020204" pitchFamily="34" charset="-122"/>
                <a:ea typeface="微软雅黑" panose="020B0503020204020204" pitchFamily="34" charset="-122"/>
              </a:rPr>
              <a:t>AV</a:t>
            </a:r>
          </a:p>
          <a:p>
            <a:pPr algn="ctr"/>
            <a:r>
              <a:rPr lang="zh-CN" altLang="en-US" sz="1400" b="1" dirty="0">
                <a:solidFill>
                  <a:schemeClr val="tx1"/>
                </a:solidFill>
                <a:latin typeface="微软雅黑" panose="020B0503020204020204" pitchFamily="34" charset="-122"/>
                <a:ea typeface="微软雅黑" panose="020B0503020204020204" pitchFamily="34" charset="-122"/>
              </a:rPr>
              <a:t>事故数据集</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104" name="文本框 103">
            <a:extLst>
              <a:ext uri="{FF2B5EF4-FFF2-40B4-BE49-F238E27FC236}">
                <a16:creationId xmlns:a16="http://schemas.microsoft.com/office/drawing/2014/main" id="{5D2BF7AA-9C60-492A-96CE-0B3DD5F39003}"/>
              </a:ext>
            </a:extLst>
          </p:cNvPr>
          <p:cNvSpPr txBox="1"/>
          <p:nvPr/>
        </p:nvSpPr>
        <p:spPr>
          <a:xfrm>
            <a:off x="8760296" y="2594759"/>
            <a:ext cx="835764" cy="923330"/>
          </a:xfrm>
          <a:prstGeom prst="rect">
            <a:avLst/>
          </a:prstGeom>
          <a:noFill/>
        </p:spPr>
        <p:txBody>
          <a:bodyPr wrap="square" anchor="ctr">
            <a:spAutoFit/>
          </a:bodyPr>
          <a:lstStyle/>
          <a:p>
            <a:pPr algn="ctr"/>
            <a:r>
              <a:rPr lang="en-US" altLang="zh-CN" sz="1200" b="1" dirty="0">
                <a:solidFill>
                  <a:schemeClr val="tx1"/>
                </a:solidFill>
                <a:latin typeface="微软雅黑" panose="020B0503020204020204" pitchFamily="34" charset="-122"/>
                <a:ea typeface="微软雅黑" panose="020B0503020204020204" pitchFamily="34" charset="-122"/>
              </a:rPr>
              <a:t>NHTSA</a:t>
            </a:r>
          </a:p>
          <a:p>
            <a:pPr algn="ctr"/>
            <a:r>
              <a:rPr lang="en-US" altLang="zh-CN" sz="1400" b="1" dirty="0">
                <a:solidFill>
                  <a:schemeClr val="tx1"/>
                </a:solidFill>
                <a:latin typeface="微软雅黑" panose="020B0503020204020204" pitchFamily="34" charset="-122"/>
                <a:ea typeface="微软雅黑" panose="020B0503020204020204" pitchFamily="34" charset="-122"/>
              </a:rPr>
              <a:t>csv</a:t>
            </a:r>
          </a:p>
          <a:p>
            <a:pPr algn="ctr"/>
            <a:r>
              <a:rPr lang="zh-CN" altLang="en-US" sz="1400" b="1" dirty="0">
                <a:solidFill>
                  <a:schemeClr val="tx1"/>
                </a:solidFill>
                <a:latin typeface="微软雅黑" panose="020B0503020204020204" pitchFamily="34" charset="-122"/>
                <a:ea typeface="微软雅黑" panose="020B0503020204020204" pitchFamily="34" charset="-122"/>
              </a:rPr>
              <a:t>格式</a:t>
            </a:r>
            <a:endParaRPr lang="en-US" altLang="zh-CN" sz="1400" b="1" dirty="0">
              <a:solidFill>
                <a:schemeClr val="tx1"/>
              </a:solidFill>
              <a:latin typeface="微软雅黑" panose="020B0503020204020204" pitchFamily="34" charset="-122"/>
              <a:ea typeface="微软雅黑" panose="020B0503020204020204" pitchFamily="34" charset="-122"/>
            </a:endParaRPr>
          </a:p>
          <a:p>
            <a:pPr algn="ctr"/>
            <a:r>
              <a:rPr lang="zh-CN" altLang="en-US" sz="1400" b="1" dirty="0">
                <a:solidFill>
                  <a:schemeClr val="tx1"/>
                </a:solidFill>
                <a:latin typeface="微软雅黑" panose="020B0503020204020204" pitchFamily="34" charset="-122"/>
                <a:ea typeface="微软雅黑" panose="020B0503020204020204" pitchFamily="34" charset="-122"/>
              </a:rPr>
              <a:t>文件</a:t>
            </a:r>
          </a:p>
        </p:txBody>
      </p:sp>
      <p:sp>
        <p:nvSpPr>
          <p:cNvPr id="112" name="文本框 111">
            <a:extLst>
              <a:ext uri="{FF2B5EF4-FFF2-40B4-BE49-F238E27FC236}">
                <a16:creationId xmlns:a16="http://schemas.microsoft.com/office/drawing/2014/main" id="{593D4730-32FF-4698-A43D-2341A4C2AE60}"/>
              </a:ext>
            </a:extLst>
          </p:cNvPr>
          <p:cNvSpPr txBox="1"/>
          <p:nvPr/>
        </p:nvSpPr>
        <p:spPr>
          <a:xfrm>
            <a:off x="5132732" y="1948810"/>
            <a:ext cx="900000" cy="307777"/>
          </a:xfrm>
          <a:prstGeom prst="rect">
            <a:avLst/>
          </a:prstGeom>
          <a:solidFill>
            <a:schemeClr val="accent5">
              <a:lumMod val="40000"/>
              <a:lumOff val="60000"/>
            </a:schemeClr>
          </a:solid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道路条件</a:t>
            </a:r>
          </a:p>
        </p:txBody>
      </p:sp>
      <p:sp>
        <p:nvSpPr>
          <p:cNvPr id="121" name="文本框 120">
            <a:extLst>
              <a:ext uri="{FF2B5EF4-FFF2-40B4-BE49-F238E27FC236}">
                <a16:creationId xmlns:a16="http://schemas.microsoft.com/office/drawing/2014/main" id="{5C480AB4-EF37-4BDB-9D44-3F63A20D9A00}"/>
              </a:ext>
            </a:extLst>
          </p:cNvPr>
          <p:cNvSpPr txBox="1"/>
          <p:nvPr/>
        </p:nvSpPr>
        <p:spPr>
          <a:xfrm>
            <a:off x="6165587" y="1948810"/>
            <a:ext cx="733662" cy="307777"/>
          </a:xfrm>
          <a:prstGeom prst="rect">
            <a:avLst/>
          </a:prstGeom>
          <a:solidFill>
            <a:schemeClr val="accent5">
              <a:lumMod val="40000"/>
              <a:lumOff val="60000"/>
            </a:schemeClr>
          </a:solidFill>
        </p:spPr>
        <p:txBody>
          <a:bodyPr wrap="square">
            <a:spAutoFit/>
          </a:bodyPr>
          <a:lstStyle>
            <a:defPPr>
              <a:defRPr lang="en-US"/>
            </a:defPPr>
            <a:lvl1pPr algn="ctr">
              <a:defRPr sz="1400" b="1">
                <a:latin typeface="微软雅黑" panose="020B0503020204020204" pitchFamily="34" charset="-122"/>
                <a:ea typeface="微软雅黑" panose="020B0503020204020204" pitchFamily="34" charset="-122"/>
              </a:defRPr>
            </a:lvl1pPr>
          </a:lstStyle>
          <a:p>
            <a:r>
              <a:rPr lang="zh-CN" altLang="en-US" dirty="0"/>
              <a:t>经纬度</a:t>
            </a:r>
          </a:p>
        </p:txBody>
      </p:sp>
      <p:sp>
        <p:nvSpPr>
          <p:cNvPr id="122" name="文本框 121">
            <a:extLst>
              <a:ext uri="{FF2B5EF4-FFF2-40B4-BE49-F238E27FC236}">
                <a16:creationId xmlns:a16="http://schemas.microsoft.com/office/drawing/2014/main" id="{DC464397-A162-4D71-A8FA-D288883312E6}"/>
              </a:ext>
            </a:extLst>
          </p:cNvPr>
          <p:cNvSpPr txBox="1"/>
          <p:nvPr/>
        </p:nvSpPr>
        <p:spPr>
          <a:xfrm>
            <a:off x="7032104" y="1948810"/>
            <a:ext cx="900000" cy="307777"/>
          </a:xfrm>
          <a:prstGeom prst="rect">
            <a:avLst/>
          </a:prstGeom>
          <a:solidFill>
            <a:schemeClr val="accent5">
              <a:lumMod val="40000"/>
              <a:lumOff val="60000"/>
            </a:schemeClr>
          </a:solidFill>
        </p:spPr>
        <p:txBody>
          <a:bodyPr wrap="square">
            <a:spAutoFit/>
          </a:bodyPr>
          <a:lstStyle>
            <a:defPPr>
              <a:defRPr lang="en-US"/>
            </a:defPPr>
            <a:lvl1pPr algn="ctr">
              <a:defRPr sz="1400" b="1">
                <a:latin typeface="微软雅黑" panose="020B0503020204020204" pitchFamily="34" charset="-122"/>
                <a:ea typeface="微软雅黑" panose="020B0503020204020204" pitchFamily="34" charset="-122"/>
              </a:defRPr>
            </a:lvl1pPr>
          </a:lstStyle>
          <a:p>
            <a:r>
              <a:rPr lang="zh-CN" altLang="en-US" dirty="0"/>
              <a:t>街道地址</a:t>
            </a:r>
          </a:p>
        </p:txBody>
      </p:sp>
      <p:sp>
        <p:nvSpPr>
          <p:cNvPr id="123" name="文本框 122">
            <a:extLst>
              <a:ext uri="{FF2B5EF4-FFF2-40B4-BE49-F238E27FC236}">
                <a16:creationId xmlns:a16="http://schemas.microsoft.com/office/drawing/2014/main" id="{CC428607-F5DD-4969-809E-424B36C2E670}"/>
              </a:ext>
            </a:extLst>
          </p:cNvPr>
          <p:cNvSpPr txBox="1"/>
          <p:nvPr/>
        </p:nvSpPr>
        <p:spPr>
          <a:xfrm>
            <a:off x="8391221" y="1948810"/>
            <a:ext cx="900000" cy="307777"/>
          </a:xfrm>
          <a:prstGeom prst="rect">
            <a:avLst/>
          </a:prstGeom>
          <a:solidFill>
            <a:schemeClr val="accent5">
              <a:lumMod val="40000"/>
              <a:lumOff val="60000"/>
            </a:schemeClr>
          </a:solidFill>
        </p:spPr>
        <p:txBody>
          <a:bodyPr wrap="square">
            <a:spAutoFit/>
          </a:bodyPr>
          <a:lstStyle>
            <a:defPPr>
              <a:defRPr lang="en-US"/>
            </a:defPPr>
            <a:lvl1pPr algn="ctr">
              <a:defRPr sz="1400" b="1">
                <a:latin typeface="微软雅黑" panose="020B0503020204020204" pitchFamily="34" charset="-122"/>
                <a:ea typeface="微软雅黑" panose="020B0503020204020204" pitchFamily="34" charset="-122"/>
              </a:defRPr>
            </a:lvl1pPr>
          </a:lstStyle>
          <a:p>
            <a:r>
              <a:rPr lang="zh-CN" altLang="en-US" dirty="0"/>
              <a:t>车辆型号</a:t>
            </a:r>
          </a:p>
        </p:txBody>
      </p:sp>
      <p:sp>
        <p:nvSpPr>
          <p:cNvPr id="124" name="文本框 123">
            <a:extLst>
              <a:ext uri="{FF2B5EF4-FFF2-40B4-BE49-F238E27FC236}">
                <a16:creationId xmlns:a16="http://schemas.microsoft.com/office/drawing/2014/main" id="{C43B1153-48EB-4073-A54F-30AED9FD4AFF}"/>
              </a:ext>
            </a:extLst>
          </p:cNvPr>
          <p:cNvSpPr txBox="1"/>
          <p:nvPr/>
        </p:nvSpPr>
        <p:spPr>
          <a:xfrm>
            <a:off x="9424076" y="1948810"/>
            <a:ext cx="900000" cy="307777"/>
          </a:xfrm>
          <a:prstGeom prst="rect">
            <a:avLst/>
          </a:prstGeom>
          <a:solidFill>
            <a:schemeClr val="accent5">
              <a:lumMod val="40000"/>
              <a:lumOff val="60000"/>
            </a:schemeClr>
          </a:solidFill>
        </p:spPr>
        <p:txBody>
          <a:bodyPr wrap="square">
            <a:spAutoFit/>
          </a:bodyPr>
          <a:lstStyle>
            <a:defPPr>
              <a:defRPr lang="en-US"/>
            </a:defPPr>
            <a:lvl1pPr algn="ctr">
              <a:defRPr sz="1400" b="1">
                <a:latin typeface="微软雅黑" panose="020B0503020204020204" pitchFamily="34" charset="-122"/>
                <a:ea typeface="微软雅黑" panose="020B0503020204020204" pitchFamily="34" charset="-122"/>
              </a:defRPr>
            </a:lvl1pPr>
          </a:lstStyle>
          <a:p>
            <a:r>
              <a:rPr lang="zh-CN" altLang="en-US" dirty="0"/>
              <a:t>车辆属性</a:t>
            </a:r>
          </a:p>
        </p:txBody>
      </p:sp>
      <p:sp>
        <p:nvSpPr>
          <p:cNvPr id="125" name="文本框 124">
            <a:extLst>
              <a:ext uri="{FF2B5EF4-FFF2-40B4-BE49-F238E27FC236}">
                <a16:creationId xmlns:a16="http://schemas.microsoft.com/office/drawing/2014/main" id="{3A19D575-71A3-4B05-B713-1B63117137C0}"/>
              </a:ext>
            </a:extLst>
          </p:cNvPr>
          <p:cNvSpPr txBox="1"/>
          <p:nvPr/>
        </p:nvSpPr>
        <p:spPr>
          <a:xfrm>
            <a:off x="9840416" y="2471649"/>
            <a:ext cx="672901" cy="1169551"/>
          </a:xfrm>
          <a:prstGeom prst="rect">
            <a:avLst/>
          </a:prstGeom>
          <a:noFill/>
        </p:spPr>
        <p:txBody>
          <a:bodyPr wrap="square" anchor="ctr">
            <a:spAutoFit/>
          </a:bodyPr>
          <a:lstStyle/>
          <a:p>
            <a:pPr algn="ctr"/>
            <a:r>
              <a:rPr lang="zh-CN" altLang="en-US" sz="1400" b="1" dirty="0">
                <a:latin typeface="微软雅黑" panose="020B0503020204020204" pitchFamily="34" charset="-122"/>
                <a:ea typeface="微软雅黑" panose="020B0503020204020204" pitchFamily="34" charset="-122"/>
              </a:rPr>
              <a:t>数据融合与</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字段统一</a:t>
            </a:r>
          </a:p>
        </p:txBody>
      </p:sp>
      <p:cxnSp>
        <p:nvCxnSpPr>
          <p:cNvPr id="127" name="直接箭头连接符 126">
            <a:extLst>
              <a:ext uri="{FF2B5EF4-FFF2-40B4-BE49-F238E27FC236}">
                <a16:creationId xmlns:a16="http://schemas.microsoft.com/office/drawing/2014/main" id="{E64C7563-4321-47C7-9C00-07EE03E2B936}"/>
              </a:ext>
            </a:extLst>
          </p:cNvPr>
          <p:cNvCxnSpPr>
            <a:cxnSpLocks/>
          </p:cNvCxnSpPr>
          <p:nvPr/>
        </p:nvCxnSpPr>
        <p:spPr>
          <a:xfrm>
            <a:off x="5632232" y="3056424"/>
            <a:ext cx="463768"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0" name="文本框 129">
            <a:extLst>
              <a:ext uri="{FF2B5EF4-FFF2-40B4-BE49-F238E27FC236}">
                <a16:creationId xmlns:a16="http://schemas.microsoft.com/office/drawing/2014/main" id="{102068E0-C2A0-4645-A164-8A34F82DDABC}"/>
              </a:ext>
            </a:extLst>
          </p:cNvPr>
          <p:cNvSpPr txBox="1"/>
          <p:nvPr/>
        </p:nvSpPr>
        <p:spPr>
          <a:xfrm>
            <a:off x="5087888" y="2579371"/>
            <a:ext cx="589188" cy="954107"/>
          </a:xfrm>
          <a:prstGeom prst="rect">
            <a:avLst/>
          </a:prstGeom>
          <a:noFill/>
        </p:spPr>
        <p:txBody>
          <a:bodyPr wrap="square" anchor="ctr">
            <a:spAutoFit/>
          </a:bodyPr>
          <a:lstStyle/>
          <a:p>
            <a:pPr algn="ctr"/>
            <a:r>
              <a:rPr lang="zh-CN" altLang="en-US" sz="1400" b="1" dirty="0">
                <a:solidFill>
                  <a:schemeClr val="tx1"/>
                </a:solidFill>
                <a:latin typeface="微软雅黑" panose="020B0503020204020204" pitchFamily="34" charset="-122"/>
                <a:ea typeface="微软雅黑" panose="020B0503020204020204" pitchFamily="34" charset="-122"/>
              </a:rPr>
              <a:t>事故报告</a:t>
            </a:r>
            <a:r>
              <a:rPr lang="en-US" altLang="zh-CN" sz="1400" b="1" dirty="0">
                <a:solidFill>
                  <a:schemeClr val="tx1"/>
                </a:solidFill>
                <a:latin typeface="微软雅黑" panose="020B0503020204020204" pitchFamily="34" charset="-122"/>
                <a:ea typeface="微软雅黑" panose="020B0503020204020204" pitchFamily="34" charset="-122"/>
              </a:rPr>
              <a:t>PDF</a:t>
            </a:r>
            <a:r>
              <a:rPr lang="zh-CN" altLang="en-US" sz="1400" b="1" dirty="0">
                <a:solidFill>
                  <a:schemeClr val="tx1"/>
                </a:solidFill>
                <a:latin typeface="微软雅黑" panose="020B0503020204020204" pitchFamily="34" charset="-122"/>
                <a:ea typeface="微软雅黑" panose="020B0503020204020204" pitchFamily="34" charset="-122"/>
              </a:rPr>
              <a:t>提取</a:t>
            </a:r>
          </a:p>
        </p:txBody>
      </p:sp>
      <p:sp>
        <p:nvSpPr>
          <p:cNvPr id="133" name="文本框 132">
            <a:extLst>
              <a:ext uri="{FF2B5EF4-FFF2-40B4-BE49-F238E27FC236}">
                <a16:creationId xmlns:a16="http://schemas.microsoft.com/office/drawing/2014/main" id="{13D37022-3F02-4DE5-81BF-E25F15427DD3}"/>
              </a:ext>
            </a:extLst>
          </p:cNvPr>
          <p:cNvSpPr txBox="1"/>
          <p:nvPr/>
        </p:nvSpPr>
        <p:spPr>
          <a:xfrm>
            <a:off x="6008764" y="2687092"/>
            <a:ext cx="589188" cy="738664"/>
          </a:xfrm>
          <a:prstGeom prst="rect">
            <a:avLst/>
          </a:prstGeom>
          <a:noFill/>
        </p:spPr>
        <p:txBody>
          <a:bodyPr wrap="square" anchor="ctr">
            <a:spAutoFit/>
          </a:bodyPr>
          <a:lstStyle/>
          <a:p>
            <a:pPr algn="ctr"/>
            <a:r>
              <a:rPr lang="zh-CN" altLang="en-US" sz="1400" b="1" dirty="0">
                <a:latin typeface="微软雅黑" panose="020B0503020204020204" pitchFamily="34" charset="-122"/>
                <a:ea typeface="微软雅黑" panose="020B0503020204020204" pitchFamily="34" charset="-122"/>
              </a:rPr>
              <a:t>变量区域识别</a:t>
            </a:r>
          </a:p>
        </p:txBody>
      </p:sp>
      <p:cxnSp>
        <p:nvCxnSpPr>
          <p:cNvPr id="134" name="直接箭头连接符 133">
            <a:extLst>
              <a:ext uri="{FF2B5EF4-FFF2-40B4-BE49-F238E27FC236}">
                <a16:creationId xmlns:a16="http://schemas.microsoft.com/office/drawing/2014/main" id="{72CA4FD6-1AC5-4222-8717-CB1D3CA61B90}"/>
              </a:ext>
            </a:extLst>
          </p:cNvPr>
          <p:cNvCxnSpPr>
            <a:cxnSpLocks/>
          </p:cNvCxnSpPr>
          <p:nvPr/>
        </p:nvCxnSpPr>
        <p:spPr>
          <a:xfrm>
            <a:off x="6556381" y="3056424"/>
            <a:ext cx="463768"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135" name="直接箭头连接符 134">
            <a:extLst>
              <a:ext uri="{FF2B5EF4-FFF2-40B4-BE49-F238E27FC236}">
                <a16:creationId xmlns:a16="http://schemas.microsoft.com/office/drawing/2014/main" id="{BAE68763-A735-44E3-9833-594E3F62458C}"/>
              </a:ext>
            </a:extLst>
          </p:cNvPr>
          <p:cNvCxnSpPr>
            <a:cxnSpLocks/>
          </p:cNvCxnSpPr>
          <p:nvPr/>
        </p:nvCxnSpPr>
        <p:spPr>
          <a:xfrm>
            <a:off x="7477141" y="3056424"/>
            <a:ext cx="463768"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37" name="加号 136">
            <a:extLst>
              <a:ext uri="{FF2B5EF4-FFF2-40B4-BE49-F238E27FC236}">
                <a16:creationId xmlns:a16="http://schemas.microsoft.com/office/drawing/2014/main" id="{8081A203-5A84-4647-B402-E30005EB1C59}"/>
              </a:ext>
            </a:extLst>
          </p:cNvPr>
          <p:cNvSpPr/>
          <p:nvPr/>
        </p:nvSpPr>
        <p:spPr>
          <a:xfrm>
            <a:off x="8497094" y="2926285"/>
            <a:ext cx="259183" cy="260278"/>
          </a:xfrm>
          <a:prstGeom prst="mathPlus">
            <a:avLst>
              <a:gd name="adj1" fmla="val 1283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38" name="直接箭头连接符 137">
            <a:extLst>
              <a:ext uri="{FF2B5EF4-FFF2-40B4-BE49-F238E27FC236}">
                <a16:creationId xmlns:a16="http://schemas.microsoft.com/office/drawing/2014/main" id="{EE2B3652-F836-4707-9855-5A0B65DF2E24}"/>
              </a:ext>
            </a:extLst>
          </p:cNvPr>
          <p:cNvCxnSpPr>
            <a:cxnSpLocks/>
          </p:cNvCxnSpPr>
          <p:nvPr/>
        </p:nvCxnSpPr>
        <p:spPr>
          <a:xfrm>
            <a:off x="9494886" y="3056424"/>
            <a:ext cx="463768"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139" name="直接箭头连接符 138">
            <a:extLst>
              <a:ext uri="{FF2B5EF4-FFF2-40B4-BE49-F238E27FC236}">
                <a16:creationId xmlns:a16="http://schemas.microsoft.com/office/drawing/2014/main" id="{FFC1F371-AC6B-413E-8E38-6E4DD3B16F03}"/>
              </a:ext>
            </a:extLst>
          </p:cNvPr>
          <p:cNvCxnSpPr>
            <a:cxnSpLocks/>
          </p:cNvCxnSpPr>
          <p:nvPr/>
        </p:nvCxnSpPr>
        <p:spPr>
          <a:xfrm>
            <a:off x="10411425" y="3056424"/>
            <a:ext cx="463768"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141" name="连接符: 肘形 140">
            <a:extLst>
              <a:ext uri="{FF2B5EF4-FFF2-40B4-BE49-F238E27FC236}">
                <a16:creationId xmlns:a16="http://schemas.microsoft.com/office/drawing/2014/main" id="{171E6B35-ADED-4DDB-8D3D-86DDF6A873DC}"/>
              </a:ext>
            </a:extLst>
          </p:cNvPr>
          <p:cNvCxnSpPr>
            <a:stCxn id="90" idx="0"/>
            <a:endCxn id="122" idx="3"/>
          </p:cNvCxnSpPr>
          <p:nvPr/>
        </p:nvCxnSpPr>
        <p:spPr>
          <a:xfrm rot="16200000" flipV="1">
            <a:off x="7869887" y="2164917"/>
            <a:ext cx="365125" cy="240690"/>
          </a:xfrm>
          <a:prstGeom prst="bentConnector2">
            <a:avLst/>
          </a:prstGeom>
          <a:ln w="25400">
            <a:tailEnd type="triangle"/>
          </a:ln>
        </p:spPr>
        <p:style>
          <a:lnRef idx="1">
            <a:schemeClr val="dk1"/>
          </a:lnRef>
          <a:fillRef idx="0">
            <a:schemeClr val="dk1"/>
          </a:fillRef>
          <a:effectRef idx="0">
            <a:schemeClr val="dk1"/>
          </a:effectRef>
          <a:fontRef idx="minor">
            <a:schemeClr val="tx1"/>
          </a:fontRef>
        </p:style>
      </p:cxnSp>
      <p:cxnSp>
        <p:nvCxnSpPr>
          <p:cNvPr id="143" name="连接符: 肘形 142">
            <a:extLst>
              <a:ext uri="{FF2B5EF4-FFF2-40B4-BE49-F238E27FC236}">
                <a16:creationId xmlns:a16="http://schemas.microsoft.com/office/drawing/2014/main" id="{3EAF84AF-94F8-4CC5-A93B-E0174B0B99D0}"/>
              </a:ext>
            </a:extLst>
          </p:cNvPr>
          <p:cNvCxnSpPr>
            <a:stCxn id="90" idx="0"/>
            <a:endCxn id="123" idx="1"/>
          </p:cNvCxnSpPr>
          <p:nvPr/>
        </p:nvCxnSpPr>
        <p:spPr>
          <a:xfrm rot="5400000" flipH="1" flipV="1">
            <a:off x="8099445" y="2176049"/>
            <a:ext cx="365125" cy="218427"/>
          </a:xfrm>
          <a:prstGeom prst="bentConnector2">
            <a:avLst/>
          </a:prstGeom>
          <a:ln w="25400">
            <a:tailEnd type="triangle"/>
          </a:ln>
        </p:spPr>
        <p:style>
          <a:lnRef idx="1">
            <a:schemeClr val="dk1"/>
          </a:lnRef>
          <a:fillRef idx="0">
            <a:schemeClr val="dk1"/>
          </a:fillRef>
          <a:effectRef idx="0">
            <a:schemeClr val="dk1"/>
          </a:effectRef>
          <a:fontRef idx="minor">
            <a:schemeClr val="tx1"/>
          </a:fontRef>
        </p:style>
      </p:cxnSp>
      <p:cxnSp>
        <p:nvCxnSpPr>
          <p:cNvPr id="145" name="直接箭头连接符 144">
            <a:extLst>
              <a:ext uri="{FF2B5EF4-FFF2-40B4-BE49-F238E27FC236}">
                <a16:creationId xmlns:a16="http://schemas.microsoft.com/office/drawing/2014/main" id="{A3D77BED-E6DB-4A94-A03A-0B58E021020A}"/>
              </a:ext>
            </a:extLst>
          </p:cNvPr>
          <p:cNvCxnSpPr>
            <a:stCxn id="122" idx="1"/>
            <a:endCxn id="121" idx="3"/>
          </p:cNvCxnSpPr>
          <p:nvPr/>
        </p:nvCxnSpPr>
        <p:spPr>
          <a:xfrm flipH="1">
            <a:off x="6899249" y="2102699"/>
            <a:ext cx="132855"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146" name="直接箭头连接符 145">
            <a:extLst>
              <a:ext uri="{FF2B5EF4-FFF2-40B4-BE49-F238E27FC236}">
                <a16:creationId xmlns:a16="http://schemas.microsoft.com/office/drawing/2014/main" id="{84910E36-6506-44F0-8684-497D5672AAE7}"/>
              </a:ext>
            </a:extLst>
          </p:cNvPr>
          <p:cNvCxnSpPr/>
          <p:nvPr/>
        </p:nvCxnSpPr>
        <p:spPr>
          <a:xfrm flipH="1">
            <a:off x="6032732" y="2102698"/>
            <a:ext cx="132855"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cxnSp>
        <p:nvCxnSpPr>
          <p:cNvPr id="148" name="直接箭头连接符 147">
            <a:extLst>
              <a:ext uri="{FF2B5EF4-FFF2-40B4-BE49-F238E27FC236}">
                <a16:creationId xmlns:a16="http://schemas.microsoft.com/office/drawing/2014/main" id="{70625A8F-4313-44D3-B529-041EC2E58E03}"/>
              </a:ext>
            </a:extLst>
          </p:cNvPr>
          <p:cNvCxnSpPr>
            <a:stCxn id="123" idx="3"/>
            <a:endCxn id="124" idx="1"/>
          </p:cNvCxnSpPr>
          <p:nvPr/>
        </p:nvCxnSpPr>
        <p:spPr>
          <a:xfrm>
            <a:off x="9291221" y="2102699"/>
            <a:ext cx="132855"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58" name="矩形: 圆角 157">
            <a:extLst>
              <a:ext uri="{FF2B5EF4-FFF2-40B4-BE49-F238E27FC236}">
                <a16:creationId xmlns:a16="http://schemas.microsoft.com/office/drawing/2014/main" id="{A65CB8C0-9632-402A-AF5A-B5C140513DD2}"/>
              </a:ext>
            </a:extLst>
          </p:cNvPr>
          <p:cNvSpPr/>
          <p:nvPr/>
        </p:nvSpPr>
        <p:spPr>
          <a:xfrm>
            <a:off x="5143745" y="3871959"/>
            <a:ext cx="6365497" cy="4269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C00000"/>
                </a:solidFill>
                <a:latin typeface="微软雅黑" panose="020B0503020204020204" pitchFamily="34" charset="-122"/>
                <a:ea typeface="微软雅黑" panose="020B0503020204020204" pitchFamily="34" charset="-122"/>
              </a:rPr>
              <a:t>时空分布特征和基本属性分析</a:t>
            </a:r>
          </a:p>
        </p:txBody>
      </p:sp>
      <p:pic>
        <p:nvPicPr>
          <p:cNvPr id="160" name="图片 159">
            <a:extLst>
              <a:ext uri="{FF2B5EF4-FFF2-40B4-BE49-F238E27FC236}">
                <a16:creationId xmlns:a16="http://schemas.microsoft.com/office/drawing/2014/main" id="{00F6DC1C-880A-4EBC-956D-B72871662FBA}"/>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7134980" y="4364899"/>
            <a:ext cx="5183580" cy="2304461"/>
          </a:xfrm>
          <a:prstGeom prst="rect">
            <a:avLst/>
          </a:prstGeom>
        </p:spPr>
      </p:pic>
      <p:cxnSp>
        <p:nvCxnSpPr>
          <p:cNvPr id="162" name="连接符: 肘形 161">
            <a:extLst>
              <a:ext uri="{FF2B5EF4-FFF2-40B4-BE49-F238E27FC236}">
                <a16:creationId xmlns:a16="http://schemas.microsoft.com/office/drawing/2014/main" id="{0D0676B0-B56B-443C-BDEB-B9F4FCB9CB73}"/>
              </a:ext>
            </a:extLst>
          </p:cNvPr>
          <p:cNvCxnSpPr>
            <a:stCxn id="99" idx="3"/>
            <a:endCxn id="158" idx="3"/>
          </p:cNvCxnSpPr>
          <p:nvPr/>
        </p:nvCxnSpPr>
        <p:spPr>
          <a:xfrm flipH="1">
            <a:off x="11509242" y="3056425"/>
            <a:ext cx="4223" cy="1029008"/>
          </a:xfrm>
          <a:prstGeom prst="bentConnector3">
            <a:avLst>
              <a:gd name="adj1" fmla="val -5413213"/>
            </a:avLst>
          </a:prstGeom>
          <a:ln w="25400">
            <a:tailEnd type="triangle"/>
          </a:ln>
        </p:spPr>
        <p:style>
          <a:lnRef idx="1">
            <a:schemeClr val="dk1"/>
          </a:lnRef>
          <a:fillRef idx="0">
            <a:schemeClr val="dk1"/>
          </a:fillRef>
          <a:effectRef idx="0">
            <a:schemeClr val="dk1"/>
          </a:effectRef>
          <a:fontRef idx="minor">
            <a:schemeClr val="tx1"/>
          </a:fontRef>
        </p:style>
      </p:cxnSp>
      <p:pic>
        <p:nvPicPr>
          <p:cNvPr id="11266" name="图片 1030" descr="严重分布">
            <a:extLst>
              <a:ext uri="{FF2B5EF4-FFF2-40B4-BE49-F238E27FC236}">
                <a16:creationId xmlns:a16="http://schemas.microsoft.com/office/drawing/2014/main" id="{0AA684F5-FAF6-4529-BC25-532962A8692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7888" y="4591680"/>
            <a:ext cx="2209904" cy="1789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 name="文本框 163">
            <a:extLst>
              <a:ext uri="{FF2B5EF4-FFF2-40B4-BE49-F238E27FC236}">
                <a16:creationId xmlns:a16="http://schemas.microsoft.com/office/drawing/2014/main" id="{A645D603-2146-44D0-8580-1D72E15EA844}"/>
              </a:ext>
            </a:extLst>
          </p:cNvPr>
          <p:cNvSpPr txBox="1"/>
          <p:nvPr/>
        </p:nvSpPr>
        <p:spPr>
          <a:xfrm>
            <a:off x="10056439" y="2564904"/>
            <a:ext cx="1142576" cy="523220"/>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扩展</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补充</a:t>
            </a:r>
          </a:p>
        </p:txBody>
      </p:sp>
      <p:sp>
        <p:nvSpPr>
          <p:cNvPr id="165" name="文本框 164">
            <a:extLst>
              <a:ext uri="{FF2B5EF4-FFF2-40B4-BE49-F238E27FC236}">
                <a16:creationId xmlns:a16="http://schemas.microsoft.com/office/drawing/2014/main" id="{54996473-03BA-45AB-8FB3-A6A2DCFC2BE1}"/>
              </a:ext>
            </a:extLst>
          </p:cNvPr>
          <p:cNvSpPr txBox="1"/>
          <p:nvPr/>
        </p:nvSpPr>
        <p:spPr>
          <a:xfrm>
            <a:off x="10056439" y="3038033"/>
            <a:ext cx="1142576" cy="523220"/>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清洗</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离散</a:t>
            </a:r>
          </a:p>
        </p:txBody>
      </p:sp>
    </p:spTree>
    <p:extLst>
      <p:ext uri="{BB962C8B-B14F-4D97-AF65-F5344CB8AC3E}">
        <p14:creationId xmlns:p14="http://schemas.microsoft.com/office/powerpoint/2010/main" val="81366468"/>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59">
            <a:extLst>
              <a:ext uri="{FF2B5EF4-FFF2-40B4-BE49-F238E27FC236}">
                <a16:creationId xmlns:a16="http://schemas.microsoft.com/office/drawing/2014/main" id="{C2D275FB-F2F5-498A-A50F-AF3AC247C09C}"/>
              </a:ext>
            </a:extLst>
          </p:cNvPr>
          <p:cNvSpPr>
            <a:spLocks noChangeArrowheads="1"/>
          </p:cNvSpPr>
          <p:nvPr/>
        </p:nvSpPr>
        <p:spPr bwMode="auto">
          <a:xfrm>
            <a:off x="335359" y="116632"/>
            <a:ext cx="77234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研究内容二：</a:t>
            </a:r>
            <a:r>
              <a:rPr lang="zh-CN" altLang="en-US" sz="2400" b="1" dirty="0">
                <a:solidFill>
                  <a:srgbClr val="FFC000"/>
                </a:solidFill>
                <a:latin typeface="微软雅黑" panose="020B0503020204020204" pitchFamily="34" charset="-122"/>
                <a:ea typeface="微软雅黑" panose="020B0503020204020204" pitchFamily="34" charset="-122"/>
              </a:rPr>
              <a:t>典型场景识别与特征分析</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CB2F461D-7F49-4510-BA9A-EF61071D0448}"/>
              </a:ext>
            </a:extLst>
          </p:cNvPr>
          <p:cNvSpPr/>
          <p:nvPr/>
        </p:nvSpPr>
        <p:spPr>
          <a:xfrm>
            <a:off x="529342" y="1052736"/>
            <a:ext cx="11242590" cy="6120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识别典型场景，揭示变量依赖关系与风险动态迁移规律</a:t>
            </a:r>
          </a:p>
        </p:txBody>
      </p:sp>
      <p:sp>
        <p:nvSpPr>
          <p:cNvPr id="43" name="矩形: 圆角 42">
            <a:extLst>
              <a:ext uri="{FF2B5EF4-FFF2-40B4-BE49-F238E27FC236}">
                <a16:creationId xmlns:a16="http://schemas.microsoft.com/office/drawing/2014/main" id="{F0128B85-265E-49BB-933D-71083936C0EC}"/>
              </a:ext>
            </a:extLst>
          </p:cNvPr>
          <p:cNvSpPr>
            <a:spLocks/>
          </p:cNvSpPr>
          <p:nvPr/>
        </p:nvSpPr>
        <p:spPr>
          <a:xfrm>
            <a:off x="529342" y="1868166"/>
            <a:ext cx="4639934" cy="447292"/>
          </a:xfrm>
          <a:prstGeom prst="roundRect">
            <a:avLst>
              <a:gd name="adj" fmla="val 8568"/>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基于聚类分析的典型场景画像</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45" name="矩形: 圆角 44">
            <a:extLst>
              <a:ext uri="{FF2B5EF4-FFF2-40B4-BE49-F238E27FC236}">
                <a16:creationId xmlns:a16="http://schemas.microsoft.com/office/drawing/2014/main" id="{ABEAD6BA-EF17-4FDC-84A6-52261A643DBB}"/>
              </a:ext>
            </a:extLst>
          </p:cNvPr>
          <p:cNvSpPr>
            <a:spLocks/>
          </p:cNvSpPr>
          <p:nvPr/>
        </p:nvSpPr>
        <p:spPr>
          <a:xfrm>
            <a:off x="7032104" y="1868166"/>
            <a:ext cx="4176464" cy="447292"/>
          </a:xfrm>
          <a:prstGeom prst="roundRect">
            <a:avLst>
              <a:gd name="adj" fmla="val 8568"/>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基于</a:t>
            </a:r>
            <a:r>
              <a:rPr lang="en-US" altLang="zh-CN" sz="1600" b="1" dirty="0">
                <a:solidFill>
                  <a:schemeClr val="bg1"/>
                </a:solidFill>
                <a:latin typeface="微软雅黑" panose="020B0503020204020204" pitchFamily="34" charset="-122"/>
                <a:ea typeface="微软雅黑" panose="020B0503020204020204" pitchFamily="34" charset="-122"/>
              </a:rPr>
              <a:t>TAN</a:t>
            </a:r>
            <a:r>
              <a:rPr lang="zh-CN" altLang="en-US" sz="1600" b="1" dirty="0">
                <a:solidFill>
                  <a:schemeClr val="bg1"/>
                </a:solidFill>
                <a:latin typeface="微软雅黑" panose="020B0503020204020204" pitchFamily="34" charset="-122"/>
                <a:ea typeface="微软雅黑" panose="020B0503020204020204" pitchFamily="34" charset="-122"/>
              </a:rPr>
              <a:t>的特征变量依赖关系分析</a:t>
            </a:r>
          </a:p>
        </p:txBody>
      </p:sp>
      <p:sp>
        <p:nvSpPr>
          <p:cNvPr id="46" name="矩形: 圆角 45">
            <a:extLst>
              <a:ext uri="{FF2B5EF4-FFF2-40B4-BE49-F238E27FC236}">
                <a16:creationId xmlns:a16="http://schemas.microsoft.com/office/drawing/2014/main" id="{82D71022-F260-4A3A-ACAE-D6323D011AF0}"/>
              </a:ext>
            </a:extLst>
          </p:cNvPr>
          <p:cNvSpPr>
            <a:spLocks/>
          </p:cNvSpPr>
          <p:nvPr/>
        </p:nvSpPr>
        <p:spPr>
          <a:xfrm>
            <a:off x="7032104" y="4108036"/>
            <a:ext cx="4176464" cy="447292"/>
          </a:xfrm>
          <a:prstGeom prst="roundRect">
            <a:avLst>
              <a:gd name="adj" fmla="val 8568"/>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基于情景模拟的聚类迁移分析</a:t>
            </a:r>
          </a:p>
        </p:txBody>
      </p:sp>
      <p:sp>
        <p:nvSpPr>
          <p:cNvPr id="47" name="矩形 46">
            <a:extLst>
              <a:ext uri="{FF2B5EF4-FFF2-40B4-BE49-F238E27FC236}">
                <a16:creationId xmlns:a16="http://schemas.microsoft.com/office/drawing/2014/main" id="{B21351FB-B8E4-4DC7-823D-3A037A7A3938}"/>
              </a:ext>
            </a:extLst>
          </p:cNvPr>
          <p:cNvSpPr/>
          <p:nvPr/>
        </p:nvSpPr>
        <p:spPr>
          <a:xfrm>
            <a:off x="529342" y="2451852"/>
            <a:ext cx="1462202" cy="485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事故数据集</a:t>
            </a:r>
          </a:p>
        </p:txBody>
      </p:sp>
      <p:cxnSp>
        <p:nvCxnSpPr>
          <p:cNvPr id="49" name="直接箭头连接符 48">
            <a:extLst>
              <a:ext uri="{FF2B5EF4-FFF2-40B4-BE49-F238E27FC236}">
                <a16:creationId xmlns:a16="http://schemas.microsoft.com/office/drawing/2014/main" id="{FE3169D4-B5A6-40CE-96A7-7DA5BDD6FD2D}"/>
              </a:ext>
            </a:extLst>
          </p:cNvPr>
          <p:cNvCxnSpPr>
            <a:cxnSpLocks/>
          </p:cNvCxnSpPr>
          <p:nvPr/>
        </p:nvCxnSpPr>
        <p:spPr>
          <a:xfrm flipV="1">
            <a:off x="1260443" y="2937051"/>
            <a:ext cx="0" cy="352865"/>
          </a:xfrm>
          <a:prstGeom prst="straightConnector1">
            <a:avLst/>
          </a:prstGeom>
          <a:ln w="19050">
            <a:headEnd type="triangle"/>
          </a:ln>
        </p:spPr>
        <p:style>
          <a:lnRef idx="1">
            <a:schemeClr val="dk1"/>
          </a:lnRef>
          <a:fillRef idx="0">
            <a:schemeClr val="dk1"/>
          </a:fillRef>
          <a:effectRef idx="0">
            <a:schemeClr val="dk1"/>
          </a:effectRef>
          <a:fontRef idx="minor">
            <a:schemeClr val="tx1"/>
          </a:fontRef>
        </p:style>
      </p:cxnSp>
      <p:sp>
        <p:nvSpPr>
          <p:cNvPr id="50" name="矩形 49">
            <a:extLst>
              <a:ext uri="{FF2B5EF4-FFF2-40B4-BE49-F238E27FC236}">
                <a16:creationId xmlns:a16="http://schemas.microsoft.com/office/drawing/2014/main" id="{E2A7BF52-6912-4C16-8B22-7669A11B25C9}"/>
              </a:ext>
            </a:extLst>
          </p:cNvPr>
          <p:cNvSpPr/>
          <p:nvPr/>
        </p:nvSpPr>
        <p:spPr>
          <a:xfrm>
            <a:off x="529342" y="3278674"/>
            <a:ext cx="1462202" cy="485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场景指标体系</a:t>
            </a:r>
          </a:p>
        </p:txBody>
      </p:sp>
      <p:cxnSp>
        <p:nvCxnSpPr>
          <p:cNvPr id="51" name="直接箭头连接符 50">
            <a:extLst>
              <a:ext uri="{FF2B5EF4-FFF2-40B4-BE49-F238E27FC236}">
                <a16:creationId xmlns:a16="http://schemas.microsoft.com/office/drawing/2014/main" id="{AF4268F2-74A7-4130-912C-EBD742803ADD}"/>
              </a:ext>
            </a:extLst>
          </p:cNvPr>
          <p:cNvCxnSpPr>
            <a:cxnSpLocks/>
          </p:cNvCxnSpPr>
          <p:nvPr/>
        </p:nvCxnSpPr>
        <p:spPr>
          <a:xfrm flipV="1">
            <a:off x="1260443" y="3763873"/>
            <a:ext cx="0" cy="352865"/>
          </a:xfrm>
          <a:prstGeom prst="straightConnector1">
            <a:avLst/>
          </a:prstGeom>
          <a:ln w="19050">
            <a:headEnd type="triangle"/>
          </a:ln>
        </p:spPr>
        <p:style>
          <a:lnRef idx="1">
            <a:schemeClr val="dk1"/>
          </a:lnRef>
          <a:fillRef idx="0">
            <a:schemeClr val="dk1"/>
          </a:fillRef>
          <a:effectRef idx="0">
            <a:schemeClr val="dk1"/>
          </a:effectRef>
          <a:fontRef idx="minor">
            <a:schemeClr val="tx1"/>
          </a:fontRef>
        </p:style>
      </p:cxnSp>
      <p:sp>
        <p:nvSpPr>
          <p:cNvPr id="52" name="矩形 51">
            <a:extLst>
              <a:ext uri="{FF2B5EF4-FFF2-40B4-BE49-F238E27FC236}">
                <a16:creationId xmlns:a16="http://schemas.microsoft.com/office/drawing/2014/main" id="{80F4D517-7EC2-4A3E-B8CA-39086FC4D50B}"/>
              </a:ext>
            </a:extLst>
          </p:cNvPr>
          <p:cNvSpPr/>
          <p:nvPr/>
        </p:nvSpPr>
        <p:spPr>
          <a:xfrm>
            <a:off x="529342" y="4121961"/>
            <a:ext cx="1462202" cy="485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聚类结果及</a:t>
            </a:r>
            <a:endParaRPr lang="en-US" altLang="zh-CN" sz="1400" b="1" dirty="0">
              <a:solidFill>
                <a:schemeClr val="tx1"/>
              </a:solidFill>
              <a:latin typeface="微软雅黑" panose="020B0503020204020204" pitchFamily="34" charset="-122"/>
              <a:ea typeface="微软雅黑" panose="020B0503020204020204" pitchFamily="34" charset="-122"/>
            </a:endParaRPr>
          </a:p>
          <a:p>
            <a:pPr algn="ctr"/>
            <a:r>
              <a:rPr lang="zh-CN" altLang="en-US" sz="1400" b="1" dirty="0">
                <a:solidFill>
                  <a:schemeClr val="tx1"/>
                </a:solidFill>
                <a:latin typeface="微软雅黑" panose="020B0503020204020204" pitchFamily="34" charset="-122"/>
                <a:ea typeface="微软雅黑" panose="020B0503020204020204" pitchFamily="34" charset="-122"/>
              </a:rPr>
              <a:t>变量高频特征</a:t>
            </a:r>
          </a:p>
        </p:txBody>
      </p:sp>
      <p:cxnSp>
        <p:nvCxnSpPr>
          <p:cNvPr id="53" name="直接箭头连接符 52">
            <a:extLst>
              <a:ext uri="{FF2B5EF4-FFF2-40B4-BE49-F238E27FC236}">
                <a16:creationId xmlns:a16="http://schemas.microsoft.com/office/drawing/2014/main" id="{8EB21690-9799-40D2-8A3C-3D34300BF196}"/>
              </a:ext>
            </a:extLst>
          </p:cNvPr>
          <p:cNvCxnSpPr>
            <a:cxnSpLocks/>
          </p:cNvCxnSpPr>
          <p:nvPr/>
        </p:nvCxnSpPr>
        <p:spPr>
          <a:xfrm flipV="1">
            <a:off x="1260443" y="4607160"/>
            <a:ext cx="0" cy="352865"/>
          </a:xfrm>
          <a:prstGeom prst="straightConnector1">
            <a:avLst/>
          </a:prstGeom>
          <a:ln w="19050">
            <a:headEnd type="triangle"/>
          </a:ln>
        </p:spPr>
        <p:style>
          <a:lnRef idx="1">
            <a:schemeClr val="dk1"/>
          </a:lnRef>
          <a:fillRef idx="0">
            <a:schemeClr val="dk1"/>
          </a:fillRef>
          <a:effectRef idx="0">
            <a:schemeClr val="dk1"/>
          </a:effectRef>
          <a:fontRef idx="minor">
            <a:schemeClr val="tx1"/>
          </a:fontRef>
        </p:style>
      </p:cxnSp>
      <p:sp>
        <p:nvSpPr>
          <p:cNvPr id="54" name="矩形 53">
            <a:extLst>
              <a:ext uri="{FF2B5EF4-FFF2-40B4-BE49-F238E27FC236}">
                <a16:creationId xmlns:a16="http://schemas.microsoft.com/office/drawing/2014/main" id="{D6F208BC-91B3-475C-98F9-6C633C8BFD12}"/>
              </a:ext>
            </a:extLst>
          </p:cNvPr>
          <p:cNvSpPr/>
          <p:nvPr/>
        </p:nvSpPr>
        <p:spPr>
          <a:xfrm>
            <a:off x="529342" y="4960025"/>
            <a:ext cx="1462202" cy="485199"/>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场景画像</a:t>
            </a:r>
          </a:p>
        </p:txBody>
      </p:sp>
      <p:pic>
        <p:nvPicPr>
          <p:cNvPr id="62" name="图片 61">
            <a:extLst>
              <a:ext uri="{FF2B5EF4-FFF2-40B4-BE49-F238E27FC236}">
                <a16:creationId xmlns:a16="http://schemas.microsoft.com/office/drawing/2014/main" id="{CD8667AE-E376-44A2-883D-98C89D73AAAD}"/>
              </a:ext>
            </a:extLst>
          </p:cNvPr>
          <p:cNvPicPr>
            <a:picLocks noChangeAspect="1"/>
          </p:cNvPicPr>
          <p:nvPr/>
        </p:nvPicPr>
        <p:blipFill>
          <a:blip r:embed="rId2"/>
          <a:stretch>
            <a:fillRect/>
          </a:stretch>
        </p:blipFill>
        <p:spPr>
          <a:xfrm>
            <a:off x="529342" y="5524557"/>
            <a:ext cx="4733179" cy="1204594"/>
          </a:xfrm>
          <a:prstGeom prst="rect">
            <a:avLst/>
          </a:prstGeom>
        </p:spPr>
      </p:pic>
      <p:pic>
        <p:nvPicPr>
          <p:cNvPr id="67" name="图片 66">
            <a:extLst>
              <a:ext uri="{FF2B5EF4-FFF2-40B4-BE49-F238E27FC236}">
                <a16:creationId xmlns:a16="http://schemas.microsoft.com/office/drawing/2014/main" id="{A28A061E-2A43-498A-B869-09F14F8CCE1E}"/>
              </a:ext>
            </a:extLst>
          </p:cNvPr>
          <p:cNvPicPr>
            <a:picLocks noChangeAspect="1"/>
          </p:cNvPicPr>
          <p:nvPr/>
        </p:nvPicPr>
        <p:blipFill>
          <a:blip r:embed="rId3"/>
          <a:stretch>
            <a:fillRect/>
          </a:stretch>
        </p:blipFill>
        <p:spPr>
          <a:xfrm>
            <a:off x="2135560" y="2507586"/>
            <a:ext cx="3007872" cy="1407819"/>
          </a:xfrm>
          <a:prstGeom prst="rect">
            <a:avLst/>
          </a:prstGeom>
        </p:spPr>
      </p:pic>
      <p:cxnSp>
        <p:nvCxnSpPr>
          <p:cNvPr id="69" name="直接箭头连接符 68">
            <a:extLst>
              <a:ext uri="{FF2B5EF4-FFF2-40B4-BE49-F238E27FC236}">
                <a16:creationId xmlns:a16="http://schemas.microsoft.com/office/drawing/2014/main" id="{3E3435D4-1A8D-430B-8FCF-B1FFECE08BC2}"/>
              </a:ext>
            </a:extLst>
          </p:cNvPr>
          <p:cNvCxnSpPr>
            <a:cxnSpLocks/>
          </p:cNvCxnSpPr>
          <p:nvPr/>
        </p:nvCxnSpPr>
        <p:spPr>
          <a:xfrm flipH="1" flipV="1">
            <a:off x="3639496" y="3915405"/>
            <a:ext cx="0" cy="201333"/>
          </a:xfrm>
          <a:prstGeom prst="straightConnector1">
            <a:avLst/>
          </a:prstGeom>
          <a:ln w="19050">
            <a:headEnd type="triangle"/>
          </a:ln>
        </p:spPr>
        <p:style>
          <a:lnRef idx="1">
            <a:schemeClr val="dk1"/>
          </a:lnRef>
          <a:fillRef idx="0">
            <a:schemeClr val="dk1"/>
          </a:fillRef>
          <a:effectRef idx="0">
            <a:schemeClr val="dk1"/>
          </a:effectRef>
          <a:fontRef idx="minor">
            <a:schemeClr val="tx1"/>
          </a:fontRef>
        </p:style>
      </p:cxnSp>
      <p:pic>
        <p:nvPicPr>
          <p:cNvPr id="70" name="图片 69">
            <a:extLst>
              <a:ext uri="{FF2B5EF4-FFF2-40B4-BE49-F238E27FC236}">
                <a16:creationId xmlns:a16="http://schemas.microsoft.com/office/drawing/2014/main" id="{1AD15CE6-3BD6-42E5-9FEA-6E77B7E151D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7568" y="4179245"/>
            <a:ext cx="1462202" cy="1127153"/>
          </a:xfrm>
          <a:prstGeom prst="rect">
            <a:avLst/>
          </a:prstGeom>
          <a:noFill/>
          <a:ln>
            <a:noFill/>
          </a:ln>
        </p:spPr>
      </p:pic>
      <p:pic>
        <p:nvPicPr>
          <p:cNvPr id="71" name="图片 70">
            <a:extLst>
              <a:ext uri="{FF2B5EF4-FFF2-40B4-BE49-F238E27FC236}">
                <a16:creationId xmlns:a16="http://schemas.microsoft.com/office/drawing/2014/main" id="{7856F78F-9F0A-4E06-BC78-90F9BB1CC321}"/>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07074" y="4179245"/>
            <a:ext cx="1462202" cy="1204594"/>
          </a:xfrm>
          <a:prstGeom prst="rect">
            <a:avLst/>
          </a:prstGeom>
          <a:noFill/>
          <a:ln>
            <a:noFill/>
          </a:ln>
        </p:spPr>
      </p:pic>
      <p:cxnSp>
        <p:nvCxnSpPr>
          <p:cNvPr id="72" name="直接箭头连接符 71">
            <a:extLst>
              <a:ext uri="{FF2B5EF4-FFF2-40B4-BE49-F238E27FC236}">
                <a16:creationId xmlns:a16="http://schemas.microsoft.com/office/drawing/2014/main" id="{737FDBD0-8BC9-4761-A2AC-1D084ABBC1CB}"/>
              </a:ext>
            </a:extLst>
          </p:cNvPr>
          <p:cNvCxnSpPr>
            <a:cxnSpLocks/>
            <a:stCxn id="45" idx="1"/>
            <a:endCxn id="43" idx="3"/>
          </p:cNvCxnSpPr>
          <p:nvPr/>
        </p:nvCxnSpPr>
        <p:spPr>
          <a:xfrm flipH="1">
            <a:off x="5169276" y="2091812"/>
            <a:ext cx="1862828" cy="0"/>
          </a:xfrm>
          <a:prstGeom prst="straightConnector1">
            <a:avLst/>
          </a:prstGeom>
          <a:ln w="19050">
            <a:headEnd type="triangle"/>
          </a:ln>
        </p:spPr>
        <p:style>
          <a:lnRef idx="1">
            <a:schemeClr val="dk1"/>
          </a:lnRef>
          <a:fillRef idx="0">
            <a:schemeClr val="dk1"/>
          </a:fillRef>
          <a:effectRef idx="0">
            <a:schemeClr val="dk1"/>
          </a:effectRef>
          <a:fontRef idx="minor">
            <a:schemeClr val="tx1"/>
          </a:fontRef>
        </p:style>
      </p:cxnSp>
      <p:sp>
        <p:nvSpPr>
          <p:cNvPr id="76" name="文本框 75">
            <a:extLst>
              <a:ext uri="{FF2B5EF4-FFF2-40B4-BE49-F238E27FC236}">
                <a16:creationId xmlns:a16="http://schemas.microsoft.com/office/drawing/2014/main" id="{19245E08-2FFB-4355-B0AF-CEEA55CA7913}"/>
              </a:ext>
            </a:extLst>
          </p:cNvPr>
          <p:cNvSpPr txBox="1"/>
          <p:nvPr/>
        </p:nvSpPr>
        <p:spPr>
          <a:xfrm>
            <a:off x="5299117" y="2082520"/>
            <a:ext cx="1593765" cy="369332"/>
          </a:xfrm>
          <a:prstGeom prst="rect">
            <a:avLst/>
          </a:prstGeom>
          <a:noFill/>
        </p:spPr>
        <p:txBody>
          <a:bodyPr wrap="square">
            <a:spAutoFit/>
          </a:bodyPr>
          <a:lstStyle/>
          <a:p>
            <a:pPr algn="ctr"/>
            <a:r>
              <a:rPr lang="zh-CN" altLang="en-US" sz="1800" b="1" dirty="0">
                <a:solidFill>
                  <a:schemeClr val="tx1"/>
                </a:solidFill>
                <a:latin typeface="微软雅黑" panose="020B0503020204020204" pitchFamily="34" charset="-122"/>
                <a:ea typeface="微软雅黑" panose="020B0503020204020204" pitchFamily="34" charset="-122"/>
              </a:rPr>
              <a:t>增强数据集</a:t>
            </a:r>
          </a:p>
        </p:txBody>
      </p:sp>
      <p:pic>
        <p:nvPicPr>
          <p:cNvPr id="79" name="图片 78">
            <a:extLst>
              <a:ext uri="{FF2B5EF4-FFF2-40B4-BE49-F238E27FC236}">
                <a16:creationId xmlns:a16="http://schemas.microsoft.com/office/drawing/2014/main" id="{B657355F-62C3-4D72-98DB-1FC9F518C27E}"/>
              </a:ext>
            </a:extLst>
          </p:cNvPr>
          <p:cNvPicPr>
            <a:picLocks noChangeAspect="1"/>
          </p:cNvPicPr>
          <p:nvPr/>
        </p:nvPicPr>
        <p:blipFill>
          <a:blip r:embed="rId6"/>
          <a:stretch>
            <a:fillRect/>
          </a:stretch>
        </p:blipFill>
        <p:spPr>
          <a:xfrm>
            <a:off x="7054702" y="2563461"/>
            <a:ext cx="4156429" cy="1385476"/>
          </a:xfrm>
          <a:prstGeom prst="rect">
            <a:avLst/>
          </a:prstGeom>
        </p:spPr>
      </p:pic>
      <p:cxnSp>
        <p:nvCxnSpPr>
          <p:cNvPr id="83" name="连接符: 肘形 82">
            <a:extLst>
              <a:ext uri="{FF2B5EF4-FFF2-40B4-BE49-F238E27FC236}">
                <a16:creationId xmlns:a16="http://schemas.microsoft.com/office/drawing/2014/main" id="{519D16E1-8678-47FB-8EB4-22F933C3E823}"/>
              </a:ext>
            </a:extLst>
          </p:cNvPr>
          <p:cNvCxnSpPr>
            <a:cxnSpLocks/>
          </p:cNvCxnSpPr>
          <p:nvPr/>
        </p:nvCxnSpPr>
        <p:spPr>
          <a:xfrm flipV="1">
            <a:off x="11208568" y="2091812"/>
            <a:ext cx="12700" cy="2239870"/>
          </a:xfrm>
          <a:prstGeom prst="bentConnector3">
            <a:avLst>
              <a:gd name="adj1" fmla="val 1800000"/>
            </a:avLst>
          </a:prstGeom>
          <a:ln w="19050">
            <a:headEnd type="triangle"/>
          </a:ln>
        </p:spPr>
        <p:style>
          <a:lnRef idx="1">
            <a:schemeClr val="dk1"/>
          </a:lnRef>
          <a:fillRef idx="0">
            <a:schemeClr val="dk1"/>
          </a:fillRef>
          <a:effectRef idx="0">
            <a:schemeClr val="dk1"/>
          </a:effectRef>
          <a:fontRef idx="minor">
            <a:schemeClr val="tx1"/>
          </a:fontRef>
        </p:style>
      </p:cxnSp>
      <p:sp>
        <p:nvSpPr>
          <p:cNvPr id="84" name="文本框 83">
            <a:extLst>
              <a:ext uri="{FF2B5EF4-FFF2-40B4-BE49-F238E27FC236}">
                <a16:creationId xmlns:a16="http://schemas.microsoft.com/office/drawing/2014/main" id="{71430C55-E679-4BDA-BAAF-3D709FDD67DE}"/>
              </a:ext>
            </a:extLst>
          </p:cNvPr>
          <p:cNvSpPr txBox="1"/>
          <p:nvPr/>
        </p:nvSpPr>
        <p:spPr>
          <a:xfrm>
            <a:off x="11402689" y="2381790"/>
            <a:ext cx="619869" cy="1754326"/>
          </a:xfrm>
          <a:prstGeom prst="rect">
            <a:avLst/>
          </a:prstGeom>
          <a:noFill/>
        </p:spPr>
        <p:txBody>
          <a:bodyPr wrap="square">
            <a:spAutoFit/>
          </a:bodyPr>
          <a:lstStyle/>
          <a:p>
            <a:pPr algn="ctr"/>
            <a:r>
              <a:rPr lang="zh-CN" altLang="en-US" sz="1800" b="1" dirty="0">
                <a:solidFill>
                  <a:schemeClr val="tx1"/>
                </a:solidFill>
                <a:latin typeface="微软雅黑" panose="020B0503020204020204" pitchFamily="34" charset="-122"/>
                <a:ea typeface="微软雅黑" panose="020B0503020204020204" pitchFamily="34" charset="-122"/>
              </a:rPr>
              <a:t>变量依赖关系</a:t>
            </a:r>
          </a:p>
        </p:txBody>
      </p:sp>
      <p:pic>
        <p:nvPicPr>
          <p:cNvPr id="88" name="图片 87">
            <a:extLst>
              <a:ext uri="{FF2B5EF4-FFF2-40B4-BE49-F238E27FC236}">
                <a16:creationId xmlns:a16="http://schemas.microsoft.com/office/drawing/2014/main" id="{36690E74-847E-4C95-8391-B02735DB49AB}"/>
              </a:ext>
            </a:extLst>
          </p:cNvPr>
          <p:cNvPicPr>
            <a:picLocks noChangeAspect="1"/>
          </p:cNvPicPr>
          <p:nvPr/>
        </p:nvPicPr>
        <p:blipFill>
          <a:blip r:embed="rId7"/>
          <a:stretch>
            <a:fillRect/>
          </a:stretch>
        </p:blipFill>
        <p:spPr>
          <a:xfrm>
            <a:off x="6814502" y="4628840"/>
            <a:ext cx="4610090" cy="2004258"/>
          </a:xfrm>
          <a:prstGeom prst="rect">
            <a:avLst/>
          </a:prstGeom>
        </p:spPr>
      </p:pic>
      <p:cxnSp>
        <p:nvCxnSpPr>
          <p:cNvPr id="90" name="连接符: 肘形 89">
            <a:extLst>
              <a:ext uri="{FF2B5EF4-FFF2-40B4-BE49-F238E27FC236}">
                <a16:creationId xmlns:a16="http://schemas.microsoft.com/office/drawing/2014/main" id="{C8F46266-25D9-497E-814E-92CDED63B038}"/>
              </a:ext>
            </a:extLst>
          </p:cNvPr>
          <p:cNvCxnSpPr>
            <a:cxnSpLocks/>
            <a:stCxn id="76" idx="2"/>
            <a:endCxn id="46" idx="1"/>
          </p:cNvCxnSpPr>
          <p:nvPr/>
        </p:nvCxnSpPr>
        <p:spPr>
          <a:xfrm rot="16200000" flipH="1">
            <a:off x="5624137" y="2923715"/>
            <a:ext cx="1879830" cy="936104"/>
          </a:xfrm>
          <a:prstGeom prst="bentConnector2">
            <a:avLst/>
          </a:prstGeom>
          <a:ln w="1905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92" name="文本框 91">
            <a:extLst>
              <a:ext uri="{FF2B5EF4-FFF2-40B4-BE49-F238E27FC236}">
                <a16:creationId xmlns:a16="http://schemas.microsoft.com/office/drawing/2014/main" id="{CBAD46E5-9E2E-48FF-8FDB-1EF400AD845B}"/>
              </a:ext>
            </a:extLst>
          </p:cNvPr>
          <p:cNvSpPr txBox="1"/>
          <p:nvPr/>
        </p:nvSpPr>
        <p:spPr>
          <a:xfrm>
            <a:off x="1290577" y="3747613"/>
            <a:ext cx="1135804" cy="369332"/>
          </a:xfrm>
          <a:prstGeom prst="rect">
            <a:avLst/>
          </a:prstGeom>
          <a:noFill/>
        </p:spPr>
        <p:txBody>
          <a:bodyPr wrap="square" rtlCol="0">
            <a:spAutoFit/>
          </a:bodyPr>
          <a:lstStyle/>
          <a:p>
            <a:r>
              <a:rPr lang="en-US" altLang="zh-CN" dirty="0">
                <a:solidFill>
                  <a:srgbClr val="FF0000"/>
                </a:solidFill>
              </a:rPr>
              <a:t>LCA</a:t>
            </a:r>
            <a:endParaRPr lang="zh-CN" altLang="en-US" dirty="0">
              <a:solidFill>
                <a:srgbClr val="FF0000"/>
              </a:solidFill>
            </a:endParaRPr>
          </a:p>
        </p:txBody>
      </p:sp>
    </p:spTree>
    <p:extLst>
      <p:ext uri="{BB962C8B-B14F-4D97-AF65-F5344CB8AC3E}">
        <p14:creationId xmlns:p14="http://schemas.microsoft.com/office/powerpoint/2010/main" val="1785474717"/>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59">
            <a:extLst>
              <a:ext uri="{FF2B5EF4-FFF2-40B4-BE49-F238E27FC236}">
                <a16:creationId xmlns:a16="http://schemas.microsoft.com/office/drawing/2014/main" id="{C2D275FB-F2F5-498A-A50F-AF3AC247C09C}"/>
              </a:ext>
            </a:extLst>
          </p:cNvPr>
          <p:cNvSpPr>
            <a:spLocks noChangeArrowheads="1"/>
          </p:cNvSpPr>
          <p:nvPr/>
        </p:nvSpPr>
        <p:spPr bwMode="auto">
          <a:xfrm>
            <a:off x="335359" y="116632"/>
            <a:ext cx="77234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研究内容三：</a:t>
            </a:r>
            <a:r>
              <a:rPr lang="zh-CN" altLang="en-US" sz="2400" b="1" dirty="0">
                <a:solidFill>
                  <a:srgbClr val="FFC000"/>
                </a:solidFill>
                <a:latin typeface="微软雅黑" panose="020B0503020204020204" pitchFamily="34" charset="-122"/>
                <a:ea typeface="微软雅黑" panose="020B0503020204020204" pitchFamily="34" charset="-122"/>
              </a:rPr>
              <a:t>因果推断与反事实干预分析</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CB2F461D-7F49-4510-BA9A-EF61071D0448}"/>
              </a:ext>
            </a:extLst>
          </p:cNvPr>
          <p:cNvSpPr/>
          <p:nvPr/>
        </p:nvSpPr>
        <p:spPr>
          <a:xfrm>
            <a:off x="529342" y="1052736"/>
            <a:ext cx="11242590" cy="6120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识别事故主导因素，量化干预措施的风险降低效果</a:t>
            </a:r>
          </a:p>
        </p:txBody>
      </p:sp>
      <p:sp>
        <p:nvSpPr>
          <p:cNvPr id="78" name="箭头: 五边形 77">
            <a:extLst>
              <a:ext uri="{FF2B5EF4-FFF2-40B4-BE49-F238E27FC236}">
                <a16:creationId xmlns:a16="http://schemas.microsoft.com/office/drawing/2014/main" id="{B83399A5-34E2-4F38-A634-A3CFB935C4AE}"/>
              </a:ext>
            </a:extLst>
          </p:cNvPr>
          <p:cNvSpPr/>
          <p:nvPr/>
        </p:nvSpPr>
        <p:spPr>
          <a:xfrm>
            <a:off x="551384" y="1916832"/>
            <a:ext cx="2081871" cy="40011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数据基础</a:t>
            </a:r>
          </a:p>
        </p:txBody>
      </p:sp>
      <p:sp>
        <p:nvSpPr>
          <p:cNvPr id="80" name="箭头: V 形 79">
            <a:extLst>
              <a:ext uri="{FF2B5EF4-FFF2-40B4-BE49-F238E27FC236}">
                <a16:creationId xmlns:a16="http://schemas.microsoft.com/office/drawing/2014/main" id="{9A142DD8-F097-4AB7-BD61-3701CD3B23A6}"/>
              </a:ext>
            </a:extLst>
          </p:cNvPr>
          <p:cNvSpPr/>
          <p:nvPr/>
        </p:nvSpPr>
        <p:spPr>
          <a:xfrm>
            <a:off x="2839229" y="1916832"/>
            <a:ext cx="2081871" cy="40011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因果图构建</a:t>
            </a:r>
          </a:p>
        </p:txBody>
      </p:sp>
      <p:sp>
        <p:nvSpPr>
          <p:cNvPr id="87" name="箭头: V 形 86">
            <a:extLst>
              <a:ext uri="{FF2B5EF4-FFF2-40B4-BE49-F238E27FC236}">
                <a16:creationId xmlns:a16="http://schemas.microsoft.com/office/drawing/2014/main" id="{D89177E9-2E6F-4F52-8D45-B557B4655B3F}"/>
              </a:ext>
            </a:extLst>
          </p:cNvPr>
          <p:cNvSpPr/>
          <p:nvPr/>
        </p:nvSpPr>
        <p:spPr>
          <a:xfrm>
            <a:off x="5127074" y="1916832"/>
            <a:ext cx="2081870" cy="40011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因果效应识别</a:t>
            </a:r>
          </a:p>
        </p:txBody>
      </p:sp>
      <p:sp>
        <p:nvSpPr>
          <p:cNvPr id="89" name="箭头: V 形 88">
            <a:extLst>
              <a:ext uri="{FF2B5EF4-FFF2-40B4-BE49-F238E27FC236}">
                <a16:creationId xmlns:a16="http://schemas.microsoft.com/office/drawing/2014/main" id="{2857F82B-6691-4066-BD57-D047972303AE}"/>
              </a:ext>
            </a:extLst>
          </p:cNvPr>
          <p:cNvSpPr/>
          <p:nvPr/>
        </p:nvSpPr>
        <p:spPr>
          <a:xfrm>
            <a:off x="7414918" y="1916832"/>
            <a:ext cx="2081870" cy="40011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反事实干预</a:t>
            </a:r>
          </a:p>
        </p:txBody>
      </p:sp>
      <p:sp>
        <p:nvSpPr>
          <p:cNvPr id="91" name="箭头: V 形 90">
            <a:extLst>
              <a:ext uri="{FF2B5EF4-FFF2-40B4-BE49-F238E27FC236}">
                <a16:creationId xmlns:a16="http://schemas.microsoft.com/office/drawing/2014/main" id="{081F600A-C461-4F4B-819A-BC231AD0F2E1}"/>
              </a:ext>
            </a:extLst>
          </p:cNvPr>
          <p:cNvSpPr/>
          <p:nvPr/>
        </p:nvSpPr>
        <p:spPr>
          <a:xfrm>
            <a:off x="9702762" y="1916832"/>
            <a:ext cx="2081870" cy="40011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干预效果评估</a:t>
            </a:r>
          </a:p>
        </p:txBody>
      </p:sp>
      <p:sp>
        <p:nvSpPr>
          <p:cNvPr id="36" name="矩形 35">
            <a:extLst>
              <a:ext uri="{FF2B5EF4-FFF2-40B4-BE49-F238E27FC236}">
                <a16:creationId xmlns:a16="http://schemas.microsoft.com/office/drawing/2014/main" id="{62834840-E3AD-44BE-8BBA-D5BEF3821F68}"/>
              </a:ext>
            </a:extLst>
          </p:cNvPr>
          <p:cNvSpPr/>
          <p:nvPr/>
        </p:nvSpPr>
        <p:spPr>
          <a:xfrm>
            <a:off x="861218" y="2585522"/>
            <a:ext cx="1462202" cy="485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事故数据</a:t>
            </a:r>
          </a:p>
        </p:txBody>
      </p:sp>
      <p:sp>
        <p:nvSpPr>
          <p:cNvPr id="39" name="矩形 38">
            <a:extLst>
              <a:ext uri="{FF2B5EF4-FFF2-40B4-BE49-F238E27FC236}">
                <a16:creationId xmlns:a16="http://schemas.microsoft.com/office/drawing/2014/main" id="{5B7A91E2-CE4C-4925-921C-C52D85CA9BCB}"/>
              </a:ext>
            </a:extLst>
          </p:cNvPr>
          <p:cNvSpPr/>
          <p:nvPr/>
        </p:nvSpPr>
        <p:spPr>
          <a:xfrm>
            <a:off x="861218" y="3342798"/>
            <a:ext cx="1462202" cy="485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人车交互变量</a:t>
            </a:r>
          </a:p>
        </p:txBody>
      </p:sp>
      <p:sp>
        <p:nvSpPr>
          <p:cNvPr id="40" name="矩形 39">
            <a:extLst>
              <a:ext uri="{FF2B5EF4-FFF2-40B4-BE49-F238E27FC236}">
                <a16:creationId xmlns:a16="http://schemas.microsoft.com/office/drawing/2014/main" id="{D38E591A-8BAF-4BA2-9B5E-756AE641FDAD}"/>
              </a:ext>
            </a:extLst>
          </p:cNvPr>
          <p:cNvSpPr/>
          <p:nvPr/>
        </p:nvSpPr>
        <p:spPr>
          <a:xfrm>
            <a:off x="861218" y="4090441"/>
            <a:ext cx="1462202" cy="485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系统特性</a:t>
            </a:r>
          </a:p>
        </p:txBody>
      </p:sp>
      <p:sp>
        <p:nvSpPr>
          <p:cNvPr id="43" name="矩形 42">
            <a:extLst>
              <a:ext uri="{FF2B5EF4-FFF2-40B4-BE49-F238E27FC236}">
                <a16:creationId xmlns:a16="http://schemas.microsoft.com/office/drawing/2014/main" id="{50EAA44D-A2D1-4C40-A8A3-0274B1DD4693}"/>
              </a:ext>
            </a:extLst>
          </p:cNvPr>
          <p:cNvSpPr/>
          <p:nvPr/>
        </p:nvSpPr>
        <p:spPr>
          <a:xfrm>
            <a:off x="861218" y="4838084"/>
            <a:ext cx="1462202" cy="485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道路条件</a:t>
            </a:r>
          </a:p>
        </p:txBody>
      </p:sp>
      <p:sp>
        <p:nvSpPr>
          <p:cNvPr id="44" name="矩形 43">
            <a:extLst>
              <a:ext uri="{FF2B5EF4-FFF2-40B4-BE49-F238E27FC236}">
                <a16:creationId xmlns:a16="http://schemas.microsoft.com/office/drawing/2014/main" id="{7D8C4217-B17A-4987-B0C8-6D2FAE7BBE73}"/>
              </a:ext>
            </a:extLst>
          </p:cNvPr>
          <p:cNvSpPr/>
          <p:nvPr/>
        </p:nvSpPr>
        <p:spPr>
          <a:xfrm>
            <a:off x="861218" y="5608097"/>
            <a:ext cx="1462202" cy="485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环境变量</a:t>
            </a:r>
          </a:p>
        </p:txBody>
      </p:sp>
      <p:sp>
        <p:nvSpPr>
          <p:cNvPr id="2" name="矩形: 圆角 1">
            <a:extLst>
              <a:ext uri="{FF2B5EF4-FFF2-40B4-BE49-F238E27FC236}">
                <a16:creationId xmlns:a16="http://schemas.microsoft.com/office/drawing/2014/main" id="{1F683F0C-324F-4008-93EC-BCB525BF5938}"/>
              </a:ext>
            </a:extLst>
          </p:cNvPr>
          <p:cNvSpPr/>
          <p:nvPr/>
        </p:nvSpPr>
        <p:spPr>
          <a:xfrm>
            <a:off x="551384" y="2441506"/>
            <a:ext cx="2081870" cy="386781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圆角 108">
            <a:extLst>
              <a:ext uri="{FF2B5EF4-FFF2-40B4-BE49-F238E27FC236}">
                <a16:creationId xmlns:a16="http://schemas.microsoft.com/office/drawing/2014/main" id="{E725AC2D-DB98-4785-8F92-B17AC8108541}"/>
              </a:ext>
            </a:extLst>
          </p:cNvPr>
          <p:cNvSpPr>
            <a:spLocks/>
          </p:cNvSpPr>
          <p:nvPr/>
        </p:nvSpPr>
        <p:spPr>
          <a:xfrm>
            <a:off x="5127074" y="2492896"/>
            <a:ext cx="2081870" cy="400110"/>
          </a:xfrm>
          <a:prstGeom prst="roundRect">
            <a:avLst>
              <a:gd name="adj" fmla="val 8568"/>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结构因果模型</a:t>
            </a:r>
            <a:r>
              <a:rPr lang="en-US" altLang="zh-CN" sz="1600" b="1" dirty="0">
                <a:solidFill>
                  <a:schemeClr val="bg1"/>
                </a:solidFill>
                <a:latin typeface="微软雅黑" panose="020B0503020204020204" pitchFamily="34" charset="-122"/>
                <a:ea typeface="微软雅黑" panose="020B0503020204020204" pitchFamily="34" charset="-122"/>
              </a:rPr>
              <a:t>SCM</a:t>
            </a:r>
          </a:p>
        </p:txBody>
      </p:sp>
      <p:grpSp>
        <p:nvGrpSpPr>
          <p:cNvPr id="132" name="组合 131">
            <a:extLst>
              <a:ext uri="{FF2B5EF4-FFF2-40B4-BE49-F238E27FC236}">
                <a16:creationId xmlns:a16="http://schemas.microsoft.com/office/drawing/2014/main" id="{421456D8-8A29-436E-B830-0BFF72E6412E}"/>
              </a:ext>
            </a:extLst>
          </p:cNvPr>
          <p:cNvGrpSpPr/>
          <p:nvPr/>
        </p:nvGrpSpPr>
        <p:grpSpPr>
          <a:xfrm>
            <a:off x="2839229" y="2325972"/>
            <a:ext cx="2082937" cy="4055356"/>
            <a:chOff x="2839229" y="2325972"/>
            <a:chExt cx="2082937" cy="4055356"/>
          </a:xfrm>
        </p:grpSpPr>
        <p:sp>
          <p:nvSpPr>
            <p:cNvPr id="3" name="矩形: 圆角 2">
              <a:extLst>
                <a:ext uri="{FF2B5EF4-FFF2-40B4-BE49-F238E27FC236}">
                  <a16:creationId xmlns:a16="http://schemas.microsoft.com/office/drawing/2014/main" id="{23984325-3967-405D-8AF6-7665A8DA3CD1}"/>
                </a:ext>
              </a:extLst>
            </p:cNvPr>
            <p:cNvSpPr/>
            <p:nvPr/>
          </p:nvSpPr>
          <p:spPr>
            <a:xfrm>
              <a:off x="2855640" y="2730248"/>
              <a:ext cx="334956" cy="6059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天气</a:t>
              </a:r>
            </a:p>
          </p:txBody>
        </p:sp>
        <p:sp>
          <p:nvSpPr>
            <p:cNvPr id="46" name="矩形: 圆角 45">
              <a:extLst>
                <a:ext uri="{FF2B5EF4-FFF2-40B4-BE49-F238E27FC236}">
                  <a16:creationId xmlns:a16="http://schemas.microsoft.com/office/drawing/2014/main" id="{652E53CE-F87C-4438-915D-DB24466989DC}"/>
                </a:ext>
              </a:extLst>
            </p:cNvPr>
            <p:cNvSpPr/>
            <p:nvPr/>
          </p:nvSpPr>
          <p:spPr>
            <a:xfrm>
              <a:off x="2855640" y="3558734"/>
              <a:ext cx="334956" cy="6059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光照</a:t>
              </a:r>
            </a:p>
          </p:txBody>
        </p:sp>
        <p:sp>
          <p:nvSpPr>
            <p:cNvPr id="47" name="矩形: 圆角 46">
              <a:extLst>
                <a:ext uri="{FF2B5EF4-FFF2-40B4-BE49-F238E27FC236}">
                  <a16:creationId xmlns:a16="http://schemas.microsoft.com/office/drawing/2014/main" id="{F9E740D2-E1FD-4964-9D31-D2F3CFA13C43}"/>
                </a:ext>
              </a:extLst>
            </p:cNvPr>
            <p:cNvSpPr/>
            <p:nvPr/>
          </p:nvSpPr>
          <p:spPr>
            <a:xfrm>
              <a:off x="2855640" y="4387220"/>
              <a:ext cx="334956" cy="9970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道路类型</a:t>
              </a:r>
            </a:p>
          </p:txBody>
        </p:sp>
        <p:sp>
          <p:nvSpPr>
            <p:cNvPr id="49" name="矩形: 圆角 48">
              <a:extLst>
                <a:ext uri="{FF2B5EF4-FFF2-40B4-BE49-F238E27FC236}">
                  <a16:creationId xmlns:a16="http://schemas.microsoft.com/office/drawing/2014/main" id="{578C5258-AE91-4762-ACD7-CCAFD0F0BD91}"/>
                </a:ext>
              </a:extLst>
            </p:cNvPr>
            <p:cNvSpPr/>
            <p:nvPr/>
          </p:nvSpPr>
          <p:spPr>
            <a:xfrm>
              <a:off x="2855640" y="5616570"/>
              <a:ext cx="334956" cy="7647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时间</a:t>
              </a:r>
            </a:p>
          </p:txBody>
        </p:sp>
        <p:sp>
          <p:nvSpPr>
            <p:cNvPr id="50" name="矩形: 圆角 49">
              <a:extLst>
                <a:ext uri="{FF2B5EF4-FFF2-40B4-BE49-F238E27FC236}">
                  <a16:creationId xmlns:a16="http://schemas.microsoft.com/office/drawing/2014/main" id="{4115F345-68B2-4FE0-84A0-98491C46870E}"/>
                </a:ext>
              </a:extLst>
            </p:cNvPr>
            <p:cNvSpPr/>
            <p:nvPr/>
          </p:nvSpPr>
          <p:spPr>
            <a:xfrm>
              <a:off x="3417486" y="2730248"/>
              <a:ext cx="334956" cy="966023"/>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感知状态</a:t>
              </a:r>
            </a:p>
          </p:txBody>
        </p:sp>
        <p:sp>
          <p:nvSpPr>
            <p:cNvPr id="51" name="矩形: 圆角 50">
              <a:extLst>
                <a:ext uri="{FF2B5EF4-FFF2-40B4-BE49-F238E27FC236}">
                  <a16:creationId xmlns:a16="http://schemas.microsoft.com/office/drawing/2014/main" id="{7D1AA304-811A-4C8F-9E85-CC477DD27110}"/>
                </a:ext>
              </a:extLst>
            </p:cNvPr>
            <p:cNvSpPr/>
            <p:nvPr/>
          </p:nvSpPr>
          <p:spPr>
            <a:xfrm>
              <a:off x="3417486" y="4067901"/>
              <a:ext cx="334956" cy="966024"/>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决策状态</a:t>
              </a:r>
            </a:p>
          </p:txBody>
        </p:sp>
        <p:sp>
          <p:nvSpPr>
            <p:cNvPr id="52" name="矩形: 圆角 51">
              <a:extLst>
                <a:ext uri="{FF2B5EF4-FFF2-40B4-BE49-F238E27FC236}">
                  <a16:creationId xmlns:a16="http://schemas.microsoft.com/office/drawing/2014/main" id="{F8AA56BF-5C34-4EB1-B6D4-41A009EDCBD4}"/>
                </a:ext>
              </a:extLst>
            </p:cNvPr>
            <p:cNvSpPr/>
            <p:nvPr/>
          </p:nvSpPr>
          <p:spPr>
            <a:xfrm>
              <a:off x="3417486" y="5415303"/>
              <a:ext cx="334956" cy="96602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控制执行</a:t>
              </a:r>
            </a:p>
          </p:txBody>
        </p:sp>
        <p:sp>
          <p:nvSpPr>
            <p:cNvPr id="53" name="矩形: 圆角 52">
              <a:extLst>
                <a:ext uri="{FF2B5EF4-FFF2-40B4-BE49-F238E27FC236}">
                  <a16:creationId xmlns:a16="http://schemas.microsoft.com/office/drawing/2014/main" id="{C02098FC-76E4-4CC3-9893-E4A19C860A6E}"/>
                </a:ext>
              </a:extLst>
            </p:cNvPr>
            <p:cNvSpPr/>
            <p:nvPr/>
          </p:nvSpPr>
          <p:spPr>
            <a:xfrm>
              <a:off x="4010020" y="2730248"/>
              <a:ext cx="334956" cy="966023"/>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车辆状态</a:t>
              </a:r>
            </a:p>
          </p:txBody>
        </p:sp>
        <p:sp>
          <p:nvSpPr>
            <p:cNvPr id="54" name="矩形: 圆角 53">
              <a:extLst>
                <a:ext uri="{FF2B5EF4-FFF2-40B4-BE49-F238E27FC236}">
                  <a16:creationId xmlns:a16="http://schemas.microsoft.com/office/drawing/2014/main" id="{1DFF6885-4074-4768-AB86-C78F29C2A076}"/>
                </a:ext>
              </a:extLst>
            </p:cNvPr>
            <p:cNvSpPr/>
            <p:nvPr/>
          </p:nvSpPr>
          <p:spPr>
            <a:xfrm>
              <a:off x="4010020" y="4067903"/>
              <a:ext cx="334956" cy="966023"/>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冲突状态</a:t>
              </a:r>
            </a:p>
          </p:txBody>
        </p:sp>
        <p:sp>
          <p:nvSpPr>
            <p:cNvPr id="58" name="矩形: 圆角 57">
              <a:extLst>
                <a:ext uri="{FF2B5EF4-FFF2-40B4-BE49-F238E27FC236}">
                  <a16:creationId xmlns:a16="http://schemas.microsoft.com/office/drawing/2014/main" id="{5C572492-D91A-4D4F-9167-692CC7F4D05C}"/>
                </a:ext>
              </a:extLst>
            </p:cNvPr>
            <p:cNvSpPr/>
            <p:nvPr/>
          </p:nvSpPr>
          <p:spPr>
            <a:xfrm>
              <a:off x="4010020" y="5415305"/>
              <a:ext cx="334956" cy="966023"/>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换道行为</a:t>
              </a:r>
            </a:p>
          </p:txBody>
        </p:sp>
        <p:sp>
          <p:nvSpPr>
            <p:cNvPr id="59" name="矩形: 圆角 58">
              <a:extLst>
                <a:ext uri="{FF2B5EF4-FFF2-40B4-BE49-F238E27FC236}">
                  <a16:creationId xmlns:a16="http://schemas.microsoft.com/office/drawing/2014/main" id="{DB07F50E-A3A3-4A05-BBE8-F46D615E67B4}"/>
                </a:ext>
              </a:extLst>
            </p:cNvPr>
            <p:cNvSpPr/>
            <p:nvPr/>
          </p:nvSpPr>
          <p:spPr>
            <a:xfrm>
              <a:off x="4587210" y="2730248"/>
              <a:ext cx="334956" cy="966023"/>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碰撞对象</a:t>
              </a:r>
            </a:p>
          </p:txBody>
        </p:sp>
        <p:sp>
          <p:nvSpPr>
            <p:cNvPr id="60" name="矩形: 圆角 59">
              <a:extLst>
                <a:ext uri="{FF2B5EF4-FFF2-40B4-BE49-F238E27FC236}">
                  <a16:creationId xmlns:a16="http://schemas.microsoft.com/office/drawing/2014/main" id="{2405B14D-0667-437A-BE24-A04F85B472BD}"/>
                </a:ext>
              </a:extLst>
            </p:cNvPr>
            <p:cNvSpPr/>
            <p:nvPr/>
          </p:nvSpPr>
          <p:spPr>
            <a:xfrm>
              <a:off x="4587210" y="4072776"/>
              <a:ext cx="334956" cy="966023"/>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严重程度</a:t>
              </a:r>
            </a:p>
          </p:txBody>
        </p:sp>
        <p:cxnSp>
          <p:nvCxnSpPr>
            <p:cNvPr id="5" name="直接箭头连接符 4">
              <a:extLst>
                <a:ext uri="{FF2B5EF4-FFF2-40B4-BE49-F238E27FC236}">
                  <a16:creationId xmlns:a16="http://schemas.microsoft.com/office/drawing/2014/main" id="{333EB737-E190-4773-9CF9-ED4F9EF90C20}"/>
                </a:ext>
              </a:extLst>
            </p:cNvPr>
            <p:cNvCxnSpPr>
              <a:stCxn id="3" idx="3"/>
              <a:endCxn id="50" idx="1"/>
            </p:cNvCxnSpPr>
            <p:nvPr/>
          </p:nvCxnSpPr>
          <p:spPr>
            <a:xfrm>
              <a:off x="3190596" y="3033239"/>
              <a:ext cx="226890" cy="180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直接箭头连接符 6">
              <a:extLst>
                <a:ext uri="{FF2B5EF4-FFF2-40B4-BE49-F238E27FC236}">
                  <a16:creationId xmlns:a16="http://schemas.microsoft.com/office/drawing/2014/main" id="{78BFB8B8-4C99-440E-A3F4-ADBF30D03647}"/>
                </a:ext>
              </a:extLst>
            </p:cNvPr>
            <p:cNvCxnSpPr>
              <a:stCxn id="3" idx="3"/>
              <a:endCxn id="51" idx="1"/>
            </p:cNvCxnSpPr>
            <p:nvPr/>
          </p:nvCxnSpPr>
          <p:spPr>
            <a:xfrm>
              <a:off x="3190596" y="3033239"/>
              <a:ext cx="226890" cy="15176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D4313991-FB72-4371-B46D-35F87D63A5D8}"/>
                </a:ext>
              </a:extLst>
            </p:cNvPr>
            <p:cNvCxnSpPr>
              <a:stCxn id="46" idx="3"/>
              <a:endCxn id="50" idx="1"/>
            </p:cNvCxnSpPr>
            <p:nvPr/>
          </p:nvCxnSpPr>
          <p:spPr>
            <a:xfrm flipV="1">
              <a:off x="3190596" y="3213260"/>
              <a:ext cx="226890" cy="648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a:extLst>
                <a:ext uri="{FF2B5EF4-FFF2-40B4-BE49-F238E27FC236}">
                  <a16:creationId xmlns:a16="http://schemas.microsoft.com/office/drawing/2014/main" id="{F63DA550-4E5D-473B-981C-C2997C4360B4}"/>
                </a:ext>
              </a:extLst>
            </p:cNvPr>
            <p:cNvCxnSpPr>
              <a:stCxn id="46" idx="3"/>
              <a:endCxn id="51" idx="1"/>
            </p:cNvCxnSpPr>
            <p:nvPr/>
          </p:nvCxnSpPr>
          <p:spPr>
            <a:xfrm>
              <a:off x="3190596" y="3861725"/>
              <a:ext cx="226890" cy="689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a:extLst>
                <a:ext uri="{FF2B5EF4-FFF2-40B4-BE49-F238E27FC236}">
                  <a16:creationId xmlns:a16="http://schemas.microsoft.com/office/drawing/2014/main" id="{EE190FFA-35E9-44A3-8E6A-2AF41F88133C}"/>
                </a:ext>
              </a:extLst>
            </p:cNvPr>
            <p:cNvCxnSpPr>
              <a:stCxn id="47" idx="3"/>
              <a:endCxn id="50" idx="1"/>
            </p:cNvCxnSpPr>
            <p:nvPr/>
          </p:nvCxnSpPr>
          <p:spPr>
            <a:xfrm flipV="1">
              <a:off x="3190596" y="3213260"/>
              <a:ext cx="226890" cy="1672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a:extLst>
                <a:ext uri="{FF2B5EF4-FFF2-40B4-BE49-F238E27FC236}">
                  <a16:creationId xmlns:a16="http://schemas.microsoft.com/office/drawing/2014/main" id="{8ED5A5BE-453F-41AB-9DAC-4D4FFEC10092}"/>
                </a:ext>
              </a:extLst>
            </p:cNvPr>
            <p:cNvCxnSpPr>
              <a:stCxn id="47" idx="3"/>
              <a:endCxn id="52" idx="1"/>
            </p:cNvCxnSpPr>
            <p:nvPr/>
          </p:nvCxnSpPr>
          <p:spPr>
            <a:xfrm>
              <a:off x="3190596" y="4885769"/>
              <a:ext cx="226890" cy="1012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a:extLst>
                <a:ext uri="{FF2B5EF4-FFF2-40B4-BE49-F238E27FC236}">
                  <a16:creationId xmlns:a16="http://schemas.microsoft.com/office/drawing/2014/main" id="{57529098-44F8-439C-A74D-87C901CCB19D}"/>
                </a:ext>
              </a:extLst>
            </p:cNvPr>
            <p:cNvCxnSpPr>
              <a:stCxn id="49" idx="3"/>
              <a:endCxn id="50" idx="1"/>
            </p:cNvCxnSpPr>
            <p:nvPr/>
          </p:nvCxnSpPr>
          <p:spPr>
            <a:xfrm flipV="1">
              <a:off x="3190596" y="3213260"/>
              <a:ext cx="226890" cy="27856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1700FB06-AE37-456B-B746-F0CD6C71FEA5}"/>
                </a:ext>
              </a:extLst>
            </p:cNvPr>
            <p:cNvCxnSpPr>
              <a:stCxn id="49" idx="3"/>
              <a:endCxn id="52" idx="1"/>
            </p:cNvCxnSpPr>
            <p:nvPr/>
          </p:nvCxnSpPr>
          <p:spPr>
            <a:xfrm flipV="1">
              <a:off x="3190596" y="5898316"/>
              <a:ext cx="226890" cy="1006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2DAD9B1D-4C98-43F2-ACBC-3234DB8A4F80}"/>
                </a:ext>
              </a:extLst>
            </p:cNvPr>
            <p:cNvCxnSpPr>
              <a:stCxn id="51" idx="3"/>
              <a:endCxn id="53" idx="1"/>
            </p:cNvCxnSpPr>
            <p:nvPr/>
          </p:nvCxnSpPr>
          <p:spPr>
            <a:xfrm flipV="1">
              <a:off x="3752442" y="3213260"/>
              <a:ext cx="257578" cy="13376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71B6DAC5-1BAE-4B47-AE63-E43C438C5805}"/>
                </a:ext>
              </a:extLst>
            </p:cNvPr>
            <p:cNvCxnSpPr>
              <a:stCxn id="51" idx="3"/>
              <a:endCxn id="58" idx="1"/>
            </p:cNvCxnSpPr>
            <p:nvPr/>
          </p:nvCxnSpPr>
          <p:spPr>
            <a:xfrm>
              <a:off x="3752442" y="4550913"/>
              <a:ext cx="257578" cy="13474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DCEE73CB-B69F-4206-BD12-5C44171B3A86}"/>
                </a:ext>
              </a:extLst>
            </p:cNvPr>
            <p:cNvCxnSpPr>
              <a:stCxn id="52" idx="3"/>
              <a:endCxn id="58" idx="1"/>
            </p:cNvCxnSpPr>
            <p:nvPr/>
          </p:nvCxnSpPr>
          <p:spPr>
            <a:xfrm>
              <a:off x="3752442" y="5898316"/>
              <a:ext cx="25757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接箭头连接符 61">
              <a:extLst>
                <a:ext uri="{FF2B5EF4-FFF2-40B4-BE49-F238E27FC236}">
                  <a16:creationId xmlns:a16="http://schemas.microsoft.com/office/drawing/2014/main" id="{3423ABD7-D28B-4C31-9947-95C1999E9A4E}"/>
                </a:ext>
              </a:extLst>
            </p:cNvPr>
            <p:cNvCxnSpPr>
              <a:stCxn id="50" idx="3"/>
              <a:endCxn id="58" idx="1"/>
            </p:cNvCxnSpPr>
            <p:nvPr/>
          </p:nvCxnSpPr>
          <p:spPr>
            <a:xfrm>
              <a:off x="3752442" y="3213260"/>
              <a:ext cx="257578" cy="26850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E2D3785A-2124-4947-8322-A81B0E54C828}"/>
                </a:ext>
              </a:extLst>
            </p:cNvPr>
            <p:cNvCxnSpPr>
              <a:stCxn id="51" idx="3"/>
              <a:endCxn id="54" idx="1"/>
            </p:cNvCxnSpPr>
            <p:nvPr/>
          </p:nvCxnSpPr>
          <p:spPr>
            <a:xfrm>
              <a:off x="3752442" y="4550913"/>
              <a:ext cx="257578"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直接箭头连接符 69">
              <a:extLst>
                <a:ext uri="{FF2B5EF4-FFF2-40B4-BE49-F238E27FC236}">
                  <a16:creationId xmlns:a16="http://schemas.microsoft.com/office/drawing/2014/main" id="{EDB80A45-AC07-488F-8064-A244B8167FA9}"/>
                </a:ext>
              </a:extLst>
            </p:cNvPr>
            <p:cNvCxnSpPr>
              <a:stCxn id="50" idx="3"/>
              <a:endCxn id="54" idx="1"/>
            </p:cNvCxnSpPr>
            <p:nvPr/>
          </p:nvCxnSpPr>
          <p:spPr>
            <a:xfrm>
              <a:off x="3752442" y="3213260"/>
              <a:ext cx="257578" cy="1337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00113246-F035-4984-B437-77DCEACAEF6C}"/>
                </a:ext>
              </a:extLst>
            </p:cNvPr>
            <p:cNvCxnSpPr>
              <a:stCxn id="53" idx="3"/>
              <a:endCxn id="59" idx="1"/>
            </p:cNvCxnSpPr>
            <p:nvPr/>
          </p:nvCxnSpPr>
          <p:spPr>
            <a:xfrm>
              <a:off x="4344976" y="3213260"/>
              <a:ext cx="24223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88426817-1023-4D07-9502-0FE08E75402A}"/>
                </a:ext>
              </a:extLst>
            </p:cNvPr>
            <p:cNvCxnSpPr>
              <a:stCxn id="53" idx="3"/>
              <a:endCxn id="60" idx="1"/>
            </p:cNvCxnSpPr>
            <p:nvPr/>
          </p:nvCxnSpPr>
          <p:spPr>
            <a:xfrm>
              <a:off x="4344976" y="3213260"/>
              <a:ext cx="242234" cy="13425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2ED1C05D-DF95-4740-A2C1-FC8C890F8495}"/>
                </a:ext>
              </a:extLst>
            </p:cNvPr>
            <p:cNvCxnSpPr>
              <a:stCxn id="54" idx="3"/>
              <a:endCxn id="59" idx="1"/>
            </p:cNvCxnSpPr>
            <p:nvPr/>
          </p:nvCxnSpPr>
          <p:spPr>
            <a:xfrm flipV="1">
              <a:off x="4344976" y="3213260"/>
              <a:ext cx="242234" cy="1337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直接箭头连接符 81">
              <a:extLst>
                <a:ext uri="{FF2B5EF4-FFF2-40B4-BE49-F238E27FC236}">
                  <a16:creationId xmlns:a16="http://schemas.microsoft.com/office/drawing/2014/main" id="{ACB097A5-7E18-4E01-9F41-0FD57C06770F}"/>
                </a:ext>
              </a:extLst>
            </p:cNvPr>
            <p:cNvCxnSpPr>
              <a:stCxn id="54" idx="3"/>
              <a:endCxn id="60" idx="1"/>
            </p:cNvCxnSpPr>
            <p:nvPr/>
          </p:nvCxnSpPr>
          <p:spPr>
            <a:xfrm>
              <a:off x="4344976" y="4550915"/>
              <a:ext cx="242234" cy="4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4" name="直接箭头连接符 83">
              <a:extLst>
                <a:ext uri="{FF2B5EF4-FFF2-40B4-BE49-F238E27FC236}">
                  <a16:creationId xmlns:a16="http://schemas.microsoft.com/office/drawing/2014/main" id="{E3F3DF0A-549A-4597-AD7E-20174D0D6D78}"/>
                </a:ext>
              </a:extLst>
            </p:cNvPr>
            <p:cNvCxnSpPr>
              <a:stCxn id="58" idx="3"/>
              <a:endCxn id="59" idx="1"/>
            </p:cNvCxnSpPr>
            <p:nvPr/>
          </p:nvCxnSpPr>
          <p:spPr>
            <a:xfrm flipV="1">
              <a:off x="4344976" y="3213260"/>
              <a:ext cx="242234" cy="26850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0" name="矩形: 圆角 89">
              <a:extLst>
                <a:ext uri="{FF2B5EF4-FFF2-40B4-BE49-F238E27FC236}">
                  <a16:creationId xmlns:a16="http://schemas.microsoft.com/office/drawing/2014/main" id="{C15AF58A-41A0-43F7-8C84-956EE046E6F5}"/>
                </a:ext>
              </a:extLst>
            </p:cNvPr>
            <p:cNvSpPr/>
            <p:nvPr/>
          </p:nvSpPr>
          <p:spPr>
            <a:xfrm>
              <a:off x="4587210" y="5415305"/>
              <a:ext cx="334956" cy="966023"/>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碰撞位置</a:t>
              </a:r>
            </a:p>
          </p:txBody>
        </p:sp>
        <p:cxnSp>
          <p:nvCxnSpPr>
            <p:cNvPr id="102" name="直接箭头连接符 101">
              <a:extLst>
                <a:ext uri="{FF2B5EF4-FFF2-40B4-BE49-F238E27FC236}">
                  <a16:creationId xmlns:a16="http://schemas.microsoft.com/office/drawing/2014/main" id="{BC181781-AA49-4311-981E-A9F14DD2178A}"/>
                </a:ext>
              </a:extLst>
            </p:cNvPr>
            <p:cNvCxnSpPr>
              <a:stCxn id="53" idx="3"/>
              <a:endCxn id="90" idx="1"/>
            </p:cNvCxnSpPr>
            <p:nvPr/>
          </p:nvCxnSpPr>
          <p:spPr>
            <a:xfrm>
              <a:off x="4344976" y="3213260"/>
              <a:ext cx="242234" cy="26850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直接箭头连接符 103">
              <a:extLst>
                <a:ext uri="{FF2B5EF4-FFF2-40B4-BE49-F238E27FC236}">
                  <a16:creationId xmlns:a16="http://schemas.microsoft.com/office/drawing/2014/main" id="{6BADDC34-F289-41C9-8BFC-638517CD36D9}"/>
                </a:ext>
              </a:extLst>
            </p:cNvPr>
            <p:cNvCxnSpPr>
              <a:stCxn id="58" idx="3"/>
              <a:endCxn id="90" idx="1"/>
            </p:cNvCxnSpPr>
            <p:nvPr/>
          </p:nvCxnSpPr>
          <p:spPr>
            <a:xfrm>
              <a:off x="4344976" y="5898317"/>
              <a:ext cx="24223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直接箭头连接符 105">
              <a:extLst>
                <a:ext uri="{FF2B5EF4-FFF2-40B4-BE49-F238E27FC236}">
                  <a16:creationId xmlns:a16="http://schemas.microsoft.com/office/drawing/2014/main" id="{EE677F1D-BD4B-4295-B663-8E7432E0C1EA}"/>
                </a:ext>
              </a:extLst>
            </p:cNvPr>
            <p:cNvCxnSpPr>
              <a:stCxn id="54" idx="3"/>
              <a:endCxn id="90" idx="1"/>
            </p:cNvCxnSpPr>
            <p:nvPr/>
          </p:nvCxnSpPr>
          <p:spPr>
            <a:xfrm>
              <a:off x="4344976" y="4550915"/>
              <a:ext cx="242234" cy="1347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2" name="文本框 111">
              <a:extLst>
                <a:ext uri="{FF2B5EF4-FFF2-40B4-BE49-F238E27FC236}">
                  <a16:creationId xmlns:a16="http://schemas.microsoft.com/office/drawing/2014/main" id="{E774C561-AED3-47D9-B1C3-B22FECA340B3}"/>
                </a:ext>
              </a:extLst>
            </p:cNvPr>
            <p:cNvSpPr txBox="1"/>
            <p:nvPr/>
          </p:nvSpPr>
          <p:spPr>
            <a:xfrm>
              <a:off x="2839229" y="2325972"/>
              <a:ext cx="334956" cy="369332"/>
            </a:xfrm>
            <a:prstGeom prst="rect">
              <a:avLst/>
            </a:prstGeom>
            <a:noFill/>
          </p:spPr>
          <p:txBody>
            <a:bodyPr wrap="square">
              <a:spAutoFit/>
            </a:bodyPr>
            <a:lstStyle/>
            <a:p>
              <a:r>
                <a:rPr lang="en-US" altLang="zh-CN" sz="1800" b="1" dirty="0">
                  <a:solidFill>
                    <a:schemeClr val="tx1"/>
                  </a:solidFill>
                  <a:latin typeface="微软雅黑" panose="020B0503020204020204" pitchFamily="34" charset="-122"/>
                  <a:ea typeface="微软雅黑" panose="020B0503020204020204" pitchFamily="34" charset="-122"/>
                </a:rPr>
                <a:t>A</a:t>
              </a:r>
              <a:endParaRPr lang="zh-CN" altLang="en-US" dirty="0"/>
            </a:p>
          </p:txBody>
        </p:sp>
        <p:sp>
          <p:nvSpPr>
            <p:cNvPr id="113" name="文本框 112">
              <a:extLst>
                <a:ext uri="{FF2B5EF4-FFF2-40B4-BE49-F238E27FC236}">
                  <a16:creationId xmlns:a16="http://schemas.microsoft.com/office/drawing/2014/main" id="{71E679A2-F1D8-4D7B-9EB3-0C37CFB27981}"/>
                </a:ext>
              </a:extLst>
            </p:cNvPr>
            <p:cNvSpPr txBox="1"/>
            <p:nvPr/>
          </p:nvSpPr>
          <p:spPr>
            <a:xfrm>
              <a:off x="3405122" y="2325972"/>
              <a:ext cx="334956" cy="369332"/>
            </a:xfrm>
            <a:prstGeom prst="rect">
              <a:avLst/>
            </a:prstGeom>
            <a:noFill/>
          </p:spPr>
          <p:txBody>
            <a:bodyPr wrap="square">
              <a:spAutoFit/>
            </a:bodyPr>
            <a:lstStyle/>
            <a:p>
              <a:r>
                <a:rPr lang="en-US" altLang="zh-CN" b="1" dirty="0">
                  <a:latin typeface="微软雅黑" panose="020B0503020204020204" pitchFamily="34" charset="-122"/>
                  <a:ea typeface="微软雅黑" panose="020B0503020204020204" pitchFamily="34" charset="-122"/>
                </a:rPr>
                <a:t>B</a:t>
              </a:r>
              <a:endParaRPr lang="zh-CN" altLang="en-US" dirty="0"/>
            </a:p>
          </p:txBody>
        </p:sp>
        <p:sp>
          <p:nvSpPr>
            <p:cNvPr id="114" name="文本框 113">
              <a:extLst>
                <a:ext uri="{FF2B5EF4-FFF2-40B4-BE49-F238E27FC236}">
                  <a16:creationId xmlns:a16="http://schemas.microsoft.com/office/drawing/2014/main" id="{D6EA196C-ED5E-4459-834D-67C57CE98FB8}"/>
                </a:ext>
              </a:extLst>
            </p:cNvPr>
            <p:cNvSpPr txBox="1"/>
            <p:nvPr/>
          </p:nvSpPr>
          <p:spPr>
            <a:xfrm>
              <a:off x="3971015" y="2325972"/>
              <a:ext cx="334956" cy="369332"/>
            </a:xfrm>
            <a:prstGeom prst="rect">
              <a:avLst/>
            </a:prstGeom>
            <a:noFill/>
          </p:spPr>
          <p:txBody>
            <a:bodyPr wrap="square">
              <a:spAutoFit/>
            </a:bodyPr>
            <a:lstStyle/>
            <a:p>
              <a:r>
                <a:rPr lang="en-US" altLang="zh-CN" b="1" dirty="0">
                  <a:latin typeface="微软雅黑" panose="020B0503020204020204" pitchFamily="34" charset="-122"/>
                  <a:ea typeface="微软雅黑" panose="020B0503020204020204" pitchFamily="34" charset="-122"/>
                </a:rPr>
                <a:t>C</a:t>
              </a:r>
              <a:endParaRPr lang="zh-CN" altLang="en-US" dirty="0"/>
            </a:p>
          </p:txBody>
        </p:sp>
        <p:sp>
          <p:nvSpPr>
            <p:cNvPr id="115" name="文本框 114">
              <a:extLst>
                <a:ext uri="{FF2B5EF4-FFF2-40B4-BE49-F238E27FC236}">
                  <a16:creationId xmlns:a16="http://schemas.microsoft.com/office/drawing/2014/main" id="{9CBF0F03-A817-47FE-98C4-9407B7419FF0}"/>
                </a:ext>
              </a:extLst>
            </p:cNvPr>
            <p:cNvSpPr txBox="1"/>
            <p:nvPr/>
          </p:nvSpPr>
          <p:spPr>
            <a:xfrm>
              <a:off x="4536908" y="2325972"/>
              <a:ext cx="334956" cy="369332"/>
            </a:xfrm>
            <a:prstGeom prst="rect">
              <a:avLst/>
            </a:prstGeom>
            <a:noFill/>
          </p:spPr>
          <p:txBody>
            <a:bodyPr wrap="square">
              <a:spAutoFit/>
            </a:bodyPr>
            <a:lstStyle/>
            <a:p>
              <a:r>
                <a:rPr lang="en-US" altLang="zh-CN" b="1" dirty="0">
                  <a:latin typeface="微软雅黑" panose="020B0503020204020204" pitchFamily="34" charset="-122"/>
                  <a:ea typeface="微软雅黑" panose="020B0503020204020204" pitchFamily="34" charset="-122"/>
                </a:rPr>
                <a:t>D</a:t>
              </a:r>
              <a:endParaRPr lang="zh-CN" altLang="en-US" dirty="0"/>
            </a:p>
          </p:txBody>
        </p:sp>
        <p:cxnSp>
          <p:nvCxnSpPr>
            <p:cNvPr id="117" name="直接箭头连接符 116">
              <a:extLst>
                <a:ext uri="{FF2B5EF4-FFF2-40B4-BE49-F238E27FC236}">
                  <a16:creationId xmlns:a16="http://schemas.microsoft.com/office/drawing/2014/main" id="{8536580A-AF21-4397-B6AB-E15041DAAC65}"/>
                </a:ext>
              </a:extLst>
            </p:cNvPr>
            <p:cNvCxnSpPr>
              <a:cxnSpLocks/>
              <a:stCxn id="50" idx="2"/>
              <a:endCxn id="51" idx="0"/>
            </p:cNvCxnSpPr>
            <p:nvPr/>
          </p:nvCxnSpPr>
          <p:spPr>
            <a:xfrm>
              <a:off x="3584964" y="3696271"/>
              <a:ext cx="0" cy="3716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直接箭头连接符 119">
              <a:extLst>
                <a:ext uri="{FF2B5EF4-FFF2-40B4-BE49-F238E27FC236}">
                  <a16:creationId xmlns:a16="http://schemas.microsoft.com/office/drawing/2014/main" id="{00015AEB-305A-4C77-96FC-62306E4365D4}"/>
                </a:ext>
              </a:extLst>
            </p:cNvPr>
            <p:cNvCxnSpPr>
              <a:stCxn id="51" idx="2"/>
              <a:endCxn id="52" idx="0"/>
            </p:cNvCxnSpPr>
            <p:nvPr/>
          </p:nvCxnSpPr>
          <p:spPr>
            <a:xfrm>
              <a:off x="3584964" y="5033925"/>
              <a:ext cx="0" cy="381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直接箭头连接符 123">
              <a:extLst>
                <a:ext uri="{FF2B5EF4-FFF2-40B4-BE49-F238E27FC236}">
                  <a16:creationId xmlns:a16="http://schemas.microsoft.com/office/drawing/2014/main" id="{5AECA51B-3BBF-4EAD-9F16-E70AE1D03040}"/>
                </a:ext>
              </a:extLst>
            </p:cNvPr>
            <p:cNvCxnSpPr>
              <a:stCxn id="53" idx="2"/>
              <a:endCxn id="54" idx="0"/>
            </p:cNvCxnSpPr>
            <p:nvPr/>
          </p:nvCxnSpPr>
          <p:spPr>
            <a:xfrm>
              <a:off x="4177498" y="3696271"/>
              <a:ext cx="0" cy="3716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6" name="直接连接符 125">
              <a:extLst>
                <a:ext uri="{FF2B5EF4-FFF2-40B4-BE49-F238E27FC236}">
                  <a16:creationId xmlns:a16="http://schemas.microsoft.com/office/drawing/2014/main" id="{10B7D24E-4AF7-4276-8324-D196237BD215}"/>
                </a:ext>
              </a:extLst>
            </p:cNvPr>
            <p:cNvCxnSpPr>
              <a:stCxn id="54" idx="2"/>
              <a:endCxn id="58" idx="0"/>
            </p:cNvCxnSpPr>
            <p:nvPr/>
          </p:nvCxnSpPr>
          <p:spPr>
            <a:xfrm>
              <a:off x="4177498" y="5033926"/>
              <a:ext cx="0" cy="381379"/>
            </a:xfrm>
            <a:prstGeom prst="line">
              <a:avLst/>
            </a:prstGeom>
            <a:ln>
              <a:tailEnd type="triangle"/>
            </a:ln>
          </p:spPr>
          <p:style>
            <a:lnRef idx="1">
              <a:schemeClr val="dk1"/>
            </a:lnRef>
            <a:fillRef idx="0">
              <a:schemeClr val="dk1"/>
            </a:fillRef>
            <a:effectRef idx="0">
              <a:schemeClr val="dk1"/>
            </a:effectRef>
            <a:fontRef idx="minor">
              <a:schemeClr val="tx1"/>
            </a:fontRef>
          </p:style>
        </p:cxnSp>
        <p:cxnSp>
          <p:nvCxnSpPr>
            <p:cNvPr id="127" name="直接箭头连接符 126">
              <a:extLst>
                <a:ext uri="{FF2B5EF4-FFF2-40B4-BE49-F238E27FC236}">
                  <a16:creationId xmlns:a16="http://schemas.microsoft.com/office/drawing/2014/main" id="{688B982A-C738-4B64-951E-08606BB8B30A}"/>
                </a:ext>
              </a:extLst>
            </p:cNvPr>
            <p:cNvCxnSpPr>
              <a:cxnSpLocks/>
            </p:cNvCxnSpPr>
            <p:nvPr/>
          </p:nvCxnSpPr>
          <p:spPr>
            <a:xfrm>
              <a:off x="4754688" y="3675910"/>
              <a:ext cx="0" cy="3716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8" name="直接箭头连接符 127">
              <a:extLst>
                <a:ext uri="{FF2B5EF4-FFF2-40B4-BE49-F238E27FC236}">
                  <a16:creationId xmlns:a16="http://schemas.microsoft.com/office/drawing/2014/main" id="{328B300B-FB06-4793-A585-64A046240F36}"/>
                </a:ext>
              </a:extLst>
            </p:cNvPr>
            <p:cNvCxnSpPr>
              <a:cxnSpLocks/>
            </p:cNvCxnSpPr>
            <p:nvPr/>
          </p:nvCxnSpPr>
          <p:spPr>
            <a:xfrm flipV="1">
              <a:off x="4754688" y="5043673"/>
              <a:ext cx="0" cy="3716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71BE8851-2D35-4ED9-B79B-56F9EEBA018E}"/>
                  </a:ext>
                </a:extLst>
              </p:cNvPr>
              <p:cNvSpPr txBox="1"/>
              <p:nvPr/>
            </p:nvSpPr>
            <p:spPr>
              <a:xfrm>
                <a:off x="5091092" y="2954220"/>
                <a:ext cx="216879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𝟒</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29" name="文本框 128">
                <a:extLst>
                  <a:ext uri="{FF2B5EF4-FFF2-40B4-BE49-F238E27FC236}">
                    <a16:creationId xmlns:a16="http://schemas.microsoft.com/office/drawing/2014/main" id="{71BE8851-2D35-4ED9-B79B-56F9EEBA018E}"/>
                  </a:ext>
                </a:extLst>
              </p:cNvPr>
              <p:cNvSpPr txBox="1">
                <a:spLocks noRot="1" noChangeAspect="1" noMove="1" noResize="1" noEditPoints="1" noAdjustHandles="1" noChangeArrowheads="1" noChangeShapeType="1" noTextEdit="1"/>
              </p:cNvSpPr>
              <p:nvPr/>
            </p:nvSpPr>
            <p:spPr>
              <a:xfrm>
                <a:off x="5091092" y="2954220"/>
                <a:ext cx="2168799" cy="215444"/>
              </a:xfrm>
              <a:prstGeom prst="rect">
                <a:avLst/>
              </a:prstGeom>
              <a:blipFill>
                <a:blip r:embed="rId2"/>
                <a:stretch>
                  <a:fillRect l="-1404" r="-2528" b="-3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0" name="文本框 129">
                <a:extLst>
                  <a:ext uri="{FF2B5EF4-FFF2-40B4-BE49-F238E27FC236}">
                    <a16:creationId xmlns:a16="http://schemas.microsoft.com/office/drawing/2014/main" id="{89FEEA47-1CF9-4BB1-96D8-4A9160F92B61}"/>
                  </a:ext>
                </a:extLst>
              </p:cNvPr>
              <p:cNvSpPr txBox="1"/>
              <p:nvPr/>
            </p:nvSpPr>
            <p:spPr>
              <a:xfrm>
                <a:off x="5231900" y="3292598"/>
                <a:ext cx="188718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30" name="文本框 129">
                <a:extLst>
                  <a:ext uri="{FF2B5EF4-FFF2-40B4-BE49-F238E27FC236}">
                    <a16:creationId xmlns:a16="http://schemas.microsoft.com/office/drawing/2014/main" id="{89FEEA47-1CF9-4BB1-96D8-4A9160F92B61}"/>
                  </a:ext>
                </a:extLst>
              </p:cNvPr>
              <p:cNvSpPr txBox="1">
                <a:spLocks noRot="1" noChangeAspect="1" noMove="1" noResize="1" noEditPoints="1" noAdjustHandles="1" noChangeArrowheads="1" noChangeShapeType="1" noTextEdit="1"/>
              </p:cNvSpPr>
              <p:nvPr/>
            </p:nvSpPr>
            <p:spPr>
              <a:xfrm>
                <a:off x="5231900" y="3292598"/>
                <a:ext cx="1887183" cy="215444"/>
              </a:xfrm>
              <a:prstGeom prst="rect">
                <a:avLst/>
              </a:prstGeom>
              <a:blipFill>
                <a:blip r:embed="rId3"/>
                <a:stretch>
                  <a:fillRect l="-1613" r="-2903" b="-3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1F84555E-6748-4F65-BDD0-07B7FCEB4FC1}"/>
                  </a:ext>
                </a:extLst>
              </p:cNvPr>
              <p:cNvSpPr txBox="1"/>
              <p:nvPr/>
            </p:nvSpPr>
            <p:spPr>
              <a:xfrm>
                <a:off x="5079871" y="3630976"/>
                <a:ext cx="219124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𝟒</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31" name="文本框 130">
                <a:extLst>
                  <a:ext uri="{FF2B5EF4-FFF2-40B4-BE49-F238E27FC236}">
                    <a16:creationId xmlns:a16="http://schemas.microsoft.com/office/drawing/2014/main" id="{1F84555E-6748-4F65-BDD0-07B7FCEB4FC1}"/>
                  </a:ext>
                </a:extLst>
              </p:cNvPr>
              <p:cNvSpPr txBox="1">
                <a:spLocks noRot="1" noChangeAspect="1" noMove="1" noResize="1" noEditPoints="1" noAdjustHandles="1" noChangeArrowheads="1" noChangeShapeType="1" noTextEdit="1"/>
              </p:cNvSpPr>
              <p:nvPr/>
            </p:nvSpPr>
            <p:spPr>
              <a:xfrm>
                <a:off x="5079871" y="3630976"/>
                <a:ext cx="2191241" cy="215444"/>
              </a:xfrm>
              <a:prstGeom prst="rect">
                <a:avLst/>
              </a:prstGeom>
              <a:blipFill>
                <a:blip r:embed="rId4"/>
                <a:stretch>
                  <a:fillRect l="-1389" r="-2222" b="-3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 name="文本框 132">
                <a:extLst>
                  <a:ext uri="{FF2B5EF4-FFF2-40B4-BE49-F238E27FC236}">
                    <a16:creationId xmlns:a16="http://schemas.microsoft.com/office/drawing/2014/main" id="{200D6D94-2D50-4791-AEBB-0941FB1F21A0}"/>
                  </a:ext>
                </a:extLst>
              </p:cNvPr>
              <p:cNvSpPr txBox="1"/>
              <p:nvPr/>
            </p:nvSpPr>
            <p:spPr>
              <a:xfrm>
                <a:off x="5240716" y="3969354"/>
                <a:ext cx="186955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𝟒</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𝟒</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33" name="文本框 132">
                <a:extLst>
                  <a:ext uri="{FF2B5EF4-FFF2-40B4-BE49-F238E27FC236}">
                    <a16:creationId xmlns:a16="http://schemas.microsoft.com/office/drawing/2014/main" id="{200D6D94-2D50-4791-AEBB-0941FB1F21A0}"/>
                  </a:ext>
                </a:extLst>
              </p:cNvPr>
              <p:cNvSpPr txBox="1">
                <a:spLocks noRot="1" noChangeAspect="1" noMove="1" noResize="1" noEditPoints="1" noAdjustHandles="1" noChangeArrowheads="1" noChangeShapeType="1" noTextEdit="1"/>
              </p:cNvSpPr>
              <p:nvPr/>
            </p:nvSpPr>
            <p:spPr>
              <a:xfrm>
                <a:off x="5240716" y="3969354"/>
                <a:ext cx="1869550" cy="215444"/>
              </a:xfrm>
              <a:prstGeom prst="rect">
                <a:avLst/>
              </a:prstGeom>
              <a:blipFill>
                <a:blip r:embed="rId5"/>
                <a:stretch>
                  <a:fillRect l="-1634" r="-2941" b="-3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4" name="文本框 133">
                <a:extLst>
                  <a:ext uri="{FF2B5EF4-FFF2-40B4-BE49-F238E27FC236}">
                    <a16:creationId xmlns:a16="http://schemas.microsoft.com/office/drawing/2014/main" id="{810DD0CA-3E55-40FA-8C6C-ACAB52A48101}"/>
                  </a:ext>
                </a:extLst>
              </p:cNvPr>
              <p:cNvSpPr txBox="1"/>
              <p:nvPr/>
            </p:nvSpPr>
            <p:spPr>
              <a:xfrm>
                <a:off x="4945475" y="4307732"/>
                <a:ext cx="24600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𝟒</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𝟓</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34" name="文本框 133">
                <a:extLst>
                  <a:ext uri="{FF2B5EF4-FFF2-40B4-BE49-F238E27FC236}">
                    <a16:creationId xmlns:a16="http://schemas.microsoft.com/office/drawing/2014/main" id="{810DD0CA-3E55-40FA-8C6C-ACAB52A48101}"/>
                  </a:ext>
                </a:extLst>
              </p:cNvPr>
              <p:cNvSpPr txBox="1">
                <a:spLocks noRot="1" noChangeAspect="1" noMove="1" noResize="1" noEditPoints="1" noAdjustHandles="1" noChangeArrowheads="1" noChangeShapeType="1" noTextEdit="1"/>
              </p:cNvSpPr>
              <p:nvPr/>
            </p:nvSpPr>
            <p:spPr>
              <a:xfrm>
                <a:off x="4945475" y="4307732"/>
                <a:ext cx="2460032" cy="215444"/>
              </a:xfrm>
              <a:prstGeom prst="rect">
                <a:avLst/>
              </a:prstGeom>
              <a:blipFill>
                <a:blip r:embed="rId6"/>
                <a:stretch>
                  <a:fillRect l="-1238" r="-1980" b="-3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5" name="文本框 134">
                <a:extLst>
                  <a:ext uri="{FF2B5EF4-FFF2-40B4-BE49-F238E27FC236}">
                    <a16:creationId xmlns:a16="http://schemas.microsoft.com/office/drawing/2014/main" id="{F330D5DB-486F-41C1-8162-2ECFF1A6F9AD}"/>
                  </a:ext>
                </a:extLst>
              </p:cNvPr>
              <p:cNvSpPr txBox="1"/>
              <p:nvPr/>
            </p:nvSpPr>
            <p:spPr>
              <a:xfrm>
                <a:off x="4945475" y="4646110"/>
                <a:ext cx="24600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𝟒</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𝑩</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𝟔</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35" name="文本框 134">
                <a:extLst>
                  <a:ext uri="{FF2B5EF4-FFF2-40B4-BE49-F238E27FC236}">
                    <a16:creationId xmlns:a16="http://schemas.microsoft.com/office/drawing/2014/main" id="{F330D5DB-486F-41C1-8162-2ECFF1A6F9AD}"/>
                  </a:ext>
                </a:extLst>
              </p:cNvPr>
              <p:cNvSpPr txBox="1">
                <a:spLocks noRot="1" noChangeAspect="1" noMove="1" noResize="1" noEditPoints="1" noAdjustHandles="1" noChangeArrowheads="1" noChangeShapeType="1" noTextEdit="1"/>
              </p:cNvSpPr>
              <p:nvPr/>
            </p:nvSpPr>
            <p:spPr>
              <a:xfrm>
                <a:off x="4945475" y="4646110"/>
                <a:ext cx="2460032" cy="215444"/>
              </a:xfrm>
              <a:prstGeom prst="rect">
                <a:avLst/>
              </a:prstGeom>
              <a:blipFill>
                <a:blip r:embed="rId7"/>
                <a:stretch>
                  <a:fillRect l="-1238" r="-1980" b="-3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6" name="文本框 135">
                <a:extLst>
                  <a:ext uri="{FF2B5EF4-FFF2-40B4-BE49-F238E27FC236}">
                    <a16:creationId xmlns:a16="http://schemas.microsoft.com/office/drawing/2014/main" id="{AE64AA32-07BC-4FED-B3A3-A581DB10AE8E}"/>
                  </a:ext>
                </a:extLst>
              </p:cNvPr>
              <p:cNvSpPr txBox="1"/>
              <p:nvPr/>
            </p:nvSpPr>
            <p:spPr>
              <a:xfrm>
                <a:off x="5098305" y="4984488"/>
                <a:ext cx="215437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𝑫</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𝟕</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36" name="文本框 135">
                <a:extLst>
                  <a:ext uri="{FF2B5EF4-FFF2-40B4-BE49-F238E27FC236}">
                    <a16:creationId xmlns:a16="http://schemas.microsoft.com/office/drawing/2014/main" id="{AE64AA32-07BC-4FED-B3A3-A581DB10AE8E}"/>
                  </a:ext>
                </a:extLst>
              </p:cNvPr>
              <p:cNvSpPr txBox="1">
                <a:spLocks noRot="1" noChangeAspect="1" noMove="1" noResize="1" noEditPoints="1" noAdjustHandles="1" noChangeArrowheads="1" noChangeShapeType="1" noTextEdit="1"/>
              </p:cNvSpPr>
              <p:nvPr/>
            </p:nvSpPr>
            <p:spPr>
              <a:xfrm>
                <a:off x="5098305" y="4984488"/>
                <a:ext cx="2154372" cy="215444"/>
              </a:xfrm>
              <a:prstGeom prst="rect">
                <a:avLst/>
              </a:prstGeom>
              <a:blipFill>
                <a:blip r:embed="rId8"/>
                <a:stretch>
                  <a:fillRect l="-1412" r="-2260" b="-3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04126273-1FB7-427F-AE43-C53D12F0D060}"/>
                  </a:ext>
                </a:extLst>
              </p:cNvPr>
              <p:cNvSpPr txBox="1"/>
              <p:nvPr/>
            </p:nvSpPr>
            <p:spPr>
              <a:xfrm>
                <a:off x="4943872" y="5322866"/>
                <a:ext cx="246323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𝑫</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𝑫</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𝟖</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37" name="文本框 136">
                <a:extLst>
                  <a:ext uri="{FF2B5EF4-FFF2-40B4-BE49-F238E27FC236}">
                    <a16:creationId xmlns:a16="http://schemas.microsoft.com/office/drawing/2014/main" id="{04126273-1FB7-427F-AE43-C53D12F0D060}"/>
                  </a:ext>
                </a:extLst>
              </p:cNvPr>
              <p:cNvSpPr txBox="1">
                <a:spLocks noRot="1" noChangeAspect="1" noMove="1" noResize="1" noEditPoints="1" noAdjustHandles="1" noChangeArrowheads="1" noChangeShapeType="1" noTextEdit="1"/>
              </p:cNvSpPr>
              <p:nvPr/>
            </p:nvSpPr>
            <p:spPr>
              <a:xfrm>
                <a:off x="4943872" y="5322866"/>
                <a:ext cx="2463238" cy="215444"/>
              </a:xfrm>
              <a:prstGeom prst="rect">
                <a:avLst/>
              </a:prstGeom>
              <a:blipFill>
                <a:blip r:embed="rId9"/>
                <a:stretch>
                  <a:fillRect l="-1238" r="-2228" b="-30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E2BED1A5-4612-447F-A7CF-14F6BE2BC0A1}"/>
                  </a:ext>
                </a:extLst>
              </p:cNvPr>
              <p:cNvSpPr txBox="1"/>
              <p:nvPr/>
            </p:nvSpPr>
            <p:spPr>
              <a:xfrm>
                <a:off x="4943872" y="5661248"/>
                <a:ext cx="246323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𝑫</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𝒇</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𝑨</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𝟏</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 </m:t>
                      </m:r>
                      <m:r>
                        <a:rPr lang="en-US" altLang="zh-CN" sz="1400" b="1" i="1" smtClean="0">
                          <a:latin typeface="Cambria Math" panose="02040503050406030204" pitchFamily="18" charset="0"/>
                        </a:rPr>
                        <m:t>𝑪</m:t>
                      </m:r>
                      <m:r>
                        <a:rPr lang="en-US" altLang="zh-CN" sz="1400" b="1" i="1" smtClean="0">
                          <a:latin typeface="Cambria Math" panose="02040503050406030204" pitchFamily="18" charset="0"/>
                        </a:rPr>
                        <m:t>𝟑</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𝑫</m:t>
                      </m:r>
                      <m:r>
                        <a:rPr lang="en-US" altLang="zh-CN" sz="1400" b="1" i="1" smtClean="0">
                          <a:latin typeface="Cambria Math" panose="02040503050406030204" pitchFamily="18" charset="0"/>
                        </a:rPr>
                        <m:t>𝟐</m:t>
                      </m:r>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𝑼</m:t>
                      </m:r>
                      <m:r>
                        <a:rPr lang="en-US" altLang="zh-CN" sz="1400" b="1" i="1" smtClean="0">
                          <a:latin typeface="Cambria Math" panose="02040503050406030204" pitchFamily="18" charset="0"/>
                        </a:rPr>
                        <m:t>𝟗</m:t>
                      </m:r>
                      <m:r>
                        <a:rPr lang="en-US" altLang="zh-CN" sz="1400" b="1" i="1" smtClean="0">
                          <a:latin typeface="Cambria Math" panose="02040503050406030204" pitchFamily="18" charset="0"/>
                        </a:rPr>
                        <m:t>)</m:t>
                      </m:r>
                    </m:oMath>
                  </m:oMathPara>
                </a14:m>
                <a:endParaRPr lang="zh-CN" altLang="en-US" sz="1400" b="1" dirty="0"/>
              </a:p>
            </p:txBody>
          </p:sp>
        </mc:Choice>
        <mc:Fallback xmlns="">
          <p:sp>
            <p:nvSpPr>
              <p:cNvPr id="138" name="文本框 137">
                <a:extLst>
                  <a:ext uri="{FF2B5EF4-FFF2-40B4-BE49-F238E27FC236}">
                    <a16:creationId xmlns:a16="http://schemas.microsoft.com/office/drawing/2014/main" id="{E2BED1A5-4612-447F-A7CF-14F6BE2BC0A1}"/>
                  </a:ext>
                </a:extLst>
              </p:cNvPr>
              <p:cNvSpPr txBox="1">
                <a:spLocks noRot="1" noChangeAspect="1" noMove="1" noResize="1" noEditPoints="1" noAdjustHandles="1" noChangeArrowheads="1" noChangeShapeType="1" noTextEdit="1"/>
              </p:cNvSpPr>
              <p:nvPr/>
            </p:nvSpPr>
            <p:spPr>
              <a:xfrm>
                <a:off x="4943872" y="5661248"/>
                <a:ext cx="2463238" cy="215444"/>
              </a:xfrm>
              <a:prstGeom prst="rect">
                <a:avLst/>
              </a:prstGeom>
              <a:blipFill>
                <a:blip r:embed="rId10"/>
                <a:stretch>
                  <a:fillRect l="-1238" r="-2228" b="-3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0" name="文本框 139">
                <a:extLst>
                  <a:ext uri="{FF2B5EF4-FFF2-40B4-BE49-F238E27FC236}">
                    <a16:creationId xmlns:a16="http://schemas.microsoft.com/office/drawing/2014/main" id="{C8F50326-E465-499B-A683-E16F5A9E4991}"/>
                  </a:ext>
                </a:extLst>
              </p:cNvPr>
              <p:cNvSpPr txBox="1"/>
              <p:nvPr/>
            </p:nvSpPr>
            <p:spPr>
              <a:xfrm>
                <a:off x="4945475" y="5908630"/>
                <a:ext cx="2460032" cy="369332"/>
              </a:xfrm>
              <a:prstGeom prst="rect">
                <a:avLst/>
              </a:prstGeom>
              <a:noFill/>
            </p:spPr>
            <p:txBody>
              <a:bodyPr wrap="square">
                <a:spAutoFit/>
              </a:bodyPr>
              <a:lstStyle/>
              <a:p>
                <a:pPr algn="ctr"/>
                <a:r>
                  <a:rPr lang="zh-CN" altLang="en-US" dirty="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i="1" dirty="0" smtClean="0">
                            <a:latin typeface="Cambria Math" panose="02040503050406030204" pitchFamily="18" charset="0"/>
                            <a:ea typeface="微软雅黑" panose="020B0503020204020204" pitchFamily="34" charset="-122"/>
                          </a:rPr>
                        </m:ctrlPr>
                      </m:sSubPr>
                      <m:e>
                        <m:r>
                          <a:rPr lang="en-US" altLang="zh-CN" b="0" i="1" dirty="0" smtClean="0">
                            <a:latin typeface="Cambria Math" panose="02040503050406030204" pitchFamily="18" charset="0"/>
                            <a:ea typeface="微软雅黑" panose="020B0503020204020204" pitchFamily="34" charset="-122"/>
                          </a:rPr>
                          <m:t>𝑈</m:t>
                        </m:r>
                      </m:e>
                      <m:sub>
                        <m:r>
                          <a:rPr lang="en-US" altLang="zh-CN" i="1" dirty="0">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表示未观测变量</a:t>
                </a:r>
                <a:endParaRPr lang="zh-CN" altLang="en-US" dirty="0"/>
              </a:p>
            </p:txBody>
          </p:sp>
        </mc:Choice>
        <mc:Fallback xmlns="">
          <p:sp>
            <p:nvSpPr>
              <p:cNvPr id="140" name="文本框 139">
                <a:extLst>
                  <a:ext uri="{FF2B5EF4-FFF2-40B4-BE49-F238E27FC236}">
                    <a16:creationId xmlns:a16="http://schemas.microsoft.com/office/drawing/2014/main" id="{C8F50326-E465-499B-A683-E16F5A9E4991}"/>
                  </a:ext>
                </a:extLst>
              </p:cNvPr>
              <p:cNvSpPr txBox="1">
                <a:spLocks noRot="1" noChangeAspect="1" noMove="1" noResize="1" noEditPoints="1" noAdjustHandles="1" noChangeArrowheads="1" noChangeShapeType="1" noTextEdit="1"/>
              </p:cNvSpPr>
              <p:nvPr/>
            </p:nvSpPr>
            <p:spPr>
              <a:xfrm>
                <a:off x="4945475" y="5908630"/>
                <a:ext cx="2460032" cy="369332"/>
              </a:xfrm>
              <a:prstGeom prst="rect">
                <a:avLst/>
              </a:prstGeom>
              <a:blipFill>
                <a:blip r:embed="rId11"/>
                <a:stretch>
                  <a:fillRect l="-1980" t="-9836" r="-1980" b="-229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2" name="文本框 141">
                <a:extLst>
                  <a:ext uri="{FF2B5EF4-FFF2-40B4-BE49-F238E27FC236}">
                    <a16:creationId xmlns:a16="http://schemas.microsoft.com/office/drawing/2014/main" id="{9A8EE14B-90BD-4D81-802D-D7AF5E5281AF}"/>
                  </a:ext>
                </a:extLst>
              </p:cNvPr>
              <p:cNvSpPr txBox="1"/>
              <p:nvPr/>
            </p:nvSpPr>
            <p:spPr>
              <a:xfrm>
                <a:off x="7644742" y="2441506"/>
                <a:ext cx="1614723" cy="1077218"/>
              </a:xfrm>
              <a:prstGeom prst="rect">
                <a:avLst/>
              </a:prstGeom>
              <a:solidFill>
                <a:schemeClr val="accent4">
                  <a:lumMod val="20000"/>
                  <a:lumOff val="80000"/>
                </a:schemeClr>
              </a:solidFill>
            </p:spPr>
            <p:txBody>
              <a:bodyPr wrap="square">
                <a:spAutoFit/>
              </a:bodyPr>
              <a:lstStyle/>
              <a:p>
                <a:pPr algn="ctr"/>
                <a:r>
                  <a:rPr lang="zh-CN" altLang="en-US" sz="1600" dirty="0">
                    <a:latin typeface="微软雅黑" panose="020B0503020204020204" pitchFamily="34" charset="-122"/>
                    <a:ea typeface="微软雅黑" panose="020B0503020204020204" pitchFamily="34" charset="-122"/>
                  </a:rPr>
                  <a:t>事故原样本</a:t>
                </a:r>
                <a:endParaRPr lang="en-US" altLang="zh-CN" sz="1600" dirty="0">
                  <a:latin typeface="微软雅黑" panose="020B0503020204020204" pitchFamily="34" charset="-122"/>
                  <a:ea typeface="微软雅黑" panose="020B0503020204020204" pitchFamily="34" charset="-122"/>
                </a:endParaRPr>
              </a:p>
              <a:p>
                <a:pPr algn="ct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rPr>
                        <m:t>1=</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𝑎</m:t>
                          </m:r>
                        </m:e>
                        <m:sub>
                          <m:r>
                            <a:rPr lang="en-US" altLang="zh-CN" sz="1600" b="0" i="1" smtClean="0">
                              <a:latin typeface="Cambria Math" panose="02040503050406030204" pitchFamily="18" charset="0"/>
                            </a:rPr>
                            <m:t>1</m:t>
                          </m:r>
                        </m:sub>
                      </m:sSub>
                    </m:oMath>
                  </m:oMathPara>
                </a14:m>
                <a:endParaRPr lang="en-US" altLang="zh-CN" sz="1600" i="1" dirty="0"/>
              </a:p>
              <a:p>
                <a:pPr algn="ctr"/>
                <a14:m>
                  <m:oMathPara xmlns:m="http://schemas.openxmlformats.org/officeDocument/2006/math">
                    <m:oMathParaPr>
                      <m:jc m:val="centerGroup"/>
                    </m:oMathParaPr>
                    <m:oMath xmlns:m="http://schemas.openxmlformats.org/officeDocument/2006/math">
                      <m:r>
                        <a:rPr lang="en-US" altLang="zh-CN" sz="1600" b="0" i="1" dirty="0" smtClean="0">
                          <a:latin typeface="Cambria Math" panose="02040503050406030204" pitchFamily="18" charset="0"/>
                        </a:rPr>
                        <m:t>𝐵</m:t>
                      </m:r>
                      <m:r>
                        <a:rPr lang="en-US" altLang="zh-CN" sz="1600" b="0" i="1" dirty="0" smtClean="0">
                          <a:latin typeface="Cambria Math" panose="02040503050406030204" pitchFamily="18" charset="0"/>
                        </a:rPr>
                        <m:t>1=</m:t>
                      </m:r>
                      <m:sSub>
                        <m:sSubPr>
                          <m:ctrlPr>
                            <a:rPr lang="en-US" altLang="zh-CN" sz="1600" b="0" i="1" dirty="0" smtClean="0">
                              <a:latin typeface="Cambria Math" panose="02040503050406030204" pitchFamily="18" charset="0"/>
                            </a:rPr>
                          </m:ctrlPr>
                        </m:sSubPr>
                        <m:e>
                          <m:r>
                            <a:rPr lang="en-US" altLang="zh-CN" sz="1600" i="1" dirty="0">
                              <a:latin typeface="Cambria Math" panose="02040503050406030204" pitchFamily="18" charset="0"/>
                            </a:rPr>
                            <m:t>𝑏</m:t>
                          </m:r>
                        </m:e>
                        <m:sub>
                          <m:r>
                            <a:rPr lang="en-US" altLang="zh-CN" sz="1600" b="0" i="1" dirty="0" smtClean="0">
                              <a:latin typeface="Cambria Math" panose="02040503050406030204" pitchFamily="18" charset="0"/>
                            </a:rPr>
                            <m:t>1</m:t>
                          </m:r>
                        </m:sub>
                      </m:sSub>
                    </m:oMath>
                  </m:oMathPara>
                </a14:m>
                <a:endParaRPr lang="en-US" altLang="zh-CN" sz="1600" dirty="0"/>
              </a:p>
              <a:p>
                <a:pPr algn="ctr"/>
                <a14:m>
                  <m:oMathPara xmlns:m="http://schemas.openxmlformats.org/officeDocument/2006/math">
                    <m:oMathParaPr>
                      <m:jc m:val="centerGroup"/>
                    </m:oMathParaPr>
                    <m:oMath xmlns:m="http://schemas.openxmlformats.org/officeDocument/2006/math">
                      <m:r>
                        <a:rPr lang="en-US" altLang="zh-CN" sz="1600" b="0" i="1" dirty="0" smtClean="0">
                          <a:latin typeface="Cambria Math" panose="02040503050406030204" pitchFamily="18" charset="0"/>
                        </a:rPr>
                        <m:t>𝐷</m:t>
                      </m:r>
                      <m:r>
                        <a:rPr lang="en-US" altLang="zh-CN" sz="1600" b="0" i="1" dirty="0" smtClean="0">
                          <a:latin typeface="Cambria Math" panose="02040503050406030204" pitchFamily="18" charset="0"/>
                        </a:rPr>
                        <m:t>1=</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𝑑</m:t>
                          </m:r>
                        </m:e>
                        <m:sub>
                          <m:r>
                            <a:rPr lang="en-US" altLang="zh-CN" sz="1600" b="0" i="1" dirty="0" smtClean="0">
                              <a:latin typeface="Cambria Math" panose="02040503050406030204" pitchFamily="18" charset="0"/>
                            </a:rPr>
                            <m:t>1</m:t>
                          </m:r>
                        </m:sub>
                      </m:sSub>
                    </m:oMath>
                  </m:oMathPara>
                </a14:m>
                <a:endParaRPr lang="zh-CN" altLang="en-US" sz="1600" i="1" dirty="0"/>
              </a:p>
            </p:txBody>
          </p:sp>
        </mc:Choice>
        <mc:Fallback xmlns="">
          <p:sp>
            <p:nvSpPr>
              <p:cNvPr id="142" name="文本框 141">
                <a:extLst>
                  <a:ext uri="{FF2B5EF4-FFF2-40B4-BE49-F238E27FC236}">
                    <a16:creationId xmlns:a16="http://schemas.microsoft.com/office/drawing/2014/main" id="{9A8EE14B-90BD-4D81-802D-D7AF5E5281AF}"/>
                  </a:ext>
                </a:extLst>
              </p:cNvPr>
              <p:cNvSpPr txBox="1">
                <a:spLocks noRot="1" noChangeAspect="1" noMove="1" noResize="1" noEditPoints="1" noAdjustHandles="1" noChangeArrowheads="1" noChangeShapeType="1" noTextEdit="1"/>
              </p:cNvSpPr>
              <p:nvPr/>
            </p:nvSpPr>
            <p:spPr>
              <a:xfrm>
                <a:off x="7644742" y="2441506"/>
                <a:ext cx="1614723" cy="1077218"/>
              </a:xfrm>
              <a:prstGeom prst="rect">
                <a:avLst/>
              </a:prstGeom>
              <a:blipFill>
                <a:blip r:embed="rId12"/>
                <a:stretch>
                  <a:fillRect t="-1705"/>
                </a:stretch>
              </a:blipFill>
            </p:spPr>
            <p:txBody>
              <a:bodyPr/>
              <a:lstStyle/>
              <a:p>
                <a:r>
                  <a:rPr lang="zh-CN" altLang="en-US">
                    <a:noFill/>
                  </a:rPr>
                  <a:t> </a:t>
                </a:r>
              </a:p>
            </p:txBody>
          </p:sp>
        </mc:Fallback>
      </mc:AlternateContent>
      <p:cxnSp>
        <p:nvCxnSpPr>
          <p:cNvPr id="144" name="直接箭头连接符 143">
            <a:extLst>
              <a:ext uri="{FF2B5EF4-FFF2-40B4-BE49-F238E27FC236}">
                <a16:creationId xmlns:a16="http://schemas.microsoft.com/office/drawing/2014/main" id="{9AF5D95A-CAFA-464A-825D-5E61B1B3CA68}"/>
              </a:ext>
            </a:extLst>
          </p:cNvPr>
          <p:cNvCxnSpPr>
            <a:cxnSpLocks/>
          </p:cNvCxnSpPr>
          <p:nvPr/>
        </p:nvCxnSpPr>
        <p:spPr>
          <a:xfrm flipH="1">
            <a:off x="8450229" y="3518724"/>
            <a:ext cx="1" cy="2258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6" name="矩形: 圆角 145">
                <a:extLst>
                  <a:ext uri="{FF2B5EF4-FFF2-40B4-BE49-F238E27FC236}">
                    <a16:creationId xmlns:a16="http://schemas.microsoft.com/office/drawing/2014/main" id="{9FCE2BC1-2AF5-45E1-A874-315831B26E9F}"/>
                  </a:ext>
                </a:extLst>
              </p:cNvPr>
              <p:cNvSpPr/>
              <p:nvPr/>
            </p:nvSpPr>
            <p:spPr>
              <a:xfrm>
                <a:off x="7464152" y="3744567"/>
                <a:ext cx="1975902" cy="323334"/>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charset="-122"/>
                    <a:ea typeface="微软雅黑" panose="020B0503020204020204" charset="-122"/>
                  </a:rPr>
                  <a:t>单变量干预（</a:t>
                </a:r>
                <a14:m>
                  <m:oMath xmlns:m="http://schemas.openxmlformats.org/officeDocument/2006/math">
                    <m:sSub>
                      <m:sSubPr>
                        <m:ctrlPr>
                          <a:rPr lang="en-US" altLang="zh-CN" sz="1400" i="1" smtClean="0">
                            <a:solidFill>
                              <a:schemeClr val="tx1"/>
                            </a:solidFill>
                            <a:latin typeface="Cambria Math" panose="02040503050406030204" pitchFamily="18" charset="0"/>
                            <a:ea typeface="微软雅黑" panose="020B0503020204020204" charset="-122"/>
                          </a:rPr>
                        </m:ctrlPr>
                      </m:sSubPr>
                      <m:e>
                        <m:r>
                          <a:rPr lang="en-US" altLang="zh-CN" sz="1400" i="1">
                            <a:solidFill>
                              <a:schemeClr val="tx1"/>
                            </a:solidFill>
                            <a:latin typeface="Cambria Math" panose="02040503050406030204" pitchFamily="18" charset="0"/>
                            <a:ea typeface="微软雅黑" panose="020B0503020204020204" charset="-122"/>
                          </a:rPr>
                          <m:t>𝑎</m:t>
                        </m:r>
                      </m:e>
                      <m:sub>
                        <m:r>
                          <a:rPr lang="en-US" altLang="zh-CN" sz="1400" b="0" i="1" smtClean="0">
                            <a:solidFill>
                              <a:schemeClr val="tx1"/>
                            </a:solidFill>
                            <a:latin typeface="Cambria Math" panose="02040503050406030204" pitchFamily="18" charset="0"/>
                            <a:ea typeface="微软雅黑" panose="020B0503020204020204" charset="-122"/>
                          </a:rPr>
                          <m:t>1</m:t>
                        </m:r>
                      </m:sub>
                    </m:sSub>
                    <m:r>
                      <a:rPr lang="en-US" altLang="zh-CN" sz="1400" b="0" i="1" smtClean="0">
                        <a:solidFill>
                          <a:schemeClr val="tx1"/>
                        </a:solidFill>
                        <a:latin typeface="Cambria Math" panose="02040503050406030204" pitchFamily="18" charset="0"/>
                        <a:ea typeface="微软雅黑" panose="020B0503020204020204" charset="-122"/>
                      </a:rPr>
                      <m:t>,</m:t>
                    </m:r>
                    <m:sSubSup>
                      <m:sSubSupPr>
                        <m:ctrlPr>
                          <a:rPr lang="en-US" altLang="zh-CN" sz="1400" b="0" i="1" smtClean="0">
                            <a:solidFill>
                              <a:schemeClr val="tx1"/>
                            </a:solidFill>
                            <a:latin typeface="Cambria Math" panose="02040503050406030204" pitchFamily="18" charset="0"/>
                            <a:ea typeface="微软雅黑" panose="020B0503020204020204" charset="-122"/>
                          </a:rPr>
                        </m:ctrlPr>
                      </m:sSubSupPr>
                      <m:e>
                        <m:r>
                          <a:rPr lang="en-US" altLang="zh-CN" sz="1400" b="0" i="1" smtClean="0">
                            <a:solidFill>
                              <a:schemeClr val="tx1"/>
                            </a:solidFill>
                            <a:latin typeface="Cambria Math" panose="02040503050406030204" pitchFamily="18" charset="0"/>
                            <a:ea typeface="微软雅黑" panose="020B0503020204020204" charset="-122"/>
                          </a:rPr>
                          <m:t>𝑏</m:t>
                        </m:r>
                      </m:e>
                      <m:sub>
                        <m:r>
                          <a:rPr lang="en-US" altLang="zh-CN" sz="1400" b="0" i="1" smtClean="0">
                            <a:solidFill>
                              <a:schemeClr val="tx1"/>
                            </a:solidFill>
                            <a:latin typeface="Cambria Math" panose="02040503050406030204" pitchFamily="18" charset="0"/>
                            <a:ea typeface="微软雅黑" panose="020B0503020204020204" charset="-122"/>
                          </a:rPr>
                          <m:t>1</m:t>
                        </m:r>
                      </m:sub>
                      <m:sup>
                        <m:r>
                          <a:rPr lang="en-US" altLang="zh-CN" sz="1400" b="0" i="1" smtClean="0">
                            <a:solidFill>
                              <a:schemeClr val="tx1"/>
                            </a:solidFill>
                            <a:latin typeface="Cambria Math" panose="02040503050406030204" pitchFamily="18" charset="0"/>
                            <a:ea typeface="微软雅黑" panose="020B0503020204020204" charset="-122"/>
                          </a:rPr>
                          <m:t>′</m:t>
                        </m:r>
                      </m:sup>
                    </m:sSubSup>
                    <m:r>
                      <a:rPr lang="en-US" altLang="zh-CN" sz="1400" b="0" i="1" smtClean="0">
                        <a:solidFill>
                          <a:schemeClr val="tx1"/>
                        </a:solidFill>
                        <a:latin typeface="Cambria Math" panose="02040503050406030204" pitchFamily="18" charset="0"/>
                        <a:ea typeface="微软雅黑" panose="020B0503020204020204" charset="-122"/>
                      </a:rPr>
                      <m:t>,</m:t>
                    </m:r>
                    <m:sSub>
                      <m:sSubPr>
                        <m:ctrlPr>
                          <a:rPr lang="en-US" altLang="zh-CN" sz="1400" b="0" i="1" smtClean="0">
                            <a:solidFill>
                              <a:schemeClr val="tx1"/>
                            </a:solidFill>
                            <a:latin typeface="Cambria Math" panose="02040503050406030204" pitchFamily="18" charset="0"/>
                            <a:ea typeface="微软雅黑" panose="020B0503020204020204" charset="-122"/>
                          </a:rPr>
                        </m:ctrlPr>
                      </m:sSubPr>
                      <m:e>
                        <m:r>
                          <a:rPr lang="en-US" altLang="zh-CN" sz="1400" b="0" i="1" smtClean="0">
                            <a:solidFill>
                              <a:schemeClr val="tx1"/>
                            </a:solidFill>
                            <a:latin typeface="Cambria Math" panose="02040503050406030204" pitchFamily="18" charset="0"/>
                            <a:ea typeface="微软雅黑" panose="020B0503020204020204" charset="-122"/>
                          </a:rPr>
                          <m:t>𝑑</m:t>
                        </m:r>
                      </m:e>
                      <m:sub>
                        <m:r>
                          <a:rPr lang="en-US" altLang="zh-CN" sz="1400" b="0" i="1" smtClean="0">
                            <a:solidFill>
                              <a:schemeClr val="tx1"/>
                            </a:solidFill>
                            <a:latin typeface="Cambria Math" panose="02040503050406030204" pitchFamily="18" charset="0"/>
                            <a:ea typeface="微软雅黑" panose="020B0503020204020204" charset="-122"/>
                          </a:rPr>
                          <m:t>1</m:t>
                        </m:r>
                      </m:sub>
                    </m:sSub>
                  </m:oMath>
                </a14:m>
                <a:r>
                  <a:rPr lang="zh-CN" altLang="en-US" sz="1400" dirty="0">
                    <a:solidFill>
                      <a:schemeClr val="tx1"/>
                    </a:solidFill>
                    <a:latin typeface="微软雅黑" panose="020B0503020204020204" charset="-122"/>
                    <a:ea typeface="微软雅黑" panose="020B0503020204020204" charset="-122"/>
                  </a:rPr>
                  <a:t>）</a:t>
                </a:r>
              </a:p>
            </p:txBody>
          </p:sp>
        </mc:Choice>
        <mc:Fallback xmlns="">
          <p:sp>
            <p:nvSpPr>
              <p:cNvPr id="146" name="矩形: 圆角 145">
                <a:extLst>
                  <a:ext uri="{FF2B5EF4-FFF2-40B4-BE49-F238E27FC236}">
                    <a16:creationId xmlns:a16="http://schemas.microsoft.com/office/drawing/2014/main" id="{9FCE2BC1-2AF5-45E1-A874-315831B26E9F}"/>
                  </a:ext>
                </a:extLst>
              </p:cNvPr>
              <p:cNvSpPr>
                <a:spLocks noRot="1" noChangeAspect="1" noMove="1" noResize="1" noEditPoints="1" noAdjustHandles="1" noChangeArrowheads="1" noChangeShapeType="1" noTextEdit="1"/>
              </p:cNvSpPr>
              <p:nvPr/>
            </p:nvSpPr>
            <p:spPr>
              <a:xfrm>
                <a:off x="7464152" y="3744567"/>
                <a:ext cx="1975902" cy="323334"/>
              </a:xfrm>
              <a:prstGeom prst="roundRect">
                <a:avLst>
                  <a:gd name="adj" fmla="val 10309"/>
                </a:avLst>
              </a:prstGeom>
              <a:blipFill>
                <a:blip r:embed="rId13"/>
                <a:stretch>
                  <a:fillRect l="-4587" r="-4281" b="-14545"/>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7" name="矩形: 圆角 146">
                <a:extLst>
                  <a:ext uri="{FF2B5EF4-FFF2-40B4-BE49-F238E27FC236}">
                    <a16:creationId xmlns:a16="http://schemas.microsoft.com/office/drawing/2014/main" id="{6DC08BDF-75F4-429C-8921-D712478DA96E}"/>
                  </a:ext>
                </a:extLst>
              </p:cNvPr>
              <p:cNvSpPr/>
              <p:nvPr/>
            </p:nvSpPr>
            <p:spPr>
              <a:xfrm>
                <a:off x="7464152" y="4414876"/>
                <a:ext cx="1975902" cy="323334"/>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charset="-122"/>
                    <a:ea typeface="微软雅黑" panose="020B0503020204020204" charset="-122"/>
                  </a:rPr>
                  <a:t>多变量干预（</a:t>
                </a:r>
                <a14:m>
                  <m:oMath xmlns:m="http://schemas.openxmlformats.org/officeDocument/2006/math">
                    <m:sSubSup>
                      <m:sSubSupPr>
                        <m:ctrlPr>
                          <a:rPr lang="en-US" altLang="zh-CN" sz="1400" i="1" smtClean="0">
                            <a:solidFill>
                              <a:schemeClr val="tx1"/>
                            </a:solidFill>
                            <a:latin typeface="Cambria Math" panose="02040503050406030204" pitchFamily="18" charset="0"/>
                            <a:ea typeface="微软雅黑" panose="020B0503020204020204" charset="-122"/>
                          </a:rPr>
                        </m:ctrlPr>
                      </m:sSubSupPr>
                      <m:e>
                        <m:r>
                          <a:rPr lang="en-US" altLang="zh-CN" sz="1400" i="1">
                            <a:solidFill>
                              <a:schemeClr val="tx1"/>
                            </a:solidFill>
                            <a:latin typeface="Cambria Math" panose="02040503050406030204" pitchFamily="18" charset="0"/>
                            <a:ea typeface="微软雅黑" panose="020B0503020204020204" charset="-122"/>
                          </a:rPr>
                          <m:t>𝑎</m:t>
                        </m:r>
                      </m:e>
                      <m:sub>
                        <m:r>
                          <a:rPr lang="en-US" altLang="zh-CN" sz="1400" b="0" i="1" smtClean="0">
                            <a:solidFill>
                              <a:schemeClr val="tx1"/>
                            </a:solidFill>
                            <a:latin typeface="Cambria Math" panose="02040503050406030204" pitchFamily="18" charset="0"/>
                            <a:ea typeface="微软雅黑" panose="020B0503020204020204" charset="-122"/>
                          </a:rPr>
                          <m:t>1</m:t>
                        </m:r>
                      </m:sub>
                      <m:sup>
                        <m:r>
                          <a:rPr lang="en-US" altLang="zh-CN" sz="1400" b="0" i="1" smtClean="0">
                            <a:solidFill>
                              <a:schemeClr val="tx1"/>
                            </a:solidFill>
                            <a:latin typeface="Cambria Math" panose="02040503050406030204" pitchFamily="18" charset="0"/>
                            <a:ea typeface="微软雅黑" panose="020B0503020204020204" charset="-122"/>
                          </a:rPr>
                          <m:t>′</m:t>
                        </m:r>
                      </m:sup>
                    </m:sSubSup>
                    <m:r>
                      <a:rPr lang="en-US" altLang="zh-CN" sz="1400" b="0" i="1" smtClean="0">
                        <a:solidFill>
                          <a:schemeClr val="tx1"/>
                        </a:solidFill>
                        <a:latin typeface="Cambria Math" panose="02040503050406030204" pitchFamily="18" charset="0"/>
                        <a:ea typeface="微软雅黑" panose="020B0503020204020204" charset="-122"/>
                      </a:rPr>
                      <m:t>,</m:t>
                    </m:r>
                    <m:sSubSup>
                      <m:sSubSupPr>
                        <m:ctrlPr>
                          <a:rPr lang="en-US" altLang="zh-CN" sz="1400" b="0" i="1" smtClean="0">
                            <a:solidFill>
                              <a:schemeClr val="tx1"/>
                            </a:solidFill>
                            <a:latin typeface="Cambria Math" panose="02040503050406030204" pitchFamily="18" charset="0"/>
                            <a:ea typeface="微软雅黑" panose="020B0503020204020204" charset="-122"/>
                          </a:rPr>
                        </m:ctrlPr>
                      </m:sSubSupPr>
                      <m:e>
                        <m:r>
                          <a:rPr lang="en-US" altLang="zh-CN" sz="1400" b="0" i="1" smtClean="0">
                            <a:solidFill>
                              <a:schemeClr val="tx1"/>
                            </a:solidFill>
                            <a:latin typeface="Cambria Math" panose="02040503050406030204" pitchFamily="18" charset="0"/>
                            <a:ea typeface="微软雅黑" panose="020B0503020204020204" charset="-122"/>
                          </a:rPr>
                          <m:t>𝑏</m:t>
                        </m:r>
                      </m:e>
                      <m:sub>
                        <m:r>
                          <a:rPr lang="en-US" altLang="zh-CN" sz="1400" b="0" i="1" smtClean="0">
                            <a:solidFill>
                              <a:schemeClr val="tx1"/>
                            </a:solidFill>
                            <a:latin typeface="Cambria Math" panose="02040503050406030204" pitchFamily="18" charset="0"/>
                            <a:ea typeface="微软雅黑" panose="020B0503020204020204" charset="-122"/>
                          </a:rPr>
                          <m:t>1</m:t>
                        </m:r>
                      </m:sub>
                      <m:sup>
                        <m:r>
                          <a:rPr lang="en-US" altLang="zh-CN" sz="1400" b="0" i="1" smtClean="0">
                            <a:solidFill>
                              <a:schemeClr val="tx1"/>
                            </a:solidFill>
                            <a:latin typeface="Cambria Math" panose="02040503050406030204" pitchFamily="18" charset="0"/>
                            <a:ea typeface="微软雅黑" panose="020B0503020204020204" charset="-122"/>
                          </a:rPr>
                          <m:t>′</m:t>
                        </m:r>
                      </m:sup>
                    </m:sSubSup>
                    <m:r>
                      <a:rPr lang="en-US" altLang="zh-CN" sz="1400" b="0" i="1" smtClean="0">
                        <a:solidFill>
                          <a:schemeClr val="tx1"/>
                        </a:solidFill>
                        <a:latin typeface="Cambria Math" panose="02040503050406030204" pitchFamily="18" charset="0"/>
                        <a:ea typeface="微软雅黑" panose="020B0503020204020204" charset="-122"/>
                      </a:rPr>
                      <m:t>,</m:t>
                    </m:r>
                    <m:sSub>
                      <m:sSubPr>
                        <m:ctrlPr>
                          <a:rPr lang="en-US" altLang="zh-CN" sz="1400" b="0" i="1" smtClean="0">
                            <a:solidFill>
                              <a:schemeClr val="tx1"/>
                            </a:solidFill>
                            <a:latin typeface="Cambria Math" panose="02040503050406030204" pitchFamily="18" charset="0"/>
                            <a:ea typeface="微软雅黑" panose="020B0503020204020204" charset="-122"/>
                          </a:rPr>
                        </m:ctrlPr>
                      </m:sSubPr>
                      <m:e>
                        <m:r>
                          <a:rPr lang="en-US" altLang="zh-CN" sz="1400" b="0" i="1" smtClean="0">
                            <a:solidFill>
                              <a:schemeClr val="tx1"/>
                            </a:solidFill>
                            <a:latin typeface="Cambria Math" panose="02040503050406030204" pitchFamily="18" charset="0"/>
                            <a:ea typeface="微软雅黑" panose="020B0503020204020204" charset="-122"/>
                          </a:rPr>
                          <m:t>𝑑</m:t>
                        </m:r>
                      </m:e>
                      <m:sub>
                        <m:r>
                          <a:rPr lang="en-US" altLang="zh-CN" sz="1400" b="0" i="1" smtClean="0">
                            <a:solidFill>
                              <a:schemeClr val="tx1"/>
                            </a:solidFill>
                            <a:latin typeface="Cambria Math" panose="02040503050406030204" pitchFamily="18" charset="0"/>
                            <a:ea typeface="微软雅黑" panose="020B0503020204020204" charset="-122"/>
                          </a:rPr>
                          <m:t>1</m:t>
                        </m:r>
                      </m:sub>
                    </m:sSub>
                  </m:oMath>
                </a14:m>
                <a:r>
                  <a:rPr lang="zh-CN" altLang="en-US" sz="1400" dirty="0">
                    <a:solidFill>
                      <a:schemeClr val="tx1"/>
                    </a:solidFill>
                    <a:latin typeface="微软雅黑" panose="020B0503020204020204" charset="-122"/>
                    <a:ea typeface="微软雅黑" panose="020B0503020204020204" charset="-122"/>
                  </a:rPr>
                  <a:t>）</a:t>
                </a:r>
              </a:p>
            </p:txBody>
          </p:sp>
        </mc:Choice>
        <mc:Fallback xmlns="">
          <p:sp>
            <p:nvSpPr>
              <p:cNvPr id="147" name="矩形: 圆角 146">
                <a:extLst>
                  <a:ext uri="{FF2B5EF4-FFF2-40B4-BE49-F238E27FC236}">
                    <a16:creationId xmlns:a16="http://schemas.microsoft.com/office/drawing/2014/main" id="{6DC08BDF-75F4-429C-8921-D712478DA96E}"/>
                  </a:ext>
                </a:extLst>
              </p:cNvPr>
              <p:cNvSpPr>
                <a:spLocks noRot="1" noChangeAspect="1" noMove="1" noResize="1" noEditPoints="1" noAdjustHandles="1" noChangeArrowheads="1" noChangeShapeType="1" noTextEdit="1"/>
              </p:cNvSpPr>
              <p:nvPr/>
            </p:nvSpPr>
            <p:spPr>
              <a:xfrm>
                <a:off x="7464152" y="4414876"/>
                <a:ext cx="1975902" cy="323334"/>
              </a:xfrm>
              <a:prstGeom prst="roundRect">
                <a:avLst>
                  <a:gd name="adj" fmla="val 10309"/>
                </a:avLst>
              </a:prstGeom>
              <a:blipFill>
                <a:blip r:embed="rId14"/>
                <a:stretch>
                  <a:fillRect l="-4587" r="-4281" b="-14545"/>
                </a:stretch>
              </a:blipFill>
              <a:ln w="952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8" name="矩形: 圆角 147">
                <a:extLst>
                  <a:ext uri="{FF2B5EF4-FFF2-40B4-BE49-F238E27FC236}">
                    <a16:creationId xmlns:a16="http://schemas.microsoft.com/office/drawing/2014/main" id="{19771F93-02B9-4679-8025-4A5D03152025}"/>
                  </a:ext>
                </a:extLst>
              </p:cNvPr>
              <p:cNvSpPr/>
              <p:nvPr/>
            </p:nvSpPr>
            <p:spPr>
              <a:xfrm>
                <a:off x="7464152" y="5085184"/>
                <a:ext cx="1975902" cy="1131076"/>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charset="-122"/>
                    <a:ea typeface="微软雅黑" panose="020B0503020204020204" charset="-122"/>
                  </a:rPr>
                  <a:t>条件干预，当</a:t>
                </a:r>
                <a14:m>
                  <m:oMath xmlns:m="http://schemas.openxmlformats.org/officeDocument/2006/math">
                    <m:r>
                      <a:rPr lang="en-US" altLang="zh-CN" sz="1400" b="0" i="1" smtClean="0">
                        <a:solidFill>
                          <a:schemeClr val="tx1"/>
                        </a:solidFill>
                        <a:latin typeface="Cambria Math" panose="02040503050406030204" pitchFamily="18" charset="0"/>
                        <a:ea typeface="微软雅黑" panose="020B0503020204020204" charset="-122"/>
                      </a:rPr>
                      <m:t>𝐴</m:t>
                    </m:r>
                    <m:r>
                      <a:rPr lang="en-US" altLang="zh-CN" sz="1400" b="0" i="1" smtClean="0">
                        <a:solidFill>
                          <a:schemeClr val="tx1"/>
                        </a:solidFill>
                        <a:latin typeface="Cambria Math" panose="02040503050406030204" pitchFamily="18" charset="0"/>
                        <a:ea typeface="微软雅黑" panose="020B0503020204020204" charset="-122"/>
                      </a:rPr>
                      <m:t>1=</m:t>
                    </m:r>
                    <m:sSub>
                      <m:sSubPr>
                        <m:ctrlPr>
                          <a:rPr lang="en-US" altLang="zh-CN" sz="1400" b="0" i="1" smtClean="0">
                            <a:solidFill>
                              <a:schemeClr val="tx1"/>
                            </a:solidFill>
                            <a:latin typeface="Cambria Math" panose="02040503050406030204" pitchFamily="18" charset="0"/>
                            <a:ea typeface="微软雅黑" panose="020B0503020204020204" charset="-122"/>
                          </a:rPr>
                        </m:ctrlPr>
                      </m:sSubPr>
                      <m:e>
                        <m:r>
                          <a:rPr lang="en-US" altLang="zh-CN" sz="1400" b="0" i="1" smtClean="0">
                            <a:solidFill>
                              <a:schemeClr val="tx1"/>
                            </a:solidFill>
                            <a:latin typeface="Cambria Math" panose="02040503050406030204" pitchFamily="18" charset="0"/>
                            <a:ea typeface="微软雅黑" panose="020B0503020204020204" charset="-122"/>
                          </a:rPr>
                          <m:t>𝑎</m:t>
                        </m:r>
                      </m:e>
                      <m:sub>
                        <m:r>
                          <a:rPr lang="en-US" altLang="zh-CN" sz="1400" b="0" i="1" smtClean="0">
                            <a:solidFill>
                              <a:schemeClr val="tx1"/>
                            </a:solidFill>
                            <a:latin typeface="Cambria Math" panose="02040503050406030204" pitchFamily="18" charset="0"/>
                            <a:ea typeface="微软雅黑" panose="020B0503020204020204" charset="-122"/>
                          </a:rPr>
                          <m:t>1</m:t>
                        </m:r>
                      </m:sub>
                    </m:sSub>
                  </m:oMath>
                </a14:m>
                <a:r>
                  <a:rPr lang="zh-CN" altLang="en-US" sz="1400" dirty="0">
                    <a:solidFill>
                      <a:schemeClr val="tx1"/>
                    </a:solidFill>
                    <a:latin typeface="微软雅黑" panose="020B0503020204020204" charset="-122"/>
                    <a:ea typeface="微软雅黑" panose="020B0503020204020204" charset="-122"/>
                  </a:rPr>
                  <a:t>时，该样本干预为（</a:t>
                </a:r>
                <a14:m>
                  <m:oMath xmlns:m="http://schemas.openxmlformats.org/officeDocument/2006/math">
                    <m:sSub>
                      <m:sSubPr>
                        <m:ctrlPr>
                          <a:rPr lang="en-US" altLang="zh-CN" sz="1400" i="1">
                            <a:solidFill>
                              <a:schemeClr val="tx1"/>
                            </a:solidFill>
                            <a:latin typeface="Cambria Math" panose="02040503050406030204" pitchFamily="18" charset="0"/>
                            <a:ea typeface="微软雅黑" panose="020B0503020204020204" charset="-122"/>
                          </a:rPr>
                        </m:ctrlPr>
                      </m:sSubPr>
                      <m:e>
                        <m:r>
                          <a:rPr lang="en-US" altLang="zh-CN" sz="1400" i="1">
                            <a:solidFill>
                              <a:schemeClr val="tx1"/>
                            </a:solidFill>
                            <a:latin typeface="Cambria Math" panose="02040503050406030204" pitchFamily="18" charset="0"/>
                            <a:ea typeface="微软雅黑" panose="020B0503020204020204" charset="-122"/>
                          </a:rPr>
                          <m:t>𝑎</m:t>
                        </m:r>
                      </m:e>
                      <m:sub>
                        <m:r>
                          <a:rPr lang="en-US" altLang="zh-CN" sz="1400" i="1">
                            <a:solidFill>
                              <a:schemeClr val="tx1"/>
                            </a:solidFill>
                            <a:latin typeface="Cambria Math" panose="02040503050406030204" pitchFamily="18" charset="0"/>
                            <a:ea typeface="微软雅黑" panose="020B0503020204020204" charset="-122"/>
                          </a:rPr>
                          <m:t>1</m:t>
                        </m:r>
                      </m:sub>
                    </m:sSub>
                    <m:r>
                      <a:rPr lang="en-US" altLang="zh-CN" sz="1400" b="0" i="1" smtClean="0">
                        <a:solidFill>
                          <a:schemeClr val="tx1"/>
                        </a:solidFill>
                        <a:latin typeface="Cambria Math" panose="02040503050406030204" pitchFamily="18" charset="0"/>
                        <a:ea typeface="微软雅黑" panose="020B0503020204020204" charset="-122"/>
                      </a:rPr>
                      <m:t>,</m:t>
                    </m:r>
                    <m:sSubSup>
                      <m:sSubSupPr>
                        <m:ctrlPr>
                          <a:rPr lang="en-US" altLang="zh-CN" sz="1400" b="0" i="1" smtClean="0">
                            <a:solidFill>
                              <a:schemeClr val="tx1"/>
                            </a:solidFill>
                            <a:latin typeface="Cambria Math" panose="02040503050406030204" pitchFamily="18" charset="0"/>
                            <a:ea typeface="微软雅黑" panose="020B0503020204020204" charset="-122"/>
                          </a:rPr>
                        </m:ctrlPr>
                      </m:sSubSupPr>
                      <m:e>
                        <m:r>
                          <a:rPr lang="en-US" altLang="zh-CN" sz="1400" b="0" i="1" smtClean="0">
                            <a:solidFill>
                              <a:schemeClr val="tx1"/>
                            </a:solidFill>
                            <a:latin typeface="Cambria Math" panose="02040503050406030204" pitchFamily="18" charset="0"/>
                            <a:ea typeface="微软雅黑" panose="020B0503020204020204" charset="-122"/>
                          </a:rPr>
                          <m:t>𝑏</m:t>
                        </m:r>
                      </m:e>
                      <m:sub>
                        <m:r>
                          <a:rPr lang="en-US" altLang="zh-CN" sz="1400" b="0" i="1" smtClean="0">
                            <a:solidFill>
                              <a:schemeClr val="tx1"/>
                            </a:solidFill>
                            <a:latin typeface="Cambria Math" panose="02040503050406030204" pitchFamily="18" charset="0"/>
                            <a:ea typeface="微软雅黑" panose="020B0503020204020204" charset="-122"/>
                          </a:rPr>
                          <m:t>1</m:t>
                        </m:r>
                      </m:sub>
                      <m:sup>
                        <m:r>
                          <a:rPr lang="en-US" altLang="zh-CN" sz="1400" b="0" i="1" smtClean="0">
                            <a:solidFill>
                              <a:schemeClr val="tx1"/>
                            </a:solidFill>
                            <a:latin typeface="Cambria Math" panose="02040503050406030204" pitchFamily="18" charset="0"/>
                            <a:ea typeface="微软雅黑" panose="020B0503020204020204" charset="-122"/>
                          </a:rPr>
                          <m:t>′</m:t>
                        </m:r>
                      </m:sup>
                    </m:sSubSup>
                    <m:r>
                      <a:rPr lang="en-US" altLang="zh-CN" sz="1400" b="0" i="1" smtClean="0">
                        <a:solidFill>
                          <a:schemeClr val="tx1"/>
                        </a:solidFill>
                        <a:latin typeface="Cambria Math" panose="02040503050406030204" pitchFamily="18" charset="0"/>
                        <a:ea typeface="微软雅黑" panose="020B0503020204020204" charset="-122"/>
                      </a:rPr>
                      <m:t>,</m:t>
                    </m:r>
                    <m:sSub>
                      <m:sSubPr>
                        <m:ctrlPr>
                          <a:rPr lang="en-US" altLang="zh-CN" sz="1400" b="0" i="1" smtClean="0">
                            <a:solidFill>
                              <a:schemeClr val="tx1"/>
                            </a:solidFill>
                            <a:latin typeface="Cambria Math" panose="02040503050406030204" pitchFamily="18" charset="0"/>
                            <a:ea typeface="微软雅黑" panose="020B0503020204020204" charset="-122"/>
                          </a:rPr>
                        </m:ctrlPr>
                      </m:sSubPr>
                      <m:e>
                        <m:r>
                          <a:rPr lang="en-US" altLang="zh-CN" sz="1400" b="0" i="1" smtClean="0">
                            <a:solidFill>
                              <a:schemeClr val="tx1"/>
                            </a:solidFill>
                            <a:latin typeface="Cambria Math" panose="02040503050406030204" pitchFamily="18" charset="0"/>
                            <a:ea typeface="微软雅黑" panose="020B0503020204020204" charset="-122"/>
                          </a:rPr>
                          <m:t>𝑑</m:t>
                        </m:r>
                      </m:e>
                      <m:sub>
                        <m:r>
                          <a:rPr lang="en-US" altLang="zh-CN" sz="1400" b="0" i="1" smtClean="0">
                            <a:solidFill>
                              <a:schemeClr val="tx1"/>
                            </a:solidFill>
                            <a:latin typeface="Cambria Math" panose="02040503050406030204" pitchFamily="18" charset="0"/>
                            <a:ea typeface="微软雅黑" panose="020B0503020204020204" charset="-122"/>
                          </a:rPr>
                          <m:t>1</m:t>
                        </m:r>
                      </m:sub>
                    </m:sSub>
                  </m:oMath>
                </a14:m>
                <a:r>
                  <a:rPr lang="zh-CN" altLang="en-US" sz="1400" dirty="0">
                    <a:solidFill>
                      <a:schemeClr val="tx1"/>
                    </a:solidFill>
                    <a:latin typeface="微软雅黑" panose="020B0503020204020204" charset="-122"/>
                    <a:ea typeface="微软雅黑" panose="020B0503020204020204" charset="-122"/>
                  </a:rPr>
                  <a:t>），否则，该样本不干预</a:t>
                </a:r>
              </a:p>
            </p:txBody>
          </p:sp>
        </mc:Choice>
        <mc:Fallback xmlns="">
          <p:sp>
            <p:nvSpPr>
              <p:cNvPr id="148" name="矩形: 圆角 147">
                <a:extLst>
                  <a:ext uri="{FF2B5EF4-FFF2-40B4-BE49-F238E27FC236}">
                    <a16:creationId xmlns:a16="http://schemas.microsoft.com/office/drawing/2014/main" id="{19771F93-02B9-4679-8025-4A5D03152025}"/>
                  </a:ext>
                </a:extLst>
              </p:cNvPr>
              <p:cNvSpPr>
                <a:spLocks noRot="1" noChangeAspect="1" noMove="1" noResize="1" noEditPoints="1" noAdjustHandles="1" noChangeArrowheads="1" noChangeShapeType="1" noTextEdit="1"/>
              </p:cNvSpPr>
              <p:nvPr/>
            </p:nvSpPr>
            <p:spPr>
              <a:xfrm>
                <a:off x="7464152" y="5085184"/>
                <a:ext cx="1975902" cy="1131076"/>
              </a:xfrm>
              <a:prstGeom prst="roundRect">
                <a:avLst>
                  <a:gd name="adj" fmla="val 10309"/>
                </a:avLst>
              </a:prstGeom>
              <a:blipFill>
                <a:blip r:embed="rId15"/>
                <a:stretch>
                  <a:fillRect/>
                </a:stretch>
              </a:blipFill>
              <a:ln w="9525">
                <a:solidFill>
                  <a:schemeClr val="tx1"/>
                </a:solidFill>
              </a:ln>
            </p:spPr>
            <p:txBody>
              <a:bodyPr/>
              <a:lstStyle/>
              <a:p>
                <a:r>
                  <a:rPr lang="zh-CN" altLang="en-US">
                    <a:noFill/>
                  </a:rPr>
                  <a:t> </a:t>
                </a:r>
              </a:p>
            </p:txBody>
          </p:sp>
        </mc:Fallback>
      </mc:AlternateContent>
      <p:cxnSp>
        <p:nvCxnSpPr>
          <p:cNvPr id="149" name="直接箭头连接符 148">
            <a:extLst>
              <a:ext uri="{FF2B5EF4-FFF2-40B4-BE49-F238E27FC236}">
                <a16:creationId xmlns:a16="http://schemas.microsoft.com/office/drawing/2014/main" id="{53BF9CCE-FE9F-4617-AC8A-E34F3823EB4C}"/>
              </a:ext>
            </a:extLst>
          </p:cNvPr>
          <p:cNvCxnSpPr>
            <a:cxnSpLocks/>
          </p:cNvCxnSpPr>
          <p:nvPr/>
        </p:nvCxnSpPr>
        <p:spPr>
          <a:xfrm>
            <a:off x="8452103" y="4067901"/>
            <a:ext cx="0" cy="3469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3" name="直接箭头连接符 152">
            <a:extLst>
              <a:ext uri="{FF2B5EF4-FFF2-40B4-BE49-F238E27FC236}">
                <a16:creationId xmlns:a16="http://schemas.microsoft.com/office/drawing/2014/main" id="{31FB63C1-D466-4F20-8671-8177C9BF5904}"/>
              </a:ext>
            </a:extLst>
          </p:cNvPr>
          <p:cNvCxnSpPr>
            <a:cxnSpLocks/>
          </p:cNvCxnSpPr>
          <p:nvPr/>
        </p:nvCxnSpPr>
        <p:spPr>
          <a:xfrm>
            <a:off x="8452103" y="4746922"/>
            <a:ext cx="0" cy="3469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4" name="矩形: 圆角 153">
            <a:extLst>
              <a:ext uri="{FF2B5EF4-FFF2-40B4-BE49-F238E27FC236}">
                <a16:creationId xmlns:a16="http://schemas.microsoft.com/office/drawing/2014/main" id="{3818A4C5-1E31-4991-8A12-AB61EB1E127A}"/>
              </a:ext>
            </a:extLst>
          </p:cNvPr>
          <p:cNvSpPr>
            <a:spLocks/>
          </p:cNvSpPr>
          <p:nvPr/>
        </p:nvSpPr>
        <p:spPr>
          <a:xfrm>
            <a:off x="9696400" y="2443401"/>
            <a:ext cx="2081870" cy="400110"/>
          </a:xfrm>
          <a:prstGeom prst="roundRect">
            <a:avLst>
              <a:gd name="adj" fmla="val 8568"/>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干预变量筛选原则</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55" name="矩形 154">
            <a:extLst>
              <a:ext uri="{FF2B5EF4-FFF2-40B4-BE49-F238E27FC236}">
                <a16:creationId xmlns:a16="http://schemas.microsoft.com/office/drawing/2014/main" id="{2EC7B4FB-5F2B-4D78-8452-680A8C18FF3E}"/>
              </a:ext>
            </a:extLst>
          </p:cNvPr>
          <p:cNvSpPr/>
          <p:nvPr/>
        </p:nvSpPr>
        <p:spPr>
          <a:xfrm>
            <a:off x="9695262" y="5832491"/>
            <a:ext cx="2083007" cy="485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事故严重程度降低率</a:t>
            </a:r>
          </a:p>
        </p:txBody>
      </p:sp>
      <p:sp>
        <p:nvSpPr>
          <p:cNvPr id="158" name="矩形: 圆角 157">
            <a:extLst>
              <a:ext uri="{FF2B5EF4-FFF2-40B4-BE49-F238E27FC236}">
                <a16:creationId xmlns:a16="http://schemas.microsoft.com/office/drawing/2014/main" id="{0CDA7278-4D14-471D-8602-8B7E6466BD03}"/>
              </a:ext>
            </a:extLst>
          </p:cNvPr>
          <p:cNvSpPr>
            <a:spLocks/>
          </p:cNvSpPr>
          <p:nvPr/>
        </p:nvSpPr>
        <p:spPr>
          <a:xfrm>
            <a:off x="9696400" y="5446902"/>
            <a:ext cx="2081870" cy="400110"/>
          </a:xfrm>
          <a:prstGeom prst="roundRect">
            <a:avLst>
              <a:gd name="adj" fmla="val 0"/>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干预效果评估指标</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59" name="矩形: 圆角 158">
            <a:extLst>
              <a:ext uri="{FF2B5EF4-FFF2-40B4-BE49-F238E27FC236}">
                <a16:creationId xmlns:a16="http://schemas.microsoft.com/office/drawing/2014/main" id="{716668D2-207F-45C5-9DB0-C792FE8A8304}"/>
              </a:ext>
            </a:extLst>
          </p:cNvPr>
          <p:cNvSpPr/>
          <p:nvPr/>
        </p:nvSpPr>
        <p:spPr>
          <a:xfrm>
            <a:off x="9695263" y="2843511"/>
            <a:ext cx="2076657" cy="2479355"/>
          </a:xfrm>
          <a:prstGeom prst="roundRect">
            <a:avLst>
              <a:gd name="adj" fmla="val 0"/>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圆角 159">
            <a:extLst>
              <a:ext uri="{FF2B5EF4-FFF2-40B4-BE49-F238E27FC236}">
                <a16:creationId xmlns:a16="http://schemas.microsoft.com/office/drawing/2014/main" id="{1A97C0E9-208F-49EA-90F7-00D2D3DEEC2D}"/>
              </a:ext>
            </a:extLst>
          </p:cNvPr>
          <p:cNvSpPr/>
          <p:nvPr/>
        </p:nvSpPr>
        <p:spPr>
          <a:xfrm>
            <a:off x="9745640" y="2875598"/>
            <a:ext cx="1975902" cy="417000"/>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charset="-122"/>
                <a:ea typeface="微软雅黑" panose="020B0503020204020204" charset="-122"/>
              </a:rPr>
              <a:t>因果效应显著性</a:t>
            </a:r>
          </a:p>
        </p:txBody>
      </p:sp>
      <p:sp>
        <p:nvSpPr>
          <p:cNvPr id="161" name="矩形: 圆角 160">
            <a:extLst>
              <a:ext uri="{FF2B5EF4-FFF2-40B4-BE49-F238E27FC236}">
                <a16:creationId xmlns:a16="http://schemas.microsoft.com/office/drawing/2014/main" id="{91BB818F-18C5-47E2-8E17-E836A9C700EC}"/>
              </a:ext>
            </a:extLst>
          </p:cNvPr>
          <p:cNvSpPr/>
          <p:nvPr/>
        </p:nvSpPr>
        <p:spPr>
          <a:xfrm>
            <a:off x="9745640" y="3373988"/>
            <a:ext cx="1975902" cy="417000"/>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charset="-122"/>
                <a:ea typeface="微软雅黑" panose="020B0503020204020204" charset="-122"/>
              </a:rPr>
              <a:t>变量可干预性</a:t>
            </a:r>
          </a:p>
        </p:txBody>
      </p:sp>
      <p:sp>
        <p:nvSpPr>
          <p:cNvPr id="162" name="矩形: 圆角 161">
            <a:extLst>
              <a:ext uri="{FF2B5EF4-FFF2-40B4-BE49-F238E27FC236}">
                <a16:creationId xmlns:a16="http://schemas.microsoft.com/office/drawing/2014/main" id="{11C73DD5-B4FC-45E7-AA83-504BC89B7913}"/>
              </a:ext>
            </a:extLst>
          </p:cNvPr>
          <p:cNvSpPr/>
          <p:nvPr/>
        </p:nvSpPr>
        <p:spPr>
          <a:xfrm>
            <a:off x="9745640" y="3872378"/>
            <a:ext cx="1975902" cy="417000"/>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charset="-122"/>
                <a:ea typeface="微软雅黑" panose="020B0503020204020204" charset="-122"/>
              </a:rPr>
              <a:t>工程可行性（经济性）</a:t>
            </a:r>
          </a:p>
        </p:txBody>
      </p:sp>
      <p:sp>
        <p:nvSpPr>
          <p:cNvPr id="163" name="矩形: 圆角 162">
            <a:extLst>
              <a:ext uri="{FF2B5EF4-FFF2-40B4-BE49-F238E27FC236}">
                <a16:creationId xmlns:a16="http://schemas.microsoft.com/office/drawing/2014/main" id="{AA376C53-75BA-4A9F-98CC-633AE6810CBB}"/>
              </a:ext>
            </a:extLst>
          </p:cNvPr>
          <p:cNvSpPr/>
          <p:nvPr/>
        </p:nvSpPr>
        <p:spPr>
          <a:xfrm>
            <a:off x="9745640" y="4370768"/>
            <a:ext cx="1975902" cy="417000"/>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charset="-122"/>
                <a:ea typeface="微软雅黑" panose="020B0503020204020204" charset="-122"/>
              </a:rPr>
              <a:t>稳定性和可重复性</a:t>
            </a:r>
          </a:p>
        </p:txBody>
      </p:sp>
      <p:sp>
        <p:nvSpPr>
          <p:cNvPr id="164" name="矩形: 圆角 163">
            <a:extLst>
              <a:ext uri="{FF2B5EF4-FFF2-40B4-BE49-F238E27FC236}">
                <a16:creationId xmlns:a16="http://schemas.microsoft.com/office/drawing/2014/main" id="{6C7F998B-B57B-4C53-86E0-BE5CF1CB3A4B}"/>
              </a:ext>
            </a:extLst>
          </p:cNvPr>
          <p:cNvSpPr/>
          <p:nvPr/>
        </p:nvSpPr>
        <p:spPr>
          <a:xfrm>
            <a:off x="9745640" y="4869160"/>
            <a:ext cx="1975902" cy="417000"/>
          </a:xfrm>
          <a:prstGeom prst="roundRect">
            <a:avLst>
              <a:gd name="adj" fmla="val 10309"/>
            </a:avLst>
          </a:prstGeom>
          <a:solidFill>
            <a:schemeClr val="accent1">
              <a:lumMod val="40000"/>
              <a:lumOff val="60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charset="-122"/>
                <a:ea typeface="微软雅黑" panose="020B0503020204020204" charset="-122"/>
              </a:rPr>
              <a:t>场景相关性</a:t>
            </a:r>
          </a:p>
        </p:txBody>
      </p:sp>
    </p:spTree>
    <p:extLst>
      <p:ext uri="{BB962C8B-B14F-4D97-AF65-F5344CB8AC3E}">
        <p14:creationId xmlns:p14="http://schemas.microsoft.com/office/powerpoint/2010/main" val="1505446532"/>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59">
            <a:extLst>
              <a:ext uri="{FF2B5EF4-FFF2-40B4-BE49-F238E27FC236}">
                <a16:creationId xmlns:a16="http://schemas.microsoft.com/office/drawing/2014/main" id="{C2D275FB-F2F5-498A-A50F-AF3AC247C09C}"/>
              </a:ext>
            </a:extLst>
          </p:cNvPr>
          <p:cNvSpPr>
            <a:spLocks noChangeArrowheads="1"/>
          </p:cNvSpPr>
          <p:nvPr/>
        </p:nvSpPr>
        <p:spPr bwMode="auto">
          <a:xfrm>
            <a:off x="335359" y="116632"/>
            <a:ext cx="77234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研究内容四：</a:t>
            </a:r>
            <a:r>
              <a:rPr lang="zh-CN" altLang="en-US" sz="2400" b="1" dirty="0">
                <a:solidFill>
                  <a:srgbClr val="FFC000"/>
                </a:solidFill>
                <a:latin typeface="微软雅黑" panose="020B0503020204020204" pitchFamily="34" charset="-122"/>
                <a:ea typeface="微软雅黑" panose="020B0503020204020204" pitchFamily="34" charset="-122"/>
              </a:rPr>
              <a:t>公众事故责任划分期望调查分析</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42" name="矩形 41">
            <a:extLst>
              <a:ext uri="{FF2B5EF4-FFF2-40B4-BE49-F238E27FC236}">
                <a16:creationId xmlns:a16="http://schemas.microsoft.com/office/drawing/2014/main" id="{CB2F461D-7F49-4510-BA9A-EF61071D0448}"/>
              </a:ext>
            </a:extLst>
          </p:cNvPr>
          <p:cNvSpPr/>
          <p:nvPr/>
        </p:nvSpPr>
        <p:spPr>
          <a:xfrm>
            <a:off x="529342" y="1052736"/>
            <a:ext cx="11242590" cy="6120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揭示公众对事故相关方的责任划分期望特性</a:t>
            </a:r>
          </a:p>
        </p:txBody>
      </p:sp>
      <p:sp>
        <p:nvSpPr>
          <p:cNvPr id="5" name="箭头: 五边形 4">
            <a:extLst>
              <a:ext uri="{FF2B5EF4-FFF2-40B4-BE49-F238E27FC236}">
                <a16:creationId xmlns:a16="http://schemas.microsoft.com/office/drawing/2014/main" id="{984161DB-D0D7-4399-93D3-DAD7D90A4488}"/>
              </a:ext>
            </a:extLst>
          </p:cNvPr>
          <p:cNvSpPr/>
          <p:nvPr/>
        </p:nvSpPr>
        <p:spPr>
          <a:xfrm>
            <a:off x="557745" y="1916832"/>
            <a:ext cx="2081871" cy="40011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调查情景构建</a:t>
            </a:r>
          </a:p>
        </p:txBody>
      </p:sp>
      <p:sp>
        <p:nvSpPr>
          <p:cNvPr id="6" name="箭头: V 形 5">
            <a:extLst>
              <a:ext uri="{FF2B5EF4-FFF2-40B4-BE49-F238E27FC236}">
                <a16:creationId xmlns:a16="http://schemas.microsoft.com/office/drawing/2014/main" id="{F9447427-3B19-4E90-904B-8CEFCE8C4495}"/>
              </a:ext>
            </a:extLst>
          </p:cNvPr>
          <p:cNvSpPr/>
          <p:nvPr/>
        </p:nvSpPr>
        <p:spPr>
          <a:xfrm>
            <a:off x="3329724" y="1916832"/>
            <a:ext cx="2542162" cy="40011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问卷设计与数据收集</a:t>
            </a:r>
          </a:p>
        </p:txBody>
      </p:sp>
      <p:sp>
        <p:nvSpPr>
          <p:cNvPr id="7" name="箭头: V 形 6">
            <a:extLst>
              <a:ext uri="{FF2B5EF4-FFF2-40B4-BE49-F238E27FC236}">
                <a16:creationId xmlns:a16="http://schemas.microsoft.com/office/drawing/2014/main" id="{0EA8D647-9AAE-44EF-99B4-2971929256CC}"/>
              </a:ext>
            </a:extLst>
          </p:cNvPr>
          <p:cNvSpPr/>
          <p:nvPr/>
        </p:nvSpPr>
        <p:spPr>
          <a:xfrm>
            <a:off x="6561994" y="1916832"/>
            <a:ext cx="2081870" cy="40011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模型构建与估计</a:t>
            </a:r>
          </a:p>
        </p:txBody>
      </p:sp>
      <p:sp>
        <p:nvSpPr>
          <p:cNvPr id="8" name="箭头: V 形 7">
            <a:extLst>
              <a:ext uri="{FF2B5EF4-FFF2-40B4-BE49-F238E27FC236}">
                <a16:creationId xmlns:a16="http://schemas.microsoft.com/office/drawing/2014/main" id="{48449704-5330-445D-BA32-6B12524B76C1}"/>
              </a:ext>
            </a:extLst>
          </p:cNvPr>
          <p:cNvSpPr/>
          <p:nvPr/>
        </p:nvSpPr>
        <p:spPr>
          <a:xfrm>
            <a:off x="9333972" y="1916832"/>
            <a:ext cx="2081870" cy="40011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结果分析与解释</a:t>
            </a:r>
          </a:p>
        </p:txBody>
      </p:sp>
      <p:sp>
        <p:nvSpPr>
          <p:cNvPr id="9" name="矩形: 圆角 8">
            <a:extLst>
              <a:ext uri="{FF2B5EF4-FFF2-40B4-BE49-F238E27FC236}">
                <a16:creationId xmlns:a16="http://schemas.microsoft.com/office/drawing/2014/main" id="{2DF7569D-3DA6-4447-A2C9-DC21D2564E6C}"/>
              </a:ext>
            </a:extLst>
          </p:cNvPr>
          <p:cNvSpPr/>
          <p:nvPr/>
        </p:nvSpPr>
        <p:spPr>
          <a:xfrm>
            <a:off x="562193" y="2475687"/>
            <a:ext cx="2072974" cy="1529377"/>
          </a:xfrm>
          <a:prstGeom prst="roundRect">
            <a:avLst>
              <a:gd name="adj" fmla="val 2372"/>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b="1" dirty="0">
              <a:solidFill>
                <a:schemeClr val="tx1"/>
              </a:solidFill>
              <a:latin typeface="微软雅黑" panose="020B0503020204020204" charset="-122"/>
              <a:ea typeface="微软雅黑" panose="020B0503020204020204" charset="-122"/>
            </a:endParaRPr>
          </a:p>
        </p:txBody>
      </p:sp>
      <p:sp>
        <p:nvSpPr>
          <p:cNvPr id="10" name="矩形: 圆角 9">
            <a:extLst>
              <a:ext uri="{FF2B5EF4-FFF2-40B4-BE49-F238E27FC236}">
                <a16:creationId xmlns:a16="http://schemas.microsoft.com/office/drawing/2014/main" id="{D708D937-CDF3-45BD-A70E-D16A7BA76C49}"/>
              </a:ext>
            </a:extLst>
          </p:cNvPr>
          <p:cNvSpPr/>
          <p:nvPr/>
        </p:nvSpPr>
        <p:spPr>
          <a:xfrm>
            <a:off x="3293595" y="2475687"/>
            <a:ext cx="2542161" cy="1529377"/>
          </a:xfrm>
          <a:prstGeom prst="roundRect">
            <a:avLst>
              <a:gd name="adj" fmla="val 2372"/>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b="1" dirty="0">
              <a:solidFill>
                <a:schemeClr val="tx1"/>
              </a:solidFill>
              <a:latin typeface="微软雅黑" panose="020B0503020204020204" charset="-122"/>
              <a:ea typeface="微软雅黑" panose="020B0503020204020204" charset="-122"/>
            </a:endParaRPr>
          </a:p>
        </p:txBody>
      </p:sp>
      <p:sp>
        <p:nvSpPr>
          <p:cNvPr id="11" name="矩形: 圆角 10">
            <a:extLst>
              <a:ext uri="{FF2B5EF4-FFF2-40B4-BE49-F238E27FC236}">
                <a16:creationId xmlns:a16="http://schemas.microsoft.com/office/drawing/2014/main" id="{F2B85BE3-55C5-47BD-ABF2-C8367C7F085E}"/>
              </a:ext>
            </a:extLst>
          </p:cNvPr>
          <p:cNvSpPr/>
          <p:nvPr/>
        </p:nvSpPr>
        <p:spPr>
          <a:xfrm>
            <a:off x="6561994" y="2475687"/>
            <a:ext cx="2081870" cy="1529377"/>
          </a:xfrm>
          <a:prstGeom prst="roundRect">
            <a:avLst>
              <a:gd name="adj" fmla="val 2372"/>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b="1" dirty="0">
              <a:solidFill>
                <a:schemeClr val="tx1"/>
              </a:solidFill>
              <a:latin typeface="微软雅黑" panose="020B0503020204020204" charset="-122"/>
              <a:ea typeface="微软雅黑" panose="020B0503020204020204" charset="-122"/>
            </a:endParaRPr>
          </a:p>
        </p:txBody>
      </p:sp>
      <p:sp>
        <p:nvSpPr>
          <p:cNvPr id="12" name="矩形: 圆角 11">
            <a:extLst>
              <a:ext uri="{FF2B5EF4-FFF2-40B4-BE49-F238E27FC236}">
                <a16:creationId xmlns:a16="http://schemas.microsoft.com/office/drawing/2014/main" id="{0CE2BBF4-6EBE-460D-B038-2E8F5E62935A}"/>
              </a:ext>
            </a:extLst>
          </p:cNvPr>
          <p:cNvSpPr/>
          <p:nvPr/>
        </p:nvSpPr>
        <p:spPr>
          <a:xfrm>
            <a:off x="9333972" y="2475687"/>
            <a:ext cx="2081870" cy="1529377"/>
          </a:xfrm>
          <a:prstGeom prst="roundRect">
            <a:avLst>
              <a:gd name="adj" fmla="val 2372"/>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050" b="1" dirty="0">
              <a:solidFill>
                <a:schemeClr val="tx1"/>
              </a:solidFill>
              <a:latin typeface="微软雅黑" panose="020B0503020204020204" charset="-122"/>
              <a:ea typeface="微软雅黑" panose="020B0503020204020204" charset="-122"/>
            </a:endParaRPr>
          </a:p>
        </p:txBody>
      </p:sp>
      <p:sp>
        <p:nvSpPr>
          <p:cNvPr id="14" name="文本框 13">
            <a:extLst>
              <a:ext uri="{FF2B5EF4-FFF2-40B4-BE49-F238E27FC236}">
                <a16:creationId xmlns:a16="http://schemas.microsoft.com/office/drawing/2014/main" id="{147BD315-59BD-494F-A115-F69E29609DE1}"/>
              </a:ext>
            </a:extLst>
          </p:cNvPr>
          <p:cNvSpPr txBox="1"/>
          <p:nvPr/>
        </p:nvSpPr>
        <p:spPr>
          <a:xfrm>
            <a:off x="557745" y="2474551"/>
            <a:ext cx="2081870" cy="1277273"/>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基于前两章的研究成果</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典型场景</a:t>
            </a: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主导因素</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形成调查情景组合</a:t>
            </a:r>
            <a:endParaRPr lang="en-US" altLang="zh-CN" sz="1400" b="1"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a:extLst>
              <a:ext uri="{FF2B5EF4-FFF2-40B4-BE49-F238E27FC236}">
                <a16:creationId xmlns:a16="http://schemas.microsoft.com/office/drawing/2014/main" id="{41FA9885-7186-4926-95D9-2FB7173C67BF}"/>
              </a:ext>
            </a:extLst>
          </p:cNvPr>
          <p:cNvSpPr txBox="1"/>
          <p:nvPr/>
        </p:nvSpPr>
        <p:spPr>
          <a:xfrm>
            <a:off x="3298967" y="2434452"/>
            <a:ext cx="2531417" cy="1023742"/>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设计</a:t>
            </a: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SP+RP</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情景问卷</a:t>
            </a:r>
            <a:endParaRPr lang="en-US" altLang="zh-CN" sz="1400" b="1"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线上</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线下多渠道发放</a:t>
            </a:r>
            <a:endParaRPr lang="en-US" altLang="zh-CN" sz="1400" b="1"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获取公众期望数据</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7" name="图片 16">
            <a:extLst>
              <a:ext uri="{FF2B5EF4-FFF2-40B4-BE49-F238E27FC236}">
                <a16:creationId xmlns:a16="http://schemas.microsoft.com/office/drawing/2014/main" id="{1ADEFB17-6139-44DA-A778-87A32D1918E7}"/>
              </a:ext>
            </a:extLst>
          </p:cNvPr>
          <p:cNvPicPr>
            <a:picLocks noChangeAspect="1"/>
          </p:cNvPicPr>
          <p:nvPr/>
        </p:nvPicPr>
        <p:blipFill>
          <a:blip r:embed="rId2">
            <a:clrChange>
              <a:clrFrom>
                <a:srgbClr val="F6F6F6"/>
              </a:clrFrom>
              <a:clrTo>
                <a:srgbClr val="F6F6F6">
                  <a:alpha val="0"/>
                </a:srgbClr>
              </a:clrTo>
            </a:clrChange>
          </a:blip>
          <a:stretch>
            <a:fillRect/>
          </a:stretch>
        </p:blipFill>
        <p:spPr>
          <a:xfrm>
            <a:off x="4297803" y="3446091"/>
            <a:ext cx="533744" cy="545005"/>
          </a:xfrm>
          <a:prstGeom prst="rect">
            <a:avLst/>
          </a:prstGeom>
        </p:spPr>
      </p:pic>
      <p:sp>
        <p:nvSpPr>
          <p:cNvPr id="21" name="文本框 20">
            <a:extLst>
              <a:ext uri="{FF2B5EF4-FFF2-40B4-BE49-F238E27FC236}">
                <a16:creationId xmlns:a16="http://schemas.microsoft.com/office/drawing/2014/main" id="{C891EEC9-91DA-4DA8-AE75-44E92DB148ED}"/>
              </a:ext>
            </a:extLst>
          </p:cNvPr>
          <p:cNvSpPr txBox="1"/>
          <p:nvPr/>
        </p:nvSpPr>
        <p:spPr>
          <a:xfrm>
            <a:off x="6337221" y="2400364"/>
            <a:ext cx="2531417" cy="1023742"/>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采用</a:t>
            </a:r>
            <a:r>
              <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ICLV</a:t>
            </a: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模型分析</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估计责任划分期望</a:t>
            </a:r>
            <a:endParaRPr lang="en-US" altLang="zh-CN" sz="1400" b="1"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5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及其影响因素</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F36F2D11-70C1-4CD9-9855-E0D600312C9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957014" y="3379519"/>
            <a:ext cx="835786" cy="744609"/>
          </a:xfrm>
          <a:prstGeom prst="rect">
            <a:avLst/>
          </a:prstGeom>
        </p:spPr>
      </p:pic>
      <p:pic>
        <p:nvPicPr>
          <p:cNvPr id="22" name="图片 21">
            <a:extLst>
              <a:ext uri="{FF2B5EF4-FFF2-40B4-BE49-F238E27FC236}">
                <a16:creationId xmlns:a16="http://schemas.microsoft.com/office/drawing/2014/main" id="{3A4E4FE8-482B-4129-9592-23D3F50A5722}"/>
              </a:ext>
            </a:extLst>
          </p:cNvPr>
          <p:cNvPicPr>
            <a:picLocks noChangeAspect="1"/>
          </p:cNvPicPr>
          <p:nvPr/>
        </p:nvPicPr>
        <p:blipFill>
          <a:blip r:embed="rId4">
            <a:clrChange>
              <a:clrFrom>
                <a:srgbClr val="F6F6F6"/>
              </a:clrFrom>
              <a:clrTo>
                <a:srgbClr val="F6F6F6">
                  <a:alpha val="0"/>
                </a:srgbClr>
              </a:clrTo>
            </a:clrChange>
          </a:blip>
          <a:stretch>
            <a:fillRect/>
          </a:stretch>
        </p:blipFill>
        <p:spPr>
          <a:xfrm>
            <a:off x="7379532" y="3379519"/>
            <a:ext cx="578681" cy="578681"/>
          </a:xfrm>
          <a:prstGeom prst="rect">
            <a:avLst/>
          </a:prstGeom>
        </p:spPr>
      </p:pic>
      <p:sp>
        <p:nvSpPr>
          <p:cNvPr id="26" name="文本框 25">
            <a:extLst>
              <a:ext uri="{FF2B5EF4-FFF2-40B4-BE49-F238E27FC236}">
                <a16:creationId xmlns:a16="http://schemas.microsoft.com/office/drawing/2014/main" id="{A02D5024-DF49-4940-A5D6-1B136CDB065B}"/>
              </a:ext>
            </a:extLst>
          </p:cNvPr>
          <p:cNvSpPr txBox="1"/>
          <p:nvPr/>
        </p:nvSpPr>
        <p:spPr>
          <a:xfrm>
            <a:off x="9109199" y="2415732"/>
            <a:ext cx="2531417" cy="1023742"/>
          </a:xfrm>
          <a:prstGeom prst="rect">
            <a:avLst/>
          </a:prstGeom>
          <a:noFill/>
        </p:spPr>
        <p:txBody>
          <a:bodyPr wrap="square">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分析情景效应与异质性</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验证稳定性与信效度</a:t>
            </a:r>
            <a:endParaRPr lang="en-US" altLang="zh-CN" sz="1400" b="1"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lnSpc>
                <a:spcPct val="15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规律与政策启示</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矩形 31">
            <a:extLst>
              <a:ext uri="{FF2B5EF4-FFF2-40B4-BE49-F238E27FC236}">
                <a16:creationId xmlns:a16="http://schemas.microsoft.com/office/drawing/2014/main" id="{D287DCE0-7C47-4A15-A4EF-1EA286FC017C}"/>
              </a:ext>
            </a:extLst>
          </p:cNvPr>
          <p:cNvSpPr/>
          <p:nvPr/>
        </p:nvSpPr>
        <p:spPr>
          <a:xfrm>
            <a:off x="551384" y="4124128"/>
            <a:ext cx="443319" cy="240121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模型方法与分析流程</a:t>
            </a:r>
          </a:p>
        </p:txBody>
      </p:sp>
      <p:sp>
        <p:nvSpPr>
          <p:cNvPr id="34" name="文本框 33">
            <a:extLst>
              <a:ext uri="{FF2B5EF4-FFF2-40B4-BE49-F238E27FC236}">
                <a16:creationId xmlns:a16="http://schemas.microsoft.com/office/drawing/2014/main" id="{B52D633D-3BFE-45F2-881E-EDE4272BF2F0}"/>
              </a:ext>
            </a:extLst>
          </p:cNvPr>
          <p:cNvSpPr txBox="1"/>
          <p:nvPr/>
        </p:nvSpPr>
        <p:spPr>
          <a:xfrm>
            <a:off x="634663" y="4058598"/>
            <a:ext cx="6105236" cy="369332"/>
          </a:xfrm>
          <a:prstGeom prst="rect">
            <a:avLst/>
          </a:prstGeom>
          <a:noFill/>
        </p:spPr>
        <p:txBody>
          <a:bodyPr wrap="square">
            <a:spAutoFit/>
          </a:bodyPr>
          <a:lstStyle/>
          <a:p>
            <a:pPr algn="ctr"/>
            <a:r>
              <a:rPr lang="zh-CN" altLang="en-US" sz="1800" b="1" dirty="0">
                <a:solidFill>
                  <a:schemeClr val="tx1"/>
                </a:solidFill>
                <a:latin typeface="微软雅黑" panose="020B0503020204020204" pitchFamily="34" charset="-122"/>
                <a:ea typeface="微软雅黑" panose="020B0503020204020204" pitchFamily="34" charset="-122"/>
              </a:rPr>
              <a:t>集成选择与潜变量模型（</a:t>
            </a:r>
            <a:r>
              <a:rPr lang="en-US" altLang="zh-CN" sz="1800" b="1" dirty="0">
                <a:solidFill>
                  <a:schemeClr val="tx1"/>
                </a:solidFill>
                <a:latin typeface="微软雅黑" panose="020B0503020204020204" pitchFamily="34" charset="-122"/>
                <a:ea typeface="微软雅黑" panose="020B0503020204020204" pitchFamily="34" charset="-122"/>
              </a:rPr>
              <a:t>ICLV</a:t>
            </a:r>
            <a:r>
              <a:rPr lang="zh-CN" altLang="en-US" sz="1800" b="1" dirty="0">
                <a:solidFill>
                  <a:schemeClr val="tx1"/>
                </a:solidFill>
                <a:latin typeface="微软雅黑" panose="020B0503020204020204" pitchFamily="34" charset="-122"/>
                <a:ea typeface="微软雅黑" panose="020B0503020204020204" pitchFamily="34" charset="-122"/>
              </a:rPr>
              <a:t>）</a:t>
            </a:r>
          </a:p>
        </p:txBody>
      </p:sp>
      <p:sp>
        <p:nvSpPr>
          <p:cNvPr id="30" name="矩形: 圆角 29">
            <a:extLst>
              <a:ext uri="{FF2B5EF4-FFF2-40B4-BE49-F238E27FC236}">
                <a16:creationId xmlns:a16="http://schemas.microsoft.com/office/drawing/2014/main" id="{6EF771B4-3C9A-4A8B-8E2B-D0AEC8EF6B9C}"/>
              </a:ext>
            </a:extLst>
          </p:cNvPr>
          <p:cNvSpPr/>
          <p:nvPr/>
        </p:nvSpPr>
        <p:spPr>
          <a:xfrm>
            <a:off x="1215489" y="4518229"/>
            <a:ext cx="1452351" cy="94528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42D86B34-0A6E-4869-A1EF-82AF4C1DE616}"/>
              </a:ext>
            </a:extLst>
          </p:cNvPr>
          <p:cNvSpPr/>
          <p:nvPr/>
        </p:nvSpPr>
        <p:spPr>
          <a:xfrm>
            <a:off x="5304623" y="4518229"/>
            <a:ext cx="1224136" cy="945288"/>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椭圆 30">
            <a:extLst>
              <a:ext uri="{FF2B5EF4-FFF2-40B4-BE49-F238E27FC236}">
                <a16:creationId xmlns:a16="http://schemas.microsoft.com/office/drawing/2014/main" id="{609F3E57-2592-48AA-AC9E-A7A3CD37D850}"/>
              </a:ext>
            </a:extLst>
          </p:cNvPr>
          <p:cNvSpPr/>
          <p:nvPr/>
        </p:nvSpPr>
        <p:spPr>
          <a:xfrm>
            <a:off x="3293595" y="4518229"/>
            <a:ext cx="1451482" cy="945288"/>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A1E1D857-6F03-49B7-B8B2-768977422148}"/>
              </a:ext>
            </a:extLst>
          </p:cNvPr>
          <p:cNvSpPr txBox="1"/>
          <p:nvPr/>
        </p:nvSpPr>
        <p:spPr>
          <a:xfrm>
            <a:off x="3216391" y="4420488"/>
            <a:ext cx="1605891" cy="1061829"/>
          </a:xfrm>
          <a:prstGeom prst="rect">
            <a:avLst/>
          </a:prstGeom>
          <a:noFill/>
        </p:spPr>
        <p:txBody>
          <a:bodyPr wrap="square" anchor="ctr">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潜变量层</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algn="ctr">
              <a:defRPr/>
            </a:pPr>
            <a:r>
              <a:rPr lang="zh-CN" altLang="en-US" sz="1400" dirty="0">
                <a:solidFill>
                  <a:prstClr val="black"/>
                </a:solidFill>
                <a:latin typeface="微软雅黑" panose="020B0503020204020204" pitchFamily="34" charset="-122"/>
                <a:ea typeface="微软雅黑" panose="020B0503020204020204" pitchFamily="34" charset="-122"/>
              </a:rPr>
              <a:t>风险感知</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1400" dirty="0">
                <a:solidFill>
                  <a:prstClr val="black"/>
                </a:solidFill>
                <a:latin typeface="微软雅黑" panose="020B0503020204020204" pitchFamily="34" charset="-122"/>
                <a:ea typeface="微软雅黑" panose="020B0503020204020204" pitchFamily="34" charset="-122"/>
              </a:rPr>
              <a:t>技术信任</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1400" dirty="0">
                <a:solidFill>
                  <a:prstClr val="black"/>
                </a:solidFill>
                <a:latin typeface="微软雅黑" panose="020B0503020204020204" pitchFamily="34" charset="-122"/>
                <a:ea typeface="微软雅黑" panose="020B0503020204020204" pitchFamily="34" charset="-122"/>
              </a:rPr>
              <a:t>责任归因</a:t>
            </a:r>
            <a:endParaRPr lang="en-US" altLang="zh-CN" sz="1400" dirty="0">
              <a:solidFill>
                <a:prstClr val="black"/>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CFAA46F5-7E3B-4D2B-A406-CE40337EDB5B}"/>
              </a:ext>
            </a:extLst>
          </p:cNvPr>
          <p:cNvSpPr txBox="1"/>
          <p:nvPr/>
        </p:nvSpPr>
        <p:spPr>
          <a:xfrm>
            <a:off x="5370688" y="4567680"/>
            <a:ext cx="1092006" cy="846386"/>
          </a:xfrm>
          <a:prstGeom prst="rect">
            <a:avLst/>
          </a:prstGeom>
          <a:noFill/>
        </p:spPr>
        <p:txBody>
          <a:bodyPr wrap="square" anchor="ctr">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zh-CN" altLang="en-US" sz="1400" b="1" dirty="0">
                <a:solidFill>
                  <a:prstClr val="black"/>
                </a:solidFill>
                <a:latin typeface="微软雅黑" panose="020B0503020204020204" pitchFamily="34" charset="-122"/>
                <a:ea typeface="微软雅黑" panose="020B0503020204020204" pitchFamily="34" charset="-122"/>
              </a:rPr>
              <a:t>场景特征</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algn="ctr">
              <a:defRPr/>
            </a:pPr>
            <a:r>
              <a:rPr lang="zh-CN" altLang="en-US" sz="1400" dirty="0">
                <a:solidFill>
                  <a:prstClr val="black"/>
                </a:solidFill>
                <a:latin typeface="微软雅黑" panose="020B0503020204020204" pitchFamily="34" charset="-122"/>
                <a:ea typeface="微软雅黑" panose="020B0503020204020204" pitchFamily="34" charset="-122"/>
              </a:rPr>
              <a:t>典型场景</a:t>
            </a:r>
            <a:endParaRPr lang="en-US" altLang="zh-CN" sz="1400" dirty="0">
              <a:solidFill>
                <a:prstClr val="black"/>
              </a:solidFill>
              <a:latin typeface="微软雅黑" panose="020B0503020204020204" pitchFamily="34" charset="-122"/>
              <a:ea typeface="微软雅黑" panose="020B0503020204020204" pitchFamily="34" charset="-122"/>
            </a:endParaRPr>
          </a:p>
          <a:p>
            <a:pPr algn="ctr">
              <a:defRPr/>
            </a:pPr>
            <a:r>
              <a:rPr lang="zh-CN" altLang="en-US" sz="1400" dirty="0">
                <a:solidFill>
                  <a:prstClr val="black"/>
                </a:solidFill>
                <a:latin typeface="微软雅黑" panose="020B0503020204020204" pitchFamily="34" charset="-122"/>
                <a:ea typeface="微软雅黑" panose="020B0503020204020204" pitchFamily="34" charset="-122"/>
              </a:rPr>
              <a:t>主导因素</a:t>
            </a:r>
            <a:endParaRPr lang="en-US" altLang="zh-CN" sz="1400" dirty="0">
              <a:solidFill>
                <a:prstClr val="black"/>
              </a:solidFill>
              <a:latin typeface="微软雅黑" panose="020B0503020204020204" pitchFamily="34" charset="-122"/>
              <a:ea typeface="微软雅黑" panose="020B0503020204020204" pitchFamily="34" charset="-122"/>
            </a:endParaRPr>
          </a:p>
        </p:txBody>
      </p:sp>
      <p:sp>
        <p:nvSpPr>
          <p:cNvPr id="46" name="文本框 45">
            <a:extLst>
              <a:ext uri="{FF2B5EF4-FFF2-40B4-BE49-F238E27FC236}">
                <a16:creationId xmlns:a16="http://schemas.microsoft.com/office/drawing/2014/main" id="{B5072685-1BFB-414E-81E7-F3F143EBDD74}"/>
              </a:ext>
            </a:extLst>
          </p:cNvPr>
          <p:cNvSpPr txBox="1"/>
          <p:nvPr/>
        </p:nvSpPr>
        <p:spPr>
          <a:xfrm>
            <a:off x="1138719" y="4455403"/>
            <a:ext cx="1605891" cy="1061829"/>
          </a:xfrm>
          <a:prstGeom prst="rect">
            <a:avLst/>
          </a:prstGeom>
          <a:noFill/>
        </p:spPr>
        <p:txBody>
          <a:bodyPr wrap="square" anchor="ctr">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观测变量层</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457200" rtl="0" eaLnBrk="1" fontAlgn="auto" latinLnBrk="0" hangingPunct="1">
              <a:spcBef>
                <a:spcPts val="0"/>
              </a:spcBef>
              <a:spcAft>
                <a:spcPts val="0"/>
              </a:spcAft>
              <a:buClrTx/>
              <a:buSzTx/>
              <a:buFontTx/>
              <a:buNone/>
              <a:tabLst/>
              <a:defRPr/>
            </a:pPr>
            <a:r>
              <a:rPr lang="zh-CN" altLang="en-US" sz="1400" dirty="0">
                <a:solidFill>
                  <a:prstClr val="black"/>
                </a:solidFill>
                <a:latin typeface="微软雅黑" panose="020B0503020204020204" pitchFamily="34" charset="-122"/>
                <a:ea typeface="微软雅黑" panose="020B0503020204020204" pitchFamily="34" charset="-122"/>
              </a:rPr>
              <a:t>个体属性变量</a:t>
            </a:r>
            <a:endParaRPr lang="en-US" altLang="zh-CN" sz="1400"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spcBef>
                <a:spcPts val="0"/>
              </a:spcBef>
              <a:spcAft>
                <a:spcPts val="0"/>
              </a:spcAft>
              <a:buClrTx/>
              <a:buSzTx/>
              <a:buFontTx/>
              <a:buNone/>
              <a:tabLst/>
              <a:defRPr/>
            </a:pPr>
            <a:r>
              <a:rPr lang="zh-CN" altLang="en-US" sz="1400" dirty="0">
                <a:solidFill>
                  <a:prstClr val="black"/>
                </a:solidFill>
                <a:latin typeface="微软雅黑" panose="020B0503020204020204" pitchFamily="34" charset="-122"/>
                <a:ea typeface="微软雅黑" panose="020B0503020204020204" pitchFamily="34" charset="-122"/>
              </a:rPr>
              <a:t>心理测量变量</a:t>
            </a:r>
            <a:endParaRPr lang="en-US" altLang="zh-CN" sz="1400" dirty="0">
              <a:solidFill>
                <a:prstClr val="black"/>
              </a:solidFill>
              <a:latin typeface="微软雅黑" panose="020B0503020204020204" pitchFamily="34" charset="-122"/>
              <a:ea typeface="微软雅黑" panose="020B0503020204020204" pitchFamily="34" charset="-122"/>
            </a:endParaRPr>
          </a:p>
          <a:p>
            <a:pPr marL="0" marR="0" lvl="0" indent="0" algn="ctr" defTabSz="457200" rtl="0" eaLnBrk="1" fontAlgn="auto" latinLnBrk="0" hangingPunct="1">
              <a:spcBef>
                <a:spcPts val="0"/>
              </a:spcBef>
              <a:spcAft>
                <a:spcPts val="0"/>
              </a:spcAft>
              <a:buClrTx/>
              <a:buSzTx/>
              <a:buFontTx/>
              <a:buNone/>
              <a:tabLst/>
              <a:defRPr/>
            </a:pPr>
            <a:r>
              <a:rPr kumimoji="0" lang="zh-CN" altLang="en-US"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行为选择变量</a:t>
            </a:r>
            <a:endParaRPr kumimoji="0" lang="en-US" altLang="zh-CN" sz="140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7" name="虚尾箭头 20">
            <a:extLst>
              <a:ext uri="{FF2B5EF4-FFF2-40B4-BE49-F238E27FC236}">
                <a16:creationId xmlns:a16="http://schemas.microsoft.com/office/drawing/2014/main" id="{D7A8BBA9-F461-4D50-A6A2-C4670F5E3CB1}"/>
              </a:ext>
            </a:extLst>
          </p:cNvPr>
          <p:cNvSpPr/>
          <p:nvPr/>
        </p:nvSpPr>
        <p:spPr>
          <a:xfrm>
            <a:off x="2728158" y="4720637"/>
            <a:ext cx="494126" cy="504000"/>
          </a:xfrm>
          <a:prstGeom prst="stripedRightArrow">
            <a:avLst/>
          </a:prstGeom>
          <a:gradFill>
            <a:gsLst>
              <a:gs pos="0">
                <a:schemeClr val="accent1">
                  <a:lumMod val="5000"/>
                  <a:lumOff val="95000"/>
                </a:schemeClr>
              </a:gs>
              <a:gs pos="74000">
                <a:srgbClr val="C5E0B4"/>
              </a:gs>
              <a:gs pos="100000">
                <a:schemeClr val="accent1">
                  <a:lumMod val="30000"/>
                  <a:lumOff val="70000"/>
                </a:schemeClr>
              </a:gs>
            </a:gsLst>
            <a:lin ang="0" scaled="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虚尾箭头 20">
            <a:extLst>
              <a:ext uri="{FF2B5EF4-FFF2-40B4-BE49-F238E27FC236}">
                <a16:creationId xmlns:a16="http://schemas.microsoft.com/office/drawing/2014/main" id="{B3A6F1F1-46F0-478F-8A82-128234FC2326}"/>
              </a:ext>
            </a:extLst>
          </p:cNvPr>
          <p:cNvSpPr/>
          <p:nvPr/>
        </p:nvSpPr>
        <p:spPr>
          <a:xfrm flipH="1">
            <a:off x="4760563" y="4695850"/>
            <a:ext cx="494126" cy="504000"/>
          </a:xfrm>
          <a:prstGeom prst="stripedRightArrow">
            <a:avLst/>
          </a:prstGeom>
          <a:gradFill>
            <a:gsLst>
              <a:gs pos="0">
                <a:schemeClr val="accent1">
                  <a:lumMod val="5000"/>
                  <a:lumOff val="95000"/>
                </a:schemeClr>
              </a:gs>
              <a:gs pos="74000">
                <a:srgbClr val="C5E0B4"/>
              </a:gs>
              <a:gs pos="100000">
                <a:schemeClr val="accent1">
                  <a:lumMod val="30000"/>
                  <a:lumOff val="70000"/>
                </a:schemeClr>
              </a:gs>
            </a:gsLst>
            <a:lin ang="0" scaled="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A8134EBD-E302-4838-895D-A53142BFA61C}"/>
              </a:ext>
            </a:extLst>
          </p:cNvPr>
          <p:cNvSpPr txBox="1"/>
          <p:nvPr/>
        </p:nvSpPr>
        <p:spPr>
          <a:xfrm>
            <a:off x="1215489" y="5634482"/>
            <a:ext cx="5313270" cy="830997"/>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solidFill>
                  <a:srgbClr val="0F1115"/>
                </a:solidFill>
                <a:latin typeface="微软雅黑" panose="020B0503020204020204" pitchFamily="34" charset="-122"/>
                <a:ea typeface="微软雅黑" panose="020B0503020204020204" pitchFamily="34" charset="-122"/>
              </a:rPr>
              <a:t>同时分析选择行为与责任划分比例</a:t>
            </a:r>
            <a:endParaRPr lang="en-US" altLang="zh-CN" sz="1600" b="1" dirty="0">
              <a:solidFill>
                <a:srgbClr val="0F1115"/>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600" b="1" dirty="0">
                <a:solidFill>
                  <a:srgbClr val="0F1115"/>
                </a:solidFill>
                <a:latin typeface="微软雅黑" panose="020B0503020204020204" pitchFamily="34" charset="-122"/>
                <a:ea typeface="微软雅黑" panose="020B0503020204020204" pitchFamily="34" charset="-122"/>
              </a:rPr>
              <a:t>揭示潜在心理机制及对于责任划分的影响</a:t>
            </a:r>
            <a:endParaRPr lang="en-US" altLang="zh-CN" sz="1600" b="1" dirty="0">
              <a:solidFill>
                <a:srgbClr val="0F1115"/>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600" b="1" dirty="0">
                <a:solidFill>
                  <a:srgbClr val="0F1115"/>
                </a:solidFill>
                <a:latin typeface="微软雅黑" panose="020B0503020204020204" pitchFamily="34" charset="-122"/>
                <a:ea typeface="微软雅黑" panose="020B0503020204020204" pitchFamily="34" charset="-122"/>
              </a:rPr>
              <a:t>考虑个体异质性与情景交互效应</a:t>
            </a:r>
            <a:endParaRPr lang="en-US" altLang="zh-CN" sz="1600" b="1" dirty="0">
              <a:solidFill>
                <a:srgbClr val="0F1115"/>
              </a:solidFill>
              <a:latin typeface="微软雅黑" panose="020B0503020204020204" pitchFamily="34" charset="-122"/>
              <a:ea typeface="微软雅黑" panose="020B0503020204020204" pitchFamily="34" charset="-122"/>
            </a:endParaRPr>
          </a:p>
        </p:txBody>
      </p:sp>
      <p:sp>
        <p:nvSpPr>
          <p:cNvPr id="51" name="箭头: 右 50">
            <a:extLst>
              <a:ext uri="{FF2B5EF4-FFF2-40B4-BE49-F238E27FC236}">
                <a16:creationId xmlns:a16="http://schemas.microsoft.com/office/drawing/2014/main" id="{988F0F74-603D-4D76-86C2-E3912FCEB536}"/>
              </a:ext>
            </a:extLst>
          </p:cNvPr>
          <p:cNvSpPr/>
          <p:nvPr/>
        </p:nvSpPr>
        <p:spPr>
          <a:xfrm>
            <a:off x="6671481" y="4802426"/>
            <a:ext cx="679238" cy="1017498"/>
          </a:xfrm>
          <a:prstGeom prst="rightArrow">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862F8E5C-C731-4427-A0A2-0F029560AD0C}"/>
              </a:ext>
            </a:extLst>
          </p:cNvPr>
          <p:cNvSpPr/>
          <p:nvPr/>
        </p:nvSpPr>
        <p:spPr>
          <a:xfrm>
            <a:off x="7472321" y="4121096"/>
            <a:ext cx="443319" cy="112946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理论意义</a:t>
            </a:r>
          </a:p>
        </p:txBody>
      </p:sp>
      <p:sp>
        <p:nvSpPr>
          <p:cNvPr id="53" name="矩形 52">
            <a:extLst>
              <a:ext uri="{FF2B5EF4-FFF2-40B4-BE49-F238E27FC236}">
                <a16:creationId xmlns:a16="http://schemas.microsoft.com/office/drawing/2014/main" id="{172BC5F6-4955-4381-A5F3-482557A2C989}"/>
              </a:ext>
            </a:extLst>
          </p:cNvPr>
          <p:cNvSpPr/>
          <p:nvPr/>
        </p:nvSpPr>
        <p:spPr>
          <a:xfrm>
            <a:off x="7472321" y="5395875"/>
            <a:ext cx="443319" cy="13234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实践意义</a:t>
            </a:r>
          </a:p>
        </p:txBody>
      </p:sp>
      <p:sp>
        <p:nvSpPr>
          <p:cNvPr id="54" name="文本框 53">
            <a:extLst>
              <a:ext uri="{FF2B5EF4-FFF2-40B4-BE49-F238E27FC236}">
                <a16:creationId xmlns:a16="http://schemas.microsoft.com/office/drawing/2014/main" id="{AE7C5004-D818-460E-BF9F-FD321E4A5DA9}"/>
              </a:ext>
            </a:extLst>
          </p:cNvPr>
          <p:cNvSpPr txBox="1"/>
          <p:nvPr/>
        </p:nvSpPr>
        <p:spPr>
          <a:xfrm>
            <a:off x="7915640" y="4147221"/>
            <a:ext cx="3664240" cy="1077218"/>
          </a:xfrm>
          <a:prstGeom prst="rect">
            <a:avLst/>
          </a:prstGeom>
          <a:noFill/>
        </p:spPr>
        <p:txBody>
          <a:bodyPr wrap="square">
            <a:spAutoFit/>
          </a:bodyPr>
          <a:lstStyle/>
          <a:p>
            <a:pPr marL="285750" indent="-285750">
              <a:buFont typeface="Wingdings" panose="05000000000000000000" pitchFamily="2" charset="2"/>
              <a:buChar char="ü"/>
            </a:pPr>
            <a:r>
              <a:rPr lang="zh-CN" altLang="en-US" sz="1600" b="1" dirty="0">
                <a:solidFill>
                  <a:srgbClr val="0F1115"/>
                </a:solidFill>
                <a:latin typeface="微软雅黑" panose="020B0503020204020204" pitchFamily="34" charset="-122"/>
                <a:ea typeface="微软雅黑" panose="020B0503020204020204" pitchFamily="34" charset="-122"/>
              </a:rPr>
              <a:t>事故场景与主导因素引入责任划分研究</a:t>
            </a:r>
            <a:endParaRPr lang="en-US" altLang="zh-CN" sz="1600" b="1" dirty="0">
              <a:solidFill>
                <a:srgbClr val="0F1115"/>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ü"/>
            </a:pPr>
            <a:r>
              <a:rPr lang="zh-CN" altLang="en-US" sz="1600" b="1" i="0" dirty="0">
                <a:solidFill>
                  <a:srgbClr val="0F1115"/>
                </a:solidFill>
                <a:effectLst/>
                <a:latin typeface="微软雅黑" panose="020B0503020204020204" pitchFamily="34" charset="-122"/>
                <a:ea typeface="微软雅黑" panose="020B0503020204020204" pitchFamily="34" charset="-122"/>
              </a:rPr>
              <a:t>揭示公众责任划分期望的情景依赖性和异质性</a:t>
            </a:r>
            <a:endParaRPr lang="en-US" altLang="zh-CN" sz="1600" b="1" i="0" dirty="0">
              <a:solidFill>
                <a:srgbClr val="0F1115"/>
              </a:solidFill>
              <a:effectLst/>
              <a:latin typeface="微软雅黑" panose="020B0503020204020204" pitchFamily="34" charset="-122"/>
              <a:ea typeface="微软雅黑" panose="020B0503020204020204" pitchFamily="34" charset="-122"/>
            </a:endParaRPr>
          </a:p>
        </p:txBody>
      </p:sp>
      <p:sp>
        <p:nvSpPr>
          <p:cNvPr id="55" name="文本框 54">
            <a:extLst>
              <a:ext uri="{FF2B5EF4-FFF2-40B4-BE49-F238E27FC236}">
                <a16:creationId xmlns:a16="http://schemas.microsoft.com/office/drawing/2014/main" id="{CA89D058-E20D-481E-9F81-4B23DBE056F9}"/>
              </a:ext>
            </a:extLst>
          </p:cNvPr>
          <p:cNvSpPr txBox="1"/>
          <p:nvPr/>
        </p:nvSpPr>
        <p:spPr>
          <a:xfrm>
            <a:off x="7915640" y="5373216"/>
            <a:ext cx="3664240" cy="1323439"/>
          </a:xfrm>
          <a:prstGeom prst="rect">
            <a:avLst/>
          </a:prstGeom>
          <a:noFill/>
        </p:spPr>
        <p:txBody>
          <a:bodyPr wrap="square">
            <a:spAutoFit/>
          </a:bodyPr>
          <a:lstStyle/>
          <a:p>
            <a:pPr marL="285750" indent="-285750">
              <a:buFont typeface="Wingdings" panose="05000000000000000000" pitchFamily="2" charset="2"/>
              <a:buChar char="ü"/>
            </a:pPr>
            <a:r>
              <a:rPr lang="zh-CN" altLang="en-US" sz="1600" b="1" dirty="0">
                <a:solidFill>
                  <a:srgbClr val="0F1115"/>
                </a:solidFill>
                <a:latin typeface="微软雅黑" panose="020B0503020204020204" pitchFamily="34" charset="-122"/>
                <a:ea typeface="微软雅黑" panose="020B0503020204020204" pitchFamily="34" charset="-122"/>
              </a:rPr>
              <a:t>为政府制定责任界定规范提供公众认知依据</a:t>
            </a:r>
            <a:endParaRPr lang="en-US" altLang="zh-CN" sz="1600" b="1" dirty="0">
              <a:solidFill>
                <a:srgbClr val="0F1115"/>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ü"/>
            </a:pPr>
            <a:r>
              <a:rPr lang="zh-CN" altLang="en-US" sz="1600" b="1" dirty="0">
                <a:solidFill>
                  <a:srgbClr val="0F1115"/>
                </a:solidFill>
                <a:latin typeface="微软雅黑" panose="020B0503020204020204" pitchFamily="34" charset="-122"/>
                <a:ea typeface="微软雅黑" panose="020B0503020204020204" pitchFamily="34" charset="-122"/>
              </a:rPr>
              <a:t>为保险机构提供差异化保险产品提供数据支撑</a:t>
            </a:r>
            <a:endParaRPr lang="en-US" altLang="zh-CN" sz="1600" b="1" dirty="0">
              <a:solidFill>
                <a:srgbClr val="0F1115"/>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ü"/>
            </a:pPr>
            <a:r>
              <a:rPr lang="zh-CN" altLang="en-US" sz="1600" b="1" dirty="0">
                <a:solidFill>
                  <a:srgbClr val="0F1115"/>
                </a:solidFill>
                <a:latin typeface="微软雅黑" panose="020B0503020204020204" pitchFamily="34" charset="-122"/>
                <a:ea typeface="微软雅黑" panose="020B0503020204020204" pitchFamily="34" charset="-122"/>
              </a:rPr>
              <a:t>促进</a:t>
            </a:r>
            <a:r>
              <a:rPr lang="en-US" altLang="zh-CN" sz="1600" b="1" dirty="0">
                <a:solidFill>
                  <a:srgbClr val="0F1115"/>
                </a:solidFill>
                <a:latin typeface="微软雅黑" panose="020B0503020204020204" pitchFamily="34" charset="-122"/>
                <a:ea typeface="微软雅黑" panose="020B0503020204020204" pitchFamily="34" charset="-122"/>
              </a:rPr>
              <a:t>AV</a:t>
            </a:r>
            <a:r>
              <a:rPr lang="zh-CN" altLang="en-US" sz="1600" b="1" dirty="0">
                <a:solidFill>
                  <a:srgbClr val="0F1115"/>
                </a:solidFill>
                <a:latin typeface="微软雅黑" panose="020B0503020204020204" pitchFamily="34" charset="-122"/>
                <a:ea typeface="微软雅黑" panose="020B0503020204020204" pitchFamily="34" charset="-122"/>
              </a:rPr>
              <a:t>行业发展，提升公众接受度</a:t>
            </a:r>
            <a:endParaRPr lang="en-US" altLang="zh-CN" sz="1600" b="1" dirty="0">
              <a:solidFill>
                <a:srgbClr val="0F1115"/>
              </a:solidFill>
              <a:latin typeface="微软雅黑" panose="020B0503020204020204" pitchFamily="34" charset="-122"/>
              <a:ea typeface="微软雅黑" panose="020B0503020204020204" pitchFamily="34" charset="-122"/>
            </a:endParaRPr>
          </a:p>
        </p:txBody>
      </p:sp>
      <p:pic>
        <p:nvPicPr>
          <p:cNvPr id="37" name="Picture 2" descr="车祸碰撞撞车图标 页面网页 平面电商 创意素材">
            <a:extLst>
              <a:ext uri="{FF2B5EF4-FFF2-40B4-BE49-F238E27FC236}">
                <a16:creationId xmlns:a16="http://schemas.microsoft.com/office/drawing/2014/main" id="{B843143A-7AEA-44FD-A026-DCEBCA2C8AE4}"/>
              </a:ext>
            </a:extLst>
          </p:cNvPr>
          <p:cNvPicPr>
            <a:picLocks noChangeAspect="1" noChangeArrowheads="1"/>
          </p:cNvPicPr>
          <p:nvPr/>
        </p:nvPicPr>
        <p:blipFill>
          <a:blip r:embed="rId5" cstate="print">
            <a:clrChange>
              <a:clrFrom>
                <a:srgbClr val="F4F4F4"/>
              </a:clrFrom>
              <a:clrTo>
                <a:srgbClr val="F4F4F4">
                  <a:alpha val="0"/>
                </a:srgbClr>
              </a:clrTo>
            </a:clrChange>
            <a:extLst>
              <a:ext uri="{28A0092B-C50C-407E-A947-70E740481C1C}">
                <a14:useLocalDpi xmlns:a14="http://schemas.microsoft.com/office/drawing/2010/main" val="0"/>
              </a:ext>
            </a:extLst>
          </a:blip>
          <a:srcRect/>
          <a:stretch>
            <a:fillRect/>
          </a:stretch>
        </p:blipFill>
        <p:spPr bwMode="auto">
          <a:xfrm>
            <a:off x="955915" y="3069559"/>
            <a:ext cx="1285531" cy="1285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892153"/>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59">
            <a:extLst>
              <a:ext uri="{FF2B5EF4-FFF2-40B4-BE49-F238E27FC236}">
                <a16:creationId xmlns:a16="http://schemas.microsoft.com/office/drawing/2014/main" id="{C2D275FB-F2F5-498A-A50F-AF3AC247C09C}"/>
              </a:ext>
            </a:extLst>
          </p:cNvPr>
          <p:cNvSpPr>
            <a:spLocks noChangeArrowheads="1"/>
          </p:cNvSpPr>
          <p:nvPr/>
        </p:nvSpPr>
        <p:spPr bwMode="auto">
          <a:xfrm>
            <a:off x="335359" y="116632"/>
            <a:ext cx="77234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创新点及研究意义</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AB1DCFC2-82A5-45E0-ADE3-CB85898CE9F7}"/>
              </a:ext>
            </a:extLst>
          </p:cNvPr>
          <p:cNvSpPr txBox="1"/>
          <p:nvPr/>
        </p:nvSpPr>
        <p:spPr>
          <a:xfrm>
            <a:off x="407368" y="2207244"/>
            <a:ext cx="7813176" cy="1156855"/>
          </a:xfrm>
          <a:prstGeom prst="rect">
            <a:avLst/>
          </a:prstGeom>
          <a:solidFill>
            <a:schemeClr val="accent1">
              <a:lumMod val="40000"/>
              <a:lumOff val="60000"/>
            </a:schemeClr>
          </a:solidFill>
          <a:ln w="12700">
            <a:solidFill>
              <a:schemeClr val="tx1"/>
            </a:solidFill>
            <a:prstDash val="dash"/>
          </a:ln>
        </p:spPr>
        <p:txBody>
          <a:bodyPr wrap="square">
            <a:spAutoFit/>
          </a:bodyPr>
          <a:lstStyle/>
          <a:p>
            <a:pPr marL="285750" indent="-285750" algn="just">
              <a:lnSpc>
                <a:spcPct val="150000"/>
              </a:lnSpc>
              <a:buFont typeface="Wingdings" panose="05000000000000000000" pitchFamily="2" charset="2"/>
              <a:buChar char="ü"/>
            </a:pPr>
            <a:r>
              <a:rPr lang="zh-CN" altLang="en-US" sz="1600" kern="100" dirty="0">
                <a:effectLst/>
                <a:latin typeface="微软雅黑" panose="020B0503020204020204" pitchFamily="34" charset="-122"/>
                <a:ea typeface="微软雅黑" panose="020B0503020204020204" pitchFamily="34" charset="-122"/>
              </a:rPr>
              <a:t>构建了</a:t>
            </a:r>
            <a:r>
              <a:rPr lang="zh-CN" altLang="zh-CN" sz="1600" kern="100" dirty="0">
                <a:effectLst/>
                <a:latin typeface="微软雅黑" panose="020B0503020204020204" pitchFamily="34" charset="-122"/>
                <a:ea typeface="微软雅黑" panose="020B0503020204020204" pitchFamily="34" charset="-122"/>
              </a:rPr>
              <a:t>人车交互、系统特性、道路条件和环境因素</a:t>
            </a:r>
            <a:r>
              <a:rPr lang="zh-CN" altLang="en-US" sz="1600" kern="100" dirty="0">
                <a:effectLst/>
                <a:latin typeface="微软雅黑" panose="020B0503020204020204" pitchFamily="34" charset="-122"/>
                <a:ea typeface="微软雅黑" panose="020B0503020204020204" pitchFamily="34" charset="-122"/>
              </a:rPr>
              <a:t>四维度事故场景画像指标体系</a:t>
            </a:r>
            <a:endParaRPr lang="en-US" altLang="zh-CN" sz="1600" kern="100" dirty="0">
              <a:effectLst/>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ü"/>
            </a:pPr>
            <a:r>
              <a:rPr lang="zh-CN" altLang="en-US" sz="1600" kern="100" dirty="0">
                <a:effectLst/>
                <a:latin typeface="微软雅黑" panose="020B0503020204020204" pitchFamily="34" charset="-122"/>
                <a:ea typeface="微软雅黑" panose="020B0503020204020204" pitchFamily="34" charset="-122"/>
              </a:rPr>
              <a:t>提出情景模拟与聚类迁移相结合的风险演化分析方法，验证高风险场景向中低风险转变的条件。</a:t>
            </a:r>
            <a:endParaRPr lang="zh-CN" altLang="zh-CN" sz="1600" kern="100" dirty="0">
              <a:effectLst/>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A39CA0E5-07A2-415C-A15D-A23CB6B86D39}"/>
              </a:ext>
            </a:extLst>
          </p:cNvPr>
          <p:cNvSpPr txBox="1"/>
          <p:nvPr/>
        </p:nvSpPr>
        <p:spPr>
          <a:xfrm>
            <a:off x="407368" y="3863688"/>
            <a:ext cx="7813176" cy="1156855"/>
          </a:xfrm>
          <a:prstGeom prst="rect">
            <a:avLst/>
          </a:prstGeom>
          <a:solidFill>
            <a:schemeClr val="accent1">
              <a:lumMod val="20000"/>
              <a:lumOff val="80000"/>
            </a:schemeClr>
          </a:solidFill>
          <a:ln w="12700">
            <a:solidFill>
              <a:schemeClr val="tx1"/>
            </a:solidFill>
            <a:prstDash val="dash"/>
          </a:ln>
        </p:spPr>
        <p:txBody>
          <a:bodyPr wrap="square">
            <a:spAutoFit/>
          </a:bodyPr>
          <a:lstStyle/>
          <a:p>
            <a:pPr marL="285750" indent="-285750" algn="just">
              <a:lnSpc>
                <a:spcPct val="150000"/>
              </a:lnSpc>
              <a:buFont typeface="Wingdings" panose="05000000000000000000" pitchFamily="2" charset="2"/>
              <a:buChar char="ü"/>
            </a:pPr>
            <a:r>
              <a:rPr lang="zh-CN" altLang="en-US" sz="1600" kern="100" dirty="0">
                <a:latin typeface="微软雅黑" panose="020B0503020204020204" pitchFamily="34" charset="-122"/>
                <a:ea typeface="微软雅黑" panose="020B0503020204020204" pitchFamily="34" charset="-122"/>
              </a:rPr>
              <a:t>引入结构因果模型，通过</a:t>
            </a:r>
            <a:r>
              <a:rPr lang="en-US" altLang="zh-CN" sz="1600" kern="100" dirty="0">
                <a:latin typeface="微软雅黑" panose="020B0503020204020204" pitchFamily="34" charset="-122"/>
                <a:ea typeface="微软雅黑" panose="020B0503020204020204" pitchFamily="34" charset="-122"/>
              </a:rPr>
              <a:t>do-</a:t>
            </a:r>
            <a:r>
              <a:rPr lang="zh-CN" altLang="en-US" sz="1600" kern="100" dirty="0">
                <a:latin typeface="微软雅黑" panose="020B0503020204020204" pitchFamily="34" charset="-122"/>
                <a:ea typeface="微软雅黑" panose="020B0503020204020204" pitchFamily="34" charset="-122"/>
              </a:rPr>
              <a:t>算子与反事实推理识别事故主导因素并量化干预效果</a:t>
            </a:r>
            <a:endParaRPr lang="en-US" altLang="zh-CN" sz="1600" kern="100"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ü"/>
            </a:pPr>
            <a:r>
              <a:rPr lang="zh-CN" altLang="en-US" sz="1600" kern="100" dirty="0">
                <a:latin typeface="微软雅黑" panose="020B0503020204020204" pitchFamily="34" charset="-122"/>
                <a:ea typeface="微软雅黑" panose="020B0503020204020204" pitchFamily="34" charset="-122"/>
              </a:rPr>
              <a:t>结合典型场景分析主导因素异质性，实现相关性分析</a:t>
            </a:r>
            <a:r>
              <a:rPr lang="en-US" altLang="zh-CN" sz="1600" kern="100" dirty="0">
                <a:latin typeface="微软雅黑" panose="020B0503020204020204" pitchFamily="34" charset="-122"/>
                <a:ea typeface="微软雅黑" panose="020B0503020204020204" pitchFamily="34" charset="-122"/>
              </a:rPr>
              <a:t>-</a:t>
            </a:r>
            <a:r>
              <a:rPr lang="zh-CN" altLang="en-US" sz="1600" kern="100" dirty="0">
                <a:latin typeface="微软雅黑" panose="020B0503020204020204" pitchFamily="34" charset="-122"/>
                <a:ea typeface="微软雅黑" panose="020B0503020204020204" pitchFamily="34" charset="-122"/>
              </a:rPr>
              <a:t>因果效应量化</a:t>
            </a:r>
            <a:r>
              <a:rPr lang="en-US" altLang="zh-CN" sz="1600" kern="100" dirty="0">
                <a:latin typeface="微软雅黑" panose="020B0503020204020204" pitchFamily="34" charset="-122"/>
                <a:ea typeface="微软雅黑" panose="020B0503020204020204" pitchFamily="34" charset="-122"/>
              </a:rPr>
              <a:t>-</a:t>
            </a:r>
            <a:r>
              <a:rPr lang="zh-CN" altLang="en-US" sz="1600" kern="100" dirty="0">
                <a:latin typeface="微软雅黑" panose="020B0503020204020204" pitchFamily="34" charset="-122"/>
                <a:ea typeface="微软雅黑" panose="020B0503020204020204" pitchFamily="34" charset="-122"/>
              </a:rPr>
              <a:t>场景差异化评估的深化。</a:t>
            </a:r>
            <a:endParaRPr lang="zh-CN" altLang="zh-CN" sz="1600" kern="100"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C4581407-4413-45D3-8290-7DA08D781E80}"/>
              </a:ext>
            </a:extLst>
          </p:cNvPr>
          <p:cNvSpPr txBox="1"/>
          <p:nvPr/>
        </p:nvSpPr>
        <p:spPr>
          <a:xfrm>
            <a:off x="407368" y="5440497"/>
            <a:ext cx="7813176" cy="1156855"/>
          </a:xfrm>
          <a:prstGeom prst="rect">
            <a:avLst/>
          </a:prstGeom>
          <a:solidFill>
            <a:schemeClr val="accent1">
              <a:lumMod val="40000"/>
              <a:lumOff val="60000"/>
            </a:schemeClr>
          </a:solidFill>
          <a:ln w="12700">
            <a:solidFill>
              <a:schemeClr val="tx1"/>
            </a:solidFill>
            <a:prstDash val="dash"/>
          </a:ln>
        </p:spPr>
        <p:txBody>
          <a:bodyPr wrap="square">
            <a:spAutoFit/>
          </a:bodyPr>
          <a:lstStyle>
            <a:defPPr>
              <a:defRPr lang="en-US"/>
            </a:defPPr>
            <a:lvl1pPr marL="285750" indent="-285750" algn="just">
              <a:lnSpc>
                <a:spcPct val="130000"/>
              </a:lnSpc>
              <a:buFont typeface="Wingdings" panose="05000000000000000000" pitchFamily="2" charset="2"/>
              <a:buChar char="Ø"/>
              <a:defRPr sz="1400" b="1">
                <a:solidFill>
                  <a:prstClr val="black"/>
                </a:solidFill>
                <a:latin typeface="微软雅黑" panose="020B0503020204020204" pitchFamily="34" charset="-122"/>
                <a:ea typeface="微软雅黑" panose="020B0503020204020204" pitchFamily="34" charset="-122"/>
              </a:defRPr>
            </a:lvl1pPr>
          </a:lstStyle>
          <a:p>
            <a:pPr>
              <a:lnSpc>
                <a:spcPct val="150000"/>
              </a:lnSpc>
              <a:buFont typeface="Wingdings" panose="05000000000000000000" pitchFamily="2" charset="2"/>
              <a:buChar char="ü"/>
            </a:pPr>
            <a:r>
              <a:rPr lang="zh-CN" altLang="en-US" sz="1600" b="0" kern="100" dirty="0">
                <a:solidFill>
                  <a:schemeClr val="tx1"/>
                </a:solidFill>
              </a:rPr>
              <a:t>现有研究多基于抽象情景、缺乏真实场景，致因因素系统考量不足，导入典型场景、主导因素构建情景，调查公众对事故相关方责任划分期望，揭示责任划分随场景与主导因素变化的系统性规律。</a:t>
            </a:r>
          </a:p>
        </p:txBody>
      </p:sp>
      <p:grpSp>
        <p:nvGrpSpPr>
          <p:cNvPr id="2" name="组合 1">
            <a:extLst>
              <a:ext uri="{FF2B5EF4-FFF2-40B4-BE49-F238E27FC236}">
                <a16:creationId xmlns:a16="http://schemas.microsoft.com/office/drawing/2014/main" id="{DF109ECD-B9A5-4698-99C4-4E785F6DE0B5}"/>
              </a:ext>
            </a:extLst>
          </p:cNvPr>
          <p:cNvGrpSpPr/>
          <p:nvPr/>
        </p:nvGrpSpPr>
        <p:grpSpPr>
          <a:xfrm>
            <a:off x="398223" y="1748354"/>
            <a:ext cx="7660541" cy="418191"/>
            <a:chOff x="1157039" y="1316306"/>
            <a:chExt cx="9082153" cy="418191"/>
          </a:xfrm>
        </p:grpSpPr>
        <p:pic>
          <p:nvPicPr>
            <p:cNvPr id="16386" name="Picture 2" descr="创新新修改图标 标识 标志 UI图标 设计图片 免费下载 页面网页 平面电商 创意素材">
              <a:extLst>
                <a:ext uri="{FF2B5EF4-FFF2-40B4-BE49-F238E27FC236}">
                  <a16:creationId xmlns:a16="http://schemas.microsoft.com/office/drawing/2014/main" id="{863995E7-A0CF-4287-B856-E6442F05C9E8}"/>
                </a:ext>
              </a:extLst>
            </p:cNvPr>
            <p:cNvPicPr>
              <a:picLocks noChangeAspect="1" noChangeArrowheads="1"/>
            </p:cNvPicPr>
            <p:nvPr/>
          </p:nvPicPr>
          <p:blipFill>
            <a:blip r:embed="rId2" cstate="print">
              <a:clrChange>
                <a:clrFrom>
                  <a:srgbClr val="F4F4F4"/>
                </a:clrFrom>
                <a:clrTo>
                  <a:srgbClr val="F4F4F4">
                    <a:alpha val="0"/>
                  </a:srgbClr>
                </a:clrTo>
              </a:clrChange>
              <a:extLst>
                <a:ext uri="{28A0092B-C50C-407E-A947-70E740481C1C}">
                  <a14:useLocalDpi xmlns:a14="http://schemas.microsoft.com/office/drawing/2010/main" val="0"/>
                </a:ext>
              </a:extLst>
            </a:blip>
            <a:srcRect/>
            <a:stretch>
              <a:fillRect/>
            </a:stretch>
          </p:blipFill>
          <p:spPr bwMode="auto">
            <a:xfrm>
              <a:off x="1157039" y="1391716"/>
              <a:ext cx="308088" cy="308088"/>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D8E9168A-E368-44FE-9880-FC2647B9C65A}"/>
                </a:ext>
              </a:extLst>
            </p:cNvPr>
            <p:cNvSpPr txBox="1"/>
            <p:nvPr/>
          </p:nvSpPr>
          <p:spPr>
            <a:xfrm>
              <a:off x="1311083" y="1316306"/>
              <a:ext cx="8928109" cy="418191"/>
            </a:xfrm>
            <a:prstGeom prst="rect">
              <a:avLst/>
            </a:prstGeom>
            <a:noFill/>
          </p:spPr>
          <p:txBody>
            <a:bodyPr wrap="square">
              <a:spAutoFit/>
            </a:bodyPr>
            <a:lstStyle/>
            <a:p>
              <a:pPr>
                <a:lnSpc>
                  <a:spcPct val="150000"/>
                </a:lnSpc>
              </a:pPr>
              <a:r>
                <a:rPr lang="zh-CN" altLang="en-US" sz="1600" b="1" dirty="0">
                  <a:solidFill>
                    <a:prstClr val="black"/>
                  </a:solidFill>
                  <a:latin typeface="微软雅黑" panose="020B0503020204020204" pitchFamily="34" charset="-122"/>
                  <a:ea typeface="微软雅黑" panose="020B0503020204020204" pitchFamily="34" charset="-122"/>
                </a:rPr>
                <a:t>（</a:t>
              </a:r>
              <a:r>
                <a:rPr lang="en-US" altLang="zh-CN" sz="1600" b="1" dirty="0">
                  <a:solidFill>
                    <a:prstClr val="black"/>
                  </a:solidFill>
                  <a:latin typeface="微软雅黑" panose="020B0503020204020204" pitchFamily="34" charset="-122"/>
                  <a:ea typeface="微软雅黑" panose="020B0503020204020204" pitchFamily="34" charset="-122"/>
                </a:rPr>
                <a:t>1</a:t>
              </a:r>
              <a:r>
                <a:rPr lang="zh-CN" altLang="en-US" sz="1600" b="1" dirty="0">
                  <a:solidFill>
                    <a:prstClr val="black"/>
                  </a:solidFill>
                  <a:latin typeface="微软雅黑" panose="020B0503020204020204" pitchFamily="34" charset="-122"/>
                  <a:ea typeface="微软雅黑" panose="020B0503020204020204" pitchFamily="34" charset="-122"/>
                </a:rPr>
                <a:t>）</a:t>
              </a:r>
              <a:r>
                <a:rPr lang="zh-CN" altLang="zh-CN" sz="1600" b="1" dirty="0">
                  <a:solidFill>
                    <a:prstClr val="black"/>
                  </a:solidFill>
                  <a:latin typeface="微软雅黑" panose="020B0503020204020204" pitchFamily="34" charset="-122"/>
                  <a:ea typeface="微软雅黑" panose="020B0503020204020204" pitchFamily="34" charset="-122"/>
                </a:rPr>
                <a:t>构建面向自动驾驶系统特性的场景画像指标体系与风险演化分析方法</a:t>
              </a:r>
              <a:endParaRPr lang="en-US" altLang="zh-CN" sz="1600" b="1" dirty="0">
                <a:solidFill>
                  <a:prstClr val="black"/>
                </a:solidFill>
                <a:latin typeface="微软雅黑" panose="020B0503020204020204" pitchFamily="34" charset="-122"/>
                <a:ea typeface="微软雅黑" panose="020B0503020204020204" pitchFamily="34" charset="-122"/>
              </a:endParaRPr>
            </a:p>
          </p:txBody>
        </p:sp>
      </p:grpSp>
      <p:grpSp>
        <p:nvGrpSpPr>
          <p:cNvPr id="6" name="组合 5">
            <a:extLst>
              <a:ext uri="{FF2B5EF4-FFF2-40B4-BE49-F238E27FC236}">
                <a16:creationId xmlns:a16="http://schemas.microsoft.com/office/drawing/2014/main" id="{5E41FEF2-D314-49A1-BA7B-ECCC3F650596}"/>
              </a:ext>
            </a:extLst>
          </p:cNvPr>
          <p:cNvGrpSpPr/>
          <p:nvPr/>
        </p:nvGrpSpPr>
        <p:grpSpPr>
          <a:xfrm>
            <a:off x="479376" y="5061242"/>
            <a:ext cx="7741168" cy="338554"/>
            <a:chOff x="1266420" y="4389828"/>
            <a:chExt cx="8281249" cy="338554"/>
          </a:xfrm>
        </p:grpSpPr>
        <p:pic>
          <p:nvPicPr>
            <p:cNvPr id="5" name="图片 4">
              <a:extLst>
                <a:ext uri="{FF2B5EF4-FFF2-40B4-BE49-F238E27FC236}">
                  <a16:creationId xmlns:a16="http://schemas.microsoft.com/office/drawing/2014/main" id="{CAFF9015-0841-4C02-ACEA-633B111C4A98}"/>
                </a:ext>
              </a:extLst>
            </p:cNvPr>
            <p:cNvPicPr>
              <a:picLocks noChangeAspect="1"/>
            </p:cNvPicPr>
            <p:nvPr/>
          </p:nvPicPr>
          <p:blipFill>
            <a:blip r:embed="rId3">
              <a:clrChange>
                <a:clrFrom>
                  <a:srgbClr val="F6F6F6"/>
                </a:clrFrom>
                <a:clrTo>
                  <a:srgbClr val="F6F6F6">
                    <a:alpha val="0"/>
                  </a:srgbClr>
                </a:clrTo>
              </a:clrChange>
            </a:blip>
            <a:stretch>
              <a:fillRect/>
            </a:stretch>
          </p:blipFill>
          <p:spPr>
            <a:xfrm>
              <a:off x="1266420" y="4445628"/>
              <a:ext cx="226955" cy="226955"/>
            </a:xfrm>
            <a:prstGeom prst="rect">
              <a:avLst/>
            </a:prstGeom>
          </p:spPr>
        </p:pic>
        <p:sp>
          <p:nvSpPr>
            <p:cNvPr id="16" name="文本框 15">
              <a:extLst>
                <a:ext uri="{FF2B5EF4-FFF2-40B4-BE49-F238E27FC236}">
                  <a16:creationId xmlns:a16="http://schemas.microsoft.com/office/drawing/2014/main" id="{D186FEB9-5E0C-4F7E-9BE6-B44F4EFDFD90}"/>
                </a:ext>
              </a:extLst>
            </p:cNvPr>
            <p:cNvSpPr txBox="1"/>
            <p:nvPr/>
          </p:nvSpPr>
          <p:spPr>
            <a:xfrm>
              <a:off x="1311083" y="4389828"/>
              <a:ext cx="8236586" cy="338554"/>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zh-CN" altLang="en-US" sz="1600" b="1" dirty="0">
                  <a:solidFill>
                    <a:prstClr val="black"/>
                  </a:solidFill>
                  <a:latin typeface="微软雅黑" panose="020B0503020204020204" pitchFamily="34" charset="-122"/>
                  <a:ea typeface="微软雅黑" panose="020B0503020204020204" pitchFamily="34" charset="-122"/>
                </a:rPr>
                <a:t>（</a:t>
              </a:r>
              <a:r>
                <a:rPr lang="en-US" altLang="zh-CN" sz="1600" b="1" dirty="0">
                  <a:solidFill>
                    <a:prstClr val="black"/>
                  </a:solidFill>
                  <a:latin typeface="微软雅黑" panose="020B0503020204020204" pitchFamily="34" charset="-122"/>
                  <a:ea typeface="微软雅黑" panose="020B0503020204020204" pitchFamily="34" charset="-122"/>
                </a:rPr>
                <a:t>3</a:t>
              </a:r>
              <a:r>
                <a:rPr lang="zh-CN" altLang="en-US" sz="1600" b="1" dirty="0">
                  <a:solidFill>
                    <a:prstClr val="black"/>
                  </a:solidFill>
                  <a:latin typeface="微软雅黑" panose="020B0503020204020204" pitchFamily="34" charset="-122"/>
                  <a:ea typeface="微软雅黑" panose="020B0503020204020204" pitchFamily="34" charset="-122"/>
                </a:rPr>
                <a:t>）构建融合典型场景与主导因素的</a:t>
              </a:r>
              <a:r>
                <a:rPr lang="en-US" altLang="zh-CN" sz="1600" b="1" dirty="0">
                  <a:solidFill>
                    <a:prstClr val="black"/>
                  </a:solidFill>
                  <a:latin typeface="微软雅黑" panose="020B0503020204020204" pitchFamily="34" charset="-122"/>
                  <a:ea typeface="微软雅黑" panose="020B0503020204020204" pitchFamily="34" charset="-122"/>
                </a:rPr>
                <a:t>AV</a:t>
              </a:r>
              <a:r>
                <a:rPr lang="zh-CN" altLang="en-US" sz="1600" b="1" dirty="0">
                  <a:solidFill>
                    <a:prstClr val="black"/>
                  </a:solidFill>
                  <a:latin typeface="微软雅黑" panose="020B0503020204020204" pitchFamily="34" charset="-122"/>
                  <a:ea typeface="微软雅黑" panose="020B0503020204020204" pitchFamily="34" charset="-122"/>
                </a:rPr>
                <a:t>事故责任划分期望调查方法</a:t>
              </a:r>
            </a:p>
          </p:txBody>
        </p:sp>
      </p:grpSp>
      <p:grpSp>
        <p:nvGrpSpPr>
          <p:cNvPr id="3" name="组合 2">
            <a:extLst>
              <a:ext uri="{FF2B5EF4-FFF2-40B4-BE49-F238E27FC236}">
                <a16:creationId xmlns:a16="http://schemas.microsoft.com/office/drawing/2014/main" id="{40571E42-2BC0-494A-B936-F5F5FD5986D4}"/>
              </a:ext>
            </a:extLst>
          </p:cNvPr>
          <p:cNvGrpSpPr/>
          <p:nvPr/>
        </p:nvGrpSpPr>
        <p:grpSpPr>
          <a:xfrm>
            <a:off x="415806" y="3404798"/>
            <a:ext cx="7531037" cy="418191"/>
            <a:chOff x="1567934" y="2853067"/>
            <a:chExt cx="8056458" cy="418191"/>
          </a:xfrm>
        </p:grpSpPr>
        <p:pic>
          <p:nvPicPr>
            <p:cNvPr id="4" name="图片 3">
              <a:extLst>
                <a:ext uri="{FF2B5EF4-FFF2-40B4-BE49-F238E27FC236}">
                  <a16:creationId xmlns:a16="http://schemas.microsoft.com/office/drawing/2014/main" id="{6D37BDAE-B0C1-4535-A45C-49676E113A45}"/>
                </a:ext>
              </a:extLst>
            </p:cNvPr>
            <p:cNvPicPr>
              <a:picLocks noChangeAspect="1"/>
            </p:cNvPicPr>
            <p:nvPr/>
          </p:nvPicPr>
          <p:blipFill>
            <a:blip r:embed="rId4">
              <a:clrChange>
                <a:clrFrom>
                  <a:srgbClr val="FFFFFF"/>
                </a:clrFrom>
                <a:clrTo>
                  <a:srgbClr val="FFFFFF">
                    <a:alpha val="0"/>
                  </a:srgbClr>
                </a:clrTo>
              </a:clrChange>
              <a:biLevel thresh="25000"/>
            </a:blip>
            <a:stretch>
              <a:fillRect/>
            </a:stretch>
          </p:blipFill>
          <p:spPr>
            <a:xfrm>
              <a:off x="1567934" y="2949277"/>
              <a:ext cx="290505" cy="290505"/>
            </a:xfrm>
            <a:prstGeom prst="rect">
              <a:avLst/>
            </a:prstGeom>
          </p:spPr>
        </p:pic>
        <p:sp>
          <p:nvSpPr>
            <p:cNvPr id="18" name="文本框 17">
              <a:extLst>
                <a:ext uri="{FF2B5EF4-FFF2-40B4-BE49-F238E27FC236}">
                  <a16:creationId xmlns:a16="http://schemas.microsoft.com/office/drawing/2014/main" id="{BD488670-2568-4371-96CF-2C562BE11077}"/>
                </a:ext>
              </a:extLst>
            </p:cNvPr>
            <p:cNvSpPr txBox="1"/>
            <p:nvPr/>
          </p:nvSpPr>
          <p:spPr>
            <a:xfrm>
              <a:off x="1687740" y="2853067"/>
              <a:ext cx="7936652" cy="418191"/>
            </a:xfrm>
            <a:prstGeom prst="rect">
              <a:avLst/>
            </a:prstGeom>
            <a:noFill/>
          </p:spPr>
          <p:txBody>
            <a:bodyPr wrap="square">
              <a:spAutoFit/>
            </a:bodyPr>
            <a:lstStyle/>
            <a:p>
              <a:pPr>
                <a:lnSpc>
                  <a:spcPct val="150000"/>
                </a:lnSpc>
              </a:pPr>
              <a:r>
                <a:rPr lang="zh-CN" altLang="en-US" sz="1600" b="1" dirty="0">
                  <a:solidFill>
                    <a:prstClr val="black"/>
                  </a:solidFill>
                  <a:latin typeface="微软雅黑" panose="020B0503020204020204" pitchFamily="34" charset="-122"/>
                  <a:ea typeface="微软雅黑" panose="020B0503020204020204" pitchFamily="34" charset="-122"/>
                </a:rPr>
                <a:t>（</a:t>
              </a:r>
              <a:r>
                <a:rPr lang="en-US" altLang="zh-CN" sz="1600" b="1" dirty="0">
                  <a:solidFill>
                    <a:prstClr val="black"/>
                  </a:solidFill>
                  <a:latin typeface="微软雅黑" panose="020B0503020204020204" pitchFamily="34" charset="-122"/>
                  <a:ea typeface="微软雅黑" panose="020B0503020204020204" pitchFamily="34" charset="-122"/>
                </a:rPr>
                <a:t>2</a:t>
              </a:r>
              <a:r>
                <a:rPr lang="zh-CN" altLang="en-US" sz="1600" b="1" dirty="0">
                  <a:solidFill>
                    <a:prstClr val="black"/>
                  </a:solidFill>
                  <a:latin typeface="微软雅黑" panose="020B0503020204020204" pitchFamily="34" charset="-122"/>
                  <a:ea typeface="微软雅黑" panose="020B0503020204020204" pitchFamily="34" charset="-122"/>
                </a:rPr>
                <a:t>）</a:t>
              </a:r>
              <a:r>
                <a:rPr lang="zh-CN" altLang="zh-CN" sz="1600" b="1" dirty="0">
                  <a:solidFill>
                    <a:prstClr val="black"/>
                  </a:solidFill>
                  <a:latin typeface="微软雅黑" panose="020B0503020204020204" pitchFamily="34" charset="-122"/>
                  <a:ea typeface="微软雅黑" panose="020B0503020204020204" pitchFamily="34" charset="-122"/>
                </a:rPr>
                <a:t>构建基于结构因果模型的事故主导因素识别与反事实干预效果量化方法</a:t>
              </a:r>
            </a:p>
          </p:txBody>
        </p:sp>
      </p:grpSp>
      <p:sp>
        <p:nvSpPr>
          <p:cNvPr id="15" name="箭头: 五边形 14">
            <a:extLst>
              <a:ext uri="{FF2B5EF4-FFF2-40B4-BE49-F238E27FC236}">
                <a16:creationId xmlns:a16="http://schemas.microsoft.com/office/drawing/2014/main" id="{9EE1F4D2-73D6-4905-8EF3-C27E828E0CCA}"/>
              </a:ext>
            </a:extLst>
          </p:cNvPr>
          <p:cNvSpPr>
            <a:spLocks/>
          </p:cNvSpPr>
          <p:nvPr/>
        </p:nvSpPr>
        <p:spPr>
          <a:xfrm>
            <a:off x="398223" y="1180164"/>
            <a:ext cx="1521314" cy="447292"/>
          </a:xfrm>
          <a:prstGeom prst="homePlate">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创新点</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7" name="箭头: 五边形 16">
            <a:extLst>
              <a:ext uri="{FF2B5EF4-FFF2-40B4-BE49-F238E27FC236}">
                <a16:creationId xmlns:a16="http://schemas.microsoft.com/office/drawing/2014/main" id="{E1A73127-6C02-476F-9557-C24DAC7490CC}"/>
              </a:ext>
            </a:extLst>
          </p:cNvPr>
          <p:cNvSpPr>
            <a:spLocks/>
          </p:cNvSpPr>
          <p:nvPr/>
        </p:nvSpPr>
        <p:spPr>
          <a:xfrm>
            <a:off x="8534784" y="1180164"/>
            <a:ext cx="1521314" cy="447292"/>
          </a:xfrm>
          <a:prstGeom prst="homePlate">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理论意义</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9" name="箭头: 五边形 18">
            <a:extLst>
              <a:ext uri="{FF2B5EF4-FFF2-40B4-BE49-F238E27FC236}">
                <a16:creationId xmlns:a16="http://schemas.microsoft.com/office/drawing/2014/main" id="{E2A2A64C-C83E-4309-AB18-24BF8F864B1A}"/>
              </a:ext>
            </a:extLst>
          </p:cNvPr>
          <p:cNvSpPr>
            <a:spLocks/>
          </p:cNvSpPr>
          <p:nvPr/>
        </p:nvSpPr>
        <p:spPr>
          <a:xfrm>
            <a:off x="8534784" y="3685887"/>
            <a:ext cx="1521314" cy="447292"/>
          </a:xfrm>
          <a:prstGeom prst="homePlate">
            <a:avLst/>
          </a:prstGeom>
          <a:solidFill>
            <a:srgbClr val="1C5393"/>
          </a:solidFill>
          <a:ln w="19050">
            <a:noFill/>
          </a:ln>
          <a:effectLst>
            <a:outerShdw blurRad="127000" algn="ctr" rotWithShape="0">
              <a:schemeClr val="tx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2400300" rtl="0" eaLnBrk="1" fontAlgn="auto" latinLnBrk="0" hangingPunct="1">
              <a:lnSpc>
                <a:spcPct val="100000"/>
              </a:lnSpc>
              <a:spcBef>
                <a:spcPct val="0"/>
              </a:spcBef>
              <a:spcAft>
                <a:spcPct val="35000"/>
              </a:spcAft>
              <a:buClrTx/>
              <a:buSzTx/>
              <a:buFontTx/>
              <a:buNone/>
              <a:tabLst/>
              <a:defRPr/>
            </a:pPr>
            <a:r>
              <a:rPr lang="zh-CN" altLang="en-US" sz="1600" b="1" dirty="0">
                <a:solidFill>
                  <a:schemeClr val="bg1"/>
                </a:solidFill>
                <a:latin typeface="微软雅黑" panose="020B0503020204020204" pitchFamily="34" charset="-122"/>
                <a:ea typeface="微软雅黑" panose="020B0503020204020204" pitchFamily="34" charset="-122"/>
              </a:rPr>
              <a:t>现实意义</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2B5E081C-123E-418B-BF01-4C1FAF91264B}"/>
              </a:ext>
            </a:extLst>
          </p:cNvPr>
          <p:cNvSpPr txBox="1"/>
          <p:nvPr/>
        </p:nvSpPr>
        <p:spPr>
          <a:xfrm>
            <a:off x="8509768" y="1700808"/>
            <a:ext cx="3562896" cy="1864293"/>
          </a:xfrm>
          <a:prstGeom prst="rect">
            <a:avLst/>
          </a:prstGeom>
          <a:noFill/>
        </p:spPr>
        <p:txBody>
          <a:bodyPr wrap="square">
            <a:spAutoFit/>
          </a:bodyPr>
          <a:lstStyle/>
          <a:p>
            <a:pPr marL="285750" indent="-285750">
              <a:lnSpc>
                <a:spcPct val="130000"/>
              </a:lnSpc>
              <a:buFont typeface="Wingdings" panose="05000000000000000000" pitchFamily="2" charset="2"/>
              <a:buChar char="ü"/>
            </a:pPr>
            <a:r>
              <a:rPr lang="zh-CN" altLang="en-US" b="1" i="0" dirty="0">
                <a:solidFill>
                  <a:srgbClr val="0F1115"/>
                </a:solidFill>
                <a:effectLst/>
                <a:latin typeface="quote-cjk-patch"/>
              </a:rPr>
              <a:t>实现从静态场景识别到动态风险演化的方法突破</a:t>
            </a:r>
            <a:endParaRPr lang="en-US" altLang="zh-CN" b="1" i="0" dirty="0">
              <a:solidFill>
                <a:srgbClr val="0F1115"/>
              </a:solidFill>
              <a:effectLst/>
              <a:latin typeface="quote-cjk-patch"/>
            </a:endParaRPr>
          </a:p>
          <a:p>
            <a:pPr marL="285750" indent="-285750">
              <a:lnSpc>
                <a:spcPct val="130000"/>
              </a:lnSpc>
              <a:buFont typeface="Wingdings" panose="05000000000000000000" pitchFamily="2" charset="2"/>
              <a:buChar char="ü"/>
            </a:pPr>
            <a:r>
              <a:rPr lang="zh-CN" altLang="en-US" b="1" i="0" dirty="0">
                <a:solidFill>
                  <a:srgbClr val="0F1115"/>
                </a:solidFill>
                <a:effectLst/>
                <a:latin typeface="quote-cjk-patch"/>
              </a:rPr>
              <a:t>实现从相关性分析到因果效应量化的研究深化</a:t>
            </a:r>
            <a:endParaRPr lang="en-US" altLang="zh-CN" b="1" dirty="0">
              <a:solidFill>
                <a:srgbClr val="0F1115"/>
              </a:solidFill>
              <a:latin typeface="quote-cjk-patch"/>
            </a:endParaRPr>
          </a:p>
          <a:p>
            <a:pPr marL="285750" indent="-285750">
              <a:lnSpc>
                <a:spcPct val="130000"/>
              </a:lnSpc>
              <a:buFont typeface="Wingdings" panose="05000000000000000000" pitchFamily="2" charset="2"/>
              <a:buChar char="ü"/>
            </a:pPr>
            <a:r>
              <a:rPr lang="zh-CN" altLang="en-US" b="1" i="0" dirty="0">
                <a:solidFill>
                  <a:srgbClr val="0F1115"/>
                </a:solidFill>
                <a:effectLst/>
                <a:latin typeface="quote-cjk-patch"/>
              </a:rPr>
              <a:t>拓展交通事故归责研究</a:t>
            </a:r>
            <a:r>
              <a:rPr lang="zh-CN" altLang="en-US" b="1" dirty="0">
                <a:solidFill>
                  <a:srgbClr val="0F1115"/>
                </a:solidFill>
                <a:latin typeface="quote-cjk-patch"/>
              </a:rPr>
              <a:t>视野</a:t>
            </a:r>
            <a:endParaRPr lang="zh-CN" altLang="en-US" dirty="0"/>
          </a:p>
        </p:txBody>
      </p:sp>
      <p:sp>
        <p:nvSpPr>
          <p:cNvPr id="21" name="文本框 20">
            <a:extLst>
              <a:ext uri="{FF2B5EF4-FFF2-40B4-BE49-F238E27FC236}">
                <a16:creationId xmlns:a16="http://schemas.microsoft.com/office/drawing/2014/main" id="{AC9B9108-D33D-4749-9282-CE4F8CD1DC3E}"/>
              </a:ext>
            </a:extLst>
          </p:cNvPr>
          <p:cNvSpPr txBox="1"/>
          <p:nvPr/>
        </p:nvSpPr>
        <p:spPr>
          <a:xfrm>
            <a:off x="8509768" y="4293096"/>
            <a:ext cx="3562896" cy="2224391"/>
          </a:xfrm>
          <a:prstGeom prst="rect">
            <a:avLst/>
          </a:prstGeom>
          <a:noFill/>
        </p:spPr>
        <p:txBody>
          <a:bodyPr wrap="square">
            <a:spAutoFit/>
          </a:bodyPr>
          <a:lstStyle/>
          <a:p>
            <a:pPr marL="285750" indent="-285750">
              <a:lnSpc>
                <a:spcPct val="130000"/>
              </a:lnSpc>
              <a:buFont typeface="Wingdings" panose="05000000000000000000" pitchFamily="2" charset="2"/>
              <a:buChar char="ü"/>
            </a:pPr>
            <a:r>
              <a:rPr lang="zh-CN" altLang="en-US" b="1" i="0" dirty="0">
                <a:solidFill>
                  <a:srgbClr val="0F1115"/>
                </a:solidFill>
                <a:effectLst/>
                <a:latin typeface="quote-cjk-patch"/>
              </a:rPr>
              <a:t>为政府部门制定安全干预策略与责任界定规范提供实证支撑</a:t>
            </a:r>
            <a:endParaRPr lang="en-US" altLang="zh-CN" b="1" i="0" dirty="0">
              <a:solidFill>
                <a:srgbClr val="0F1115"/>
              </a:solidFill>
              <a:effectLst/>
              <a:latin typeface="quote-cjk-patch"/>
            </a:endParaRPr>
          </a:p>
          <a:p>
            <a:pPr marL="285750" indent="-285750">
              <a:lnSpc>
                <a:spcPct val="130000"/>
              </a:lnSpc>
              <a:buFont typeface="Wingdings" panose="05000000000000000000" pitchFamily="2" charset="2"/>
              <a:buChar char="ü"/>
            </a:pPr>
            <a:r>
              <a:rPr lang="zh-CN" altLang="en-US" b="1" i="0" dirty="0">
                <a:solidFill>
                  <a:srgbClr val="0F1115"/>
                </a:solidFill>
                <a:effectLst/>
                <a:latin typeface="quote-cjk-patch"/>
              </a:rPr>
              <a:t>为自动驾驶车辆制造商优化系统设计提供数据依据</a:t>
            </a:r>
            <a:endParaRPr lang="en-US" altLang="zh-CN" b="1" i="0" dirty="0">
              <a:solidFill>
                <a:srgbClr val="0F1115"/>
              </a:solidFill>
              <a:effectLst/>
              <a:latin typeface="quote-cjk-patch"/>
            </a:endParaRPr>
          </a:p>
          <a:p>
            <a:pPr marL="285750" indent="-285750">
              <a:lnSpc>
                <a:spcPct val="130000"/>
              </a:lnSpc>
              <a:buFont typeface="Wingdings" panose="05000000000000000000" pitchFamily="2" charset="2"/>
              <a:buChar char="ü"/>
            </a:pPr>
            <a:r>
              <a:rPr lang="zh-CN" altLang="en-US" b="1" i="0" dirty="0">
                <a:solidFill>
                  <a:srgbClr val="0F1115"/>
                </a:solidFill>
                <a:effectLst/>
                <a:latin typeface="quote-cjk-patch"/>
              </a:rPr>
              <a:t>为保险机构设计差异化保险产品提供参考</a:t>
            </a:r>
            <a:endParaRPr lang="zh-CN" altLang="en-US" dirty="0"/>
          </a:p>
        </p:txBody>
      </p:sp>
    </p:spTree>
    <p:extLst>
      <p:ext uri="{BB962C8B-B14F-4D97-AF65-F5344CB8AC3E}">
        <p14:creationId xmlns:p14="http://schemas.microsoft.com/office/powerpoint/2010/main" val="1170931315"/>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59">
            <a:extLst>
              <a:ext uri="{FF2B5EF4-FFF2-40B4-BE49-F238E27FC236}">
                <a16:creationId xmlns:a16="http://schemas.microsoft.com/office/drawing/2014/main" id="{C2D275FB-F2F5-498A-A50F-AF3AC247C09C}"/>
              </a:ext>
            </a:extLst>
          </p:cNvPr>
          <p:cNvSpPr>
            <a:spLocks noChangeArrowheads="1"/>
          </p:cNvSpPr>
          <p:nvPr/>
        </p:nvSpPr>
        <p:spPr bwMode="auto">
          <a:xfrm>
            <a:off x="335359" y="116632"/>
            <a:ext cx="77234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研究进展及可行性分析</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37" name="箭头: 五边形 36">
            <a:extLst>
              <a:ext uri="{FF2B5EF4-FFF2-40B4-BE49-F238E27FC236}">
                <a16:creationId xmlns:a16="http://schemas.microsoft.com/office/drawing/2014/main" id="{ACDD84A6-8791-4B97-959A-6DA90FF19DBB}"/>
              </a:ext>
            </a:extLst>
          </p:cNvPr>
          <p:cNvSpPr/>
          <p:nvPr/>
        </p:nvSpPr>
        <p:spPr>
          <a:xfrm>
            <a:off x="905552" y="1124744"/>
            <a:ext cx="2081871" cy="40011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研究进展</a:t>
            </a:r>
          </a:p>
        </p:txBody>
      </p:sp>
      <p:sp>
        <p:nvSpPr>
          <p:cNvPr id="38" name="箭头: 五边形 37">
            <a:extLst>
              <a:ext uri="{FF2B5EF4-FFF2-40B4-BE49-F238E27FC236}">
                <a16:creationId xmlns:a16="http://schemas.microsoft.com/office/drawing/2014/main" id="{0D3C897E-1840-4903-8555-BDC263BD5DAC}"/>
              </a:ext>
            </a:extLst>
          </p:cNvPr>
          <p:cNvSpPr/>
          <p:nvPr/>
        </p:nvSpPr>
        <p:spPr>
          <a:xfrm>
            <a:off x="6234143" y="1124744"/>
            <a:ext cx="2081871" cy="40011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数据资料</a:t>
            </a:r>
          </a:p>
        </p:txBody>
      </p:sp>
      <p:sp>
        <p:nvSpPr>
          <p:cNvPr id="39" name="箭头: 五边形 38">
            <a:extLst>
              <a:ext uri="{FF2B5EF4-FFF2-40B4-BE49-F238E27FC236}">
                <a16:creationId xmlns:a16="http://schemas.microsoft.com/office/drawing/2014/main" id="{20D600FC-11CC-4801-8A88-C0F9A5DA84D9}"/>
              </a:ext>
            </a:extLst>
          </p:cNvPr>
          <p:cNvSpPr/>
          <p:nvPr/>
        </p:nvSpPr>
        <p:spPr>
          <a:xfrm>
            <a:off x="905552" y="3813014"/>
            <a:ext cx="2081870" cy="40011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项目支撑</a:t>
            </a:r>
          </a:p>
        </p:txBody>
      </p:sp>
      <p:sp>
        <p:nvSpPr>
          <p:cNvPr id="40" name="箭头: 五边形 39">
            <a:extLst>
              <a:ext uri="{FF2B5EF4-FFF2-40B4-BE49-F238E27FC236}">
                <a16:creationId xmlns:a16="http://schemas.microsoft.com/office/drawing/2014/main" id="{DA18F237-96A0-4543-B2AF-CE1E6E3D2690}"/>
              </a:ext>
            </a:extLst>
          </p:cNvPr>
          <p:cNvSpPr/>
          <p:nvPr/>
        </p:nvSpPr>
        <p:spPr>
          <a:xfrm>
            <a:off x="6234143" y="3813014"/>
            <a:ext cx="2081870" cy="40011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团队支撑</a:t>
            </a:r>
          </a:p>
        </p:txBody>
      </p:sp>
      <p:sp>
        <p:nvSpPr>
          <p:cNvPr id="2" name="矩形: 圆角 1">
            <a:extLst>
              <a:ext uri="{FF2B5EF4-FFF2-40B4-BE49-F238E27FC236}">
                <a16:creationId xmlns:a16="http://schemas.microsoft.com/office/drawing/2014/main" id="{9A23F977-A4C8-4E56-85DE-1240BC5E87B4}"/>
              </a:ext>
            </a:extLst>
          </p:cNvPr>
          <p:cNvSpPr/>
          <p:nvPr/>
        </p:nvSpPr>
        <p:spPr>
          <a:xfrm>
            <a:off x="905552" y="1757468"/>
            <a:ext cx="4392488" cy="1822932"/>
          </a:xfrm>
          <a:prstGeom prst="roundRect">
            <a:avLst/>
          </a:prstGeom>
          <a:solidFill>
            <a:srgbClr val="BDD7EE"/>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54837A40-6E8F-44FE-B151-6AE6C949CF08}"/>
              </a:ext>
            </a:extLst>
          </p:cNvPr>
          <p:cNvSpPr txBox="1"/>
          <p:nvPr/>
        </p:nvSpPr>
        <p:spPr>
          <a:xfrm>
            <a:off x="905552" y="1833748"/>
            <a:ext cx="4392488" cy="1526187"/>
          </a:xfrm>
          <a:prstGeom prst="rect">
            <a:avLst/>
          </a:prstGeom>
          <a:noFill/>
          <a:ln w="12700">
            <a:noFill/>
            <a:prstDash val="dash"/>
          </a:ln>
        </p:spPr>
        <p:txBody>
          <a:bodyPr wrap="square">
            <a:spAutoFit/>
          </a:bodyPr>
          <a:lstStyle/>
          <a:p>
            <a:pPr algn="just">
              <a:lnSpc>
                <a:spcPct val="150000"/>
              </a:lnSpc>
            </a:pPr>
            <a:r>
              <a:rPr lang="zh-CN" altLang="en-US" sz="1600" b="1" kern="100" dirty="0">
                <a:effectLst/>
                <a:latin typeface="微软雅黑" panose="020B0503020204020204" pitchFamily="34" charset="-122"/>
                <a:ea typeface="微软雅黑" panose="020B0503020204020204" pitchFamily="34" charset="-122"/>
              </a:rPr>
              <a:t>数据预处理与基本特征分析：</a:t>
            </a:r>
            <a:r>
              <a:rPr lang="zh-CN" altLang="en-US" sz="1600" kern="100" dirty="0">
                <a:effectLst/>
                <a:latin typeface="微软雅黑" panose="020B0503020204020204" pitchFamily="34" charset="-122"/>
                <a:ea typeface="微软雅黑" panose="020B0503020204020204" pitchFamily="34" charset="-122"/>
              </a:rPr>
              <a:t>基本完成</a:t>
            </a:r>
            <a:endParaRPr lang="en-US" altLang="zh-CN" sz="1600" kern="100" dirty="0">
              <a:effectLst/>
              <a:latin typeface="微软雅黑" panose="020B0503020204020204" pitchFamily="34" charset="-122"/>
              <a:ea typeface="微软雅黑" panose="020B0503020204020204" pitchFamily="34" charset="-122"/>
            </a:endParaRPr>
          </a:p>
          <a:p>
            <a:pPr algn="just">
              <a:lnSpc>
                <a:spcPct val="150000"/>
              </a:lnSpc>
            </a:pPr>
            <a:r>
              <a:rPr lang="zh-CN" altLang="en-US" sz="1600" b="1" kern="100" dirty="0">
                <a:latin typeface="微软雅黑" panose="020B0503020204020204" pitchFamily="34" charset="-122"/>
                <a:ea typeface="微软雅黑" panose="020B0503020204020204" pitchFamily="34" charset="-122"/>
              </a:rPr>
              <a:t>典型场景识别与特征分析：</a:t>
            </a:r>
            <a:r>
              <a:rPr lang="zh-CN" altLang="en-US" sz="1600" kern="100" dirty="0">
                <a:latin typeface="微软雅黑" panose="020B0503020204020204" pitchFamily="34" charset="-122"/>
                <a:ea typeface="微软雅黑" panose="020B0503020204020204" pitchFamily="34" charset="-122"/>
              </a:rPr>
              <a:t>基本完成</a:t>
            </a:r>
            <a:endParaRPr lang="en-US" altLang="zh-CN" sz="1600" kern="100" dirty="0">
              <a:latin typeface="微软雅黑" panose="020B0503020204020204" pitchFamily="34" charset="-122"/>
              <a:ea typeface="微软雅黑" panose="020B0503020204020204" pitchFamily="34" charset="-122"/>
            </a:endParaRPr>
          </a:p>
          <a:p>
            <a:pPr algn="just">
              <a:lnSpc>
                <a:spcPct val="150000"/>
              </a:lnSpc>
            </a:pPr>
            <a:r>
              <a:rPr lang="zh-CN" altLang="en-US" sz="1600" b="1" kern="100" dirty="0">
                <a:latin typeface="微软雅黑" panose="020B0503020204020204" pitchFamily="34" charset="-122"/>
                <a:ea typeface="微软雅黑" panose="020B0503020204020204" pitchFamily="34" charset="-122"/>
              </a:rPr>
              <a:t>因果推断与反事实干预分析：</a:t>
            </a:r>
            <a:r>
              <a:rPr lang="zh-CN" altLang="en-US" sz="1600" kern="100" dirty="0">
                <a:latin typeface="微软雅黑" panose="020B0503020204020204" pitchFamily="34" charset="-122"/>
                <a:ea typeface="微软雅黑" panose="020B0503020204020204" pitchFamily="34" charset="-122"/>
              </a:rPr>
              <a:t>待推进</a:t>
            </a:r>
            <a:endParaRPr lang="en-US" altLang="zh-CN" sz="1600" kern="100" dirty="0">
              <a:latin typeface="微软雅黑" panose="020B0503020204020204" pitchFamily="34" charset="-122"/>
              <a:ea typeface="微软雅黑" panose="020B0503020204020204" pitchFamily="34" charset="-122"/>
            </a:endParaRPr>
          </a:p>
          <a:p>
            <a:pPr algn="just">
              <a:lnSpc>
                <a:spcPct val="150000"/>
              </a:lnSpc>
            </a:pPr>
            <a:r>
              <a:rPr lang="zh-CN" altLang="en-US" sz="1600" b="1" kern="100" dirty="0">
                <a:effectLst/>
                <a:latin typeface="微软雅黑" panose="020B0503020204020204" pitchFamily="34" charset="-122"/>
                <a:ea typeface="微软雅黑" panose="020B0503020204020204" pitchFamily="34" charset="-122"/>
              </a:rPr>
              <a:t>公众事故责任划分期望调查分析：</a:t>
            </a:r>
            <a:r>
              <a:rPr lang="zh-CN" altLang="en-US" sz="1600" kern="100" dirty="0">
                <a:effectLst/>
                <a:latin typeface="微软雅黑" panose="020B0503020204020204" pitchFamily="34" charset="-122"/>
                <a:ea typeface="微软雅黑" panose="020B0503020204020204" pitchFamily="34" charset="-122"/>
              </a:rPr>
              <a:t>问卷收集中</a:t>
            </a:r>
            <a:endParaRPr lang="en-US" altLang="zh-CN" sz="1600" kern="100" dirty="0">
              <a:effectLst/>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513C3C97-60CE-4EB2-BF64-0CC0EAD448B7}"/>
              </a:ext>
            </a:extLst>
          </p:cNvPr>
          <p:cNvSpPr/>
          <p:nvPr/>
        </p:nvSpPr>
        <p:spPr>
          <a:xfrm>
            <a:off x="6234143" y="1757468"/>
            <a:ext cx="4392000" cy="1822932"/>
          </a:xfrm>
          <a:prstGeom prst="roundRect">
            <a:avLst/>
          </a:prstGeom>
          <a:solidFill>
            <a:schemeClr val="accent6">
              <a:lumMod val="20000"/>
              <a:lumOff val="8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圆角 14">
            <a:extLst>
              <a:ext uri="{FF2B5EF4-FFF2-40B4-BE49-F238E27FC236}">
                <a16:creationId xmlns:a16="http://schemas.microsoft.com/office/drawing/2014/main" id="{F5EC313E-D28B-47FF-AB22-3AFB4AE43B81}"/>
              </a:ext>
            </a:extLst>
          </p:cNvPr>
          <p:cNvSpPr/>
          <p:nvPr/>
        </p:nvSpPr>
        <p:spPr>
          <a:xfrm>
            <a:off x="905552" y="4445739"/>
            <a:ext cx="4392488" cy="1822932"/>
          </a:xfrm>
          <a:prstGeom prst="roundRect">
            <a:avLst/>
          </a:prstGeom>
          <a:solidFill>
            <a:schemeClr val="accent2">
              <a:lumMod val="20000"/>
              <a:lumOff val="8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圆角 16">
            <a:extLst>
              <a:ext uri="{FF2B5EF4-FFF2-40B4-BE49-F238E27FC236}">
                <a16:creationId xmlns:a16="http://schemas.microsoft.com/office/drawing/2014/main" id="{E2FA1B94-B589-4663-82A3-F068C9A6140D}"/>
              </a:ext>
            </a:extLst>
          </p:cNvPr>
          <p:cNvSpPr/>
          <p:nvPr/>
        </p:nvSpPr>
        <p:spPr>
          <a:xfrm>
            <a:off x="6234143" y="4445739"/>
            <a:ext cx="4392488" cy="1822932"/>
          </a:xfrm>
          <a:prstGeom prst="roundRect">
            <a:avLst/>
          </a:prstGeom>
          <a:solidFill>
            <a:schemeClr val="accent4">
              <a:lumMod val="20000"/>
              <a:lumOff val="8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文本框 19">
            <a:extLst>
              <a:ext uri="{FF2B5EF4-FFF2-40B4-BE49-F238E27FC236}">
                <a16:creationId xmlns:a16="http://schemas.microsoft.com/office/drawing/2014/main" id="{657B65C5-827D-4287-91BB-E49781B330A5}"/>
              </a:ext>
            </a:extLst>
          </p:cNvPr>
          <p:cNvSpPr txBox="1"/>
          <p:nvPr/>
        </p:nvSpPr>
        <p:spPr>
          <a:xfrm>
            <a:off x="6234143" y="1735049"/>
            <a:ext cx="4398361" cy="1899623"/>
          </a:xfrm>
          <a:prstGeom prst="rect">
            <a:avLst/>
          </a:prstGeom>
          <a:noFill/>
        </p:spPr>
        <p:txBody>
          <a:bodyPr wrap="square">
            <a:spAutoFit/>
          </a:bodyPr>
          <a:lstStyle/>
          <a:p>
            <a:pPr indent="267970" algn="just">
              <a:lnSpc>
                <a:spcPct val="150000"/>
              </a:lnSpc>
            </a:pPr>
            <a:r>
              <a:rPr lang="zh-CN" altLang="en-US" sz="1600" b="1" kern="100" dirty="0">
                <a:effectLst/>
                <a:latin typeface="微软雅黑" panose="020B0503020204020204" pitchFamily="34" charset="-122"/>
                <a:ea typeface="微软雅黑" panose="020B0503020204020204" pitchFamily="34" charset="-122"/>
              </a:rPr>
              <a:t>（</a:t>
            </a:r>
            <a:r>
              <a:rPr lang="en-US" altLang="zh-CN" sz="1600" b="1" kern="100" dirty="0">
                <a:effectLst/>
                <a:latin typeface="微软雅黑" panose="020B0503020204020204" pitchFamily="34" charset="-122"/>
                <a:ea typeface="微软雅黑" panose="020B0503020204020204" pitchFamily="34" charset="-122"/>
              </a:rPr>
              <a:t>1</a:t>
            </a:r>
            <a:r>
              <a:rPr lang="zh-CN" altLang="en-US" sz="1600" b="1" kern="100" dirty="0">
                <a:effectLst/>
                <a:latin typeface="微软雅黑" panose="020B0503020204020204" pitchFamily="34" charset="-122"/>
                <a:ea typeface="微软雅黑" panose="020B0503020204020204" pitchFamily="34" charset="-122"/>
              </a:rPr>
              <a:t>）自动驾驶事故数据</a:t>
            </a:r>
            <a:endParaRPr lang="en-US" altLang="zh-CN" sz="1600" b="1" kern="100" dirty="0">
              <a:effectLst/>
              <a:latin typeface="微软雅黑" panose="020B0503020204020204" pitchFamily="34" charset="-122"/>
              <a:ea typeface="微软雅黑" panose="020B0503020204020204" pitchFamily="34" charset="-122"/>
            </a:endParaRPr>
          </a:p>
          <a:p>
            <a:pPr indent="267970" algn="just">
              <a:lnSpc>
                <a:spcPct val="150000"/>
              </a:lnSpc>
            </a:pPr>
            <a:r>
              <a:rPr lang="en-US" altLang="zh-CN" sz="1600" kern="100" dirty="0">
                <a:latin typeface="微软雅黑" panose="020B0503020204020204" pitchFamily="34" charset="-122"/>
                <a:ea typeface="微软雅黑" panose="020B0503020204020204" pitchFamily="34" charset="-122"/>
              </a:rPr>
              <a:t>DMV</a:t>
            </a:r>
            <a:r>
              <a:rPr lang="zh-CN" altLang="en-US" sz="1600" kern="100" dirty="0">
                <a:latin typeface="微软雅黑" panose="020B0503020204020204" pitchFamily="34" charset="-122"/>
                <a:ea typeface="微软雅黑" panose="020B0503020204020204" pitchFamily="34" charset="-122"/>
              </a:rPr>
              <a:t>和</a:t>
            </a:r>
            <a:r>
              <a:rPr lang="en-US" altLang="zh-CN" sz="1600" kern="100" dirty="0">
                <a:latin typeface="微软雅黑" panose="020B0503020204020204" pitchFamily="34" charset="-122"/>
                <a:ea typeface="微软雅黑" panose="020B0503020204020204" pitchFamily="34" charset="-122"/>
              </a:rPr>
              <a:t>NHTSA</a:t>
            </a:r>
            <a:r>
              <a:rPr lang="zh-CN" altLang="zh-CN" sz="1600" kern="100" dirty="0">
                <a:latin typeface="微软雅黑" panose="020B0503020204020204" pitchFamily="34" charset="-122"/>
                <a:ea typeface="微软雅黑" panose="020B0503020204020204" pitchFamily="34" charset="-122"/>
              </a:rPr>
              <a:t>公开发布的事故数据报告</a:t>
            </a:r>
            <a:r>
              <a:rPr lang="zh-CN" altLang="en-US" sz="1600" kern="100" dirty="0">
                <a:latin typeface="微软雅黑" panose="020B0503020204020204" pitchFamily="34" charset="-122"/>
                <a:ea typeface="微软雅黑" panose="020B0503020204020204" pitchFamily="34" charset="-122"/>
              </a:rPr>
              <a:t>，基本处理完成，持续补充中</a:t>
            </a:r>
            <a:r>
              <a:rPr lang="zh-CN" altLang="zh-CN" sz="1600" kern="100" dirty="0">
                <a:latin typeface="微软雅黑" panose="020B0503020204020204" pitchFamily="34" charset="-122"/>
                <a:ea typeface="微软雅黑" panose="020B0503020204020204" pitchFamily="34" charset="-122"/>
              </a:rPr>
              <a:t>。</a:t>
            </a:r>
            <a:endParaRPr lang="en-US" altLang="zh-CN" sz="1600" kern="100" dirty="0">
              <a:latin typeface="微软雅黑" panose="020B0503020204020204" pitchFamily="34" charset="-122"/>
              <a:ea typeface="微软雅黑" panose="020B0503020204020204" pitchFamily="34" charset="-122"/>
            </a:endParaRPr>
          </a:p>
          <a:p>
            <a:pPr indent="267970" algn="just">
              <a:lnSpc>
                <a:spcPct val="150000"/>
              </a:lnSpc>
            </a:pPr>
            <a:r>
              <a:rPr lang="zh-CN" altLang="en-US" sz="1600" b="1" kern="100" dirty="0">
                <a:latin typeface="微软雅黑" panose="020B0503020204020204" pitchFamily="34" charset="-122"/>
                <a:ea typeface="微软雅黑" panose="020B0503020204020204" pitchFamily="34" charset="-122"/>
              </a:rPr>
              <a:t>（</a:t>
            </a:r>
            <a:r>
              <a:rPr lang="en-US" altLang="zh-CN" sz="1600" b="1" kern="100" dirty="0">
                <a:latin typeface="微软雅黑" panose="020B0503020204020204" pitchFamily="34" charset="-122"/>
                <a:ea typeface="微软雅黑" panose="020B0503020204020204" pitchFamily="34" charset="-122"/>
              </a:rPr>
              <a:t>2</a:t>
            </a:r>
            <a:r>
              <a:rPr lang="zh-CN" altLang="en-US" sz="1600" b="1" kern="100" dirty="0">
                <a:latin typeface="微软雅黑" panose="020B0503020204020204" pitchFamily="34" charset="-122"/>
                <a:ea typeface="微软雅黑" panose="020B0503020204020204" pitchFamily="34" charset="-122"/>
              </a:rPr>
              <a:t>）问卷数据</a:t>
            </a:r>
            <a:endParaRPr lang="en-US" altLang="zh-CN" sz="1600" b="1" kern="100" dirty="0">
              <a:latin typeface="微软雅黑" panose="020B0503020204020204" pitchFamily="34" charset="-122"/>
              <a:ea typeface="微软雅黑" panose="020B0503020204020204" pitchFamily="34" charset="-122"/>
            </a:endParaRPr>
          </a:p>
          <a:p>
            <a:pPr indent="267970" algn="just">
              <a:lnSpc>
                <a:spcPct val="150000"/>
              </a:lnSpc>
            </a:pPr>
            <a:r>
              <a:rPr lang="zh-CN" altLang="en-US" sz="1600" kern="100" dirty="0">
                <a:latin typeface="微软雅黑" panose="020B0503020204020204" pitchFamily="34" charset="-122"/>
                <a:ea typeface="微软雅黑" panose="020B0503020204020204" pitchFamily="34" charset="-122"/>
              </a:rPr>
              <a:t>正在收集中，目前</a:t>
            </a:r>
            <a:r>
              <a:rPr lang="en-US" altLang="zh-CN" sz="1600" kern="100" dirty="0">
                <a:latin typeface="微软雅黑" panose="020B0503020204020204" pitchFamily="34" charset="-122"/>
                <a:ea typeface="微软雅黑" panose="020B0503020204020204" pitchFamily="34" charset="-122"/>
              </a:rPr>
              <a:t>300+</a:t>
            </a:r>
            <a:r>
              <a:rPr lang="zh-CN" altLang="en-US" sz="1600" kern="100" dirty="0">
                <a:latin typeface="微软雅黑" panose="020B0503020204020204" pitchFamily="34" charset="-122"/>
                <a:ea typeface="微软雅黑" panose="020B0503020204020204" pitchFamily="34" charset="-122"/>
              </a:rPr>
              <a:t>份。</a:t>
            </a:r>
            <a:endParaRPr lang="zh-CN" altLang="en-US" dirty="0"/>
          </a:p>
        </p:txBody>
      </p:sp>
      <p:sp>
        <p:nvSpPr>
          <p:cNvPr id="21" name="文本框 20">
            <a:extLst>
              <a:ext uri="{FF2B5EF4-FFF2-40B4-BE49-F238E27FC236}">
                <a16:creationId xmlns:a16="http://schemas.microsoft.com/office/drawing/2014/main" id="{413C922B-984D-4EC1-88BF-EB25CD0EE58D}"/>
              </a:ext>
            </a:extLst>
          </p:cNvPr>
          <p:cNvSpPr txBox="1"/>
          <p:nvPr/>
        </p:nvSpPr>
        <p:spPr>
          <a:xfrm>
            <a:off x="977560" y="4690757"/>
            <a:ext cx="4254344" cy="1156855"/>
          </a:xfrm>
          <a:prstGeom prst="rect">
            <a:avLst/>
          </a:prstGeom>
          <a:noFill/>
          <a:ln w="12700">
            <a:noFill/>
            <a:prstDash val="dash"/>
          </a:ln>
        </p:spPr>
        <p:txBody>
          <a:bodyPr wrap="square">
            <a:spAutoFit/>
          </a:bodyPr>
          <a:lstStyle/>
          <a:p>
            <a:pPr indent="266700" algn="just">
              <a:lnSpc>
                <a:spcPct val="150000"/>
              </a:lnSpc>
            </a:pPr>
            <a:r>
              <a:rPr lang="zh-CN" altLang="zh-CN" sz="1600" b="1" kern="100" dirty="0">
                <a:latin typeface="微软雅黑" panose="020B0503020204020204" pitchFamily="34" charset="-122"/>
                <a:ea typeface="微软雅黑" panose="020B0503020204020204" pitchFamily="34" charset="-122"/>
              </a:rPr>
              <a:t>国家自然科学基金“面上”</a:t>
            </a:r>
            <a:r>
              <a:rPr lang="en-US" altLang="zh-CN" sz="1600" kern="100" dirty="0">
                <a:latin typeface="微软雅黑" panose="020B0503020204020204" pitchFamily="34" charset="-122"/>
                <a:ea typeface="微软雅黑" panose="020B0503020204020204" pitchFamily="34" charset="-122"/>
              </a:rPr>
              <a:t>: </a:t>
            </a:r>
            <a:r>
              <a:rPr lang="zh-CN" altLang="zh-CN" sz="1600" kern="100" dirty="0">
                <a:latin typeface="微软雅黑" panose="020B0503020204020204" pitchFamily="34" charset="-122"/>
                <a:ea typeface="微软雅黑" panose="020B0503020204020204" pitchFamily="34" charset="-122"/>
              </a:rPr>
              <a:t>电动汽车多类别事故风险精细化建模及主动防控方法</a:t>
            </a:r>
            <a:r>
              <a:rPr lang="en-US" altLang="zh-CN" sz="1600" kern="100" dirty="0">
                <a:latin typeface="微软雅黑" panose="020B0503020204020204" pitchFamily="34" charset="-122"/>
                <a:ea typeface="微软雅黑" panose="020B0503020204020204" pitchFamily="34" charset="-122"/>
              </a:rPr>
              <a:t>, 2024-2027</a:t>
            </a:r>
            <a:endParaRPr lang="zh-CN" altLang="zh-CN" sz="1600" kern="1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ADE4D240-3925-4590-BC24-01F7C0F25516}"/>
              </a:ext>
            </a:extLst>
          </p:cNvPr>
          <p:cNvSpPr txBox="1"/>
          <p:nvPr/>
        </p:nvSpPr>
        <p:spPr>
          <a:xfrm>
            <a:off x="6240016" y="4686076"/>
            <a:ext cx="4392488" cy="1161536"/>
          </a:xfrm>
          <a:prstGeom prst="rect">
            <a:avLst/>
          </a:prstGeom>
          <a:noFill/>
          <a:ln w="12700">
            <a:noFill/>
            <a:prstDash val="dash"/>
          </a:ln>
        </p:spPr>
        <p:txBody>
          <a:bodyPr wrap="square">
            <a:spAutoFit/>
          </a:bodyPr>
          <a:lstStyle/>
          <a:p>
            <a:pPr indent="267970" algn="just">
              <a:lnSpc>
                <a:spcPct val="150000"/>
              </a:lnSpc>
            </a:pPr>
            <a:r>
              <a:rPr lang="zh-CN" altLang="en-US" sz="1600" kern="100" dirty="0">
                <a:latin typeface="微软雅黑" panose="020B0503020204020204" pitchFamily="34" charset="-122"/>
                <a:ea typeface="微软雅黑" panose="020B0503020204020204" pitchFamily="34" charset="-122"/>
              </a:rPr>
              <a:t>课题组在自动驾驶事故数据、场景致因分析等研究方面已积累扎实成果，并配备充足计算资源，为本研究提供有力团队支撑。</a:t>
            </a:r>
            <a:endParaRPr lang="en-US" altLang="zh-CN" sz="1600" kern="1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97771383"/>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59">
            <a:extLst>
              <a:ext uri="{FF2B5EF4-FFF2-40B4-BE49-F238E27FC236}">
                <a16:creationId xmlns:a16="http://schemas.microsoft.com/office/drawing/2014/main" id="{C2D275FB-F2F5-498A-A50F-AF3AC247C09C}"/>
              </a:ext>
            </a:extLst>
          </p:cNvPr>
          <p:cNvSpPr>
            <a:spLocks noChangeArrowheads="1"/>
          </p:cNvSpPr>
          <p:nvPr/>
        </p:nvSpPr>
        <p:spPr bwMode="auto">
          <a:xfrm>
            <a:off x="335359" y="116632"/>
            <a:ext cx="77234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b="1" dirty="0">
                <a:solidFill>
                  <a:srgbClr val="FFC000"/>
                </a:solidFill>
                <a:latin typeface="微软雅黑" panose="020B0503020204020204" pitchFamily="34" charset="-122"/>
                <a:ea typeface="微软雅黑" panose="020B0503020204020204" pitchFamily="34" charset="-122"/>
              </a:rPr>
              <a:t>工作计划</a:t>
            </a:r>
            <a:endParaRPr lang="en-US" altLang="zh-CN" b="1" dirty="0">
              <a:solidFill>
                <a:srgbClr val="FFC000"/>
              </a:solidFill>
              <a:latin typeface="微软雅黑" panose="020B0503020204020204" pitchFamily="34" charset="-122"/>
              <a:ea typeface="微软雅黑" panose="020B0503020204020204" pitchFamily="34" charset="-122"/>
            </a:endParaRPr>
          </a:p>
        </p:txBody>
      </p:sp>
      <p:sp>
        <p:nvSpPr>
          <p:cNvPr id="2" name="箭头: 右 1">
            <a:extLst>
              <a:ext uri="{FF2B5EF4-FFF2-40B4-BE49-F238E27FC236}">
                <a16:creationId xmlns:a16="http://schemas.microsoft.com/office/drawing/2014/main" id="{FC71DC45-DA20-402C-AA82-D9B8DA8B0D51}"/>
              </a:ext>
            </a:extLst>
          </p:cNvPr>
          <p:cNvSpPr/>
          <p:nvPr/>
        </p:nvSpPr>
        <p:spPr>
          <a:xfrm>
            <a:off x="407368" y="1412776"/>
            <a:ext cx="11305256"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80F0CC81-6139-4E9E-8A79-81FBF471F394}"/>
              </a:ext>
            </a:extLst>
          </p:cNvPr>
          <p:cNvSpPr/>
          <p:nvPr/>
        </p:nvSpPr>
        <p:spPr>
          <a:xfrm>
            <a:off x="3935760" y="1556792"/>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7CEA80AE-0826-415C-BE56-1FBED9465B8C}"/>
              </a:ext>
            </a:extLst>
          </p:cNvPr>
          <p:cNvSpPr/>
          <p:nvPr/>
        </p:nvSpPr>
        <p:spPr>
          <a:xfrm>
            <a:off x="8184232" y="1549297"/>
            <a:ext cx="144016" cy="144016"/>
          </a:xfrm>
          <a:prstGeom prst="ellipse">
            <a:avLst/>
          </a:prstGeom>
          <a:solidFill>
            <a:srgbClr val="002F6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24D96AD3-AF0F-4FAB-B2D9-CFED0325A925}"/>
              </a:ext>
            </a:extLst>
          </p:cNvPr>
          <p:cNvCxnSpPr/>
          <p:nvPr/>
        </p:nvCxnSpPr>
        <p:spPr>
          <a:xfrm>
            <a:off x="4007768" y="980728"/>
            <a:ext cx="72008" cy="5760640"/>
          </a:xfrm>
          <a:prstGeom prst="line">
            <a:avLst/>
          </a:prstGeom>
          <a:ln w="38100">
            <a:prstDash val="dash"/>
          </a:ln>
        </p:spPr>
        <p:style>
          <a:lnRef idx="3">
            <a:schemeClr val="accent3"/>
          </a:lnRef>
          <a:fillRef idx="0">
            <a:schemeClr val="accent3"/>
          </a:fillRef>
          <a:effectRef idx="2">
            <a:schemeClr val="accent3"/>
          </a:effectRef>
          <a:fontRef idx="minor">
            <a:schemeClr val="tx1"/>
          </a:fontRef>
        </p:style>
      </p:cxnSp>
      <p:cxnSp>
        <p:nvCxnSpPr>
          <p:cNvPr id="12" name="直接连接符 11">
            <a:extLst>
              <a:ext uri="{FF2B5EF4-FFF2-40B4-BE49-F238E27FC236}">
                <a16:creationId xmlns:a16="http://schemas.microsoft.com/office/drawing/2014/main" id="{EEF38509-B538-4379-AE67-7E566F9B0DDF}"/>
              </a:ext>
            </a:extLst>
          </p:cNvPr>
          <p:cNvCxnSpPr>
            <a:cxnSpLocks/>
          </p:cNvCxnSpPr>
          <p:nvPr/>
        </p:nvCxnSpPr>
        <p:spPr>
          <a:xfrm>
            <a:off x="8256240" y="980728"/>
            <a:ext cx="72008" cy="5760640"/>
          </a:xfrm>
          <a:prstGeom prst="line">
            <a:avLst/>
          </a:prstGeom>
          <a:ln w="38100">
            <a:prstDash val="dash"/>
          </a:ln>
        </p:spPr>
        <p:style>
          <a:lnRef idx="3">
            <a:schemeClr val="accent3"/>
          </a:lnRef>
          <a:fillRef idx="0">
            <a:schemeClr val="accent3"/>
          </a:fillRef>
          <a:effectRef idx="2">
            <a:schemeClr val="accent3"/>
          </a:effectRef>
          <a:fontRef idx="minor">
            <a:schemeClr val="tx1"/>
          </a:fontRef>
        </p:style>
      </p:cxnSp>
      <p:sp>
        <p:nvSpPr>
          <p:cNvPr id="14" name="文本框 13">
            <a:extLst>
              <a:ext uri="{FF2B5EF4-FFF2-40B4-BE49-F238E27FC236}">
                <a16:creationId xmlns:a16="http://schemas.microsoft.com/office/drawing/2014/main" id="{076DC9FD-D7D6-458D-A147-4BD7B7CDC2AD}"/>
              </a:ext>
            </a:extLst>
          </p:cNvPr>
          <p:cNvSpPr txBox="1"/>
          <p:nvPr/>
        </p:nvSpPr>
        <p:spPr>
          <a:xfrm>
            <a:off x="900497" y="1040290"/>
            <a:ext cx="2531207" cy="400110"/>
          </a:xfrm>
          <a:prstGeom prst="rect">
            <a:avLst/>
          </a:prstGeom>
          <a:noFill/>
        </p:spPr>
        <p:txBody>
          <a:bodyPr wrap="square">
            <a:spAutoFit/>
          </a:bodyPr>
          <a:lstStyle/>
          <a:p>
            <a:pPr algn="ctr"/>
            <a:r>
              <a:rPr lang="zh-CN" altLang="en-US" sz="2000" b="1" dirty="0">
                <a:solidFill>
                  <a:prstClr val="black"/>
                </a:solidFill>
                <a:latin typeface="微软雅黑" panose="020B0503020204020204" pitchFamily="34" charset="-122"/>
                <a:ea typeface="微软雅黑" panose="020B0503020204020204" pitchFamily="34" charset="-122"/>
              </a:rPr>
              <a:t>数据准备与场景识别</a:t>
            </a:r>
            <a:endParaRPr lang="zh-CN" altLang="en-US" sz="2000" dirty="0"/>
          </a:p>
        </p:txBody>
      </p:sp>
      <p:sp>
        <p:nvSpPr>
          <p:cNvPr id="16" name="文本框 15">
            <a:extLst>
              <a:ext uri="{FF2B5EF4-FFF2-40B4-BE49-F238E27FC236}">
                <a16:creationId xmlns:a16="http://schemas.microsoft.com/office/drawing/2014/main" id="{4698E5BC-CA71-4363-8314-0A5640D02C7D}"/>
              </a:ext>
            </a:extLst>
          </p:cNvPr>
          <p:cNvSpPr txBox="1"/>
          <p:nvPr/>
        </p:nvSpPr>
        <p:spPr>
          <a:xfrm>
            <a:off x="4818692" y="1040290"/>
            <a:ext cx="2531207" cy="400110"/>
          </a:xfrm>
          <a:prstGeom prst="rect">
            <a:avLst/>
          </a:prstGeom>
          <a:noFill/>
        </p:spPr>
        <p:txBody>
          <a:bodyPr wrap="square">
            <a:spAutoFit/>
          </a:bodyPr>
          <a:lstStyle/>
          <a:p>
            <a:pPr algn="ctr"/>
            <a:r>
              <a:rPr lang="zh-CN" altLang="en-US" sz="2000" b="1" dirty="0">
                <a:solidFill>
                  <a:prstClr val="black"/>
                </a:solidFill>
                <a:latin typeface="微软雅黑" panose="020B0503020204020204" pitchFamily="34" charset="-122"/>
                <a:ea typeface="微软雅黑" panose="020B0503020204020204" pitchFamily="34" charset="-122"/>
              </a:rPr>
              <a:t>因果推断与干预评估</a:t>
            </a:r>
            <a:endParaRPr lang="zh-CN" altLang="en-US" sz="2000" dirty="0"/>
          </a:p>
        </p:txBody>
      </p:sp>
      <p:sp>
        <p:nvSpPr>
          <p:cNvPr id="17" name="文本框 16">
            <a:extLst>
              <a:ext uri="{FF2B5EF4-FFF2-40B4-BE49-F238E27FC236}">
                <a16:creationId xmlns:a16="http://schemas.microsoft.com/office/drawing/2014/main" id="{E2BA904C-54D2-4878-8064-50203789E2C6}"/>
              </a:ext>
            </a:extLst>
          </p:cNvPr>
          <p:cNvSpPr txBox="1"/>
          <p:nvPr/>
        </p:nvSpPr>
        <p:spPr>
          <a:xfrm>
            <a:off x="8736887" y="1040290"/>
            <a:ext cx="2531207" cy="400110"/>
          </a:xfrm>
          <a:prstGeom prst="rect">
            <a:avLst/>
          </a:prstGeom>
          <a:noFill/>
        </p:spPr>
        <p:txBody>
          <a:bodyPr wrap="square">
            <a:spAutoFit/>
          </a:bodyPr>
          <a:lstStyle/>
          <a:p>
            <a:pPr algn="ctr"/>
            <a:r>
              <a:rPr lang="zh-CN" altLang="en-US" sz="2000" b="1" dirty="0">
                <a:solidFill>
                  <a:prstClr val="black"/>
                </a:solidFill>
                <a:latin typeface="微软雅黑" panose="020B0503020204020204" pitchFamily="34" charset="-122"/>
                <a:ea typeface="微软雅黑" panose="020B0503020204020204" pitchFamily="34" charset="-122"/>
              </a:rPr>
              <a:t>责任划分调查与总结</a:t>
            </a:r>
            <a:endParaRPr lang="zh-CN" altLang="en-US" sz="2000" dirty="0"/>
          </a:p>
        </p:txBody>
      </p:sp>
      <p:sp>
        <p:nvSpPr>
          <p:cNvPr id="18" name="文本框 17">
            <a:extLst>
              <a:ext uri="{FF2B5EF4-FFF2-40B4-BE49-F238E27FC236}">
                <a16:creationId xmlns:a16="http://schemas.microsoft.com/office/drawing/2014/main" id="{1B182E39-1A50-4FF3-B990-FBE14CCA14D1}"/>
              </a:ext>
            </a:extLst>
          </p:cNvPr>
          <p:cNvSpPr txBox="1"/>
          <p:nvPr/>
        </p:nvSpPr>
        <p:spPr>
          <a:xfrm>
            <a:off x="900496" y="1860793"/>
            <a:ext cx="2531207" cy="400110"/>
          </a:xfrm>
          <a:prstGeom prst="rect">
            <a:avLst/>
          </a:prstGeom>
          <a:noFill/>
        </p:spPr>
        <p:txBody>
          <a:bodyPr wrap="square">
            <a:spAutoFit/>
          </a:bodyPr>
          <a:lstStyle/>
          <a:p>
            <a:pPr algn="ctr"/>
            <a:r>
              <a:rPr lang="en-US" altLang="zh-CN" sz="2000" b="1" dirty="0">
                <a:solidFill>
                  <a:srgbClr val="FF0000"/>
                </a:solidFill>
                <a:latin typeface="微软雅黑" panose="020B0503020204020204" pitchFamily="34" charset="-122"/>
                <a:ea typeface="微软雅黑" panose="020B0503020204020204" pitchFamily="34" charset="-122"/>
              </a:rPr>
              <a:t>2026.05—2026.12</a:t>
            </a:r>
            <a:endParaRPr lang="zh-CN" altLang="en-US" sz="2000" dirty="0">
              <a:solidFill>
                <a:srgbClr val="FF0000"/>
              </a:solidFill>
            </a:endParaRPr>
          </a:p>
        </p:txBody>
      </p:sp>
      <p:sp>
        <p:nvSpPr>
          <p:cNvPr id="19" name="文本框 18">
            <a:extLst>
              <a:ext uri="{FF2B5EF4-FFF2-40B4-BE49-F238E27FC236}">
                <a16:creationId xmlns:a16="http://schemas.microsoft.com/office/drawing/2014/main" id="{4CC35BBF-22D9-492F-B768-44F87A5B7985}"/>
              </a:ext>
            </a:extLst>
          </p:cNvPr>
          <p:cNvSpPr txBox="1"/>
          <p:nvPr/>
        </p:nvSpPr>
        <p:spPr>
          <a:xfrm>
            <a:off x="4848743" y="1860793"/>
            <a:ext cx="2531207" cy="400110"/>
          </a:xfrm>
          <a:prstGeom prst="rect">
            <a:avLst/>
          </a:prstGeom>
          <a:noFill/>
        </p:spPr>
        <p:txBody>
          <a:bodyPr wrap="square">
            <a:spAutoFit/>
          </a:bodyPr>
          <a:lstStyle/>
          <a:p>
            <a:pPr algn="ctr"/>
            <a:r>
              <a:rPr lang="en-US" altLang="zh-CN" sz="2000" b="1" dirty="0">
                <a:solidFill>
                  <a:srgbClr val="FF0000"/>
                </a:solidFill>
                <a:latin typeface="微软雅黑" panose="020B0503020204020204" pitchFamily="34" charset="-122"/>
                <a:ea typeface="微软雅黑" panose="020B0503020204020204" pitchFamily="34" charset="-122"/>
              </a:rPr>
              <a:t>2027.01—2027.08</a:t>
            </a:r>
            <a:endParaRPr lang="zh-CN" altLang="en-US" sz="2000" dirty="0">
              <a:solidFill>
                <a:srgbClr val="FF0000"/>
              </a:solidFill>
            </a:endParaRPr>
          </a:p>
        </p:txBody>
      </p:sp>
      <p:sp>
        <p:nvSpPr>
          <p:cNvPr id="20" name="文本框 19">
            <a:extLst>
              <a:ext uri="{FF2B5EF4-FFF2-40B4-BE49-F238E27FC236}">
                <a16:creationId xmlns:a16="http://schemas.microsoft.com/office/drawing/2014/main" id="{6C8D79BB-2434-4790-AF08-EE49799191B3}"/>
              </a:ext>
            </a:extLst>
          </p:cNvPr>
          <p:cNvSpPr txBox="1"/>
          <p:nvPr/>
        </p:nvSpPr>
        <p:spPr>
          <a:xfrm>
            <a:off x="8798259" y="1860793"/>
            <a:ext cx="2531207" cy="400110"/>
          </a:xfrm>
          <a:prstGeom prst="rect">
            <a:avLst/>
          </a:prstGeom>
          <a:noFill/>
        </p:spPr>
        <p:txBody>
          <a:bodyPr wrap="square">
            <a:spAutoFit/>
          </a:bodyPr>
          <a:lstStyle/>
          <a:p>
            <a:pPr algn="ctr"/>
            <a:r>
              <a:rPr lang="en-US" altLang="zh-CN" sz="2000" b="1" dirty="0">
                <a:solidFill>
                  <a:srgbClr val="FF0000"/>
                </a:solidFill>
                <a:latin typeface="微软雅黑" panose="020B0503020204020204" pitchFamily="34" charset="-122"/>
                <a:ea typeface="微软雅黑" panose="020B0503020204020204" pitchFamily="34" charset="-122"/>
              </a:rPr>
              <a:t>2027.09—2028.02</a:t>
            </a:r>
            <a:endParaRPr lang="zh-CN" altLang="en-US" sz="2000" dirty="0">
              <a:solidFill>
                <a:srgbClr val="FF0000"/>
              </a:solidFill>
            </a:endParaRPr>
          </a:p>
        </p:txBody>
      </p:sp>
      <p:sp>
        <p:nvSpPr>
          <p:cNvPr id="22" name="文本框 21">
            <a:extLst>
              <a:ext uri="{FF2B5EF4-FFF2-40B4-BE49-F238E27FC236}">
                <a16:creationId xmlns:a16="http://schemas.microsoft.com/office/drawing/2014/main" id="{AC7D38A1-9784-4936-9AF9-07C1A77B7C49}"/>
              </a:ext>
            </a:extLst>
          </p:cNvPr>
          <p:cNvSpPr txBox="1"/>
          <p:nvPr/>
        </p:nvSpPr>
        <p:spPr>
          <a:xfrm>
            <a:off x="414833" y="2326951"/>
            <a:ext cx="3232895" cy="4198393"/>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zh-CN" dirty="0">
                <a:solidFill>
                  <a:prstClr val="black"/>
                </a:solidFill>
                <a:latin typeface="微软雅黑" panose="020B0503020204020204" pitchFamily="34" charset="-122"/>
                <a:ea typeface="微软雅黑" panose="020B0503020204020204" pitchFamily="34" charset="-122"/>
              </a:rPr>
              <a:t>基于</a:t>
            </a:r>
            <a:r>
              <a:rPr lang="en-US" altLang="zh-CN" dirty="0">
                <a:solidFill>
                  <a:prstClr val="black"/>
                </a:solidFill>
                <a:latin typeface="微软雅黑" panose="020B0503020204020204" pitchFamily="34" charset="-122"/>
                <a:ea typeface="微软雅黑" panose="020B0503020204020204" pitchFamily="34" charset="-122"/>
              </a:rPr>
              <a:t>DMV</a:t>
            </a:r>
            <a:r>
              <a:rPr lang="zh-CN" altLang="zh-CN" dirty="0">
                <a:solidFill>
                  <a:prstClr val="black"/>
                </a:solidFill>
                <a:latin typeface="微软雅黑" panose="020B0503020204020204" pitchFamily="34" charset="-122"/>
                <a:ea typeface="微软雅黑" panose="020B0503020204020204" pitchFamily="34" charset="-122"/>
              </a:rPr>
              <a:t>与</a:t>
            </a:r>
            <a:r>
              <a:rPr lang="en-US" altLang="zh-CN" dirty="0">
                <a:solidFill>
                  <a:prstClr val="black"/>
                </a:solidFill>
                <a:latin typeface="微软雅黑" panose="020B0503020204020204" pitchFamily="34" charset="-122"/>
                <a:ea typeface="微软雅黑" panose="020B0503020204020204" pitchFamily="34" charset="-122"/>
              </a:rPr>
              <a:t>NHTSA</a:t>
            </a:r>
            <a:r>
              <a:rPr lang="zh-CN" altLang="zh-CN" dirty="0">
                <a:solidFill>
                  <a:prstClr val="black"/>
                </a:solidFill>
                <a:latin typeface="微软雅黑" panose="020B0503020204020204" pitchFamily="34" charset="-122"/>
                <a:ea typeface="微软雅黑" panose="020B0503020204020204" pitchFamily="34" charset="-122"/>
              </a:rPr>
              <a:t>补充完善的事故数据库，对数据进行清洗、离散化与特征分析；</a:t>
            </a:r>
            <a:endParaRPr lang="en-US" altLang="zh-CN"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zh-CN" dirty="0">
                <a:solidFill>
                  <a:prstClr val="black"/>
                </a:solidFill>
                <a:latin typeface="微软雅黑" panose="020B0503020204020204" pitchFamily="34" charset="-122"/>
                <a:ea typeface="微软雅黑" panose="020B0503020204020204" pitchFamily="34" charset="-122"/>
              </a:rPr>
              <a:t>构建场景画像指标体系，</a:t>
            </a:r>
            <a:endParaRPr lang="en-US" altLang="zh-CN"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zh-CN" dirty="0">
                <a:solidFill>
                  <a:prstClr val="black"/>
                </a:solidFill>
                <a:latin typeface="微软雅黑" panose="020B0503020204020204" pitchFamily="34" charset="-122"/>
                <a:ea typeface="微软雅黑" panose="020B0503020204020204" pitchFamily="34" charset="-122"/>
              </a:rPr>
              <a:t>采用</a:t>
            </a:r>
            <a:r>
              <a:rPr lang="en-US" altLang="zh-CN" dirty="0">
                <a:solidFill>
                  <a:prstClr val="black"/>
                </a:solidFill>
                <a:latin typeface="微软雅黑" panose="020B0503020204020204" pitchFamily="34" charset="-122"/>
                <a:ea typeface="微软雅黑" panose="020B0503020204020204" pitchFamily="34" charset="-122"/>
              </a:rPr>
              <a:t>LCA</a:t>
            </a:r>
            <a:r>
              <a:rPr lang="zh-CN" altLang="zh-CN" dirty="0">
                <a:solidFill>
                  <a:prstClr val="black"/>
                </a:solidFill>
                <a:latin typeface="微软雅黑" panose="020B0503020204020204" pitchFamily="34" charset="-122"/>
                <a:ea typeface="微软雅黑" panose="020B0503020204020204" pitchFamily="34" charset="-122"/>
              </a:rPr>
              <a:t>识别典型场景；构建</a:t>
            </a:r>
            <a:r>
              <a:rPr lang="en-US" altLang="zh-CN" dirty="0">
                <a:solidFill>
                  <a:prstClr val="black"/>
                </a:solidFill>
                <a:latin typeface="微软雅黑" panose="020B0503020204020204" pitchFamily="34" charset="-122"/>
                <a:ea typeface="微软雅黑" panose="020B0503020204020204" pitchFamily="34" charset="-122"/>
              </a:rPr>
              <a:t>TAN</a:t>
            </a:r>
            <a:r>
              <a:rPr lang="zh-CN" altLang="zh-CN" dirty="0">
                <a:solidFill>
                  <a:prstClr val="black"/>
                </a:solidFill>
                <a:latin typeface="微软雅黑" panose="020B0503020204020204" pitchFamily="34" charset="-122"/>
                <a:ea typeface="微软雅黑" panose="020B0503020204020204" pitchFamily="34" charset="-122"/>
              </a:rPr>
              <a:t>网络分析变量依赖关系；</a:t>
            </a:r>
            <a:endParaRPr lang="en-US" altLang="zh-CN"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zh-CN" dirty="0">
                <a:solidFill>
                  <a:prstClr val="black"/>
                </a:solidFill>
                <a:latin typeface="微软雅黑" panose="020B0503020204020204" pitchFamily="34" charset="-122"/>
                <a:ea typeface="微软雅黑" panose="020B0503020204020204" pitchFamily="34" charset="-122"/>
              </a:rPr>
              <a:t>设计情景模拟方案，开展聚类迁移分析。</a:t>
            </a: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D82DB3CF-457E-4A53-80D8-732F7192BCAE}"/>
              </a:ext>
            </a:extLst>
          </p:cNvPr>
          <p:cNvSpPr txBox="1"/>
          <p:nvPr/>
        </p:nvSpPr>
        <p:spPr>
          <a:xfrm>
            <a:off x="4457798" y="2326951"/>
            <a:ext cx="3432533" cy="378289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基于第一阶段变量依赖关系构建因果图；</a:t>
            </a:r>
            <a:endParaRPr lang="en-US" altLang="zh-CN"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采用</a:t>
            </a:r>
            <a:r>
              <a:rPr lang="en-US" altLang="zh-CN" dirty="0">
                <a:solidFill>
                  <a:prstClr val="black"/>
                </a:solidFill>
                <a:latin typeface="微软雅黑" panose="020B0503020204020204" pitchFamily="34" charset="-122"/>
                <a:ea typeface="微软雅黑" panose="020B0503020204020204" pitchFamily="34" charset="-122"/>
              </a:rPr>
              <a:t>SCM</a:t>
            </a:r>
            <a:r>
              <a:rPr lang="zh-CN" altLang="en-US" dirty="0">
                <a:solidFill>
                  <a:prstClr val="black"/>
                </a:solidFill>
                <a:latin typeface="微软雅黑" panose="020B0503020204020204" pitchFamily="34" charset="-122"/>
                <a:ea typeface="微软雅黑" panose="020B0503020204020204" pitchFamily="34" charset="-122"/>
              </a:rPr>
              <a:t>识别事故主导因素，量化因果效应；</a:t>
            </a:r>
            <a:endParaRPr lang="en-US" altLang="zh-CN"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设计反事实干预方案，使用</a:t>
            </a:r>
            <a:r>
              <a:rPr lang="en-US" altLang="zh-CN" dirty="0">
                <a:solidFill>
                  <a:prstClr val="black"/>
                </a:solidFill>
                <a:latin typeface="微软雅黑" panose="020B0503020204020204" pitchFamily="34" charset="-122"/>
                <a:ea typeface="微软雅黑" panose="020B0503020204020204" pitchFamily="34" charset="-122"/>
              </a:rPr>
              <a:t>do-operator</a:t>
            </a:r>
            <a:r>
              <a:rPr lang="zh-CN" altLang="en-US" dirty="0">
                <a:solidFill>
                  <a:prstClr val="black"/>
                </a:solidFill>
                <a:latin typeface="微软雅黑" panose="020B0503020204020204" pitchFamily="34" charset="-122"/>
                <a:ea typeface="微软雅黑" panose="020B0503020204020204" pitchFamily="34" charset="-122"/>
              </a:rPr>
              <a:t>开展单变量、多变量及条件干预分析，评估不同措施的风险降低效果；</a:t>
            </a:r>
            <a:endParaRPr lang="en-US" altLang="zh-CN"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根据干预结果提供发展建议。</a:t>
            </a:r>
          </a:p>
        </p:txBody>
      </p:sp>
      <p:sp>
        <p:nvSpPr>
          <p:cNvPr id="24" name="文本框 23">
            <a:extLst>
              <a:ext uri="{FF2B5EF4-FFF2-40B4-BE49-F238E27FC236}">
                <a16:creationId xmlns:a16="http://schemas.microsoft.com/office/drawing/2014/main" id="{3178993B-C62E-4F39-8F30-001F0A52BF0F}"/>
              </a:ext>
            </a:extLst>
          </p:cNvPr>
          <p:cNvSpPr txBox="1"/>
          <p:nvPr/>
        </p:nvSpPr>
        <p:spPr>
          <a:xfrm>
            <a:off x="8383424" y="2326951"/>
            <a:ext cx="3432533" cy="378289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以典型场景为背景、主导因素为情景变量设计情景问卷，线上线下采集数据；</a:t>
            </a:r>
            <a:endParaRPr lang="en-US" altLang="zh-CN"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构建潜变量模型，检验信效度；</a:t>
            </a:r>
            <a:endParaRPr lang="en-US" altLang="zh-CN"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采用</a:t>
            </a:r>
            <a:r>
              <a:rPr lang="en-US" altLang="zh-CN" dirty="0">
                <a:solidFill>
                  <a:prstClr val="black"/>
                </a:solidFill>
                <a:latin typeface="微软雅黑" panose="020B0503020204020204" pitchFamily="34" charset="-122"/>
                <a:ea typeface="微软雅黑" panose="020B0503020204020204" pitchFamily="34" charset="-122"/>
              </a:rPr>
              <a:t>ICLV</a:t>
            </a:r>
            <a:r>
              <a:rPr lang="zh-CN" altLang="en-US" dirty="0">
                <a:solidFill>
                  <a:prstClr val="black"/>
                </a:solidFill>
                <a:latin typeface="微软雅黑" panose="020B0503020204020204" pitchFamily="34" charset="-122"/>
                <a:ea typeface="微软雅黑" panose="020B0503020204020204" pitchFamily="34" charset="-122"/>
              </a:rPr>
              <a:t>模型分析公众对制造商、驾驶员、道路管理部门的三方责任划分期望及异质性。</a:t>
            </a:r>
          </a:p>
        </p:txBody>
      </p:sp>
    </p:spTree>
    <p:extLst>
      <p:ext uri="{BB962C8B-B14F-4D97-AF65-F5344CB8AC3E}">
        <p14:creationId xmlns:p14="http://schemas.microsoft.com/office/powerpoint/2010/main" val="1763444838"/>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r="2611"/>
          <a:stretch/>
        </p:blipFill>
        <p:spPr>
          <a:xfrm>
            <a:off x="4328637" y="999065"/>
            <a:ext cx="7865491" cy="5063822"/>
          </a:xfrm>
          <a:prstGeom prst="rect">
            <a:avLst/>
          </a:prstGeom>
        </p:spPr>
      </p:pic>
      <p:sp>
        <p:nvSpPr>
          <p:cNvPr id="4" name="流程图: 手动输入 3"/>
          <p:cNvSpPr/>
          <p:nvPr/>
        </p:nvSpPr>
        <p:spPr>
          <a:xfrm rot="5400000">
            <a:off x="1628335" y="-237105"/>
            <a:ext cx="4518165" cy="7536162"/>
          </a:xfrm>
          <a:prstGeom prst="flowChartManualInput">
            <a:avLst/>
          </a:prstGeom>
          <a:solidFill>
            <a:srgbClr val="1B3F85"/>
          </a:solidFill>
          <a:ln>
            <a:noFill/>
          </a:ln>
        </p:spPr>
        <p:txBody>
          <a:bodyPr/>
          <a:lstStyle/>
          <a:p>
            <a:endParaRPr lang="zh-CN" altLang="en-US" sz="1600" b="1">
              <a:solidFill>
                <a:srgbClr val="000000"/>
              </a:solidFill>
              <a:latin typeface="Times New Roman" pitchFamily="18" charset="0"/>
              <a:ea typeface="宋体" charset="-122"/>
              <a:cs typeface="Times New Roman" pitchFamily="18" charset="0"/>
            </a:endParaRPr>
          </a:p>
        </p:txBody>
      </p:sp>
      <p:pic>
        <p:nvPicPr>
          <p:cNvPr id="8" name="Picture 2" descr="北京交通大学ppt角标图案（右）.jpg"/>
          <p:cNvPicPr>
            <a:picLocks noChangeAspect="1" noChangeArrowheads="1"/>
          </p:cNvPicPr>
          <p:nvPr/>
        </p:nvPicPr>
        <p:blipFill>
          <a:blip r:embed="rId4" cstate="print">
            <a:duotone>
              <a:schemeClr val="accent1">
                <a:shade val="45000"/>
                <a:satMod val="135000"/>
              </a:schemeClr>
              <a:prstClr val="white"/>
            </a:duotone>
          </a:blip>
          <a:srcRect/>
          <a:stretch>
            <a:fillRect/>
          </a:stretch>
        </p:blipFill>
        <p:spPr bwMode="auto">
          <a:xfrm>
            <a:off x="9912424" y="116632"/>
            <a:ext cx="1962088" cy="576064"/>
          </a:xfrm>
          <a:prstGeom prst="rect">
            <a:avLst/>
          </a:prstGeom>
          <a:noFill/>
        </p:spPr>
      </p:pic>
      <p:sp>
        <p:nvSpPr>
          <p:cNvPr id="7" name="TextBox 7"/>
          <p:cNvSpPr txBox="1"/>
          <p:nvPr/>
        </p:nvSpPr>
        <p:spPr>
          <a:xfrm>
            <a:off x="16021" y="2311732"/>
            <a:ext cx="8361849" cy="2438488"/>
          </a:xfrm>
          <a:prstGeom prst="rect">
            <a:avLst/>
          </a:prstGeom>
          <a:noFill/>
        </p:spPr>
        <p:txBody>
          <a:bodyPr wrap="square" rtlCol="0">
            <a:spAutoFit/>
          </a:bodyPr>
          <a:lstStyle/>
          <a:p>
            <a:pPr algn="ctr">
              <a:lnSpc>
                <a:spcPct val="150000"/>
              </a:lnSpc>
            </a:pPr>
            <a:r>
              <a:rPr lang="zh-CN" altLang="en-US" sz="5400" b="1" dirty="0">
                <a:solidFill>
                  <a:srgbClr val="FFC000"/>
                </a:solidFill>
                <a:latin typeface="微软雅黑" panose="020B0503020204020204" pitchFamily="34" charset="-122"/>
                <a:ea typeface="微软雅黑" panose="020B0503020204020204" pitchFamily="34" charset="-122"/>
              </a:rPr>
              <a:t>感谢老师，</a:t>
            </a:r>
            <a:endParaRPr lang="en-US" altLang="zh-CN" sz="5400" b="1" dirty="0">
              <a:solidFill>
                <a:srgbClr val="FFC000"/>
              </a:solidFill>
              <a:latin typeface="微软雅黑" panose="020B0503020204020204" pitchFamily="34" charset="-122"/>
              <a:ea typeface="微软雅黑" panose="020B0503020204020204" pitchFamily="34" charset="-122"/>
            </a:endParaRPr>
          </a:p>
          <a:p>
            <a:pPr algn="ctr">
              <a:lnSpc>
                <a:spcPct val="150000"/>
              </a:lnSpc>
            </a:pPr>
            <a:r>
              <a:rPr lang="zh-CN" altLang="en-US" sz="5400" b="1" dirty="0">
                <a:solidFill>
                  <a:srgbClr val="FFC000"/>
                </a:solidFill>
                <a:latin typeface="微软雅黑" panose="020B0503020204020204" pitchFamily="34" charset="-122"/>
                <a:ea typeface="微软雅黑" panose="020B0503020204020204" pitchFamily="34" charset="-122"/>
              </a:rPr>
              <a:t>敬请批评指正！</a:t>
            </a:r>
          </a:p>
        </p:txBody>
      </p:sp>
    </p:spTree>
  </p:cSld>
  <p:clrMapOvr>
    <a:masterClrMapping/>
  </p:clrMapOvr>
  <p:transition spd="slow">
    <p:wipe dir="r"/>
  </p:transition>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5019</TotalTime>
  <Words>2754</Words>
  <Application>Microsoft Office PowerPoint</Application>
  <PresentationFormat>宽屏</PresentationFormat>
  <Paragraphs>418</Paragraphs>
  <Slides>15</Slides>
  <Notes>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vt:i4>
      </vt:variant>
    </vt:vector>
  </HeadingPairs>
  <TitlesOfParts>
    <vt:vector size="26" baseType="lpstr">
      <vt:lpstr>quote-cjk-patch</vt:lpstr>
      <vt:lpstr>黑体</vt:lpstr>
      <vt:lpstr>Microsoft YaHei</vt:lpstr>
      <vt:lpstr>Microsoft YaHei</vt:lpstr>
      <vt:lpstr>Arial</vt:lpstr>
      <vt:lpstr>Calibri</vt:lpstr>
      <vt:lpstr>Calibri Light</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1234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
  <cp:revision>1887</cp:revision>
  <cp:lastPrinted>2022-02-15T07:39:57Z</cp:lastPrinted>
  <dcterms:created xsi:type="dcterms:W3CDTF">2010-04-14T09:56:00Z</dcterms:created>
  <dcterms:modified xsi:type="dcterms:W3CDTF">2026-07-30T10:26:57Z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7BBD3A2B0D9F4A2EAAF2C28EEC267037</vt:lpwstr>
  </property>
  <property fmtid="{D5CDD505-2E9C-101B-9397-08002B2CF9AE}" pid="3" name="KSOProductBuildVer">
    <vt:lpwstr>2052-11.1.0.11045</vt:lpwstr>
  </property>
</Properties>
</file>