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tags/tag6.xml" ContentType="application/vnd.openxmlformats-officedocument.presentationml.tags+xml"/>
  <Override PartName="/ppt/notesSlides/notesSlide13.xml" ContentType="application/vnd.openxmlformats-officedocument.presentationml.notesSlide+xml"/>
  <Override PartName="/ppt/tags/tag7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77" r:id="rId1"/>
    <p:sldMasterId id="2147483691" r:id="rId2"/>
  </p:sldMasterIdLst>
  <p:notesMasterIdLst>
    <p:notesMasterId r:id="rId18"/>
  </p:notesMasterIdLst>
  <p:handoutMasterIdLst>
    <p:handoutMasterId r:id="rId19"/>
  </p:handoutMasterIdLst>
  <p:sldIdLst>
    <p:sldId id="1770" r:id="rId3"/>
    <p:sldId id="1776" r:id="rId4"/>
    <p:sldId id="2124" r:id="rId5"/>
    <p:sldId id="2126" r:id="rId6"/>
    <p:sldId id="2127" r:id="rId7"/>
    <p:sldId id="2128" r:id="rId8"/>
    <p:sldId id="2130" r:id="rId9"/>
    <p:sldId id="2131" r:id="rId10"/>
    <p:sldId id="2083" r:id="rId11"/>
    <p:sldId id="2118" r:id="rId12"/>
    <p:sldId id="2120" r:id="rId13"/>
    <p:sldId id="2114" r:id="rId14"/>
    <p:sldId id="2132" r:id="rId15"/>
    <p:sldId id="2133" r:id="rId16"/>
    <p:sldId id="1739" r:id="rId17"/>
  </p:sldIdLst>
  <p:sldSz cx="12192000" cy="6858000"/>
  <p:notesSz cx="6797675" cy="9874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杨妙言" id="{15058730-E600-4170-A996-3DEF1CA0F17F}">
          <p14:sldIdLst>
            <p14:sldId id="1770"/>
            <p14:sldId id="1776"/>
            <p14:sldId id="2124"/>
            <p14:sldId id="2126"/>
            <p14:sldId id="2127"/>
            <p14:sldId id="2128"/>
            <p14:sldId id="2130"/>
            <p14:sldId id="2131"/>
            <p14:sldId id="2083"/>
            <p14:sldId id="2118"/>
            <p14:sldId id="2120"/>
            <p14:sldId id="2114"/>
            <p14:sldId id="2132"/>
            <p14:sldId id="2133"/>
            <p14:sldId id="17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1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8D7117-125E-EECB-18C2-7D26EA291FAB}" name="倩茹 董" initials="倩董" userId="849ae6df5aff5c9f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F85"/>
    <a:srgbClr val="0952AD"/>
    <a:srgbClr val="4378BA"/>
    <a:srgbClr val="EDEDED"/>
    <a:srgbClr val="BFBFBF"/>
    <a:srgbClr val="FFFFFF"/>
    <a:srgbClr val="DEEBF7"/>
    <a:srgbClr val="C7DDF1"/>
    <a:srgbClr val="000066"/>
    <a:srgbClr val="FFFD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03" autoAdjust="0"/>
    <p:restoredTop sz="86692" autoAdjust="0"/>
  </p:normalViewPr>
  <p:slideViewPr>
    <p:cSldViewPr>
      <p:cViewPr varScale="1">
        <p:scale>
          <a:sx n="92" d="100"/>
          <a:sy n="92" d="100"/>
        </p:scale>
        <p:origin x="92" y="68"/>
      </p:cViewPr>
      <p:guideLst>
        <p:guide orient="horz" pos="2161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3114" y="120"/>
      </p:cViewPr>
      <p:guideLst>
        <p:guide orient="horz" pos="3111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448" cy="4932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58" tIns="47778" rIns="95558" bIns="47778" numCol="1" anchor="t" anchorCtr="0" compatLnSpc="1"/>
          <a:lstStyle>
            <a:lvl1pPr defTabSz="882650" eaLnBrk="0" hangingPunct="0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48" y="1"/>
            <a:ext cx="2946448" cy="4932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58" tIns="47778" rIns="95558" bIns="47778" numCol="1" anchor="t" anchorCtr="0" compatLnSpc="1"/>
          <a:lstStyle>
            <a:lvl1pPr algn="r" defTabSz="882650" eaLnBrk="0" hangingPunct="0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C194AB6-BECC-47C4-98A8-3E8B6DBE99C0}" type="datetimeFigureOut">
              <a:rPr lang="zh-CN" altLang="en-US"/>
              <a:t>2026/9/3</a:t>
            </a:fld>
            <a:endParaRPr lang="en-US" altLang="zh-CN" dirty="0"/>
          </a:p>
        </p:txBody>
      </p:sp>
      <p:sp>
        <p:nvSpPr>
          <p:cNvPr id="983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79440"/>
            <a:ext cx="2946448" cy="4932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58" tIns="47778" rIns="95558" bIns="47778" numCol="1" anchor="b" anchorCtr="0" compatLnSpc="1"/>
          <a:lstStyle>
            <a:lvl1pPr defTabSz="882650" eaLnBrk="0" hangingPunct="0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83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48" y="9379440"/>
            <a:ext cx="2946448" cy="4932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58" tIns="47778" rIns="95558" bIns="47778" numCol="1" anchor="b" anchorCtr="0" compatLnSpc="1"/>
          <a:lstStyle>
            <a:lvl1pPr algn="r" defTabSz="882650" eaLnBrk="0" hangingPunct="0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2C768EC-EEFA-4873-BA36-522C8D5E23C9}" type="slidenum">
              <a:rPr lang="zh-CN" altLang="en-US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1" y="1"/>
            <a:ext cx="2946448" cy="4932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58" tIns="47778" rIns="95558" bIns="47778" numCol="1" anchor="t" anchorCtr="0" compatLnSpc="1"/>
          <a:lstStyle>
            <a:lvl1pPr defTabSz="88265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 bwMode="auto">
          <a:xfrm>
            <a:off x="3849648" y="1"/>
            <a:ext cx="2946448" cy="4932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58" tIns="47778" rIns="95558" bIns="47778" numCol="1" anchor="t" anchorCtr="0" compatLnSpc="1"/>
          <a:lstStyle>
            <a:lvl1pPr algn="r" defTabSz="88265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305259F-B612-43F3-809A-4A8C8541FCC4}" type="datetimeFigureOut">
              <a:rPr lang="zh-CN" altLang="en-US"/>
              <a:t>2026/9/3</a:t>
            </a:fld>
            <a:endParaRPr lang="en-US" altLang="zh-CN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523" tIns="49262" rIns="98523" bIns="49262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78978" y="4690505"/>
            <a:ext cx="5439719" cy="44423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58" tIns="47778" rIns="95558" bIns="47778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 bwMode="auto">
          <a:xfrm>
            <a:off x="1" y="9379440"/>
            <a:ext cx="2946448" cy="4932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58" tIns="47778" rIns="95558" bIns="47778" numCol="1" anchor="b" anchorCtr="0" compatLnSpc="1"/>
          <a:lstStyle>
            <a:lvl1pPr defTabSz="88265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49648" y="9379440"/>
            <a:ext cx="2946448" cy="4932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58" tIns="47778" rIns="95558" bIns="47778" numCol="1" anchor="b" anchorCtr="0" compatLnSpc="1"/>
          <a:lstStyle>
            <a:lvl1pPr algn="r" defTabSz="88265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2F54C80-B770-4C50-A5D1-D9880C7EFE61}" type="slidenum">
              <a:rPr lang="zh-CN" altLang="en-US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9538" y="741363"/>
            <a:ext cx="6578600" cy="37020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9ED29BA-91C3-4915-8CAA-DFDFB9FCE647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7495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9538" y="741363"/>
            <a:ext cx="6578600" cy="370205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62972C-F595-426E-BFBE-ADDDC0BBDA66}" type="slidenum">
              <a:rPr lang="zh-CN" altLang="en-US" smtClean="0">
                <a:ea typeface="宋体" panose="02010600030101010101" pitchFamily="2" charset="-122"/>
              </a:rPr>
              <a:t>2</a:t>
            </a:fld>
            <a:endParaRPr lang="zh-CN" altLang="en-US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5743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9538" y="741363"/>
            <a:ext cx="6578600" cy="370205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62972C-F595-426E-BFBE-ADDDC0BBDA66}" type="slidenum">
              <a:rPr lang="zh-CN" altLang="en-US" smtClean="0">
                <a:ea typeface="宋体" panose="02010600030101010101" pitchFamily="2" charset="-122"/>
              </a:rPr>
              <a:t>3</a:t>
            </a:fld>
            <a:endParaRPr lang="zh-CN" altLang="en-US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7326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9538" y="741363"/>
            <a:ext cx="6578600" cy="370205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用加号连接；</a:t>
            </a:r>
            <a:endParaRPr lang="en-US" altLang="zh-CN" dirty="0"/>
          </a:p>
          <a:p>
            <a:pPr eaLnBrk="1" hangingPunct="1"/>
            <a:r>
              <a:rPr lang="zh-CN" altLang="en-US" dirty="0"/>
              <a:t>外接算法输入框图； </a:t>
            </a:r>
            <a:endParaRPr lang="en-US" altLang="zh-CN" dirty="0"/>
          </a:p>
          <a:p>
            <a:pPr eaLnBrk="1" hangingPunct="1"/>
            <a:r>
              <a:rPr lang="zh-CN" altLang="en-US" dirty="0"/>
              <a:t>问题一支撑自动驾驶前端算法开发、设计；二、三支持后端测试和算法优化、修正</a:t>
            </a:r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62972C-F595-426E-BFBE-ADDDC0BBDA66}" type="slidenum">
              <a:rPr lang="zh-CN" altLang="en-US" smtClean="0">
                <a:ea typeface="宋体" panose="02010600030101010101" pitchFamily="2" charset="-122"/>
              </a:rPr>
              <a:t>4</a:t>
            </a:fld>
            <a:endParaRPr lang="zh-CN" altLang="en-US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8935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9538" y="741363"/>
            <a:ext cx="6578600" cy="370205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强调整体进度、加一页实际成果、投稿论文强调</a:t>
            </a:r>
            <a:endParaRPr lang="en-US" altLang="zh-CN" dirty="0"/>
          </a:p>
          <a:p>
            <a:pPr eaLnBrk="1" hangingPunct="1"/>
            <a:r>
              <a:rPr lang="zh-CN" altLang="en-US" dirty="0"/>
              <a:t>强调创新点</a:t>
            </a:r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62972C-F595-426E-BFBE-ADDDC0BBDA66}" type="slidenum">
              <a:rPr lang="zh-CN" altLang="en-US" smtClean="0">
                <a:ea typeface="宋体" panose="02010600030101010101" pitchFamily="2" charset="-122"/>
              </a:rPr>
              <a:t>5</a:t>
            </a:fld>
            <a:endParaRPr lang="zh-CN" altLang="en-US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2532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9538" y="741363"/>
            <a:ext cx="6578600" cy="370205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62972C-F595-426E-BFBE-ADDDC0BBDA66}" type="slidenum">
              <a:rPr lang="zh-CN" altLang="en-US" smtClean="0">
                <a:ea typeface="宋体" panose="02010600030101010101" pitchFamily="2" charset="-122"/>
              </a:rPr>
              <a:t>6</a:t>
            </a:fld>
            <a:endParaRPr lang="zh-CN" altLang="en-US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7864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9538" y="741363"/>
            <a:ext cx="6578600" cy="370205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62972C-F595-426E-BFBE-ADDDC0BBDA66}" type="slidenum">
              <a:rPr lang="zh-CN" altLang="en-US" smtClean="0">
                <a:ea typeface="宋体" panose="02010600030101010101" pitchFamily="2" charset="-122"/>
              </a:rPr>
              <a:t>7</a:t>
            </a:fld>
            <a:endParaRPr lang="zh-CN" altLang="en-US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923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9538" y="741363"/>
            <a:ext cx="6578600" cy="370205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62972C-F595-426E-BFBE-ADDDC0BBDA66}" type="slidenum">
              <a:rPr lang="zh-CN" altLang="en-US" smtClean="0">
                <a:ea typeface="宋体" panose="02010600030101010101" pitchFamily="2" charset="-122"/>
              </a:rPr>
              <a:t>8</a:t>
            </a:fld>
            <a:endParaRPr lang="zh-CN" altLang="en-US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708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9538" y="741363"/>
            <a:ext cx="6578600" cy="37020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26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F54C80-B770-4C50-A5D1-D9880C7EFE61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8826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0859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9538" y="741363"/>
            <a:ext cx="6578600" cy="37020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26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F54C80-B770-4C50-A5D1-D9880C7EFE61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8826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5611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9538" y="741363"/>
            <a:ext cx="6578600" cy="37020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26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F54C80-B770-4C50-A5D1-D9880C7EFE61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8826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4024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9538" y="741363"/>
            <a:ext cx="6578600" cy="37020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26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F54C80-B770-4C50-A5D1-D9880C7EFE61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8826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58492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9538" y="741363"/>
            <a:ext cx="6578600" cy="37020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26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F54C80-B770-4C50-A5D1-D9880C7EFE61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8826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3575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9538" y="741363"/>
            <a:ext cx="6578600" cy="37020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26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F54C80-B770-4C50-A5D1-D9880C7EFE61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8826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62104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9538" y="741363"/>
            <a:ext cx="6578600" cy="370205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62972C-F595-426E-BFBE-ADDDC0BBDA66}" type="slidenum">
              <a:rPr lang="zh-CN" altLang="en-US" smtClean="0">
                <a:ea typeface="宋体" panose="02010600030101010101" pitchFamily="2" charset="-122"/>
              </a:rPr>
              <a:t>15</a:t>
            </a:fld>
            <a:endParaRPr lang="zh-CN" altLang="en-US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554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108A11-C4C4-47DC-9FDC-957A41EDA30D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92215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8C56B3-3B34-4D40-AF87-9F9B0A883ED8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91443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E47EE5-0608-4349-AE19-460B51080CA5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4448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37028-1973-41B4-8E64-A16DF9CE78C5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36794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8EF42A-5939-4654-85BC-BA1A5AD64E17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13640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53DF6-27E5-40A0-A490-376194406B50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67802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494EB2-2042-4D3E-AE60-C357328FE70C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65630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4E721D-341E-46A8-9634-AFA3596890ED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05219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DC8AAC-475B-4954-80C7-2718119FCE67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5972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3CDB77-BDD4-4E50-AF2D-C8E2730BCAE9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62237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C65444-C27E-4275-9B64-A99AFE6606A1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11061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高铁新2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60574"/>
            <a:ext cx="12192000" cy="4797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0" y="2060574"/>
            <a:ext cx="12192000" cy="2026456"/>
          </a:xfrm>
          <a:prstGeom prst="rect">
            <a:avLst/>
          </a:prstGeom>
          <a:solidFill>
            <a:srgbClr val="1B3F85"/>
          </a:solidFill>
          <a:ln>
            <a:noFill/>
          </a:ln>
        </p:spPr>
        <p:txBody>
          <a:bodyPr/>
          <a:lstStyle/>
          <a:p>
            <a:pPr lvl="0"/>
            <a:endParaRPr lang="zh-CN" altLang="en-US" sz="1600" b="1">
              <a:solidFill>
                <a:srgbClr val="00000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  <p:pic>
        <p:nvPicPr>
          <p:cNvPr id="15" name="Picture 7" descr="L:\山东用图\13249475386848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39471" y="4231530"/>
            <a:ext cx="1218833" cy="611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8" name="Picture 2" descr="L:\山东用图\20130608104108931.jpg"/>
          <p:cNvPicPr>
            <a:picLocks noChangeAspect="1" noChangeArrowheads="1"/>
          </p:cNvPicPr>
          <p:nvPr userDrawn="1"/>
        </p:nvPicPr>
        <p:blipFill rotWithShape="1">
          <a:blip r:embed="rId4" cstate="print"/>
          <a:srcRect/>
          <a:stretch/>
        </p:blipFill>
        <p:spPr bwMode="auto">
          <a:xfrm>
            <a:off x="1537810" y="4231530"/>
            <a:ext cx="1151832" cy="611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7" name="Picture 4" descr="L:\山东用图\29.jpg"/>
          <p:cNvPicPr>
            <a:picLocks noChangeAspect="1" noChangeArrowheads="1"/>
          </p:cNvPicPr>
          <p:nvPr userDrawn="1"/>
        </p:nvPicPr>
        <p:blipFill rotWithShape="1">
          <a:blip r:embed="rId5" cstate="print"/>
          <a:srcRect/>
          <a:stretch/>
        </p:blipFill>
        <p:spPr bwMode="auto">
          <a:xfrm>
            <a:off x="4219327" y="4231530"/>
            <a:ext cx="1144103" cy="611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8" name="Picture 8" descr="L:\山东用图\W020110917520651407484.jpg"/>
          <p:cNvPicPr>
            <a:picLocks noChangeAspect="1" noChangeArrowheads="1"/>
          </p:cNvPicPr>
          <p:nvPr userDrawn="1"/>
        </p:nvPicPr>
        <p:blipFill rotWithShape="1">
          <a:blip r:embed="rId6" cstate="print"/>
          <a:srcRect/>
          <a:stretch/>
        </p:blipFill>
        <p:spPr bwMode="auto">
          <a:xfrm>
            <a:off x="2865683" y="4231530"/>
            <a:ext cx="1177603" cy="611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AutoShape 9"/>
          <p:cNvSpPr>
            <a:spLocks noChangeArrowheads="1"/>
          </p:cNvSpPr>
          <p:nvPr userDrawn="1"/>
        </p:nvSpPr>
        <p:spPr bwMode="auto">
          <a:xfrm>
            <a:off x="-10584" y="793204"/>
            <a:ext cx="12202584" cy="53642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1"/>
          </a:solidFill>
          <a:ln w="12700">
            <a:solidFill>
              <a:srgbClr val="4F81BD"/>
            </a:solidFill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240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Times New Roman" pitchFamily="18" charset="0"/>
              <a:ea typeface="+mn-ea"/>
            </a:endParaRPr>
          </a:p>
        </p:txBody>
      </p:sp>
      <p:pic>
        <p:nvPicPr>
          <p:cNvPr id="13" name="Picture 2" descr="北京交通大学ppt角标图案（右）.jpg"/>
          <p:cNvPicPr preferRelativeResize="0">
            <a:picLocks noChangeArrowheads="1"/>
          </p:cNvPicPr>
          <p:nvPr userDrawn="1"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0128448" y="236568"/>
            <a:ext cx="1728192" cy="468000"/>
          </a:xfrm>
          <a:prstGeom prst="rect">
            <a:avLst/>
          </a:prstGeom>
          <a:noFill/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CE1C613-9C66-45AD-8003-641B2838F2A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17666" y="4231530"/>
            <a:ext cx="1144103" cy="611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72691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C:\Documents and Settings\Administrator\桌面\图片3.jpg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" y="0"/>
            <a:ext cx="10096500" cy="765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任意多边形 2"/>
          <p:cNvSpPr/>
          <p:nvPr userDrawn="1"/>
        </p:nvSpPr>
        <p:spPr>
          <a:xfrm>
            <a:off x="8382005" y="-1"/>
            <a:ext cx="2190751" cy="1041399"/>
          </a:xfrm>
          <a:custGeom>
            <a:avLst/>
            <a:gdLst>
              <a:gd name="connsiteX0" fmla="*/ 1045234 w 1194758"/>
              <a:gd name="connsiteY0" fmla="*/ 67574 h 1040922"/>
              <a:gd name="connsiteX1" fmla="*/ 1045234 w 1194758"/>
              <a:gd name="connsiteY1" fmla="*/ 887084 h 1040922"/>
              <a:gd name="connsiteX2" fmla="*/ 148087 w 1194758"/>
              <a:gd name="connsiteY2" fmla="*/ 973348 h 1040922"/>
              <a:gd name="connsiteX3" fmla="*/ 156713 w 1194758"/>
              <a:gd name="connsiteY3" fmla="*/ 481642 h 1040922"/>
              <a:gd name="connsiteX4" fmla="*/ 1045234 w 1194758"/>
              <a:gd name="connsiteY4" fmla="*/ 67574 h 104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4758" h="1040922">
                <a:moveTo>
                  <a:pt x="1045234" y="67574"/>
                </a:moveTo>
                <a:cubicBezTo>
                  <a:pt x="1193321" y="135148"/>
                  <a:pt x="1194758" y="736122"/>
                  <a:pt x="1045234" y="887084"/>
                </a:cubicBezTo>
                <a:cubicBezTo>
                  <a:pt x="895710" y="1038046"/>
                  <a:pt x="296174" y="1040922"/>
                  <a:pt x="148087" y="973348"/>
                </a:cubicBezTo>
                <a:cubicBezTo>
                  <a:pt x="0" y="905774"/>
                  <a:pt x="4313" y="635480"/>
                  <a:pt x="156713" y="481642"/>
                </a:cubicBezTo>
                <a:cubicBezTo>
                  <a:pt x="309113" y="327804"/>
                  <a:pt x="897147" y="0"/>
                  <a:pt x="1045234" y="6757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/>
          </a:p>
        </p:txBody>
      </p:sp>
      <p:sp>
        <p:nvSpPr>
          <p:cNvPr id="5" name="AutoShape 9"/>
          <p:cNvSpPr>
            <a:spLocks noChangeArrowheads="1"/>
          </p:cNvSpPr>
          <p:nvPr userDrawn="1"/>
        </p:nvSpPr>
        <p:spPr bwMode="auto">
          <a:xfrm>
            <a:off x="-10584" y="793204"/>
            <a:ext cx="12202584" cy="53642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1"/>
          </a:solidFill>
          <a:ln w="12700">
            <a:solidFill>
              <a:srgbClr val="4F81BD"/>
            </a:solidFill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240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Times New Roman" pitchFamily="18" charset="0"/>
              <a:ea typeface="+mn-ea"/>
            </a:endParaRPr>
          </a:p>
        </p:txBody>
      </p:sp>
      <p:pic>
        <p:nvPicPr>
          <p:cNvPr id="6" name="Picture 2" descr="北京交通大学ppt角标图案（右）.jpg"/>
          <p:cNvPicPr preferRelativeResize="0">
            <a:picLocks noChangeArrowheads="1"/>
          </p:cNvPicPr>
          <p:nvPr userDrawn="1"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0096502" y="224696"/>
            <a:ext cx="1760138" cy="468000"/>
          </a:xfrm>
          <a:prstGeom prst="rect">
            <a:avLst/>
          </a:prstGeom>
          <a:noFill/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BC633E-BDDB-11A5-3C24-088F57BF0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7448E967-34A1-047D-0371-91A3581DF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B582BD8-0798-6457-0BE8-2C2582AB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4632" y="6520259"/>
            <a:ext cx="432048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EEC65444-C27E-4275-9B64-A99AFE6606A1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34818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C:\Documents and Settings\Administrator\桌面\图片3.jpg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" y="0"/>
            <a:ext cx="10096500" cy="765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任意多边形 2"/>
          <p:cNvSpPr/>
          <p:nvPr userDrawn="1"/>
        </p:nvSpPr>
        <p:spPr>
          <a:xfrm>
            <a:off x="8382005" y="-142875"/>
            <a:ext cx="2190751" cy="1184274"/>
          </a:xfrm>
          <a:custGeom>
            <a:avLst/>
            <a:gdLst>
              <a:gd name="connsiteX0" fmla="*/ 1045234 w 1194758"/>
              <a:gd name="connsiteY0" fmla="*/ 67574 h 1040922"/>
              <a:gd name="connsiteX1" fmla="*/ 1045234 w 1194758"/>
              <a:gd name="connsiteY1" fmla="*/ 887084 h 1040922"/>
              <a:gd name="connsiteX2" fmla="*/ 148087 w 1194758"/>
              <a:gd name="connsiteY2" fmla="*/ 973348 h 1040922"/>
              <a:gd name="connsiteX3" fmla="*/ 156713 w 1194758"/>
              <a:gd name="connsiteY3" fmla="*/ 481642 h 1040922"/>
              <a:gd name="connsiteX4" fmla="*/ 1045234 w 1194758"/>
              <a:gd name="connsiteY4" fmla="*/ 67574 h 104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4758" h="1040922">
                <a:moveTo>
                  <a:pt x="1045234" y="67574"/>
                </a:moveTo>
                <a:cubicBezTo>
                  <a:pt x="1193321" y="135148"/>
                  <a:pt x="1194758" y="736122"/>
                  <a:pt x="1045234" y="887084"/>
                </a:cubicBezTo>
                <a:cubicBezTo>
                  <a:pt x="895710" y="1038046"/>
                  <a:pt x="296174" y="1040922"/>
                  <a:pt x="148087" y="973348"/>
                </a:cubicBezTo>
                <a:cubicBezTo>
                  <a:pt x="0" y="905774"/>
                  <a:pt x="4313" y="635480"/>
                  <a:pt x="156713" y="481642"/>
                </a:cubicBezTo>
                <a:cubicBezTo>
                  <a:pt x="309113" y="327804"/>
                  <a:pt x="897147" y="0"/>
                  <a:pt x="1045234" y="6757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/>
          </a:p>
        </p:txBody>
      </p:sp>
      <p:pic>
        <p:nvPicPr>
          <p:cNvPr id="4" name="Picture 2" descr="北京交通大学ppt角标图案（右）.jp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9360363" y="188640"/>
            <a:ext cx="2616117" cy="5765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51462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8286-50E2-43B3-8BCD-2562A101D5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945735" y="1521152"/>
            <a:ext cx="103802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108A11-C4C4-47DC-9FDC-957A41EDA30D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636695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8C56B3-3B34-4D40-AF87-9F9B0A883ED8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946672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E47EE5-0608-4349-AE19-460B51080CA5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320013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37028-1973-41B4-8E64-A16DF9CE78C5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67272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8EF42A-5939-4654-85BC-BA1A5AD64E17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517986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53DF6-27E5-40A0-A490-376194406B50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158029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494EB2-2042-4D3E-AE60-C357328FE70C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526157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4E721D-341E-46A8-9634-AFA3596890ED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350316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DC8AAC-475B-4954-80C7-2718119FCE67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250926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3CDB77-BDD4-4E50-AF2D-C8E2730BCAE9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085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C65444-C27E-4275-9B64-A99AFE6606A1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2520360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高铁新2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60574"/>
            <a:ext cx="12192000" cy="4797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0" y="2060574"/>
            <a:ext cx="12192000" cy="2026456"/>
          </a:xfrm>
          <a:prstGeom prst="rect">
            <a:avLst/>
          </a:prstGeom>
          <a:solidFill>
            <a:srgbClr val="1B3F85"/>
          </a:solidFill>
          <a:ln>
            <a:noFill/>
          </a:ln>
        </p:spPr>
        <p:txBody>
          <a:bodyPr/>
          <a:lstStyle/>
          <a:p>
            <a:pPr lvl="0"/>
            <a:endParaRPr lang="zh-CN" altLang="en-US" sz="1600" b="1">
              <a:solidFill>
                <a:srgbClr val="00000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  <p:pic>
        <p:nvPicPr>
          <p:cNvPr id="15" name="Picture 7" descr="L:\山东用图\13249475386848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39471" y="4231530"/>
            <a:ext cx="1218833" cy="611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8" name="Picture 2" descr="L:\山东用图\20130608104108931.jpg"/>
          <p:cNvPicPr>
            <a:picLocks noChangeAspect="1" noChangeArrowheads="1"/>
          </p:cNvPicPr>
          <p:nvPr userDrawn="1"/>
        </p:nvPicPr>
        <p:blipFill rotWithShape="1">
          <a:blip r:embed="rId4" cstate="print"/>
          <a:srcRect/>
          <a:stretch/>
        </p:blipFill>
        <p:spPr bwMode="auto">
          <a:xfrm>
            <a:off x="1537810" y="4231530"/>
            <a:ext cx="1151832" cy="611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7" name="Picture 4" descr="L:\山东用图\29.jpg"/>
          <p:cNvPicPr>
            <a:picLocks noChangeAspect="1" noChangeArrowheads="1"/>
          </p:cNvPicPr>
          <p:nvPr userDrawn="1"/>
        </p:nvPicPr>
        <p:blipFill rotWithShape="1">
          <a:blip r:embed="rId5" cstate="print"/>
          <a:srcRect/>
          <a:stretch/>
        </p:blipFill>
        <p:spPr bwMode="auto">
          <a:xfrm>
            <a:off x="4219327" y="4231530"/>
            <a:ext cx="1144103" cy="611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8" name="Picture 8" descr="L:\山东用图\W020110917520651407484.jpg"/>
          <p:cNvPicPr>
            <a:picLocks noChangeAspect="1" noChangeArrowheads="1"/>
          </p:cNvPicPr>
          <p:nvPr userDrawn="1"/>
        </p:nvPicPr>
        <p:blipFill rotWithShape="1">
          <a:blip r:embed="rId6" cstate="print"/>
          <a:srcRect/>
          <a:stretch/>
        </p:blipFill>
        <p:spPr bwMode="auto">
          <a:xfrm>
            <a:off x="2865683" y="4231530"/>
            <a:ext cx="1177603" cy="611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AutoShape 9"/>
          <p:cNvSpPr>
            <a:spLocks noChangeArrowheads="1"/>
          </p:cNvSpPr>
          <p:nvPr userDrawn="1"/>
        </p:nvSpPr>
        <p:spPr bwMode="auto">
          <a:xfrm>
            <a:off x="-10584" y="793204"/>
            <a:ext cx="12202584" cy="53642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1"/>
          </a:solidFill>
          <a:ln w="12700">
            <a:solidFill>
              <a:srgbClr val="4F81BD"/>
            </a:solidFill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240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Times New Roman" pitchFamily="18" charset="0"/>
              <a:ea typeface="+mn-ea"/>
            </a:endParaRPr>
          </a:p>
        </p:txBody>
      </p:sp>
      <p:pic>
        <p:nvPicPr>
          <p:cNvPr id="13" name="Picture 2" descr="北京交通大学ppt角标图案（右）.jpg"/>
          <p:cNvPicPr preferRelativeResize="0">
            <a:picLocks noChangeArrowheads="1"/>
          </p:cNvPicPr>
          <p:nvPr userDrawn="1"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0128448" y="236568"/>
            <a:ext cx="1728192" cy="468000"/>
          </a:xfrm>
          <a:prstGeom prst="rect">
            <a:avLst/>
          </a:prstGeom>
          <a:noFill/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CE1C613-9C66-45AD-8003-641B2838F2A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17666" y="4231530"/>
            <a:ext cx="1144103" cy="611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494281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C:\Documents and Settings\Administrator\桌面\图片3.jpg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" y="0"/>
            <a:ext cx="10096500" cy="765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任意多边形 2"/>
          <p:cNvSpPr/>
          <p:nvPr userDrawn="1"/>
        </p:nvSpPr>
        <p:spPr>
          <a:xfrm>
            <a:off x="8382005" y="-1"/>
            <a:ext cx="2190751" cy="1041399"/>
          </a:xfrm>
          <a:custGeom>
            <a:avLst/>
            <a:gdLst>
              <a:gd name="connsiteX0" fmla="*/ 1045234 w 1194758"/>
              <a:gd name="connsiteY0" fmla="*/ 67574 h 1040922"/>
              <a:gd name="connsiteX1" fmla="*/ 1045234 w 1194758"/>
              <a:gd name="connsiteY1" fmla="*/ 887084 h 1040922"/>
              <a:gd name="connsiteX2" fmla="*/ 148087 w 1194758"/>
              <a:gd name="connsiteY2" fmla="*/ 973348 h 1040922"/>
              <a:gd name="connsiteX3" fmla="*/ 156713 w 1194758"/>
              <a:gd name="connsiteY3" fmla="*/ 481642 h 1040922"/>
              <a:gd name="connsiteX4" fmla="*/ 1045234 w 1194758"/>
              <a:gd name="connsiteY4" fmla="*/ 67574 h 104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4758" h="1040922">
                <a:moveTo>
                  <a:pt x="1045234" y="67574"/>
                </a:moveTo>
                <a:cubicBezTo>
                  <a:pt x="1193321" y="135148"/>
                  <a:pt x="1194758" y="736122"/>
                  <a:pt x="1045234" y="887084"/>
                </a:cubicBezTo>
                <a:cubicBezTo>
                  <a:pt x="895710" y="1038046"/>
                  <a:pt x="296174" y="1040922"/>
                  <a:pt x="148087" y="973348"/>
                </a:cubicBezTo>
                <a:cubicBezTo>
                  <a:pt x="0" y="905774"/>
                  <a:pt x="4313" y="635480"/>
                  <a:pt x="156713" y="481642"/>
                </a:cubicBezTo>
                <a:cubicBezTo>
                  <a:pt x="309113" y="327804"/>
                  <a:pt x="897147" y="0"/>
                  <a:pt x="1045234" y="6757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/>
          </a:p>
        </p:txBody>
      </p:sp>
      <p:sp>
        <p:nvSpPr>
          <p:cNvPr id="5" name="AutoShape 9"/>
          <p:cNvSpPr>
            <a:spLocks noChangeArrowheads="1"/>
          </p:cNvSpPr>
          <p:nvPr userDrawn="1"/>
        </p:nvSpPr>
        <p:spPr bwMode="auto">
          <a:xfrm>
            <a:off x="-10584" y="793204"/>
            <a:ext cx="12202584" cy="53642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1"/>
          </a:solidFill>
          <a:ln w="12700">
            <a:solidFill>
              <a:srgbClr val="4F81BD"/>
            </a:solidFill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240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Times New Roman" pitchFamily="18" charset="0"/>
              <a:ea typeface="+mn-ea"/>
            </a:endParaRPr>
          </a:p>
        </p:txBody>
      </p:sp>
      <p:pic>
        <p:nvPicPr>
          <p:cNvPr id="6" name="Picture 2" descr="北京交通大学ppt角标图案（右）.jpg"/>
          <p:cNvPicPr preferRelativeResize="0">
            <a:picLocks noChangeArrowheads="1"/>
          </p:cNvPicPr>
          <p:nvPr userDrawn="1"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0096502" y="224696"/>
            <a:ext cx="1760138" cy="46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293876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C:\Documents and Settings\Administrator\桌面\图片3.jpg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" y="0"/>
            <a:ext cx="10096500" cy="765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任意多边形 2"/>
          <p:cNvSpPr/>
          <p:nvPr userDrawn="1"/>
        </p:nvSpPr>
        <p:spPr>
          <a:xfrm>
            <a:off x="8382005" y="-142875"/>
            <a:ext cx="2190751" cy="1184274"/>
          </a:xfrm>
          <a:custGeom>
            <a:avLst/>
            <a:gdLst>
              <a:gd name="connsiteX0" fmla="*/ 1045234 w 1194758"/>
              <a:gd name="connsiteY0" fmla="*/ 67574 h 1040922"/>
              <a:gd name="connsiteX1" fmla="*/ 1045234 w 1194758"/>
              <a:gd name="connsiteY1" fmla="*/ 887084 h 1040922"/>
              <a:gd name="connsiteX2" fmla="*/ 148087 w 1194758"/>
              <a:gd name="connsiteY2" fmla="*/ 973348 h 1040922"/>
              <a:gd name="connsiteX3" fmla="*/ 156713 w 1194758"/>
              <a:gd name="connsiteY3" fmla="*/ 481642 h 1040922"/>
              <a:gd name="connsiteX4" fmla="*/ 1045234 w 1194758"/>
              <a:gd name="connsiteY4" fmla="*/ 67574 h 104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4758" h="1040922">
                <a:moveTo>
                  <a:pt x="1045234" y="67574"/>
                </a:moveTo>
                <a:cubicBezTo>
                  <a:pt x="1193321" y="135148"/>
                  <a:pt x="1194758" y="736122"/>
                  <a:pt x="1045234" y="887084"/>
                </a:cubicBezTo>
                <a:cubicBezTo>
                  <a:pt x="895710" y="1038046"/>
                  <a:pt x="296174" y="1040922"/>
                  <a:pt x="148087" y="973348"/>
                </a:cubicBezTo>
                <a:cubicBezTo>
                  <a:pt x="0" y="905774"/>
                  <a:pt x="4313" y="635480"/>
                  <a:pt x="156713" y="481642"/>
                </a:cubicBezTo>
                <a:cubicBezTo>
                  <a:pt x="309113" y="327804"/>
                  <a:pt x="897147" y="0"/>
                  <a:pt x="1045234" y="67574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/>
          </a:p>
        </p:txBody>
      </p:sp>
      <p:pic>
        <p:nvPicPr>
          <p:cNvPr id="4" name="Picture 2" descr="北京交通大学ppt角标图案（右）.jp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9360363" y="188640"/>
            <a:ext cx="2616117" cy="5765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77070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8286-50E2-43B3-8BCD-2562A101D5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945735" y="1521152"/>
            <a:ext cx="103802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963581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EC65444-C27E-4275-9B64-A99AFE6606A1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67068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74" r:id="rId14"/>
    <p:sldLayoutId id="2147483661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EC65444-C27E-4275-9B64-A99AFE6606A1}" type="slidenum">
              <a:rPr lang="zh-CN" altLang="en-US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6301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8.sv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4.svg"/><Relationship Id="rId1" Type="http://schemas.openxmlformats.org/officeDocument/2006/relationships/tags" Target="../tags/tag4.xml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svg"/><Relationship Id="rId4" Type="http://schemas.openxmlformats.org/officeDocument/2006/relationships/image" Target="../media/image22.emf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emf"/><Relationship Id="rId5" Type="http://schemas.openxmlformats.org/officeDocument/2006/relationships/image" Target="../media/image38.emf"/><Relationship Id="rId4" Type="http://schemas.openxmlformats.org/officeDocument/2006/relationships/image" Target="../media/image37.emf"/><Relationship Id="rId9" Type="http://schemas.openxmlformats.org/officeDocument/2006/relationships/image" Target="../media/image4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8.emf"/><Relationship Id="rId4" Type="http://schemas.openxmlformats.org/officeDocument/2006/relationships/image" Target="../media/image47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52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10" Type="http://schemas.openxmlformats.org/officeDocument/2006/relationships/image" Target="../media/image54.wmf"/><Relationship Id="rId4" Type="http://schemas.openxmlformats.org/officeDocument/2006/relationships/image" Target="../media/image49.png"/><Relationship Id="rId9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13"/>
          <p:cNvSpPr>
            <a:spLocks noChangeArrowheads="1"/>
          </p:cNvSpPr>
          <p:nvPr/>
        </p:nvSpPr>
        <p:spPr bwMode="auto">
          <a:xfrm>
            <a:off x="6276020" y="4869160"/>
            <a:ext cx="4752528" cy="1414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0" hangingPunct="0">
              <a:lnSpc>
                <a:spcPct val="125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答辩人：待填写</a:t>
            </a:r>
            <a:endParaRPr lang="en-US" altLang="zh-CN" sz="2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lnSpc>
                <a:spcPct val="125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指导老师：导师甲 导师乙</a:t>
            </a:r>
            <a:endParaRPr lang="en-US" altLang="zh-CN" sz="20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lnSpc>
                <a:spcPct val="125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r>
              <a:rPr lang="en-US" altLang="zh-CN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20XX</a:t>
            </a: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en-US" altLang="zh-CN" sz="20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lnSpc>
                <a:spcPct val="125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endParaRPr lang="en-US" altLang="zh-CN" sz="2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119336" y="2709509"/>
            <a:ext cx="11881320" cy="791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面向自动驾驶高效测试的切入场景建模与生成方法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19336" y="277198"/>
            <a:ext cx="14401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00" b="1" dirty="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中期答辩</a:t>
            </a:r>
          </a:p>
        </p:txBody>
      </p:sp>
    </p:spTree>
    <p:extLst>
      <p:ext uri="{BB962C8B-B14F-4D97-AF65-F5344CB8AC3E}">
        <p14:creationId xmlns:p14="http://schemas.microsoft.com/office/powerpoint/2010/main" val="2004184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59">
            <a:extLst>
              <a:ext uri="{FF2B5EF4-FFF2-40B4-BE49-F238E27FC236}">
                <a16:creationId xmlns:a16="http://schemas.microsoft.com/office/drawing/2014/main" id="{71CE0525-4CDF-9451-C39A-45C92D5CD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0" y="116632"/>
            <a:ext cx="24479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汇报提纲</a:t>
            </a:r>
            <a:endParaRPr lang="en-US" altLang="zh-CN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39">
            <a:extLst>
              <a:ext uri="{FF2B5EF4-FFF2-40B4-BE49-F238E27FC236}">
                <a16:creationId xmlns:a16="http://schemas.microsoft.com/office/drawing/2014/main" id="{440D4BBD-46EB-339A-294E-6DC086ED7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800" y="1124744"/>
            <a:ext cx="9804399" cy="5471814"/>
          </a:xfrm>
          <a:prstGeom prst="roundRect">
            <a:avLst>
              <a:gd name="adj" fmla="val 16667"/>
            </a:avLst>
          </a:prstGeom>
          <a:solidFill>
            <a:srgbClr val="ECECEC"/>
          </a:solidFill>
          <a:ln w="9525" algn="ctr">
            <a:noFill/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endParaRPr lang="zh-CN" altLang="en-US" sz="2000">
              <a:latin typeface="Arial" charset="0"/>
            </a:endParaRPr>
          </a:p>
        </p:txBody>
      </p:sp>
      <p:sp>
        <p:nvSpPr>
          <p:cNvPr id="11" name="圆角矩形 49">
            <a:extLst>
              <a:ext uri="{FF2B5EF4-FFF2-40B4-BE49-F238E27FC236}">
                <a16:creationId xmlns:a16="http://schemas.microsoft.com/office/drawing/2014/main" id="{18EBDDF7-A824-0293-7B0F-65DD77AF5D04}"/>
              </a:ext>
            </a:extLst>
          </p:cNvPr>
          <p:cNvSpPr/>
          <p:nvPr/>
        </p:nvSpPr>
        <p:spPr>
          <a:xfrm>
            <a:off x="2192846" y="1749576"/>
            <a:ext cx="720000" cy="720000"/>
          </a:xfrm>
          <a:prstGeom prst="roundRect">
            <a:avLst/>
          </a:prstGeom>
          <a:solidFill>
            <a:srgbClr val="1D477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>
              <a:defRPr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4EC2B56-8A57-9C57-11D3-08C466A5A366}"/>
              </a:ext>
            </a:extLst>
          </p:cNvPr>
          <p:cNvGrpSpPr/>
          <p:nvPr/>
        </p:nvGrpSpPr>
        <p:grpSpPr>
          <a:xfrm>
            <a:off x="3126535" y="1677577"/>
            <a:ext cx="6857897" cy="827274"/>
            <a:chOff x="6339097" y="1573726"/>
            <a:chExt cx="3744417" cy="511504"/>
          </a:xfrm>
          <a:solidFill>
            <a:srgbClr val="1D4779"/>
          </a:solidFill>
        </p:grpSpPr>
        <p:sp>
          <p:nvSpPr>
            <p:cNvPr id="13" name="圆角矩形 51">
              <a:extLst>
                <a:ext uri="{FF2B5EF4-FFF2-40B4-BE49-F238E27FC236}">
                  <a16:creationId xmlns:a16="http://schemas.microsoft.com/office/drawing/2014/main" id="{F67BC219-AECD-E63F-A861-89FF1AC12D42}"/>
                </a:ext>
              </a:extLst>
            </p:cNvPr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t"/>
            <a:lstStyle/>
            <a:p>
              <a:pPr algn="ctr">
                <a:defRPr/>
              </a:pPr>
              <a:endPara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3968193-3A04-AB1D-1F40-4021F285C58B}"/>
                </a:ext>
              </a:extLst>
            </p:cNvPr>
            <p:cNvSpPr/>
            <p:nvPr/>
          </p:nvSpPr>
          <p:spPr>
            <a:xfrm>
              <a:off x="6341715" y="1670666"/>
              <a:ext cx="3741799" cy="380622"/>
            </a:xfrm>
            <a:prstGeom prst="rect">
              <a:avLst/>
            </a:prstGeom>
            <a:noFill/>
          </p:spPr>
          <p:txBody>
            <a:bodyPr wrap="square" lIns="121960" tIns="60980" rIns="121960" bIns="60980" anchor="t">
              <a:spAutoFit/>
            </a:bodyPr>
            <a:lstStyle/>
            <a:p>
              <a:pPr algn="ctr">
                <a:defRPr/>
              </a:pPr>
              <a:r>
                <a:rPr lang="zh-CN" altLang="en-US" sz="3200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研究背景与思路</a:t>
              </a:r>
            </a:p>
          </p:txBody>
        </p:sp>
      </p:grpSp>
      <p:sp>
        <p:nvSpPr>
          <p:cNvPr id="32" name="圆角矩形 69">
            <a:extLst>
              <a:ext uri="{FF2B5EF4-FFF2-40B4-BE49-F238E27FC236}">
                <a16:creationId xmlns:a16="http://schemas.microsoft.com/office/drawing/2014/main" id="{989DB503-9DB2-5CE5-BA2B-4D55EFA83A37}"/>
              </a:ext>
            </a:extLst>
          </p:cNvPr>
          <p:cNvSpPr/>
          <p:nvPr/>
        </p:nvSpPr>
        <p:spPr>
          <a:xfrm>
            <a:off x="2187890" y="5300644"/>
            <a:ext cx="720000" cy="720000"/>
          </a:xfrm>
          <a:prstGeom prst="roundRect">
            <a:avLst/>
          </a:prstGeom>
          <a:solidFill>
            <a:srgbClr val="1D477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>
              <a:defRPr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73A9EE5-A877-459A-BACA-1B68128C0A14}"/>
              </a:ext>
            </a:extLst>
          </p:cNvPr>
          <p:cNvGrpSpPr/>
          <p:nvPr/>
        </p:nvGrpSpPr>
        <p:grpSpPr>
          <a:xfrm>
            <a:off x="3116354" y="5229195"/>
            <a:ext cx="6868075" cy="844860"/>
            <a:chOff x="6339097" y="5057483"/>
            <a:chExt cx="3744416" cy="511504"/>
          </a:xfrm>
          <a:solidFill>
            <a:srgbClr val="1D4779"/>
          </a:solidFill>
        </p:grpSpPr>
        <p:sp>
          <p:nvSpPr>
            <p:cNvPr id="34" name="圆角矩形 71">
              <a:extLst>
                <a:ext uri="{FF2B5EF4-FFF2-40B4-BE49-F238E27FC236}">
                  <a16:creationId xmlns:a16="http://schemas.microsoft.com/office/drawing/2014/main" id="{C7BA2597-AC87-3B20-E44E-024632AF33A0}"/>
                </a:ext>
              </a:extLst>
            </p:cNvPr>
            <p:cNvSpPr/>
            <p:nvPr/>
          </p:nvSpPr>
          <p:spPr>
            <a:xfrm>
              <a:off x="6339097" y="5057483"/>
              <a:ext cx="3744416" cy="511504"/>
            </a:xfrm>
            <a:prstGeom prst="roundRect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t"/>
            <a:lstStyle/>
            <a:p>
              <a:pPr algn="ctr">
                <a:defRPr/>
              </a:pPr>
              <a:endPara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86FFC384-A183-14D5-99F1-8F39A64D684D}"/>
                </a:ext>
              </a:extLst>
            </p:cNvPr>
            <p:cNvSpPr/>
            <p:nvPr/>
          </p:nvSpPr>
          <p:spPr>
            <a:xfrm>
              <a:off x="6339098" y="5146590"/>
              <a:ext cx="3744414" cy="372699"/>
            </a:xfrm>
            <a:prstGeom prst="rect">
              <a:avLst/>
            </a:prstGeom>
            <a:noFill/>
          </p:spPr>
          <p:txBody>
            <a:bodyPr wrap="square" lIns="121960" tIns="60980" rIns="121960" bIns="60980" anchor="t">
              <a:spAutoFit/>
            </a:bodyPr>
            <a:lstStyle/>
            <a:p>
              <a:pPr algn="ctr">
                <a:defRPr/>
              </a:pPr>
              <a:r>
                <a:rPr lang="zh-CN" altLang="en-US" sz="3200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后续工作安排</a:t>
              </a:r>
            </a:p>
          </p:txBody>
        </p:sp>
      </p:grpSp>
      <p:sp>
        <p:nvSpPr>
          <p:cNvPr id="36" name="圆角矩形 33">
            <a:extLst>
              <a:ext uri="{FF2B5EF4-FFF2-40B4-BE49-F238E27FC236}">
                <a16:creationId xmlns:a16="http://schemas.microsoft.com/office/drawing/2014/main" id="{5A44999D-1BB2-584F-4BDA-313C343C8586}"/>
              </a:ext>
            </a:extLst>
          </p:cNvPr>
          <p:cNvSpPr/>
          <p:nvPr/>
        </p:nvSpPr>
        <p:spPr>
          <a:xfrm>
            <a:off x="2192846" y="3525110"/>
            <a:ext cx="720000" cy="720000"/>
          </a:xfrm>
          <a:prstGeom prst="roundRect">
            <a:avLst/>
          </a:prstGeom>
          <a:solidFill>
            <a:srgbClr val="1D477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>
              <a:defRPr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BD224A8-D801-2EE7-D6DA-643CE85893C1}"/>
              </a:ext>
            </a:extLst>
          </p:cNvPr>
          <p:cNvGrpSpPr/>
          <p:nvPr/>
        </p:nvGrpSpPr>
        <p:grpSpPr>
          <a:xfrm>
            <a:off x="3121418" y="3453390"/>
            <a:ext cx="6858055" cy="829278"/>
            <a:chOff x="6339097" y="3296031"/>
            <a:chExt cx="3744416" cy="511504"/>
          </a:xfrm>
          <a:solidFill>
            <a:srgbClr val="1D4779"/>
          </a:solidFill>
        </p:grpSpPr>
        <p:sp>
          <p:nvSpPr>
            <p:cNvPr id="38" name="圆角矩形 35">
              <a:extLst>
                <a:ext uri="{FF2B5EF4-FFF2-40B4-BE49-F238E27FC236}">
                  <a16:creationId xmlns:a16="http://schemas.microsoft.com/office/drawing/2014/main" id="{9FD98C91-0766-5890-5CC1-AF5EE71E6FA0}"/>
                </a:ext>
              </a:extLst>
            </p:cNvPr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t"/>
            <a:lstStyle/>
            <a:p>
              <a:pPr algn="ctr">
                <a:defRPr/>
              </a:pPr>
              <a:endPara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6AFFDD8A-FD8B-B48C-5BAD-CC10FAAB7D14}"/>
                </a:ext>
              </a:extLst>
            </p:cNvPr>
            <p:cNvSpPr/>
            <p:nvPr/>
          </p:nvSpPr>
          <p:spPr>
            <a:xfrm>
              <a:off x="6341803" y="3392139"/>
              <a:ext cx="3738946" cy="379702"/>
            </a:xfrm>
            <a:prstGeom prst="rect">
              <a:avLst/>
            </a:prstGeom>
            <a:noFill/>
          </p:spPr>
          <p:txBody>
            <a:bodyPr wrap="square" lIns="121960" tIns="60980" rIns="121960" bIns="60980" anchor="t">
              <a:spAutoFit/>
            </a:bodyPr>
            <a:lstStyle/>
            <a:p>
              <a:pPr algn="ctr">
                <a:defRPr/>
              </a:pPr>
              <a:r>
                <a:rPr lang="zh-CN" altLang="en-US" sz="3200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研究内容及进展</a:t>
              </a:r>
              <a:endParaRPr lang="zh-CN" altLang="zh-CN" sz="32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9173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59">
            <a:extLst>
              <a:ext uri="{FF2B5EF4-FFF2-40B4-BE49-F238E27FC236}">
                <a16:creationId xmlns:a16="http://schemas.microsoft.com/office/drawing/2014/main" id="{71CE0525-4CDF-9451-C39A-45C92D5CD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0" y="116632"/>
            <a:ext cx="24479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en-US" altLang="zh-CN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116">
            <a:extLst>
              <a:ext uri="{FF2B5EF4-FFF2-40B4-BE49-F238E27FC236}">
                <a16:creationId xmlns:a16="http://schemas.microsoft.com/office/drawing/2014/main" id="{7272EBA7-6623-8E8C-E1ED-B0EC06CC2ED2}"/>
              </a:ext>
            </a:extLst>
          </p:cNvPr>
          <p:cNvSpPr txBox="1"/>
          <p:nvPr/>
        </p:nvSpPr>
        <p:spPr>
          <a:xfrm>
            <a:off x="4266519" y="1321477"/>
            <a:ext cx="3835125" cy="4791953"/>
          </a:xfrm>
          <a:prstGeom prst="rect">
            <a:avLst/>
          </a:prstGeom>
          <a:noFill/>
          <a:ln>
            <a:solidFill>
              <a:srgbClr val="031F43"/>
            </a:solidFill>
          </a:ln>
        </p:spPr>
        <p:txBody>
          <a:bodyPr wrap="square" rtlCol="0">
            <a:spAutoFit/>
          </a:bodyPr>
          <a:lstStyle/>
          <a:p>
            <a:pPr algn="just" defTabSz="914377">
              <a:lnSpc>
                <a:spcPct val="130000"/>
              </a:lnSpc>
            </a:pP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联合国自动驾驶验证方法非正式工作组（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VMAD IWG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）提出“多支柱验证方法”：</a:t>
            </a:r>
            <a:endParaRPr lang="en-US" altLang="zh-CN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377">
              <a:lnSpc>
                <a:spcPct val="130000"/>
              </a:lnSpc>
            </a:pP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377">
              <a:lnSpc>
                <a:spcPct val="130000"/>
              </a:lnSpc>
            </a:pP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377">
              <a:lnSpc>
                <a:spcPct val="130000"/>
              </a:lnSpc>
            </a:pP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377">
              <a:lnSpc>
                <a:spcPct val="130000"/>
              </a:lnSpc>
            </a:pP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377">
              <a:lnSpc>
                <a:spcPct val="130000"/>
              </a:lnSpc>
            </a:pP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377">
              <a:lnSpc>
                <a:spcPct val="130000"/>
              </a:lnSpc>
            </a:pP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377">
              <a:lnSpc>
                <a:spcPct val="130000"/>
              </a:lnSpc>
            </a:pP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377">
              <a:lnSpc>
                <a:spcPct val="130000"/>
              </a:lnSpc>
            </a:pPr>
            <a:endParaRPr lang="en-US" altLang="zh-CN" sz="1867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377">
              <a:lnSpc>
                <a:spcPct val="130000"/>
              </a:lnSpc>
            </a:pP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defTabSz="914377">
              <a:lnSpc>
                <a:spcPct val="13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自动驾驶测试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成为被国际认可的自动驾驶功能验证中必不可少的一环。</a:t>
            </a:r>
            <a:endParaRPr lang="en-US" altLang="zh-CN" b="1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106">
            <a:extLst>
              <a:ext uri="{FF2B5EF4-FFF2-40B4-BE49-F238E27FC236}">
                <a16:creationId xmlns:a16="http://schemas.microsoft.com/office/drawing/2014/main" id="{39888838-AF7C-D369-C880-242CBCE4CE1D}"/>
              </a:ext>
            </a:extLst>
          </p:cNvPr>
          <p:cNvSpPr txBox="1"/>
          <p:nvPr/>
        </p:nvSpPr>
        <p:spPr>
          <a:xfrm>
            <a:off x="103420" y="1323208"/>
            <a:ext cx="3835128" cy="4770088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defTabSz="914377">
              <a:lnSpc>
                <a:spcPct val="130000"/>
              </a:lnSpc>
            </a:pPr>
            <a:r>
              <a:rPr lang="zh-CN" altLang="en-US" sz="1867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德国：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自动驾驶法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2017</a:t>
            </a:r>
          </a:p>
          <a:p>
            <a:pPr algn="just" defTabSz="914377">
              <a:lnSpc>
                <a:spcPct val="130000"/>
              </a:lnSpc>
            </a:pPr>
            <a:r>
              <a:rPr lang="zh-CN" altLang="en-US" sz="1867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美国：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无人驾驶汽车乘客保护规定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867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欧盟：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技术法规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Reg.(EU) 2022/1426</a:t>
            </a:r>
          </a:p>
          <a:p>
            <a:pPr algn="just" defTabSz="914377">
              <a:lnSpc>
                <a:spcPct val="130000"/>
              </a:lnSpc>
            </a:pPr>
            <a:r>
              <a:rPr lang="zh-CN" altLang="en-US" sz="1867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中国：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《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智能汽车创新发展战略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》2020</a:t>
            </a:r>
          </a:p>
          <a:p>
            <a:pPr algn="just" defTabSz="914377">
              <a:lnSpc>
                <a:spcPct val="130000"/>
              </a:lnSpc>
              <a:spcBef>
                <a:spcPts val="800"/>
              </a:spcBef>
            </a:pP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《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关于开展智能网联汽车准入和上路通行试点工作的通知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》</a:t>
            </a:r>
            <a:r>
              <a:rPr lang="zh-CN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2023</a:t>
            </a:r>
          </a:p>
          <a:p>
            <a:pPr algn="just" defTabSz="914377">
              <a:lnSpc>
                <a:spcPct val="130000"/>
              </a:lnSpc>
              <a:spcBef>
                <a:spcPts val="800"/>
              </a:spcBef>
            </a:pPr>
            <a:endParaRPr lang="en-US" altLang="zh-CN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 defTabSz="914377">
              <a:lnSpc>
                <a:spcPct val="130000"/>
              </a:lnSpc>
              <a:spcBef>
                <a:spcPts val="800"/>
              </a:spcBef>
            </a:pP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 defTabSz="914377">
              <a:lnSpc>
                <a:spcPct val="130000"/>
              </a:lnSpc>
              <a:spcBef>
                <a:spcPts val="800"/>
              </a:spcBef>
            </a:pP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 defTabSz="914377">
              <a:lnSpc>
                <a:spcPct val="130000"/>
              </a:lnSpc>
              <a:spcBef>
                <a:spcPts val="800"/>
              </a:spcBef>
            </a:pPr>
            <a:endParaRPr lang="en-US" altLang="zh-CN" sz="11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 defTabSz="914377">
              <a:lnSpc>
                <a:spcPct val="130000"/>
              </a:lnSpc>
              <a:spcBef>
                <a:spcPts val="800"/>
              </a:spcBef>
            </a:pPr>
            <a:endParaRPr lang="en-US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 defTabSz="914377">
              <a:lnSpc>
                <a:spcPct val="130000"/>
              </a:lnSpc>
              <a:spcBef>
                <a:spcPts val="800"/>
              </a:spcBef>
            </a:pPr>
            <a:endParaRPr lang="en-US" altLang="zh-CN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文本框 116">
            <a:extLst>
              <a:ext uri="{FF2B5EF4-FFF2-40B4-BE49-F238E27FC236}">
                <a16:creationId xmlns:a16="http://schemas.microsoft.com/office/drawing/2014/main" id="{43296E06-493F-54B3-746E-B918B974B014}"/>
              </a:ext>
            </a:extLst>
          </p:cNvPr>
          <p:cNvSpPr txBox="1"/>
          <p:nvPr/>
        </p:nvSpPr>
        <p:spPr>
          <a:xfrm>
            <a:off x="8429614" y="1238890"/>
            <a:ext cx="3641888" cy="4854406"/>
          </a:xfrm>
          <a:prstGeom prst="rect">
            <a:avLst/>
          </a:prstGeom>
          <a:noFill/>
          <a:ln>
            <a:solidFill>
              <a:srgbClr val="031F43"/>
            </a:solidFill>
          </a:ln>
        </p:spPr>
        <p:txBody>
          <a:bodyPr wrap="square" rtlCol="0">
            <a:spAutoFit/>
          </a:bodyPr>
          <a:lstStyle/>
          <a:p>
            <a:pPr algn="just" defTabSz="914377">
              <a:lnSpc>
                <a:spcPct val="130000"/>
              </a:lnSpc>
            </a:pP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defTabSz="914377">
              <a:lnSpc>
                <a:spcPct val="130000"/>
              </a:lnSpc>
            </a:pP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defTabSz="914377">
              <a:lnSpc>
                <a:spcPct val="130000"/>
              </a:lnSpc>
            </a:pP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defTabSz="914377">
              <a:lnSpc>
                <a:spcPct val="130000"/>
              </a:lnSpc>
            </a:pP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defTabSz="914377">
              <a:lnSpc>
                <a:spcPct val="130000"/>
              </a:lnSpc>
            </a:pPr>
            <a:endParaRPr lang="en-US" altLang="zh-CN" sz="16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defTabSz="914377">
              <a:lnSpc>
                <a:spcPct val="130000"/>
              </a:lnSpc>
            </a:pPr>
            <a:endParaRPr lang="en-US" altLang="zh-CN" sz="1867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defTabSz="914377">
              <a:lnSpc>
                <a:spcPct val="130000"/>
              </a:lnSpc>
              <a:spcBef>
                <a:spcPts val="800"/>
              </a:spcBef>
            </a:pPr>
            <a:r>
              <a:rPr lang="zh-CN" altLang="en-US" sz="1867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车辆切入</a:t>
            </a:r>
            <a:r>
              <a:rPr lang="en-US" altLang="zh-CN" sz="1867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867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变道导致的自动驾驶事故占</a:t>
            </a:r>
            <a:r>
              <a:rPr lang="en-US" altLang="zh-CN" sz="21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18.85%</a:t>
            </a:r>
            <a:r>
              <a:rPr lang="zh-CN" altLang="en-US" sz="1867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67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defTabSz="914377">
              <a:lnSpc>
                <a:spcPct val="130000"/>
              </a:lnSpc>
            </a:pPr>
            <a:r>
              <a:rPr lang="en-US" altLang="zh-CN" sz="16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美国加州自动驾驶车辆路试事故分析</a:t>
            </a:r>
            <a:r>
              <a:rPr lang="en-US" altLang="zh-CN" sz="16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 defTabSz="914377">
              <a:lnSpc>
                <a:spcPct val="130000"/>
              </a:lnSpc>
              <a:spcBef>
                <a:spcPts val="800"/>
              </a:spcBef>
            </a:pPr>
            <a:r>
              <a:rPr lang="zh-CN" altLang="en-US" sz="1867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造成自动驾驶脱离需要人类驾驶员接管的场景中，车辆加塞、违规变道等行为占</a:t>
            </a:r>
            <a:r>
              <a:rPr lang="zh-CN" altLang="en-US" sz="186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比高达</a:t>
            </a:r>
            <a:r>
              <a:rPr lang="en-US" altLang="zh-CN" sz="21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47%</a:t>
            </a:r>
            <a:r>
              <a:rPr lang="zh-CN" altLang="en-US" sz="1867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67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defTabSz="914377">
              <a:lnSpc>
                <a:spcPct val="130000"/>
              </a:lnSpc>
            </a:pPr>
            <a:r>
              <a:rPr lang="en-US" altLang="zh-CN" sz="16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(2020</a:t>
            </a:r>
            <a:r>
              <a:rPr lang="zh-CN" altLang="en-US" sz="16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年北京自动驾驶路测报告</a:t>
            </a:r>
            <a:r>
              <a:rPr lang="en-US" altLang="zh-CN" sz="1600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20D0D7B-33E7-6978-9EC7-17795CABDE72}"/>
              </a:ext>
            </a:extLst>
          </p:cNvPr>
          <p:cNvGrpSpPr/>
          <p:nvPr/>
        </p:nvGrpSpPr>
        <p:grpSpPr>
          <a:xfrm>
            <a:off x="4630497" y="1988840"/>
            <a:ext cx="3105600" cy="3378600"/>
            <a:chOff x="3555809" y="2404873"/>
            <a:chExt cx="2329200" cy="2533950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D43654DF-49F8-5D3B-10D0-BCA8E7A6D237}"/>
                </a:ext>
              </a:extLst>
            </p:cNvPr>
            <p:cNvSpPr/>
            <p:nvPr/>
          </p:nvSpPr>
          <p:spPr>
            <a:xfrm>
              <a:off x="3555809" y="2610558"/>
              <a:ext cx="2329200" cy="2328265"/>
            </a:xfrm>
            <a:prstGeom prst="ellipse">
              <a:avLst/>
            </a:prstGeom>
            <a:noFill/>
            <a:ln w="12700">
              <a:solidFill>
                <a:srgbClr val="BADBE4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等腰三角形 23">
              <a:extLst>
                <a:ext uri="{FF2B5EF4-FFF2-40B4-BE49-F238E27FC236}">
                  <a16:creationId xmlns:a16="http://schemas.microsoft.com/office/drawing/2014/main" id="{C98009E5-9FF2-1096-54A4-E7B25C37342F}"/>
                </a:ext>
              </a:extLst>
            </p:cNvPr>
            <p:cNvSpPr/>
            <p:nvPr/>
          </p:nvSpPr>
          <p:spPr>
            <a:xfrm>
              <a:off x="4368652" y="2404873"/>
              <a:ext cx="704406" cy="675168"/>
            </a:xfrm>
            <a:prstGeom prst="triangle">
              <a:avLst>
                <a:gd name="adj" fmla="val 49246"/>
              </a:avLst>
            </a:prstGeom>
            <a:noFill/>
            <a:ln w="12700">
              <a:solidFill>
                <a:srgbClr val="6083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梯形 4">
              <a:extLst>
                <a:ext uri="{FF2B5EF4-FFF2-40B4-BE49-F238E27FC236}">
                  <a16:creationId xmlns:a16="http://schemas.microsoft.com/office/drawing/2014/main" id="{504626DE-3579-32EC-215D-5027AEB9831F}"/>
                </a:ext>
              </a:extLst>
            </p:cNvPr>
            <p:cNvSpPr/>
            <p:nvPr/>
          </p:nvSpPr>
          <p:spPr>
            <a:xfrm>
              <a:off x="4130749" y="3139654"/>
              <a:ext cx="1180213" cy="489098"/>
            </a:xfrm>
            <a:custGeom>
              <a:avLst/>
              <a:gdLst>
                <a:gd name="connsiteX0" fmla="*/ 0 w 1026041"/>
                <a:gd name="connsiteY0" fmla="*/ 505047 h 505047"/>
                <a:gd name="connsiteX1" fmla="*/ 126262 w 1026041"/>
                <a:gd name="connsiteY1" fmla="*/ 0 h 505047"/>
                <a:gd name="connsiteX2" fmla="*/ 899779 w 1026041"/>
                <a:gd name="connsiteY2" fmla="*/ 0 h 505047"/>
                <a:gd name="connsiteX3" fmla="*/ 1026041 w 1026041"/>
                <a:gd name="connsiteY3" fmla="*/ 505047 h 505047"/>
                <a:gd name="connsiteX4" fmla="*/ 0 w 1026041"/>
                <a:gd name="connsiteY4" fmla="*/ 505047 h 505047"/>
                <a:gd name="connsiteX0" fmla="*/ 0 w 1111101"/>
                <a:gd name="connsiteY0" fmla="*/ 489098 h 505047"/>
                <a:gd name="connsiteX1" fmla="*/ 211322 w 1111101"/>
                <a:gd name="connsiteY1" fmla="*/ 0 h 505047"/>
                <a:gd name="connsiteX2" fmla="*/ 984839 w 1111101"/>
                <a:gd name="connsiteY2" fmla="*/ 0 h 505047"/>
                <a:gd name="connsiteX3" fmla="*/ 1111101 w 1111101"/>
                <a:gd name="connsiteY3" fmla="*/ 505047 h 505047"/>
                <a:gd name="connsiteX4" fmla="*/ 0 w 1111101"/>
                <a:gd name="connsiteY4" fmla="*/ 489098 h 505047"/>
                <a:gd name="connsiteX0" fmla="*/ 0 w 1180213"/>
                <a:gd name="connsiteY0" fmla="*/ 489098 h 489098"/>
                <a:gd name="connsiteX1" fmla="*/ 211322 w 1180213"/>
                <a:gd name="connsiteY1" fmla="*/ 0 h 489098"/>
                <a:gd name="connsiteX2" fmla="*/ 984839 w 1180213"/>
                <a:gd name="connsiteY2" fmla="*/ 0 h 489098"/>
                <a:gd name="connsiteX3" fmla="*/ 1180213 w 1180213"/>
                <a:gd name="connsiteY3" fmla="*/ 483782 h 489098"/>
                <a:gd name="connsiteX4" fmla="*/ 0 w 1180213"/>
                <a:gd name="connsiteY4" fmla="*/ 489098 h 489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213" h="489098">
                  <a:moveTo>
                    <a:pt x="0" y="489098"/>
                  </a:moveTo>
                  <a:lnTo>
                    <a:pt x="211322" y="0"/>
                  </a:lnTo>
                  <a:lnTo>
                    <a:pt x="984839" y="0"/>
                  </a:lnTo>
                  <a:lnTo>
                    <a:pt x="1180213" y="483782"/>
                  </a:lnTo>
                  <a:lnTo>
                    <a:pt x="0" y="489098"/>
                  </a:lnTo>
                  <a:close/>
                </a:path>
              </a:pathLst>
            </a:custGeom>
            <a:solidFill>
              <a:srgbClr val="0952AD"/>
            </a:solidFill>
            <a:ln w="12700">
              <a:solidFill>
                <a:srgbClr val="6083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梯形 5">
              <a:extLst>
                <a:ext uri="{FF2B5EF4-FFF2-40B4-BE49-F238E27FC236}">
                  <a16:creationId xmlns:a16="http://schemas.microsoft.com/office/drawing/2014/main" id="{9D0F8E3A-1AFE-C5D4-5796-7C24044A7935}"/>
                </a:ext>
              </a:extLst>
            </p:cNvPr>
            <p:cNvSpPr/>
            <p:nvPr/>
          </p:nvSpPr>
          <p:spPr>
            <a:xfrm>
              <a:off x="3864935" y="3688365"/>
              <a:ext cx="1711840" cy="558209"/>
            </a:xfrm>
            <a:custGeom>
              <a:avLst/>
              <a:gdLst>
                <a:gd name="connsiteX0" fmla="*/ 0 w 1515138"/>
                <a:gd name="connsiteY0" fmla="*/ 574158 h 574158"/>
                <a:gd name="connsiteX1" fmla="*/ 143540 w 1515138"/>
                <a:gd name="connsiteY1" fmla="*/ 0 h 574158"/>
                <a:gd name="connsiteX2" fmla="*/ 1371599 w 1515138"/>
                <a:gd name="connsiteY2" fmla="*/ 0 h 574158"/>
                <a:gd name="connsiteX3" fmla="*/ 1515138 w 1515138"/>
                <a:gd name="connsiteY3" fmla="*/ 574158 h 574158"/>
                <a:gd name="connsiteX4" fmla="*/ 0 w 1515138"/>
                <a:gd name="connsiteY4" fmla="*/ 574158 h 574158"/>
                <a:gd name="connsiteX0" fmla="*/ 0 w 1621463"/>
                <a:gd name="connsiteY0" fmla="*/ 558209 h 574158"/>
                <a:gd name="connsiteX1" fmla="*/ 249865 w 1621463"/>
                <a:gd name="connsiteY1" fmla="*/ 0 h 574158"/>
                <a:gd name="connsiteX2" fmla="*/ 1477924 w 1621463"/>
                <a:gd name="connsiteY2" fmla="*/ 0 h 574158"/>
                <a:gd name="connsiteX3" fmla="*/ 1621463 w 1621463"/>
                <a:gd name="connsiteY3" fmla="*/ 574158 h 574158"/>
                <a:gd name="connsiteX4" fmla="*/ 0 w 1621463"/>
                <a:gd name="connsiteY4" fmla="*/ 558209 h 574158"/>
                <a:gd name="connsiteX0" fmla="*/ 0 w 1616147"/>
                <a:gd name="connsiteY0" fmla="*/ 552893 h 574158"/>
                <a:gd name="connsiteX1" fmla="*/ 244549 w 1616147"/>
                <a:gd name="connsiteY1" fmla="*/ 0 h 574158"/>
                <a:gd name="connsiteX2" fmla="*/ 1472608 w 1616147"/>
                <a:gd name="connsiteY2" fmla="*/ 0 h 574158"/>
                <a:gd name="connsiteX3" fmla="*/ 1616147 w 1616147"/>
                <a:gd name="connsiteY3" fmla="*/ 574158 h 574158"/>
                <a:gd name="connsiteX4" fmla="*/ 0 w 1616147"/>
                <a:gd name="connsiteY4" fmla="*/ 552893 h 574158"/>
                <a:gd name="connsiteX0" fmla="*/ 0 w 1711840"/>
                <a:gd name="connsiteY0" fmla="*/ 552893 h 558209"/>
                <a:gd name="connsiteX1" fmla="*/ 244549 w 1711840"/>
                <a:gd name="connsiteY1" fmla="*/ 0 h 558209"/>
                <a:gd name="connsiteX2" fmla="*/ 1472608 w 1711840"/>
                <a:gd name="connsiteY2" fmla="*/ 0 h 558209"/>
                <a:gd name="connsiteX3" fmla="*/ 1711840 w 1711840"/>
                <a:gd name="connsiteY3" fmla="*/ 558209 h 558209"/>
                <a:gd name="connsiteX4" fmla="*/ 0 w 1711840"/>
                <a:gd name="connsiteY4" fmla="*/ 552893 h 558209"/>
                <a:gd name="connsiteX0" fmla="*/ 0 w 1711840"/>
                <a:gd name="connsiteY0" fmla="*/ 552893 h 558209"/>
                <a:gd name="connsiteX1" fmla="*/ 244549 w 1711840"/>
                <a:gd name="connsiteY1" fmla="*/ 0 h 558209"/>
                <a:gd name="connsiteX2" fmla="*/ 1472608 w 1711840"/>
                <a:gd name="connsiteY2" fmla="*/ 0 h 558209"/>
                <a:gd name="connsiteX3" fmla="*/ 1711840 w 1711840"/>
                <a:gd name="connsiteY3" fmla="*/ 558209 h 558209"/>
                <a:gd name="connsiteX4" fmla="*/ 0 w 1711840"/>
                <a:gd name="connsiteY4" fmla="*/ 552893 h 558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1840" h="558209">
                  <a:moveTo>
                    <a:pt x="0" y="552893"/>
                  </a:moveTo>
                  <a:lnTo>
                    <a:pt x="244549" y="0"/>
                  </a:lnTo>
                  <a:lnTo>
                    <a:pt x="1472608" y="0"/>
                  </a:lnTo>
                  <a:lnTo>
                    <a:pt x="1711840" y="558209"/>
                  </a:lnTo>
                  <a:lnTo>
                    <a:pt x="0" y="552893"/>
                  </a:lnTo>
                  <a:close/>
                </a:path>
              </a:pathLst>
            </a:custGeom>
            <a:solidFill>
              <a:srgbClr val="0952AD"/>
            </a:solidFill>
            <a:ln w="12700">
              <a:solidFill>
                <a:srgbClr val="6083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梯形 6">
              <a:extLst>
                <a:ext uri="{FF2B5EF4-FFF2-40B4-BE49-F238E27FC236}">
                  <a16:creationId xmlns:a16="http://schemas.microsoft.com/office/drawing/2014/main" id="{5C1E38B3-85D4-C00D-7A28-8E2BF9D1FD53}"/>
                </a:ext>
              </a:extLst>
            </p:cNvPr>
            <p:cNvSpPr/>
            <p:nvPr/>
          </p:nvSpPr>
          <p:spPr>
            <a:xfrm>
              <a:off x="3638993" y="4306186"/>
              <a:ext cx="2163725" cy="499731"/>
            </a:xfrm>
            <a:custGeom>
              <a:avLst/>
              <a:gdLst>
                <a:gd name="connsiteX0" fmla="*/ 0 w 1967023"/>
                <a:gd name="connsiteY0" fmla="*/ 505047 h 505047"/>
                <a:gd name="connsiteX1" fmla="*/ 126262 w 1967023"/>
                <a:gd name="connsiteY1" fmla="*/ 0 h 505047"/>
                <a:gd name="connsiteX2" fmla="*/ 1840761 w 1967023"/>
                <a:gd name="connsiteY2" fmla="*/ 0 h 505047"/>
                <a:gd name="connsiteX3" fmla="*/ 1967023 w 1967023"/>
                <a:gd name="connsiteY3" fmla="*/ 505047 h 505047"/>
                <a:gd name="connsiteX4" fmla="*/ 0 w 1967023"/>
                <a:gd name="connsiteY4" fmla="*/ 505047 h 505047"/>
                <a:gd name="connsiteX0" fmla="*/ 0 w 2057399"/>
                <a:gd name="connsiteY0" fmla="*/ 494414 h 505047"/>
                <a:gd name="connsiteX1" fmla="*/ 216638 w 2057399"/>
                <a:gd name="connsiteY1" fmla="*/ 0 h 505047"/>
                <a:gd name="connsiteX2" fmla="*/ 1931137 w 2057399"/>
                <a:gd name="connsiteY2" fmla="*/ 0 h 505047"/>
                <a:gd name="connsiteX3" fmla="*/ 2057399 w 2057399"/>
                <a:gd name="connsiteY3" fmla="*/ 505047 h 505047"/>
                <a:gd name="connsiteX4" fmla="*/ 0 w 2057399"/>
                <a:gd name="connsiteY4" fmla="*/ 494414 h 505047"/>
                <a:gd name="connsiteX0" fmla="*/ 0 w 2163725"/>
                <a:gd name="connsiteY0" fmla="*/ 494414 h 499731"/>
                <a:gd name="connsiteX1" fmla="*/ 216638 w 2163725"/>
                <a:gd name="connsiteY1" fmla="*/ 0 h 499731"/>
                <a:gd name="connsiteX2" fmla="*/ 1931137 w 2163725"/>
                <a:gd name="connsiteY2" fmla="*/ 0 h 499731"/>
                <a:gd name="connsiteX3" fmla="*/ 2163725 w 2163725"/>
                <a:gd name="connsiteY3" fmla="*/ 499731 h 499731"/>
                <a:gd name="connsiteX4" fmla="*/ 0 w 2163725"/>
                <a:gd name="connsiteY4" fmla="*/ 494414 h 499731"/>
                <a:gd name="connsiteX0" fmla="*/ 0 w 2163725"/>
                <a:gd name="connsiteY0" fmla="*/ 494414 h 499731"/>
                <a:gd name="connsiteX1" fmla="*/ 216638 w 2163725"/>
                <a:gd name="connsiteY1" fmla="*/ 0 h 499731"/>
                <a:gd name="connsiteX2" fmla="*/ 1931137 w 2163725"/>
                <a:gd name="connsiteY2" fmla="*/ 10633 h 499731"/>
                <a:gd name="connsiteX3" fmla="*/ 2163725 w 2163725"/>
                <a:gd name="connsiteY3" fmla="*/ 499731 h 499731"/>
                <a:gd name="connsiteX4" fmla="*/ 0 w 2163725"/>
                <a:gd name="connsiteY4" fmla="*/ 494414 h 499731"/>
                <a:gd name="connsiteX0" fmla="*/ 0 w 2163725"/>
                <a:gd name="connsiteY0" fmla="*/ 494414 h 499731"/>
                <a:gd name="connsiteX1" fmla="*/ 216638 w 2163725"/>
                <a:gd name="connsiteY1" fmla="*/ 0 h 499731"/>
                <a:gd name="connsiteX2" fmla="*/ 1952402 w 2163725"/>
                <a:gd name="connsiteY2" fmla="*/ 5316 h 499731"/>
                <a:gd name="connsiteX3" fmla="*/ 2163725 w 2163725"/>
                <a:gd name="connsiteY3" fmla="*/ 499731 h 499731"/>
                <a:gd name="connsiteX4" fmla="*/ 0 w 2163725"/>
                <a:gd name="connsiteY4" fmla="*/ 494414 h 49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3725" h="499731">
                  <a:moveTo>
                    <a:pt x="0" y="494414"/>
                  </a:moveTo>
                  <a:lnTo>
                    <a:pt x="216638" y="0"/>
                  </a:lnTo>
                  <a:lnTo>
                    <a:pt x="1952402" y="5316"/>
                  </a:lnTo>
                  <a:lnTo>
                    <a:pt x="2163725" y="499731"/>
                  </a:lnTo>
                  <a:lnTo>
                    <a:pt x="0" y="494414"/>
                  </a:lnTo>
                  <a:close/>
                </a:path>
              </a:pathLst>
            </a:custGeom>
            <a:noFill/>
            <a:ln w="12700">
              <a:solidFill>
                <a:srgbClr val="6083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7D6CA59-3C8F-DF61-29C4-299304049C80}"/>
                </a:ext>
              </a:extLst>
            </p:cNvPr>
            <p:cNvSpPr txBox="1"/>
            <p:nvPr/>
          </p:nvSpPr>
          <p:spPr>
            <a:xfrm>
              <a:off x="4457699" y="2610558"/>
              <a:ext cx="526312" cy="4847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/>
              <a:r>
                <a:rPr lang="zh-CN" altLang="en-US" b="1" dirty="0">
                  <a:solidFill>
                    <a:srgbClr val="073E87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道路测试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2BC47184-B12A-D4D6-946D-44C182BC332F}"/>
                </a:ext>
              </a:extLst>
            </p:cNvPr>
            <p:cNvSpPr txBox="1"/>
            <p:nvPr/>
          </p:nvSpPr>
          <p:spPr>
            <a:xfrm>
              <a:off x="4269947" y="3234162"/>
              <a:ext cx="901817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defTabSz="914377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场地测试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7D16A749-BE7B-D29C-785F-B83E4FE8E6BA}"/>
                </a:ext>
              </a:extLst>
            </p:cNvPr>
            <p:cNvSpPr txBox="1"/>
            <p:nvPr/>
          </p:nvSpPr>
          <p:spPr>
            <a:xfrm>
              <a:off x="4204951" y="3798192"/>
              <a:ext cx="1030917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defTabSz="914377"/>
              <a:r>
                <a:rPr lang="zh-CN" altLang="en-US" sz="2133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仿真测试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2E6E957D-50F4-DAEF-024E-849336A94B3B}"/>
                </a:ext>
              </a:extLst>
            </p:cNvPr>
            <p:cNvSpPr txBox="1"/>
            <p:nvPr/>
          </p:nvSpPr>
          <p:spPr>
            <a:xfrm>
              <a:off x="4184129" y="4414793"/>
              <a:ext cx="10734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/>
              <a:r>
                <a:rPr lang="zh-CN" altLang="en-US" b="1" dirty="0">
                  <a:solidFill>
                    <a:srgbClr val="073E87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审核和认证</a:t>
              </a:r>
            </a:p>
          </p:txBody>
        </p:sp>
      </p:grpSp>
      <p:sp>
        <p:nvSpPr>
          <p:cNvPr id="3" name="文本框 115">
            <a:extLst>
              <a:ext uri="{FF2B5EF4-FFF2-40B4-BE49-F238E27FC236}">
                <a16:creationId xmlns:a16="http://schemas.microsoft.com/office/drawing/2014/main" id="{52A5623B-3DC6-76FF-CAA1-125E703A43A5}"/>
              </a:ext>
            </a:extLst>
          </p:cNvPr>
          <p:cNvSpPr txBox="1"/>
          <p:nvPr/>
        </p:nvSpPr>
        <p:spPr>
          <a:xfrm>
            <a:off x="4266522" y="920204"/>
            <a:ext cx="3835125" cy="420564"/>
          </a:xfrm>
          <a:prstGeom prst="rect">
            <a:avLst/>
          </a:prstGeom>
          <a:solidFill>
            <a:srgbClr val="1B3F85"/>
          </a:solidFill>
          <a:ln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chemeClr val="bg1"/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pPr defTabSz="914377"/>
            <a:r>
              <a:rPr lang="en-US" altLang="zh-CN" sz="2133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02 </a:t>
            </a:r>
            <a:r>
              <a:rPr lang="zh-CN" altLang="en-US" sz="2133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测试方法</a:t>
            </a:r>
          </a:p>
        </p:txBody>
      </p:sp>
      <p:sp>
        <p:nvSpPr>
          <p:cNvPr id="6" name="文本框 105">
            <a:extLst>
              <a:ext uri="{FF2B5EF4-FFF2-40B4-BE49-F238E27FC236}">
                <a16:creationId xmlns:a16="http://schemas.microsoft.com/office/drawing/2014/main" id="{AFB9491D-AD57-CB1E-AC60-24BABA01B235}"/>
              </a:ext>
            </a:extLst>
          </p:cNvPr>
          <p:cNvSpPr txBox="1"/>
          <p:nvPr/>
        </p:nvSpPr>
        <p:spPr>
          <a:xfrm>
            <a:off x="103420" y="920202"/>
            <a:ext cx="3835128" cy="420564"/>
          </a:xfrm>
          <a:prstGeom prst="rect">
            <a:avLst/>
          </a:prstGeom>
          <a:solidFill>
            <a:srgbClr val="1B3F85"/>
          </a:solidFill>
          <a:ln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377"/>
            <a:r>
              <a:rPr lang="en-US" altLang="zh-CN" sz="21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01 </a:t>
            </a:r>
            <a:r>
              <a:rPr lang="zh-CN" altLang="en-US" sz="21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国家战略支持</a:t>
            </a:r>
          </a:p>
        </p:txBody>
      </p:sp>
      <p:sp>
        <p:nvSpPr>
          <p:cNvPr id="16" name="文本框 115">
            <a:extLst>
              <a:ext uri="{FF2B5EF4-FFF2-40B4-BE49-F238E27FC236}">
                <a16:creationId xmlns:a16="http://schemas.microsoft.com/office/drawing/2014/main" id="{0A2CC8EF-14BE-3621-F82C-12394695C7BF}"/>
              </a:ext>
            </a:extLst>
          </p:cNvPr>
          <p:cNvSpPr txBox="1"/>
          <p:nvPr/>
        </p:nvSpPr>
        <p:spPr>
          <a:xfrm>
            <a:off x="8429615" y="920204"/>
            <a:ext cx="3641888" cy="420564"/>
          </a:xfrm>
          <a:prstGeom prst="rect">
            <a:avLst/>
          </a:prstGeom>
          <a:solidFill>
            <a:srgbClr val="1B3F85"/>
          </a:solidFill>
          <a:ln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chemeClr val="bg1"/>
                </a:solidFill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pPr defTabSz="914377"/>
            <a:r>
              <a:rPr lang="en-US" altLang="zh-CN" sz="2133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03 </a:t>
            </a:r>
            <a:r>
              <a:rPr lang="zh-CN" altLang="en-US" sz="2133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切入场景</a:t>
            </a:r>
          </a:p>
        </p:txBody>
      </p:sp>
      <p:sp>
        <p:nvSpPr>
          <p:cNvPr id="36" name="灯片编号占位符 35">
            <a:extLst>
              <a:ext uri="{FF2B5EF4-FFF2-40B4-BE49-F238E27FC236}">
                <a16:creationId xmlns:a16="http://schemas.microsoft.com/office/drawing/2014/main" id="{6C1D42DC-18ED-C128-EEF6-AFBF456D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C65444-C27E-4275-9B64-A99AFE6606A1}" type="slidenum">
              <a:rPr lang="zh-CN" altLang="en-US" smtClean="0"/>
              <a:t>3</a:t>
            </a:fld>
            <a:endParaRPr lang="en-US" altLang="zh-CN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88C5992-2E00-7D0F-D3F5-7CB0F866AF62}"/>
              </a:ext>
            </a:extLst>
          </p:cNvPr>
          <p:cNvSpPr/>
          <p:nvPr/>
        </p:nvSpPr>
        <p:spPr>
          <a:xfrm>
            <a:off x="187797" y="6206910"/>
            <a:ext cx="11740851" cy="540044"/>
          </a:xfrm>
          <a:prstGeom prst="rect">
            <a:avLst/>
          </a:prstGeom>
          <a:solidFill>
            <a:srgbClr val="1B3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20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在测试中如何兼顾测试场景的</a:t>
            </a:r>
            <a:r>
              <a:rPr lang="zh-CN" altLang="en-US" sz="20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覆盖度</a:t>
            </a:r>
            <a:r>
              <a:rPr lang="zh-CN" altLang="en-US" sz="20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测试效率</a:t>
            </a:r>
            <a:r>
              <a:rPr lang="zh-CN" altLang="en-US" sz="20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，降低测试成本，加快自动驾驶技术的商业化进程？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AE68735-C260-563A-A879-80E66B71E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98" y="3675234"/>
            <a:ext cx="2483768" cy="124303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58302EF-77AF-D1C3-28B1-2B3DE895C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798" y="4416989"/>
            <a:ext cx="2483768" cy="1103113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F833794B-86C6-C5C3-2CEB-CDE4369A2CB4}"/>
              </a:ext>
            </a:extLst>
          </p:cNvPr>
          <p:cNvSpPr/>
          <p:nvPr/>
        </p:nvSpPr>
        <p:spPr>
          <a:xfrm>
            <a:off x="187797" y="3691407"/>
            <a:ext cx="2483769" cy="1842286"/>
          </a:xfrm>
          <a:prstGeom prst="rect">
            <a:avLst/>
          </a:prstGeom>
          <a:noFill/>
          <a:ln>
            <a:solidFill>
              <a:srgbClr val="1B3F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8BB59AF-6721-91E5-6FA5-C742FEA54D8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757" r="11436"/>
          <a:stretch/>
        </p:blipFill>
        <p:spPr>
          <a:xfrm>
            <a:off x="1994677" y="3724633"/>
            <a:ext cx="560583" cy="46471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5099695-F3E6-CE3E-1EA3-6449451E59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187" y="4149080"/>
            <a:ext cx="2112037" cy="1846928"/>
          </a:xfrm>
          <a:prstGeom prst="rect">
            <a:avLst/>
          </a:prstGeom>
          <a:ln>
            <a:solidFill>
              <a:srgbClr val="1B3F85"/>
            </a:solidFill>
          </a:ln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40D4792-38DB-A870-FF6D-77F3414744B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42743"/>
          <a:stretch/>
        </p:blipFill>
        <p:spPr>
          <a:xfrm>
            <a:off x="1771184" y="4875152"/>
            <a:ext cx="2112037" cy="1130293"/>
          </a:xfrm>
          <a:prstGeom prst="rect">
            <a:avLst/>
          </a:prstGeom>
          <a:ln>
            <a:solidFill>
              <a:srgbClr val="1B3F85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6914F87-C8BC-AB15-E47A-45A95AED4B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476" y="1510135"/>
            <a:ext cx="3496163" cy="18576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8030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0" grpId="0" animBg="1"/>
      <p:bldP spid="3" grpId="0" animBg="1"/>
      <p:bldP spid="16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59">
            <a:extLst>
              <a:ext uri="{FF2B5EF4-FFF2-40B4-BE49-F238E27FC236}">
                <a16:creationId xmlns:a16="http://schemas.microsoft.com/office/drawing/2014/main" id="{71CE0525-4CDF-9451-C39A-45C92D5CD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0" y="116632"/>
            <a:ext cx="24479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  <a:endParaRPr lang="en-US" altLang="zh-CN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灯片编号占位符 35">
            <a:extLst>
              <a:ext uri="{FF2B5EF4-FFF2-40B4-BE49-F238E27FC236}">
                <a16:creationId xmlns:a16="http://schemas.microsoft.com/office/drawing/2014/main" id="{6C1D42DC-18ED-C128-EEF6-AFBF456D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C65444-C27E-4275-9B64-A99AFE6606A1}" type="slidenum">
              <a:rPr lang="zh-CN" altLang="en-US" smtClean="0"/>
              <a:t>4</a:t>
            </a:fld>
            <a:endParaRPr lang="en-US" altLang="zh-CN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7687BC18-E9C5-3E15-1E8B-E3BC06559B3D}"/>
              </a:ext>
            </a:extLst>
          </p:cNvPr>
          <p:cNvSpPr txBox="1">
            <a:spLocks/>
          </p:cNvSpPr>
          <p:nvPr/>
        </p:nvSpPr>
        <p:spPr>
          <a:xfrm>
            <a:off x="551384" y="836718"/>
            <a:ext cx="11089231" cy="1152123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围绕自动驾驶准入、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封闭场地测试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虚拟仿真测试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所需的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本地化、参数化、高覆盖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场景生成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</a:p>
        </p:txBody>
      </p:sp>
      <p:sp>
        <p:nvSpPr>
          <p:cNvPr id="5" name="箭头: 虚尾 4">
            <a:extLst>
              <a:ext uri="{FF2B5EF4-FFF2-40B4-BE49-F238E27FC236}">
                <a16:creationId xmlns:a16="http://schemas.microsoft.com/office/drawing/2014/main" id="{9D25155E-8AFD-D579-F591-AD6D227B2012}"/>
              </a:ext>
            </a:extLst>
          </p:cNvPr>
          <p:cNvSpPr/>
          <p:nvPr/>
        </p:nvSpPr>
        <p:spPr>
          <a:xfrm rot="5400000">
            <a:off x="6665927" y="3397852"/>
            <a:ext cx="395390" cy="624996"/>
          </a:xfrm>
          <a:prstGeom prst="stripedRightArrow">
            <a:avLst/>
          </a:prstGeom>
          <a:solidFill>
            <a:srgbClr val="4071CA">
              <a:alpha val="20000"/>
            </a:srgb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0775EA-CE6C-2C8E-9BC0-9BC2A7847FFB}"/>
              </a:ext>
            </a:extLst>
          </p:cNvPr>
          <p:cNvSpPr/>
          <p:nvPr/>
        </p:nvSpPr>
        <p:spPr>
          <a:xfrm>
            <a:off x="1343474" y="5070303"/>
            <a:ext cx="10513166" cy="151844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2400" b="1" kern="0" dirty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07B26BE-D6E1-15A8-F17C-A2437DC33004}"/>
              </a:ext>
            </a:extLst>
          </p:cNvPr>
          <p:cNvSpPr/>
          <p:nvPr/>
        </p:nvSpPr>
        <p:spPr>
          <a:xfrm>
            <a:off x="1343471" y="2384697"/>
            <a:ext cx="4471253" cy="11163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2400" b="1" kern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1077C4-0482-E295-D16F-8A1ED6A01F9A}"/>
              </a:ext>
            </a:extLst>
          </p:cNvPr>
          <p:cNvSpPr/>
          <p:nvPr/>
        </p:nvSpPr>
        <p:spPr>
          <a:xfrm>
            <a:off x="1397048" y="2408780"/>
            <a:ext cx="41100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zh-CN" altLang="en-US" sz="2400" b="1" kern="0" dirty="0">
                <a:solidFill>
                  <a:srgbClr val="1D47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科学问题一：典型场景聚类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401AC8E-FE29-81A1-F593-AD76FE8F2ED1}"/>
              </a:ext>
            </a:extLst>
          </p:cNvPr>
          <p:cNvSpPr txBox="1"/>
          <p:nvPr/>
        </p:nvSpPr>
        <p:spPr>
          <a:xfrm>
            <a:off x="1415480" y="2880856"/>
            <a:ext cx="2008341" cy="5874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 defTabSz="685800">
              <a:lnSpc>
                <a:spcPct val="12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1400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切入场景提取</a:t>
            </a:r>
            <a:endParaRPr lang="en-US" altLang="zh-CN" sz="1400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defTabSz="685800">
              <a:lnSpc>
                <a:spcPct val="12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1400" b="1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场景要素</a:t>
            </a:r>
            <a:r>
              <a:rPr lang="zh-CN" altLang="en-US" sz="1400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选取与分析</a:t>
            </a:r>
            <a:endParaRPr lang="en-US" altLang="zh-CN" sz="1400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2AA1F6-09FB-FBCF-A2DB-91FFBC526A50}"/>
              </a:ext>
            </a:extLst>
          </p:cNvPr>
          <p:cNvSpPr txBox="1"/>
          <p:nvPr/>
        </p:nvSpPr>
        <p:spPr>
          <a:xfrm>
            <a:off x="3922762" y="2880856"/>
            <a:ext cx="1813198" cy="5874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171450" indent="-171450">
              <a:buFont typeface="Wingdings" panose="05000000000000000000" pitchFamily="2" charset="2"/>
              <a:buChar char="u"/>
              <a:defRPr sz="12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defTabSz="685800">
              <a:lnSpc>
                <a:spcPct val="120000"/>
              </a:lnSpc>
              <a:defRPr/>
            </a:pPr>
            <a:r>
              <a:rPr lang="zh-CN" altLang="en-US" sz="1400" b="1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典型测试场景类型</a:t>
            </a:r>
            <a:endParaRPr lang="en-US" altLang="zh-CN" sz="1400" b="1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>
              <a:lnSpc>
                <a:spcPct val="120000"/>
              </a:lnSpc>
              <a:defRPr/>
            </a:pPr>
            <a:r>
              <a:rPr lang="zh-CN" altLang="en-US" sz="1400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聚类结果分析对比</a:t>
            </a:r>
            <a:endParaRPr lang="en-US" altLang="zh-CN" sz="1400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44D26825-10BC-A41C-C45A-3AA6162C7312}"/>
              </a:ext>
            </a:extLst>
          </p:cNvPr>
          <p:cNvSpPr/>
          <p:nvPr/>
        </p:nvSpPr>
        <p:spPr>
          <a:xfrm>
            <a:off x="3488079" y="3184699"/>
            <a:ext cx="351911" cy="166777"/>
          </a:xfrm>
          <a:prstGeom prst="rightArrow">
            <a:avLst/>
          </a:prstGeom>
          <a:solidFill>
            <a:srgbClr val="BDD7EE"/>
          </a:solidFill>
          <a:ln w="12700" cap="flat" cmpd="sng" algn="ctr">
            <a:solidFill>
              <a:srgbClr val="4584D3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A0F093F-E8CF-FBDF-C5FB-D44242262CC7}"/>
              </a:ext>
            </a:extLst>
          </p:cNvPr>
          <p:cNvSpPr/>
          <p:nvPr/>
        </p:nvSpPr>
        <p:spPr>
          <a:xfrm>
            <a:off x="6355615" y="2384695"/>
            <a:ext cx="5501024" cy="111631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2400" b="1" kern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F88D25-5BCF-DC80-647A-14F1D648CFFE}"/>
              </a:ext>
            </a:extLst>
          </p:cNvPr>
          <p:cNvSpPr/>
          <p:nvPr/>
        </p:nvSpPr>
        <p:spPr>
          <a:xfrm>
            <a:off x="7238659" y="2408780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zh-CN" altLang="en-US" sz="2400" b="1" kern="0" dirty="0">
                <a:solidFill>
                  <a:srgbClr val="1D47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科学问题二：高覆盖场景生成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D227CE5-40B1-19BD-6225-16402F0FAFE8}"/>
              </a:ext>
            </a:extLst>
          </p:cNvPr>
          <p:cNvSpPr txBox="1"/>
          <p:nvPr/>
        </p:nvSpPr>
        <p:spPr>
          <a:xfrm>
            <a:off x="9152587" y="2886798"/>
            <a:ext cx="1800200" cy="5874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marR="0" lvl="0" indent="-171450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4584D3">
                    <a:lumMod val="7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联合概率分布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采样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覆盖度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评估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8AB257-E105-5F47-67D4-86A65F33DBF2}"/>
              </a:ext>
            </a:extLst>
          </p:cNvPr>
          <p:cNvSpPr/>
          <p:nvPr/>
        </p:nvSpPr>
        <p:spPr>
          <a:xfrm>
            <a:off x="2206367" y="5524244"/>
            <a:ext cx="20313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zh-CN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场景多维度评价模型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7488E2B-4506-1B5E-4D66-F737E63DD470}"/>
              </a:ext>
            </a:extLst>
          </p:cNvPr>
          <p:cNvSpPr txBox="1"/>
          <p:nvPr/>
        </p:nvSpPr>
        <p:spPr>
          <a:xfrm>
            <a:off x="1439102" y="5869878"/>
            <a:ext cx="3565854" cy="5874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marR="0" lvl="0" indent="-171450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4584D3">
                    <a:lumMod val="7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</a:defRPr>
            </a:lvl1pPr>
          </a:lstStyle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评价维度：危险度、复杂度、是否碰撞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量化指标：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TTC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THW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PET…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CBE2BF2-C642-50D2-1D00-1B428D02831C}"/>
              </a:ext>
            </a:extLst>
          </p:cNvPr>
          <p:cNvSpPr/>
          <p:nvPr/>
        </p:nvSpPr>
        <p:spPr>
          <a:xfrm>
            <a:off x="1349084" y="3933056"/>
            <a:ext cx="10507556" cy="7667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2400" b="1" kern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030F7DF-5E6F-329A-4CB7-36DAC0E83BA4}"/>
              </a:ext>
            </a:extLst>
          </p:cNvPr>
          <p:cNvSpPr/>
          <p:nvPr/>
        </p:nvSpPr>
        <p:spPr>
          <a:xfrm>
            <a:off x="1403145" y="4075831"/>
            <a:ext cx="2020675" cy="482935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zh-CN" altLang="en-US" sz="2400" b="1" kern="0" dirty="0">
                <a:solidFill>
                  <a:srgbClr val="1D47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仿真测试验证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4A403A0-7CBD-7F41-1DF1-096FAA9374A6}"/>
              </a:ext>
            </a:extLst>
          </p:cNvPr>
          <p:cNvSpPr txBox="1"/>
          <p:nvPr/>
        </p:nvSpPr>
        <p:spPr>
          <a:xfrm>
            <a:off x="6238329" y="5889303"/>
            <a:ext cx="2163018" cy="5874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marR="0" lvl="0" indent="-171450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4584D3">
                    <a:lumMod val="7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</a:defRPr>
            </a:lvl1pPr>
          </a:lstStyle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软件在环测试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危险场景迭代优化搜索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F9A39AAB-7AF9-FA9D-7A5D-7C79E58AA33C}"/>
              </a:ext>
            </a:extLst>
          </p:cNvPr>
          <p:cNvCxnSpPr>
            <a:cxnSpLocks/>
          </p:cNvCxnSpPr>
          <p:nvPr/>
        </p:nvCxnSpPr>
        <p:spPr>
          <a:xfrm>
            <a:off x="263352" y="2132856"/>
            <a:ext cx="11593288" cy="0"/>
          </a:xfrm>
          <a:prstGeom prst="line">
            <a:avLst/>
          </a:prstGeom>
          <a:ln w="12700" cap="flat" cmpd="sng" algn="ctr">
            <a:solidFill>
              <a:srgbClr val="1B3F8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CFC5E63C-42AD-5EB0-34B2-F544840A060C}"/>
              </a:ext>
            </a:extLst>
          </p:cNvPr>
          <p:cNvSpPr txBox="1"/>
          <p:nvPr/>
        </p:nvSpPr>
        <p:spPr>
          <a:xfrm>
            <a:off x="7654519" y="4330780"/>
            <a:ext cx="1249793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zh-CN" altLang="en-US" sz="1400" b="1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接入被测算法</a:t>
            </a:r>
            <a:endParaRPr lang="en-US" altLang="zh-CN" sz="1400" b="1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B1F607A-6895-99AA-32B0-26192B58B9B0}"/>
              </a:ext>
            </a:extLst>
          </p:cNvPr>
          <p:cNvSpPr txBox="1"/>
          <p:nvPr/>
        </p:nvSpPr>
        <p:spPr>
          <a:xfrm>
            <a:off x="9162106" y="4006848"/>
            <a:ext cx="966342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zh-CN" altLang="en-US" sz="1400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测试执行</a:t>
            </a:r>
            <a:endParaRPr lang="en-US" altLang="zh-CN" sz="1400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4166E25F-65F0-DE70-3678-0EA7E9518CD9}"/>
              </a:ext>
            </a:extLst>
          </p:cNvPr>
          <p:cNvSpPr/>
          <p:nvPr/>
        </p:nvSpPr>
        <p:spPr>
          <a:xfrm>
            <a:off x="10968659" y="2996952"/>
            <a:ext cx="224036" cy="138500"/>
          </a:xfrm>
          <a:prstGeom prst="rightArrow">
            <a:avLst/>
          </a:prstGeom>
          <a:solidFill>
            <a:srgbClr val="BDD7EE"/>
          </a:solidFill>
          <a:ln w="12700" cap="flat" cmpd="sng" algn="ctr">
            <a:solidFill>
              <a:srgbClr val="4584D3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箭头: 右 42">
            <a:extLst>
              <a:ext uri="{FF2B5EF4-FFF2-40B4-BE49-F238E27FC236}">
                <a16:creationId xmlns:a16="http://schemas.microsoft.com/office/drawing/2014/main" id="{129857B6-A62D-D0C7-5E65-A910CF9E3F5A}"/>
              </a:ext>
            </a:extLst>
          </p:cNvPr>
          <p:cNvSpPr/>
          <p:nvPr/>
        </p:nvSpPr>
        <p:spPr>
          <a:xfrm flipH="1">
            <a:off x="10968659" y="3175848"/>
            <a:ext cx="224036" cy="138500"/>
          </a:xfrm>
          <a:prstGeom prst="rightArrow">
            <a:avLst/>
          </a:prstGeom>
          <a:solidFill>
            <a:srgbClr val="BDD7EE"/>
          </a:solidFill>
          <a:ln w="12700" cap="flat" cmpd="sng" algn="ctr">
            <a:solidFill>
              <a:srgbClr val="4584D3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781045E-4C6B-9D36-515E-E05A98261939}"/>
              </a:ext>
            </a:extLst>
          </p:cNvPr>
          <p:cNvSpPr/>
          <p:nvPr/>
        </p:nvSpPr>
        <p:spPr>
          <a:xfrm>
            <a:off x="4364387" y="5095371"/>
            <a:ext cx="44713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zh-CN" altLang="en-US" sz="2400" b="1" kern="0" dirty="0">
                <a:solidFill>
                  <a:srgbClr val="1D47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科学问题三：测试效率的提升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D56645E-B2E6-42E8-B176-223440C2EBFA}"/>
              </a:ext>
            </a:extLst>
          </p:cNvPr>
          <p:cNvSpPr/>
          <p:nvPr/>
        </p:nvSpPr>
        <p:spPr>
          <a:xfrm>
            <a:off x="1409873" y="5538746"/>
            <a:ext cx="3624313" cy="971626"/>
          </a:xfrm>
          <a:prstGeom prst="rect">
            <a:avLst/>
          </a:prstGeom>
          <a:noFill/>
          <a:ln w="12700" cap="flat" cmpd="sng" algn="ctr">
            <a:solidFill>
              <a:srgbClr val="4584D3">
                <a:lumMod val="5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2EA44BD-2105-2462-FDD5-560D1D33EB49}"/>
              </a:ext>
            </a:extLst>
          </p:cNvPr>
          <p:cNvSpPr/>
          <p:nvPr/>
        </p:nvSpPr>
        <p:spPr>
          <a:xfrm>
            <a:off x="6406768" y="5540067"/>
            <a:ext cx="182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zh-CN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危险场景加速生成</a:t>
            </a:r>
          </a:p>
        </p:txBody>
      </p:sp>
      <p:sp>
        <p:nvSpPr>
          <p:cNvPr id="47" name="箭头: 右 46">
            <a:extLst>
              <a:ext uri="{FF2B5EF4-FFF2-40B4-BE49-F238E27FC236}">
                <a16:creationId xmlns:a16="http://schemas.microsoft.com/office/drawing/2014/main" id="{C38AFCA2-C1A7-C4BE-3588-A3A7EBC079AE}"/>
              </a:ext>
            </a:extLst>
          </p:cNvPr>
          <p:cNvSpPr/>
          <p:nvPr/>
        </p:nvSpPr>
        <p:spPr>
          <a:xfrm>
            <a:off x="5263786" y="6040154"/>
            <a:ext cx="674621" cy="190778"/>
          </a:xfrm>
          <a:prstGeom prst="rightArrow">
            <a:avLst/>
          </a:prstGeom>
          <a:solidFill>
            <a:srgbClr val="BDD7EE"/>
          </a:solidFill>
          <a:ln w="12700" cap="flat" cmpd="sng" algn="ctr">
            <a:solidFill>
              <a:srgbClr val="4584D3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D2B9684-7C8B-1487-C457-FDBD966D63B9}"/>
              </a:ext>
            </a:extLst>
          </p:cNvPr>
          <p:cNvSpPr/>
          <p:nvPr/>
        </p:nvSpPr>
        <p:spPr>
          <a:xfrm>
            <a:off x="6168008" y="5538746"/>
            <a:ext cx="2303661" cy="971626"/>
          </a:xfrm>
          <a:prstGeom prst="rect">
            <a:avLst/>
          </a:prstGeom>
          <a:noFill/>
          <a:ln w="12700" cap="flat" cmpd="sng" algn="ctr">
            <a:solidFill>
              <a:srgbClr val="4584D3">
                <a:lumMod val="5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箭头: 左右 48">
            <a:extLst>
              <a:ext uri="{FF2B5EF4-FFF2-40B4-BE49-F238E27FC236}">
                <a16:creationId xmlns:a16="http://schemas.microsoft.com/office/drawing/2014/main" id="{4862E318-F545-E8E4-9F83-7723C581654F}"/>
              </a:ext>
            </a:extLst>
          </p:cNvPr>
          <p:cNvSpPr/>
          <p:nvPr/>
        </p:nvSpPr>
        <p:spPr>
          <a:xfrm>
            <a:off x="5814724" y="2764502"/>
            <a:ext cx="536308" cy="356701"/>
          </a:xfrm>
          <a:prstGeom prst="leftRightArrow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F152244-676E-AEC2-3817-42AA7C5BA096}"/>
              </a:ext>
            </a:extLst>
          </p:cNvPr>
          <p:cNvSpPr txBox="1"/>
          <p:nvPr/>
        </p:nvSpPr>
        <p:spPr>
          <a:xfrm>
            <a:off x="9298977" y="5889302"/>
            <a:ext cx="2359934" cy="5874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marR="0" lvl="0" indent="-171450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4584D3">
                    <a:lumMod val="7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</a:defRPr>
            </a:lvl1pPr>
          </a:lstStyle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任务完成质量、拟人化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感知、规划、决策能力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124850D-F129-D81E-C782-8CBEA6144E37}"/>
              </a:ext>
            </a:extLst>
          </p:cNvPr>
          <p:cNvSpPr/>
          <p:nvPr/>
        </p:nvSpPr>
        <p:spPr>
          <a:xfrm>
            <a:off x="9694791" y="5540066"/>
            <a:ext cx="182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zh-CN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自动驾驶算法评价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4BD05CC-3C7E-187D-6756-14E68719EFA1}"/>
              </a:ext>
            </a:extLst>
          </p:cNvPr>
          <p:cNvSpPr/>
          <p:nvPr/>
        </p:nvSpPr>
        <p:spPr>
          <a:xfrm>
            <a:off x="9204715" y="5538745"/>
            <a:ext cx="2530629" cy="971626"/>
          </a:xfrm>
          <a:prstGeom prst="rect">
            <a:avLst/>
          </a:prstGeom>
          <a:noFill/>
          <a:ln w="12700" cap="flat" cmpd="sng" algn="ctr">
            <a:solidFill>
              <a:srgbClr val="4584D3">
                <a:lumMod val="5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箭头: 虚尾 54">
            <a:extLst>
              <a:ext uri="{FF2B5EF4-FFF2-40B4-BE49-F238E27FC236}">
                <a16:creationId xmlns:a16="http://schemas.microsoft.com/office/drawing/2014/main" id="{DF516AC3-7C32-2E30-6A12-F1BBFA4DC092}"/>
              </a:ext>
            </a:extLst>
          </p:cNvPr>
          <p:cNvSpPr/>
          <p:nvPr/>
        </p:nvSpPr>
        <p:spPr>
          <a:xfrm rot="16200000" flipV="1">
            <a:off x="8320212" y="5005140"/>
            <a:ext cx="1080119" cy="520127"/>
          </a:xfrm>
          <a:prstGeom prst="stripedRightArrow">
            <a:avLst/>
          </a:prstGeom>
          <a:solidFill>
            <a:srgbClr val="4071CA">
              <a:alpha val="20000"/>
            </a:srgb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3FC828C-FF77-815C-48D3-111453863869}"/>
              </a:ext>
            </a:extLst>
          </p:cNvPr>
          <p:cNvSpPr/>
          <p:nvPr/>
        </p:nvSpPr>
        <p:spPr>
          <a:xfrm>
            <a:off x="8628700" y="4736040"/>
            <a:ext cx="4631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zh-CN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加速测试</a:t>
            </a:r>
            <a:endParaRPr lang="en-US" altLang="zh-CN" sz="14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箭头: 右 56">
            <a:extLst>
              <a:ext uri="{FF2B5EF4-FFF2-40B4-BE49-F238E27FC236}">
                <a16:creationId xmlns:a16="http://schemas.microsoft.com/office/drawing/2014/main" id="{4E8ECB36-B5AA-B5FC-F92D-FF643D2D406B}"/>
              </a:ext>
            </a:extLst>
          </p:cNvPr>
          <p:cNvSpPr/>
          <p:nvPr/>
        </p:nvSpPr>
        <p:spPr>
          <a:xfrm>
            <a:off x="8589701" y="5927714"/>
            <a:ext cx="496982" cy="237589"/>
          </a:xfrm>
          <a:prstGeom prst="rightArrow">
            <a:avLst/>
          </a:prstGeom>
          <a:solidFill>
            <a:srgbClr val="BDD7EE"/>
          </a:solidFill>
          <a:ln w="12700" cap="flat" cmpd="sng" algn="ctr">
            <a:solidFill>
              <a:srgbClr val="4584D3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6E80C49-52A2-EA14-2D80-BCC412E40438}"/>
              </a:ext>
            </a:extLst>
          </p:cNvPr>
          <p:cNvSpPr txBox="1"/>
          <p:nvPr/>
        </p:nvSpPr>
        <p:spPr>
          <a:xfrm>
            <a:off x="10556918" y="4330780"/>
            <a:ext cx="939682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zh-CN" altLang="en-US" sz="1400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测试结果</a:t>
            </a:r>
            <a:endParaRPr lang="en-US" altLang="zh-CN" sz="1400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75A1B09C-8665-898B-97C1-EEBD6C6F44A6}"/>
              </a:ext>
            </a:extLst>
          </p:cNvPr>
          <p:cNvCxnSpPr>
            <a:cxnSpLocks/>
          </p:cNvCxnSpPr>
          <p:nvPr/>
        </p:nvCxnSpPr>
        <p:spPr>
          <a:xfrm>
            <a:off x="3466252" y="4317297"/>
            <a:ext cx="8174363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62D0BEE5-ACF8-2BB1-D2E2-4C3F49810A05}"/>
              </a:ext>
            </a:extLst>
          </p:cNvPr>
          <p:cNvSpPr txBox="1"/>
          <p:nvPr/>
        </p:nvSpPr>
        <p:spPr>
          <a:xfrm>
            <a:off x="3466252" y="4055688"/>
            <a:ext cx="943942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marR="0" lvl="0" indent="-171450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4584D3">
                    <a:lumMod val="7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</a:defRPr>
            </a:lvl1pPr>
          </a:lstStyle>
          <a:p>
            <a:pPr marL="0" indent="0"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仿真测试平台搭建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170F283-EB81-5879-82D6-49E0FEB76A4D}"/>
              </a:ext>
            </a:extLst>
          </p:cNvPr>
          <p:cNvSpPr txBox="1"/>
          <p:nvPr/>
        </p:nvSpPr>
        <p:spPr>
          <a:xfrm>
            <a:off x="6128076" y="4006848"/>
            <a:ext cx="1264068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1400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动态场景构建</a:t>
            </a:r>
            <a:endParaRPr lang="en-US" altLang="zh-CN" sz="1400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142B43C3-DEE8-FBCA-81BD-4756A7F178A1}"/>
              </a:ext>
            </a:extLst>
          </p:cNvPr>
          <p:cNvSpPr/>
          <p:nvPr/>
        </p:nvSpPr>
        <p:spPr>
          <a:xfrm>
            <a:off x="4352462" y="4263297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86A4B80F-1B82-44B8-21DE-1B2F883C3349}"/>
              </a:ext>
            </a:extLst>
          </p:cNvPr>
          <p:cNvSpPr/>
          <p:nvPr/>
        </p:nvSpPr>
        <p:spPr>
          <a:xfrm>
            <a:off x="6046244" y="4263297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2649961C-8A2C-DB60-1886-584DD580662B}"/>
              </a:ext>
            </a:extLst>
          </p:cNvPr>
          <p:cNvSpPr/>
          <p:nvPr/>
        </p:nvSpPr>
        <p:spPr>
          <a:xfrm>
            <a:off x="7554495" y="4263297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108F79C2-2766-7CD3-159C-936DF8261112}"/>
              </a:ext>
            </a:extLst>
          </p:cNvPr>
          <p:cNvSpPr/>
          <p:nvPr/>
        </p:nvSpPr>
        <p:spPr>
          <a:xfrm>
            <a:off x="9051439" y="4263297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747E83E1-6226-C2AD-53A7-7C0D866807E4}"/>
              </a:ext>
            </a:extLst>
          </p:cNvPr>
          <p:cNvSpPr/>
          <p:nvPr/>
        </p:nvSpPr>
        <p:spPr>
          <a:xfrm>
            <a:off x="10460248" y="4263297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63BE08C-A8BE-AE56-839C-E40CE3B78286}"/>
              </a:ext>
            </a:extLst>
          </p:cNvPr>
          <p:cNvSpPr/>
          <p:nvPr/>
        </p:nvSpPr>
        <p:spPr>
          <a:xfrm>
            <a:off x="6603560" y="3571851"/>
            <a:ext cx="52012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</a:t>
            </a:r>
            <a:endParaRPr lang="en-US" altLang="zh-CN" sz="12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9974098F-C5E0-E0E5-81B6-FAECA015E33E}"/>
              </a:ext>
            </a:extLst>
          </p:cNvPr>
          <p:cNvCxnSpPr>
            <a:cxnSpLocks/>
          </p:cNvCxnSpPr>
          <p:nvPr/>
        </p:nvCxnSpPr>
        <p:spPr>
          <a:xfrm>
            <a:off x="10342506" y="4699812"/>
            <a:ext cx="6380" cy="370491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2E3D844F-2154-C9F1-D343-94D90A322B2B}"/>
              </a:ext>
            </a:extLst>
          </p:cNvPr>
          <p:cNvCxnSpPr>
            <a:cxnSpLocks/>
          </p:cNvCxnSpPr>
          <p:nvPr/>
        </p:nvCxnSpPr>
        <p:spPr>
          <a:xfrm flipV="1">
            <a:off x="11506181" y="3490648"/>
            <a:ext cx="0" cy="399588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C93743D9-2154-46F6-88D2-E78F52488B8B}"/>
              </a:ext>
            </a:extLst>
          </p:cNvPr>
          <p:cNvCxnSpPr>
            <a:cxnSpLocks/>
          </p:cNvCxnSpPr>
          <p:nvPr/>
        </p:nvCxnSpPr>
        <p:spPr>
          <a:xfrm flipV="1">
            <a:off x="7639323" y="3490648"/>
            <a:ext cx="0" cy="399588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686F5879-0188-8020-5C04-09CC9673E89F}"/>
              </a:ext>
            </a:extLst>
          </p:cNvPr>
          <p:cNvSpPr/>
          <p:nvPr/>
        </p:nvSpPr>
        <p:spPr>
          <a:xfrm>
            <a:off x="7648428" y="3543811"/>
            <a:ext cx="82383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验证模型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F4CD7D1-0927-A63A-A2CA-4D2AACEB108B}"/>
              </a:ext>
            </a:extLst>
          </p:cNvPr>
          <p:cNvSpPr/>
          <p:nvPr/>
        </p:nvSpPr>
        <p:spPr>
          <a:xfrm>
            <a:off x="10599874" y="3516847"/>
            <a:ext cx="968734" cy="330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ts val="2103"/>
              </a:lnSpc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评估场景库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2D007362-ABB4-FDA1-94E5-77876233747D}"/>
              </a:ext>
            </a:extLst>
          </p:cNvPr>
          <p:cNvSpPr/>
          <p:nvPr/>
        </p:nvSpPr>
        <p:spPr>
          <a:xfrm>
            <a:off x="263351" y="2384695"/>
            <a:ext cx="684786" cy="420405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2400" b="1" kern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95C4622-3E86-15EE-3587-852A46888B90}"/>
              </a:ext>
            </a:extLst>
          </p:cNvPr>
          <p:cNvSpPr/>
          <p:nvPr/>
        </p:nvSpPr>
        <p:spPr>
          <a:xfrm>
            <a:off x="342603" y="2387736"/>
            <a:ext cx="52628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zh-CN" altLang="en-US" sz="2400" b="1" kern="0" dirty="0">
                <a:solidFill>
                  <a:srgbClr val="1D47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自然驾驶数据采集与处理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23E6088A-8920-8FEA-AA8E-FFCAD0D07493}"/>
              </a:ext>
            </a:extLst>
          </p:cNvPr>
          <p:cNvSpPr/>
          <p:nvPr/>
        </p:nvSpPr>
        <p:spPr>
          <a:xfrm>
            <a:off x="3414276" y="2924944"/>
            <a:ext cx="49306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聚类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26BD19A-36D5-E451-1077-0BA9AE48F41F}"/>
              </a:ext>
            </a:extLst>
          </p:cNvPr>
          <p:cNvSpPr txBox="1"/>
          <p:nvPr/>
        </p:nvSpPr>
        <p:spPr>
          <a:xfrm>
            <a:off x="6456040" y="2880855"/>
            <a:ext cx="2160239" cy="5874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171450" indent="-171450">
              <a:buFont typeface="Wingdings" panose="05000000000000000000" pitchFamily="2" charset="2"/>
              <a:buChar char="u"/>
              <a:defRPr sz="12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defTabSz="685800">
              <a:lnSpc>
                <a:spcPct val="120000"/>
              </a:lnSpc>
              <a:defRPr/>
            </a:pPr>
            <a:r>
              <a:rPr lang="zh-CN" altLang="en-US" sz="1400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r>
              <a:rPr lang="zh-CN" altLang="en-US" sz="1400" b="1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切入车辆轨迹</a:t>
            </a:r>
            <a:r>
              <a:rPr lang="zh-CN" altLang="en-US" sz="1400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en-US" altLang="zh-CN" sz="1400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>
              <a:lnSpc>
                <a:spcPct val="120000"/>
              </a:lnSpc>
              <a:defRPr/>
            </a:pPr>
            <a:r>
              <a:rPr lang="zh-CN" altLang="en-US" sz="1400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切入逻辑场景构建</a:t>
            </a:r>
            <a:endParaRPr lang="en-US" altLang="zh-CN" sz="1400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箭头: 右 93">
            <a:extLst>
              <a:ext uri="{FF2B5EF4-FFF2-40B4-BE49-F238E27FC236}">
                <a16:creationId xmlns:a16="http://schemas.microsoft.com/office/drawing/2014/main" id="{BC8439D1-3983-62D7-5EAD-8FBB852ABF1D}"/>
              </a:ext>
            </a:extLst>
          </p:cNvPr>
          <p:cNvSpPr/>
          <p:nvPr/>
        </p:nvSpPr>
        <p:spPr>
          <a:xfrm>
            <a:off x="8676360" y="3091609"/>
            <a:ext cx="416146" cy="166777"/>
          </a:xfrm>
          <a:prstGeom prst="rightArrow">
            <a:avLst/>
          </a:prstGeom>
          <a:solidFill>
            <a:srgbClr val="BDD7EE"/>
          </a:solidFill>
          <a:ln w="12700" cap="flat" cmpd="sng" algn="ctr">
            <a:solidFill>
              <a:srgbClr val="4584D3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4C77580A-A649-1472-0E29-0BCA6C3CD1AB}"/>
              </a:ext>
            </a:extLst>
          </p:cNvPr>
          <p:cNvSpPr txBox="1"/>
          <p:nvPr/>
        </p:nvSpPr>
        <p:spPr>
          <a:xfrm>
            <a:off x="11208567" y="2880805"/>
            <a:ext cx="541024" cy="5874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marR="0" lvl="0" indent="-171450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4584D3">
                    <a:lumMod val="7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</a:defRPr>
            </a:lvl1pPr>
          </a:lstStyle>
          <a:p>
            <a:pPr marL="0" indent="0" algn="ctr">
              <a:lnSpc>
                <a:spcPct val="120000"/>
              </a:lnSpc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74859D01-EB5C-1E0C-DA6D-666978BC9211}"/>
              </a:ext>
            </a:extLst>
          </p:cNvPr>
          <p:cNvSpPr/>
          <p:nvPr/>
        </p:nvSpPr>
        <p:spPr>
          <a:xfrm>
            <a:off x="8564152" y="2851424"/>
            <a:ext cx="640563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逻辑场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景参数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427788FC-A35D-9DE3-E117-CFDCB83810C4}"/>
              </a:ext>
            </a:extLst>
          </p:cNvPr>
          <p:cNvSpPr txBox="1"/>
          <p:nvPr/>
        </p:nvSpPr>
        <p:spPr>
          <a:xfrm>
            <a:off x="4696348" y="4330780"/>
            <a:ext cx="1249792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1400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静态道路搭建</a:t>
            </a:r>
            <a:endParaRPr lang="en-US" altLang="zh-CN" sz="1400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4D69E69B-4332-D5E2-8F14-8C6C0D0A689F}"/>
              </a:ext>
            </a:extLst>
          </p:cNvPr>
          <p:cNvSpPr/>
          <p:nvPr/>
        </p:nvSpPr>
        <p:spPr>
          <a:xfrm>
            <a:off x="4640777" y="4261836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箭头: 右 104">
            <a:extLst>
              <a:ext uri="{FF2B5EF4-FFF2-40B4-BE49-F238E27FC236}">
                <a16:creationId xmlns:a16="http://schemas.microsoft.com/office/drawing/2014/main" id="{33A28FB8-C991-9A82-CA54-EB7A870F6117}"/>
              </a:ext>
            </a:extLst>
          </p:cNvPr>
          <p:cNvSpPr/>
          <p:nvPr/>
        </p:nvSpPr>
        <p:spPr>
          <a:xfrm flipH="1">
            <a:off x="5263786" y="5812820"/>
            <a:ext cx="674621" cy="190778"/>
          </a:xfrm>
          <a:prstGeom prst="rightArrow">
            <a:avLst/>
          </a:prstGeom>
          <a:solidFill>
            <a:srgbClr val="BDD7EE"/>
          </a:solidFill>
          <a:ln w="12700" cap="flat" cmpd="sng" algn="ctr">
            <a:solidFill>
              <a:srgbClr val="4584D3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10F40306-403A-F956-989C-EF94A314AA0B}"/>
              </a:ext>
            </a:extLst>
          </p:cNvPr>
          <p:cNvSpPr/>
          <p:nvPr/>
        </p:nvSpPr>
        <p:spPr>
          <a:xfrm>
            <a:off x="5203913" y="5535821"/>
            <a:ext cx="79436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测试结果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CEAEE60B-309E-8269-74F1-91F991D9FCCE}"/>
              </a:ext>
            </a:extLst>
          </p:cNvPr>
          <p:cNvSpPr/>
          <p:nvPr/>
        </p:nvSpPr>
        <p:spPr>
          <a:xfrm>
            <a:off x="5203913" y="6248345"/>
            <a:ext cx="79436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优化搜索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C6D6E78A-579F-1BB4-EDEB-FC678324490A}"/>
              </a:ext>
            </a:extLst>
          </p:cNvPr>
          <p:cNvSpPr/>
          <p:nvPr/>
        </p:nvSpPr>
        <p:spPr>
          <a:xfrm>
            <a:off x="10344472" y="4703151"/>
            <a:ext cx="1222987" cy="330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ts val="2103"/>
              </a:lnSpc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评价被测算法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752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7" grpId="0"/>
      <p:bldP spid="18" grpId="0" animBg="1"/>
      <p:bldP spid="19" grpId="0"/>
      <p:bldP spid="22" grpId="0" animBg="1"/>
      <p:bldP spid="33" grpId="0" animBg="1"/>
      <p:bldP spid="34" grpId="0"/>
      <p:bldP spid="35" grpId="0" animBg="1"/>
      <p:bldP spid="39" grpId="0" animBg="1"/>
      <p:bldP spid="40" grpId="0" animBg="1"/>
      <p:bldP spid="42" grpId="0" animBg="1"/>
      <p:bldP spid="43" grpId="0" animBg="1"/>
      <p:bldP spid="44" grpId="0"/>
      <p:bldP spid="45" grpId="0" animBg="1"/>
      <p:bldP spid="46" grpId="0"/>
      <p:bldP spid="47" grpId="0" animBg="1"/>
      <p:bldP spid="48" grpId="0" animBg="1"/>
      <p:bldP spid="49" grpId="0" animBg="1"/>
      <p:bldP spid="52" grpId="0" animBg="1"/>
      <p:bldP spid="53" grpId="0"/>
      <p:bldP spid="54" grpId="0" animBg="1"/>
      <p:bldP spid="55" grpId="0" animBg="1"/>
      <p:bldP spid="56" grpId="0"/>
      <p:bldP spid="57" grpId="0" animBg="1"/>
      <p:bldP spid="58" grpId="0" animBg="1"/>
      <p:bldP spid="60" grpId="0" animBg="1"/>
      <p:bldP spid="62" grpId="0" animBg="1"/>
      <p:bldP spid="61" grpId="0" animBg="1"/>
      <p:bldP spid="63" grpId="0" animBg="1"/>
      <p:bldP spid="64" grpId="0" animBg="1"/>
      <p:bldP spid="65" grpId="0" animBg="1"/>
      <p:bldP spid="66" grpId="0" animBg="1"/>
      <p:bldP spid="67" grpId="0"/>
      <p:bldP spid="71" grpId="0"/>
      <p:bldP spid="72" grpId="0"/>
      <p:bldP spid="91" grpId="0"/>
      <p:bldP spid="92" grpId="0" animBg="1"/>
      <p:bldP spid="94" grpId="0" animBg="1"/>
      <p:bldP spid="97" grpId="0" animBg="1"/>
      <p:bldP spid="98" grpId="0"/>
      <p:bldP spid="101" grpId="0" animBg="1"/>
      <p:bldP spid="102" grpId="0" animBg="1"/>
      <p:bldP spid="105" grpId="0" animBg="1"/>
      <p:bldP spid="106" grpId="0"/>
      <p:bldP spid="107" grpId="0"/>
      <p:bldP spid="1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59">
            <a:extLst>
              <a:ext uri="{FF2B5EF4-FFF2-40B4-BE49-F238E27FC236}">
                <a16:creationId xmlns:a16="http://schemas.microsoft.com/office/drawing/2014/main" id="{71CE0525-4CDF-9451-C39A-45C92D5CD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0" y="116632"/>
            <a:ext cx="338437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研究内容及进展</a:t>
            </a:r>
            <a:endParaRPr lang="en-US" altLang="zh-CN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灯片编号占位符 35">
            <a:extLst>
              <a:ext uri="{FF2B5EF4-FFF2-40B4-BE49-F238E27FC236}">
                <a16:creationId xmlns:a16="http://schemas.microsoft.com/office/drawing/2014/main" id="{6C1D42DC-18ED-C128-EEF6-AFBF456D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C65444-C27E-4275-9B64-A99AFE6606A1}" type="slidenum">
              <a:rPr lang="zh-CN" altLang="en-US" smtClean="0"/>
              <a:t>5</a:t>
            </a:fld>
            <a:endParaRPr lang="en-US" altLang="zh-CN" dirty="0"/>
          </a:p>
        </p:txBody>
      </p:sp>
      <p:graphicFrame>
        <p:nvGraphicFramePr>
          <p:cNvPr id="4" name="表格 32">
            <a:extLst>
              <a:ext uri="{FF2B5EF4-FFF2-40B4-BE49-F238E27FC236}">
                <a16:creationId xmlns:a16="http://schemas.microsoft.com/office/drawing/2014/main" id="{A9F9044C-343E-499B-5AAC-0B884D8A9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848183"/>
              </p:ext>
            </p:extLst>
          </p:nvPr>
        </p:nvGraphicFramePr>
        <p:xfrm>
          <a:off x="263352" y="1268760"/>
          <a:ext cx="11665296" cy="5112572"/>
        </p:xfrm>
        <a:graphic>
          <a:graphicData uri="http://schemas.openxmlformats.org/drawingml/2006/table">
            <a:tbl>
              <a:tblPr firstRow="1"/>
              <a:tblGrid>
                <a:gridCol w="720080">
                  <a:extLst>
                    <a:ext uri="{9D8B030D-6E8A-4147-A177-3AD203B41FA5}">
                      <a16:colId xmlns:a16="http://schemas.microsoft.com/office/drawing/2014/main" val="335086045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3438056798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659418656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3127318945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400102747"/>
                    </a:ext>
                  </a:extLst>
                </a:gridCol>
              </a:tblGrid>
              <a:tr h="5316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序号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7FC">
                        <a:lumMod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任务安排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7FC">
                        <a:lumMod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（预计）完成时间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7FC">
                        <a:lumMod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完成状态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7FC">
                        <a:lumMod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累计进度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7FC">
                        <a:lumMod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463201"/>
                  </a:ext>
                </a:extLst>
              </a:tr>
              <a:tr h="4164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84D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查阅文献，完成开题报告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84D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2023.10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84D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已完成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84D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5%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84D3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213397"/>
                  </a:ext>
                </a:extLst>
              </a:tr>
              <a:tr h="4164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84D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数据调研并进行预处理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84D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2023.10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84D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已完成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84D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15%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84D3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753864"/>
                  </a:ext>
                </a:extLst>
              </a:tr>
              <a:tr h="4164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84D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典型场景聚类（主要内容一）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84D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2024.08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84D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已完成（</a:t>
                      </a:r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SCI</a:t>
                      </a:r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一区在投）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84D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40%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84D3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384691"/>
                  </a:ext>
                </a:extLst>
              </a:tr>
              <a:tr h="4164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84D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高覆盖场景生成（主要内容二）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84D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2024.03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84D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已完成（中国公路学报见刊）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84D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60%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84D3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60748"/>
                  </a:ext>
                </a:extLst>
              </a:tr>
              <a:tr h="416446">
                <a:tc row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zh-CN" altLang="en-US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危险场景加速生成（主要内容三）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800" b="1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2025.01</a:t>
                      </a:r>
                      <a:endParaRPr lang="zh-CN" altLang="en-US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进行中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 row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65%</a:t>
                      </a:r>
                      <a:endParaRPr lang="zh-CN" altLang="en-US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196604"/>
                  </a:ext>
                </a:extLst>
              </a:tr>
              <a:tr h="416446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285750" indent="-285750">
                        <a:buFont typeface="Wingdings" panose="05000000000000000000" pitchFamily="2" charset="2"/>
                        <a:buChar char="u"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自动驾驶仿真平台搭建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2024.09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已完成</a:t>
                      </a:r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endParaRPr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069473"/>
                  </a:ext>
                </a:extLst>
              </a:tr>
              <a:tr h="416446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p"/>
                        <a:tabLst/>
                        <a:defRPr/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接入算法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进行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软件在环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仿真测试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2024.10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进行中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300321"/>
                  </a:ext>
                </a:extLst>
              </a:tr>
              <a:tr h="416446"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p"/>
                        <a:tabLst/>
                        <a:defRPr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基于测试结果的场景多维度评价模型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2024.11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待完成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149721"/>
                  </a:ext>
                </a:extLst>
              </a:tr>
              <a:tr h="416446"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p"/>
                        <a:tabLst/>
                        <a:defRPr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危险场景加速生成方法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2024.12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待完成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6865"/>
                  </a:ext>
                </a:extLst>
              </a:tr>
              <a:tr h="416446"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p"/>
                        <a:tabLst/>
                        <a:defRPr/>
                      </a:pPr>
                      <a:r>
                        <a:rPr lang="zh-CN" altLang="en-US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被测自动驾驶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算法评价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2025.01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待完成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453191"/>
                  </a:ext>
                </a:extLst>
              </a:tr>
              <a:tr h="4164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撰写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毕业设计报告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2025.04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待完成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B6F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5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3671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形 2">
            <a:extLst>
              <a:ext uri="{FF2B5EF4-FFF2-40B4-BE49-F238E27FC236}">
                <a16:creationId xmlns:a16="http://schemas.microsoft.com/office/drawing/2014/main" id="{41FDA172-2331-B9A7-DEF8-6A7A303B188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509" t="22776" r="20809" b="43803"/>
          <a:stretch/>
        </p:blipFill>
        <p:spPr bwMode="auto">
          <a:xfrm>
            <a:off x="5879976" y="1955943"/>
            <a:ext cx="4571415" cy="13496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矩形 59">
            <a:extLst>
              <a:ext uri="{FF2B5EF4-FFF2-40B4-BE49-F238E27FC236}">
                <a16:creationId xmlns:a16="http://schemas.microsoft.com/office/drawing/2014/main" id="{71CE0525-4CDF-9451-C39A-45C92D5CD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0" y="116632"/>
            <a:ext cx="338437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内容一完成情况</a:t>
            </a:r>
            <a:endParaRPr lang="en-US" altLang="zh-CN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灯片编号占位符 35">
            <a:extLst>
              <a:ext uri="{FF2B5EF4-FFF2-40B4-BE49-F238E27FC236}">
                <a16:creationId xmlns:a16="http://schemas.microsoft.com/office/drawing/2014/main" id="{6C1D42DC-18ED-C128-EEF6-AFBF456D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C65444-C27E-4275-9B64-A99AFE6606A1}" type="slidenum">
              <a:rPr lang="zh-CN" altLang="en-US" smtClean="0"/>
              <a:t>6</a:t>
            </a:fld>
            <a:endParaRPr lang="en-US" altLang="zh-CN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3F72AE-C85C-4096-2BE0-609AEBE429F5}"/>
              </a:ext>
            </a:extLst>
          </p:cNvPr>
          <p:cNvSpPr/>
          <p:nvPr/>
        </p:nvSpPr>
        <p:spPr>
          <a:xfrm>
            <a:off x="263352" y="908720"/>
            <a:ext cx="11737304" cy="5558802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3" name="圆角矩形 74">
            <a:extLst>
              <a:ext uri="{FF2B5EF4-FFF2-40B4-BE49-F238E27FC236}">
                <a16:creationId xmlns:a16="http://schemas.microsoft.com/office/drawing/2014/main" id="{EE5BA62A-EBAD-BF29-B11B-4F0223247268}"/>
              </a:ext>
            </a:extLst>
          </p:cNvPr>
          <p:cNvSpPr/>
          <p:nvPr/>
        </p:nvSpPr>
        <p:spPr>
          <a:xfrm>
            <a:off x="263353" y="918274"/>
            <a:ext cx="6948663" cy="39434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2600" b="1" dirty="0">
                <a:solidFill>
                  <a:srgbClr val="1D47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内容一：典型测试场景构建方法</a:t>
            </a:r>
            <a:r>
              <a:rPr lang="en-US" altLang="zh-CN" sz="2600" b="1" dirty="0">
                <a:solidFill>
                  <a:srgbClr val="1D47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600" b="1" dirty="0">
                <a:solidFill>
                  <a:srgbClr val="1D47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切入场景</a:t>
            </a:r>
            <a:endParaRPr lang="en-US" altLang="zh-CN" sz="2600" b="1" dirty="0">
              <a:solidFill>
                <a:srgbClr val="1D47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94C1D6-3DAB-761C-260E-AE92461DD54F}"/>
              </a:ext>
            </a:extLst>
          </p:cNvPr>
          <p:cNvSpPr/>
          <p:nvPr/>
        </p:nvSpPr>
        <p:spPr>
          <a:xfrm>
            <a:off x="496802" y="1412777"/>
            <a:ext cx="11287829" cy="4760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zh-CN" altLang="en-US" sz="2400" b="1" kern="0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中国道路自然驾驶数据 </a:t>
            </a:r>
            <a:r>
              <a:rPr lang="en-US" altLang="zh-CN" sz="2400" b="1" kern="0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(CAERI-NDS)</a:t>
            </a:r>
          </a:p>
        </p:txBody>
      </p:sp>
      <p:sp>
        <p:nvSpPr>
          <p:cNvPr id="6" name="流程图: 磁盘 5">
            <a:extLst>
              <a:ext uri="{FF2B5EF4-FFF2-40B4-BE49-F238E27FC236}">
                <a16:creationId xmlns:a16="http://schemas.microsoft.com/office/drawing/2014/main" id="{7F1416DD-BF80-33CC-40A3-DF485C93F761}"/>
              </a:ext>
            </a:extLst>
          </p:cNvPr>
          <p:cNvSpPr/>
          <p:nvPr/>
        </p:nvSpPr>
        <p:spPr>
          <a:xfrm>
            <a:off x="10560496" y="2079730"/>
            <a:ext cx="1224135" cy="1144245"/>
          </a:xfrm>
          <a:prstGeom prst="flowChartMagneticDisk">
            <a:avLst/>
          </a:prstGeom>
          <a:solidFill>
            <a:schemeClr val="accent5">
              <a:lumMod val="40000"/>
              <a:lumOff val="60000"/>
            </a:schemeClr>
          </a:solidFill>
          <a:ln w="6350" cap="flat" cmpd="sng" algn="ctr">
            <a:solidFill>
              <a:schemeClr val="accent5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2000" b="1" kern="0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2415</a:t>
            </a:r>
            <a:r>
              <a:rPr lang="zh-CN" altLang="en-US" sz="2000" b="1" kern="0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例切入场景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40080C-6572-076C-DFEF-5F23A84D61E0}"/>
              </a:ext>
            </a:extLst>
          </p:cNvPr>
          <p:cNvSpPr txBox="1"/>
          <p:nvPr/>
        </p:nvSpPr>
        <p:spPr>
          <a:xfrm>
            <a:off x="10385968" y="1854861"/>
            <a:ext cx="857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场景提取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6861E6D-1EC6-E550-A762-0AA89A8037F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1172564" y="1888812"/>
            <a:ext cx="0" cy="190918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397414F3-4CA9-1259-7432-5497380615D6}"/>
              </a:ext>
            </a:extLst>
          </p:cNvPr>
          <p:cNvSpPr/>
          <p:nvPr/>
        </p:nvSpPr>
        <p:spPr>
          <a:xfrm>
            <a:off x="496802" y="2158248"/>
            <a:ext cx="1164566" cy="914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zh-CN" altLang="en-US" b="1" kern="0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聚类场景要素提取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A94037E-B5AA-122A-2BD0-DE25AB737347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1661368" y="2615448"/>
            <a:ext cx="2997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37AE1E6B-928C-86E5-0B43-80B7AABCE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627283"/>
              </p:ext>
            </p:extLst>
          </p:nvPr>
        </p:nvGraphicFramePr>
        <p:xfrm>
          <a:off x="1961156" y="2158248"/>
          <a:ext cx="4017642" cy="9144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34130">
                  <a:extLst>
                    <a:ext uri="{9D8B030D-6E8A-4147-A177-3AD203B41FA5}">
                      <a16:colId xmlns:a16="http://schemas.microsoft.com/office/drawing/2014/main" val="398011162"/>
                    </a:ext>
                  </a:extLst>
                </a:gridCol>
                <a:gridCol w="3083512">
                  <a:extLst>
                    <a:ext uri="{9D8B030D-6E8A-4147-A177-3AD203B41FA5}">
                      <a16:colId xmlns:a16="http://schemas.microsoft.com/office/drawing/2014/main" val="38242592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连续变量</a:t>
                      </a:r>
                      <a:endParaRPr lang="zh-CN" alt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THW</a:t>
                      </a: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，速度，相对速度，切入时长</a:t>
                      </a:r>
                    </a:p>
                  </a:txBody>
                  <a:tcPr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06285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离散变量</a:t>
                      </a:r>
                      <a:endParaRPr lang="zh-CN" alt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天气，光照强度，切入车型，前车</a:t>
                      </a:r>
                      <a:endParaRPr lang="zh-CN" altLang="en-US" sz="14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48164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过程变量</a:t>
                      </a:r>
                      <a:endParaRPr lang="zh-CN" alt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全过程 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速度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时间序列</a:t>
                      </a:r>
                      <a:endParaRPr lang="zh-CN" alt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8804718"/>
                  </a:ext>
                </a:extLst>
              </a:tr>
            </a:tbl>
          </a:graphicData>
        </a:graphic>
      </p:graphicFrame>
      <p:sp>
        <p:nvSpPr>
          <p:cNvPr id="13" name="箭头: 右 12">
            <a:extLst>
              <a:ext uri="{FF2B5EF4-FFF2-40B4-BE49-F238E27FC236}">
                <a16:creationId xmlns:a16="http://schemas.microsoft.com/office/drawing/2014/main" id="{E6FDDBDB-576A-DCA0-A382-37573AEA8E1D}"/>
              </a:ext>
            </a:extLst>
          </p:cNvPr>
          <p:cNvSpPr/>
          <p:nvPr/>
        </p:nvSpPr>
        <p:spPr>
          <a:xfrm rot="5400000">
            <a:off x="4088663" y="3109704"/>
            <a:ext cx="242821" cy="285481"/>
          </a:xfrm>
          <a:prstGeom prst="rightArrow">
            <a:avLst/>
          </a:prstGeom>
          <a:solidFill>
            <a:srgbClr val="BDD7EE"/>
          </a:solidFill>
          <a:ln w="12700" cap="flat" cmpd="sng" algn="ctr">
            <a:solidFill>
              <a:srgbClr val="4584D3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AD4966F3-A688-E911-9DB9-EC72812C7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382" y="311403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259AFA-5FBD-2102-7720-EECF1E2B24F3}"/>
              </a:ext>
            </a:extLst>
          </p:cNvPr>
          <p:cNvSpPr/>
          <p:nvPr/>
        </p:nvSpPr>
        <p:spPr>
          <a:xfrm>
            <a:off x="3113665" y="3492608"/>
            <a:ext cx="2188717" cy="4390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b="1" kern="0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DTW+K-medoids</a:t>
            </a:r>
            <a:endParaRPr lang="zh-CN" altLang="en-US" b="1" kern="0" dirty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6" name="图形 2">
            <a:extLst>
              <a:ext uri="{FF2B5EF4-FFF2-40B4-BE49-F238E27FC236}">
                <a16:creationId xmlns:a16="http://schemas.microsoft.com/office/drawing/2014/main" id="{C5687649-E501-062B-FFCC-C28C5D75BF6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8702" y="3428115"/>
            <a:ext cx="2926868" cy="146319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F46DDC5-0421-745C-CB9F-AF494D9B80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9107" y="3372744"/>
            <a:ext cx="2291777" cy="1526523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FA2A3F16-A8A0-28BA-AF6F-BFD8F904B7D7}"/>
              </a:ext>
            </a:extLst>
          </p:cNvPr>
          <p:cNvSpPr/>
          <p:nvPr/>
        </p:nvSpPr>
        <p:spPr>
          <a:xfrm>
            <a:off x="496801" y="3414083"/>
            <a:ext cx="8149340" cy="1511572"/>
          </a:xfrm>
          <a:prstGeom prst="rect">
            <a:avLst/>
          </a:prstGeom>
          <a:noFill/>
          <a:ln w="12700" cap="flat" cmpd="sng" algn="ctr">
            <a:solidFill>
              <a:srgbClr val="4584D3">
                <a:lumMod val="5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9309B3-F115-E7B5-BFB5-7EECC80DA87D}"/>
              </a:ext>
            </a:extLst>
          </p:cNvPr>
          <p:cNvSpPr/>
          <p:nvPr/>
        </p:nvSpPr>
        <p:spPr>
          <a:xfrm>
            <a:off x="3113665" y="4353227"/>
            <a:ext cx="2188717" cy="4390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zh-CN" altLang="en-US" b="1" kern="0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四种切入速度模式</a:t>
            </a: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387E692A-E899-0FBC-8683-0CBC33EF158B}"/>
              </a:ext>
            </a:extLst>
          </p:cNvPr>
          <p:cNvSpPr/>
          <p:nvPr/>
        </p:nvSpPr>
        <p:spPr>
          <a:xfrm rot="5400000">
            <a:off x="4066933" y="4012031"/>
            <a:ext cx="286281" cy="285481"/>
          </a:xfrm>
          <a:prstGeom prst="rightArrow">
            <a:avLst/>
          </a:prstGeom>
          <a:solidFill>
            <a:srgbClr val="BDD7EE"/>
          </a:solidFill>
          <a:ln w="12700" cap="flat" cmpd="sng" algn="ctr">
            <a:solidFill>
              <a:srgbClr val="4584D3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思想气泡: 云 20">
            <a:extLst>
              <a:ext uri="{FF2B5EF4-FFF2-40B4-BE49-F238E27FC236}">
                <a16:creationId xmlns:a16="http://schemas.microsoft.com/office/drawing/2014/main" id="{10721BC7-AA3C-25A3-EB63-289E235EAB92}"/>
              </a:ext>
            </a:extLst>
          </p:cNvPr>
          <p:cNvSpPr/>
          <p:nvPr/>
        </p:nvSpPr>
        <p:spPr>
          <a:xfrm>
            <a:off x="8481850" y="674907"/>
            <a:ext cx="1463913" cy="1033220"/>
          </a:xfrm>
          <a:prstGeom prst="cloudCallout">
            <a:avLst/>
          </a:prstGeom>
          <a:solidFill>
            <a:schemeClr val="accent2">
              <a:lumMod val="40000"/>
              <a:lumOff val="6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b="1" u="sng" kern="0" dirty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223DEF1-DC90-0430-2B58-78BF8922D114}"/>
              </a:ext>
            </a:extLst>
          </p:cNvPr>
          <p:cNvSpPr txBox="1"/>
          <p:nvPr/>
        </p:nvSpPr>
        <p:spPr>
          <a:xfrm>
            <a:off x="8481849" y="739449"/>
            <a:ext cx="14024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zh-CN" altLang="en-US" sz="1600" b="1" u="sng" kern="0" dirty="0">
                <a:solidFill>
                  <a:srgbClr val="ED7D31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要素不全</a:t>
            </a:r>
            <a:endParaRPr lang="en-US" altLang="zh-CN" sz="1600" b="1" u="sng" kern="0" dirty="0">
              <a:solidFill>
                <a:srgbClr val="ED7D31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defTabSz="914400"/>
            <a:r>
              <a:rPr lang="zh-CN" altLang="en-US" sz="1600" b="1" u="sng" kern="0" dirty="0">
                <a:solidFill>
                  <a:srgbClr val="ED7D31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样本不均衡</a:t>
            </a:r>
            <a:endParaRPr lang="en-US" altLang="zh-CN" sz="1600" b="1" u="sng" kern="0" dirty="0">
              <a:solidFill>
                <a:srgbClr val="ED7D31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defTabSz="914400"/>
            <a:r>
              <a:rPr lang="zh-CN" altLang="en-US" sz="1600" b="1" u="sng" kern="0" dirty="0">
                <a:solidFill>
                  <a:srgbClr val="ED7D31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聚类数确定</a:t>
            </a:r>
            <a:endParaRPr lang="zh-CN" altLang="en-US" sz="16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84B24B8-59CB-57ED-001E-B5C70D27FF60}"/>
              </a:ext>
            </a:extLst>
          </p:cNvPr>
          <p:cNvCxnSpPr>
            <a:cxnSpLocks/>
          </p:cNvCxnSpPr>
          <p:nvPr/>
        </p:nvCxnSpPr>
        <p:spPr>
          <a:xfrm flipH="1">
            <a:off x="10281550" y="2615448"/>
            <a:ext cx="2789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7B1D1420-5033-E82E-711B-52C88DD32F6E}"/>
              </a:ext>
            </a:extLst>
          </p:cNvPr>
          <p:cNvSpPr/>
          <p:nvPr/>
        </p:nvSpPr>
        <p:spPr>
          <a:xfrm>
            <a:off x="7643738" y="3852806"/>
            <a:ext cx="930054" cy="603929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zh-CN" altLang="en-US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第一层聚类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0199F05-89B1-E57C-9C0C-597210DA310E}"/>
              </a:ext>
            </a:extLst>
          </p:cNvPr>
          <p:cNvSpPr/>
          <p:nvPr/>
        </p:nvSpPr>
        <p:spPr>
          <a:xfrm>
            <a:off x="496801" y="5273995"/>
            <a:ext cx="8149340" cy="1079312"/>
          </a:xfrm>
          <a:prstGeom prst="rect">
            <a:avLst/>
          </a:prstGeom>
          <a:noFill/>
          <a:ln w="12700" cap="flat" cmpd="sng" algn="ctr">
            <a:solidFill>
              <a:srgbClr val="4584D3">
                <a:lumMod val="5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94FED02-7A3A-76D0-8FCE-39A650052D96}"/>
              </a:ext>
            </a:extLst>
          </p:cNvPr>
          <p:cNvSpPr/>
          <p:nvPr/>
        </p:nvSpPr>
        <p:spPr>
          <a:xfrm>
            <a:off x="3408487" y="5357997"/>
            <a:ext cx="1893895" cy="4390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zh-CN" altLang="en-US" b="1" kern="0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多原型思想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363D584-ED31-CDB7-0DFB-03CFED90042B}"/>
              </a:ext>
            </a:extLst>
          </p:cNvPr>
          <p:cNvSpPr/>
          <p:nvPr/>
        </p:nvSpPr>
        <p:spPr>
          <a:xfrm>
            <a:off x="3408487" y="5868686"/>
            <a:ext cx="1893895" cy="4390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zh-CN" altLang="en-US" b="1" kern="0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自适应竞争学习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05ABB9CA-1D21-F387-C5E9-B5C39C4521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07033" y="5343854"/>
            <a:ext cx="1591596" cy="95089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9" name="箭头: 右 28">
            <a:extLst>
              <a:ext uri="{FF2B5EF4-FFF2-40B4-BE49-F238E27FC236}">
                <a16:creationId xmlns:a16="http://schemas.microsoft.com/office/drawing/2014/main" id="{3E1B707D-B9D8-CF3B-1906-6AD4DBD13E7D}"/>
              </a:ext>
            </a:extLst>
          </p:cNvPr>
          <p:cNvSpPr/>
          <p:nvPr/>
        </p:nvSpPr>
        <p:spPr>
          <a:xfrm rot="5400000">
            <a:off x="4086612" y="4951514"/>
            <a:ext cx="242821" cy="285481"/>
          </a:xfrm>
          <a:prstGeom prst="rightArrow">
            <a:avLst/>
          </a:prstGeom>
          <a:solidFill>
            <a:srgbClr val="BDD7EE"/>
          </a:solidFill>
          <a:ln w="12700" cap="flat" cmpd="sng" algn="ctr">
            <a:solidFill>
              <a:srgbClr val="4584D3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流程图: 多文档 29">
            <a:extLst>
              <a:ext uri="{FF2B5EF4-FFF2-40B4-BE49-F238E27FC236}">
                <a16:creationId xmlns:a16="http://schemas.microsoft.com/office/drawing/2014/main" id="{9BE7FD17-EEB4-B732-61DA-501A54D4D627}"/>
              </a:ext>
            </a:extLst>
          </p:cNvPr>
          <p:cNvSpPr/>
          <p:nvPr/>
        </p:nvSpPr>
        <p:spPr>
          <a:xfrm>
            <a:off x="9336360" y="5271425"/>
            <a:ext cx="2448271" cy="1079312"/>
          </a:xfrm>
          <a:prstGeom prst="flowChartMultidocument">
            <a:avLst/>
          </a:prstGeom>
          <a:solidFill>
            <a:schemeClr val="accent2">
              <a:lumMod val="40000"/>
              <a:lumOff val="60000"/>
            </a:schemeClr>
          </a:solidFill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2000" b="1" kern="0" dirty="0">
                <a:solidFill>
                  <a:srgbClr val="ED7D31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</a:t>
            </a:r>
            <a:r>
              <a:rPr lang="zh-CN" altLang="en-US" sz="2000" b="1" kern="0" dirty="0">
                <a:solidFill>
                  <a:srgbClr val="ED7D31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类典型场景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1C0D9E1-701E-1DE5-B9EA-40DDC1B27607}"/>
              </a:ext>
            </a:extLst>
          </p:cNvPr>
          <p:cNvSpPr/>
          <p:nvPr/>
        </p:nvSpPr>
        <p:spPr>
          <a:xfrm>
            <a:off x="7643738" y="5587431"/>
            <a:ext cx="930054" cy="543842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zh-CN" altLang="en-US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第二层聚类</a:t>
            </a:r>
          </a:p>
        </p:txBody>
      </p:sp>
      <p:sp>
        <p:nvSpPr>
          <p:cNvPr id="32" name="箭头: 虚尾 31">
            <a:extLst>
              <a:ext uri="{FF2B5EF4-FFF2-40B4-BE49-F238E27FC236}">
                <a16:creationId xmlns:a16="http://schemas.microsoft.com/office/drawing/2014/main" id="{8191753B-8D4F-532D-FB9F-4840BE464351}"/>
              </a:ext>
            </a:extLst>
          </p:cNvPr>
          <p:cNvSpPr/>
          <p:nvPr/>
        </p:nvSpPr>
        <p:spPr>
          <a:xfrm>
            <a:off x="8762866" y="5510795"/>
            <a:ext cx="489600" cy="630000"/>
          </a:xfrm>
          <a:prstGeom prst="striped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  <a:alpha val="50196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1C1FC397-A49D-CD66-DA40-164AFEB05EF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919" y="5356846"/>
            <a:ext cx="2828884" cy="93789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35" name="箭头: 虚尾 34">
            <a:extLst>
              <a:ext uri="{FF2B5EF4-FFF2-40B4-BE49-F238E27FC236}">
                <a16:creationId xmlns:a16="http://schemas.microsoft.com/office/drawing/2014/main" id="{3F0486AC-6808-B2A9-A388-169AA7B4720F}"/>
              </a:ext>
            </a:extLst>
          </p:cNvPr>
          <p:cNvSpPr/>
          <p:nvPr/>
        </p:nvSpPr>
        <p:spPr>
          <a:xfrm>
            <a:off x="8762866" y="3889683"/>
            <a:ext cx="489500" cy="629502"/>
          </a:xfrm>
          <a:prstGeom prst="stripedRightArrow">
            <a:avLst/>
          </a:prstGeom>
          <a:solidFill>
            <a:srgbClr val="DAE3F3"/>
          </a:solidFill>
          <a:ln>
            <a:solidFill>
              <a:srgbClr val="DAE3F3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流程图: 离页连接符 36">
            <a:extLst>
              <a:ext uri="{FF2B5EF4-FFF2-40B4-BE49-F238E27FC236}">
                <a16:creationId xmlns:a16="http://schemas.microsoft.com/office/drawing/2014/main" id="{CD8B76C6-73E1-B378-13A7-481142BBB8D5}"/>
              </a:ext>
            </a:extLst>
          </p:cNvPr>
          <p:cNvSpPr/>
          <p:nvPr/>
        </p:nvSpPr>
        <p:spPr>
          <a:xfrm>
            <a:off x="9336360" y="3414083"/>
            <a:ext cx="2448271" cy="1511572"/>
          </a:xfrm>
          <a:prstGeom prst="flowChartOffpageConnector">
            <a:avLst/>
          </a:prstGeom>
          <a:solidFill>
            <a:schemeClr val="accent5">
              <a:lumMod val="40000"/>
              <a:lumOff val="6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zh-CN" altLang="en-US" sz="2000" b="1" kern="0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六个连续变量</a:t>
            </a:r>
            <a:endParaRPr lang="en-US" altLang="zh-CN" sz="2000" b="1" kern="0" dirty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defTabSz="914400"/>
            <a:r>
              <a:rPr lang="zh-CN" altLang="en-US" sz="2000" b="1" kern="0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四个离散变量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F21A69B-1739-72A0-402B-3C91A6E4FA8F}"/>
              </a:ext>
            </a:extLst>
          </p:cNvPr>
          <p:cNvSpPr/>
          <p:nvPr/>
        </p:nvSpPr>
        <p:spPr>
          <a:xfrm>
            <a:off x="47328" y="6453336"/>
            <a:ext cx="119533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[1] 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Cluster of Typical Freeway Cut-in Scenarios Considering Data Heterogeneity and Imbalance: A Two-layer Self-adaptive Multiprototype-based Competitive Learning Algorithm[J]. </a:t>
            </a:r>
            <a:r>
              <a:rPr lang="en-US" altLang="zh-CN" sz="11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Accident Analysis &amp; Prevention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2024.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（在投中一区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SCI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期刊，学生一作）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603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8" grpId="0" animBg="1"/>
      <p:bldP spid="19" grpId="0" animBg="1"/>
      <p:bldP spid="20" grpId="0" animBg="1"/>
      <p:bldP spid="24" grpId="0"/>
      <p:bldP spid="25" grpId="0" animBg="1"/>
      <p:bldP spid="26" grpId="0" animBg="1"/>
      <p:bldP spid="27" grpId="0" animBg="1"/>
      <p:bldP spid="29" grpId="0" animBg="1"/>
      <p:bldP spid="30" grpId="0" animBg="1"/>
      <p:bldP spid="31" grpId="0"/>
      <p:bldP spid="32" grpId="0" animBg="1"/>
      <p:bldP spid="35" grpId="0" animBg="1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59">
            <a:extLst>
              <a:ext uri="{FF2B5EF4-FFF2-40B4-BE49-F238E27FC236}">
                <a16:creationId xmlns:a16="http://schemas.microsoft.com/office/drawing/2014/main" id="{71CE0525-4CDF-9451-C39A-45C92D5CD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0" y="116632"/>
            <a:ext cx="338437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内容一完成情况</a:t>
            </a:r>
            <a:endParaRPr lang="en-US" altLang="zh-CN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灯片编号占位符 35">
            <a:extLst>
              <a:ext uri="{FF2B5EF4-FFF2-40B4-BE49-F238E27FC236}">
                <a16:creationId xmlns:a16="http://schemas.microsoft.com/office/drawing/2014/main" id="{6C1D42DC-18ED-C128-EEF6-AFBF456D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C65444-C27E-4275-9B64-A99AFE6606A1}" type="slidenum">
              <a:rPr lang="zh-CN" altLang="en-US" smtClean="0"/>
              <a:t>7</a:t>
            </a:fld>
            <a:endParaRPr lang="en-US" altLang="zh-CN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0BD8C0B-653F-3F50-FA2D-DEA760AEFD5E}"/>
              </a:ext>
            </a:extLst>
          </p:cNvPr>
          <p:cNvSpPr txBox="1">
            <a:spLocks/>
          </p:cNvSpPr>
          <p:nvPr/>
        </p:nvSpPr>
        <p:spPr>
          <a:xfrm>
            <a:off x="41367" y="836713"/>
            <a:ext cx="8642350" cy="720075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与其他文献对比结果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A2162FE3-290E-C104-E50B-9748326477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385" b="9060"/>
          <a:stretch/>
        </p:blipFill>
        <p:spPr>
          <a:xfrm>
            <a:off x="272830" y="1484784"/>
            <a:ext cx="7384486" cy="2376264"/>
          </a:xfrm>
          <a:prstGeom prst="rect">
            <a:avLst/>
          </a:prstGeom>
        </p:spPr>
      </p:pic>
      <p:pic>
        <p:nvPicPr>
          <p:cNvPr id="35" name="图形 11">
            <a:extLst>
              <a:ext uri="{FF2B5EF4-FFF2-40B4-BE49-F238E27FC236}">
                <a16:creationId xmlns:a16="http://schemas.microsoft.com/office/drawing/2014/main" id="{04BE4767-24FF-A501-E770-3766F6AE39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1494" y="4727460"/>
            <a:ext cx="5551170" cy="647700"/>
          </a:xfrm>
          <a:prstGeom prst="rect">
            <a:avLst/>
          </a:prstGeom>
        </p:spPr>
      </p:pic>
      <p:pic>
        <p:nvPicPr>
          <p:cNvPr id="37" name="图形 13">
            <a:extLst>
              <a:ext uri="{FF2B5EF4-FFF2-40B4-BE49-F238E27FC236}">
                <a16:creationId xmlns:a16="http://schemas.microsoft.com/office/drawing/2014/main" id="{5267AE98-F536-0A8C-8F2F-CDD1C5782AE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1494" y="5460652"/>
            <a:ext cx="5529580" cy="636905"/>
          </a:xfrm>
          <a:prstGeom prst="rect">
            <a:avLst/>
          </a:prstGeom>
        </p:spPr>
      </p:pic>
      <p:pic>
        <p:nvPicPr>
          <p:cNvPr id="38" name="图形 17">
            <a:extLst>
              <a:ext uri="{FF2B5EF4-FFF2-40B4-BE49-F238E27FC236}">
                <a16:creationId xmlns:a16="http://schemas.microsoft.com/office/drawing/2014/main" id="{6750CDF1-61B5-C401-BFE2-D9ABF90FBBE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21494" y="6183049"/>
            <a:ext cx="5525770" cy="619125"/>
          </a:xfrm>
          <a:prstGeom prst="rect">
            <a:avLst/>
          </a:prstGeom>
        </p:spPr>
      </p:pic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AA302AE-365F-8C12-E94B-975E6AB34852}"/>
              </a:ext>
            </a:extLst>
          </p:cNvPr>
          <p:cNvCxnSpPr>
            <a:cxnSpLocks/>
          </p:cNvCxnSpPr>
          <p:nvPr/>
        </p:nvCxnSpPr>
        <p:spPr>
          <a:xfrm>
            <a:off x="56111" y="3861048"/>
            <a:ext cx="8635634" cy="0"/>
          </a:xfrm>
          <a:prstGeom prst="line">
            <a:avLst/>
          </a:prstGeom>
          <a:ln w="12700" cap="flat" cmpd="sng" algn="ctr">
            <a:solidFill>
              <a:srgbClr val="1B3F8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文本框 105">
            <a:extLst>
              <a:ext uri="{FF2B5EF4-FFF2-40B4-BE49-F238E27FC236}">
                <a16:creationId xmlns:a16="http://schemas.microsoft.com/office/drawing/2014/main" id="{FF6D08CE-2B73-2647-81D2-66DB4C1903C5}"/>
              </a:ext>
            </a:extLst>
          </p:cNvPr>
          <p:cNvSpPr txBox="1"/>
          <p:nvPr/>
        </p:nvSpPr>
        <p:spPr>
          <a:xfrm>
            <a:off x="7601477" y="2489648"/>
            <a:ext cx="114610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pPr algn="ctr" defTabSz="914400">
              <a:defRPr/>
            </a:pPr>
            <a:r>
              <a:rPr lang="zh-CN" altLang="en-US" sz="1800" b="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切入车型</a:t>
            </a:r>
          </a:p>
        </p:txBody>
      </p:sp>
      <p:sp>
        <p:nvSpPr>
          <p:cNvPr id="41" name="文本框 105">
            <a:extLst>
              <a:ext uri="{FF2B5EF4-FFF2-40B4-BE49-F238E27FC236}">
                <a16:creationId xmlns:a16="http://schemas.microsoft.com/office/drawing/2014/main" id="{93E73F7B-2A46-60B8-DD39-70A359FB7369}"/>
              </a:ext>
            </a:extLst>
          </p:cNvPr>
          <p:cNvSpPr txBox="1"/>
          <p:nvPr/>
        </p:nvSpPr>
        <p:spPr>
          <a:xfrm>
            <a:off x="3729214" y="989069"/>
            <a:ext cx="468052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pPr algn="ctr" defTabSz="914400">
              <a:defRPr/>
            </a:pPr>
            <a:r>
              <a:rPr lang="zh-CN" altLang="en-US" sz="1800" b="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共有变量：车距、测试车速度、切入车速度</a:t>
            </a:r>
          </a:p>
        </p:txBody>
      </p:sp>
      <p:sp>
        <p:nvSpPr>
          <p:cNvPr id="42" name="文本框 105">
            <a:extLst>
              <a:ext uri="{FF2B5EF4-FFF2-40B4-BE49-F238E27FC236}">
                <a16:creationId xmlns:a16="http://schemas.microsoft.com/office/drawing/2014/main" id="{C9A7B880-7E49-17FE-2312-ADC022BB9A42}"/>
              </a:ext>
            </a:extLst>
          </p:cNvPr>
          <p:cNvSpPr txBox="1"/>
          <p:nvPr/>
        </p:nvSpPr>
        <p:spPr>
          <a:xfrm>
            <a:off x="6435844" y="3134290"/>
            <a:ext cx="2311742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pPr algn="ctr" defTabSz="914400">
              <a:defRPr/>
            </a:pPr>
            <a:r>
              <a:rPr lang="zh-CN" altLang="en-US" sz="1800" b="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天气、切入车型、</a:t>
            </a:r>
            <a:endParaRPr lang="en-US" altLang="zh-CN" sz="1800" b="0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 defTabSz="914400">
              <a:defRPr/>
            </a:pPr>
            <a:r>
              <a:rPr lang="zh-CN" altLang="en-US" sz="1800" kern="0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道路类型、交通状况</a:t>
            </a:r>
          </a:p>
        </p:txBody>
      </p:sp>
      <p:sp>
        <p:nvSpPr>
          <p:cNvPr id="43" name="箭头: 虚尾 42">
            <a:extLst>
              <a:ext uri="{FF2B5EF4-FFF2-40B4-BE49-F238E27FC236}">
                <a16:creationId xmlns:a16="http://schemas.microsoft.com/office/drawing/2014/main" id="{9EB21937-89AE-B99F-60C7-9079CA9946B2}"/>
              </a:ext>
            </a:extLst>
          </p:cNvPr>
          <p:cNvSpPr/>
          <p:nvPr/>
        </p:nvSpPr>
        <p:spPr>
          <a:xfrm rot="5400000">
            <a:off x="8105361" y="2212632"/>
            <a:ext cx="2497698" cy="638283"/>
          </a:xfrm>
          <a:prstGeom prst="stripedRightArrow">
            <a:avLst/>
          </a:prstGeom>
          <a:solidFill>
            <a:srgbClr val="4071CA">
              <a:alpha val="20000"/>
            </a:srgb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1C65B7E-5271-FBCA-E8E1-D37CC51ABF25}"/>
              </a:ext>
            </a:extLst>
          </p:cNvPr>
          <p:cNvSpPr/>
          <p:nvPr/>
        </p:nvSpPr>
        <p:spPr>
          <a:xfrm>
            <a:off x="9167812" y="1870054"/>
            <a:ext cx="3727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对比本研究</a:t>
            </a:r>
            <a:endParaRPr lang="en-US" altLang="zh-CN" sz="16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105">
            <a:extLst>
              <a:ext uri="{FF2B5EF4-FFF2-40B4-BE49-F238E27FC236}">
                <a16:creationId xmlns:a16="http://schemas.microsoft.com/office/drawing/2014/main" id="{6A860D56-4C83-4DC3-4F70-32BDC22AFEA8}"/>
              </a:ext>
            </a:extLst>
          </p:cNvPr>
          <p:cNvSpPr txBox="1"/>
          <p:nvPr/>
        </p:nvSpPr>
        <p:spPr>
          <a:xfrm>
            <a:off x="9960834" y="1282923"/>
            <a:ext cx="18002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pPr algn="ctr" defTabSz="914400">
              <a:defRPr/>
            </a:pPr>
            <a:r>
              <a:rPr lang="zh-CN" altLang="en-US" sz="1800" kern="0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真实仿真效果图</a:t>
            </a:r>
          </a:p>
        </p:txBody>
      </p:sp>
      <p:sp>
        <p:nvSpPr>
          <p:cNvPr id="46" name="文本框 105">
            <a:extLst>
              <a:ext uri="{FF2B5EF4-FFF2-40B4-BE49-F238E27FC236}">
                <a16:creationId xmlns:a16="http://schemas.microsoft.com/office/drawing/2014/main" id="{DEB90E44-4DB3-FC77-345A-FAED2AC3A590}"/>
              </a:ext>
            </a:extLst>
          </p:cNvPr>
          <p:cNvSpPr txBox="1"/>
          <p:nvPr/>
        </p:nvSpPr>
        <p:spPr>
          <a:xfrm>
            <a:off x="9960834" y="1780694"/>
            <a:ext cx="18002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pPr algn="ctr" defTabSz="914400">
              <a:defRPr/>
            </a:pPr>
            <a:r>
              <a:rPr lang="zh-CN" altLang="en-US" sz="1800" kern="0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周围交通流交互</a:t>
            </a:r>
          </a:p>
        </p:txBody>
      </p:sp>
      <p:sp>
        <p:nvSpPr>
          <p:cNvPr id="47" name="文本框 105">
            <a:extLst>
              <a:ext uri="{FF2B5EF4-FFF2-40B4-BE49-F238E27FC236}">
                <a16:creationId xmlns:a16="http://schemas.microsoft.com/office/drawing/2014/main" id="{8E7984A0-41DC-91A3-096C-8929FD3E2646}"/>
              </a:ext>
            </a:extLst>
          </p:cNvPr>
          <p:cNvSpPr txBox="1"/>
          <p:nvPr/>
        </p:nvSpPr>
        <p:spPr>
          <a:xfrm>
            <a:off x="9960834" y="2278465"/>
            <a:ext cx="18002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pPr algn="ctr" defTabSz="914400">
              <a:defRPr/>
            </a:pPr>
            <a:r>
              <a:rPr lang="zh-CN" altLang="en-US" sz="1800" kern="0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切入车速度模式</a:t>
            </a:r>
          </a:p>
        </p:txBody>
      </p:sp>
      <p:sp>
        <p:nvSpPr>
          <p:cNvPr id="48" name="文本框 105">
            <a:extLst>
              <a:ext uri="{FF2B5EF4-FFF2-40B4-BE49-F238E27FC236}">
                <a16:creationId xmlns:a16="http://schemas.microsoft.com/office/drawing/2014/main" id="{4D7FC85A-5AF7-1B2C-DF02-5A046ADE0112}"/>
              </a:ext>
            </a:extLst>
          </p:cNvPr>
          <p:cNvSpPr txBox="1"/>
          <p:nvPr/>
        </p:nvSpPr>
        <p:spPr>
          <a:xfrm>
            <a:off x="9960834" y="2776236"/>
            <a:ext cx="18002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pPr algn="ctr" defTabSz="914400">
              <a:defRPr/>
            </a:pPr>
            <a:r>
              <a:rPr lang="zh-CN" altLang="en-US" sz="1800" kern="0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多类型变量聚类</a:t>
            </a:r>
          </a:p>
        </p:txBody>
      </p:sp>
      <p:pic>
        <p:nvPicPr>
          <p:cNvPr id="49" name="图形 7">
            <a:extLst>
              <a:ext uri="{FF2B5EF4-FFF2-40B4-BE49-F238E27FC236}">
                <a16:creationId xmlns:a16="http://schemas.microsoft.com/office/drawing/2014/main" id="{01E3A3B2-FAF0-1205-4117-2031F990169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25304" y="3987432"/>
            <a:ext cx="5543550" cy="640715"/>
          </a:xfrm>
          <a:prstGeom prst="rect">
            <a:avLst/>
          </a:prstGeom>
        </p:spPr>
      </p:pic>
      <p:sp>
        <p:nvSpPr>
          <p:cNvPr id="50" name="文本框 105">
            <a:extLst>
              <a:ext uri="{FF2B5EF4-FFF2-40B4-BE49-F238E27FC236}">
                <a16:creationId xmlns:a16="http://schemas.microsoft.com/office/drawing/2014/main" id="{10E7750F-7076-7DBA-7837-DA30DCFD9BC8}"/>
              </a:ext>
            </a:extLst>
          </p:cNvPr>
          <p:cNvSpPr txBox="1"/>
          <p:nvPr/>
        </p:nvSpPr>
        <p:spPr>
          <a:xfrm>
            <a:off x="9960834" y="3274006"/>
            <a:ext cx="180020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pPr algn="ctr" defTabSz="914400">
              <a:defRPr/>
            </a:pPr>
            <a:r>
              <a:rPr lang="zh-CN" altLang="en-US" sz="1800" kern="0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小样本典型场景</a:t>
            </a:r>
          </a:p>
        </p:txBody>
      </p:sp>
      <p:pic>
        <p:nvPicPr>
          <p:cNvPr id="59" name="图形 7">
            <a:extLst>
              <a:ext uri="{FF2B5EF4-FFF2-40B4-BE49-F238E27FC236}">
                <a16:creationId xmlns:a16="http://schemas.microsoft.com/office/drawing/2014/main" id="{362B06BC-F7BC-F85D-B057-6D42FCBDA55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7368" y="4468786"/>
            <a:ext cx="2573655" cy="1929130"/>
          </a:xfrm>
          <a:prstGeom prst="rect">
            <a:avLst/>
          </a:prstGeom>
        </p:spPr>
      </p:pic>
      <p:pic>
        <p:nvPicPr>
          <p:cNvPr id="60" name="图形 13">
            <a:extLst>
              <a:ext uri="{FF2B5EF4-FFF2-40B4-BE49-F238E27FC236}">
                <a16:creationId xmlns:a16="http://schemas.microsoft.com/office/drawing/2014/main" id="{3CF4769F-20B6-F915-A247-FC95C232593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17579" y="4419255"/>
            <a:ext cx="2591435" cy="1943735"/>
          </a:xfrm>
          <a:prstGeom prst="rect">
            <a:avLst/>
          </a:prstGeom>
        </p:spPr>
      </p:pic>
      <p:sp>
        <p:nvSpPr>
          <p:cNvPr id="61" name="内容占位符 2">
            <a:extLst>
              <a:ext uri="{FF2B5EF4-FFF2-40B4-BE49-F238E27FC236}">
                <a16:creationId xmlns:a16="http://schemas.microsoft.com/office/drawing/2014/main" id="{AA3D69AC-D6B9-2628-6EFB-1A3626379CA2}"/>
              </a:ext>
            </a:extLst>
          </p:cNvPr>
          <p:cNvSpPr txBox="1">
            <a:spLocks/>
          </p:cNvSpPr>
          <p:nvPr/>
        </p:nvSpPr>
        <p:spPr>
          <a:xfrm>
            <a:off x="41367" y="3879120"/>
            <a:ext cx="8642350" cy="720075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与传统算法聚类结果对比</a:t>
            </a:r>
          </a:p>
        </p:txBody>
      </p:sp>
      <p:sp>
        <p:nvSpPr>
          <p:cNvPr id="62" name="文本框 105">
            <a:extLst>
              <a:ext uri="{FF2B5EF4-FFF2-40B4-BE49-F238E27FC236}">
                <a16:creationId xmlns:a16="http://schemas.microsoft.com/office/drawing/2014/main" id="{87C1AA9B-8345-967A-422F-BF6A27A230A9}"/>
              </a:ext>
            </a:extLst>
          </p:cNvPr>
          <p:cNvSpPr txBox="1"/>
          <p:nvPr/>
        </p:nvSpPr>
        <p:spPr>
          <a:xfrm>
            <a:off x="272830" y="6402512"/>
            <a:ext cx="2573655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b="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传统</a:t>
            </a:r>
            <a:r>
              <a:rPr lang="en-US" altLang="zh-CN" sz="1800" b="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K-prototypes</a:t>
            </a:r>
            <a:r>
              <a:rPr lang="zh-CN" altLang="en-US" sz="1800" b="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算法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3" name="文本框 105">
            <a:extLst>
              <a:ext uri="{FF2B5EF4-FFF2-40B4-BE49-F238E27FC236}">
                <a16:creationId xmlns:a16="http://schemas.microsoft.com/office/drawing/2014/main" id="{3355739F-7871-FBF9-D2FC-488E61C28E68}"/>
              </a:ext>
            </a:extLst>
          </p:cNvPr>
          <p:cNvSpPr txBox="1"/>
          <p:nvPr/>
        </p:nvSpPr>
        <p:spPr>
          <a:xfrm>
            <a:off x="3215680" y="6397916"/>
            <a:ext cx="2573655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b="0" kern="0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提出的</a:t>
            </a:r>
            <a:r>
              <a:rPr lang="en-US" altLang="zh-CN" sz="1800" b="0" kern="0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TSMCL</a:t>
            </a:r>
            <a:r>
              <a:rPr lang="zh-CN" altLang="en-US" sz="1800" b="0" kern="0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聚类算法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4" name="箭头: 虚尾 63">
            <a:extLst>
              <a:ext uri="{FF2B5EF4-FFF2-40B4-BE49-F238E27FC236}">
                <a16:creationId xmlns:a16="http://schemas.microsoft.com/office/drawing/2014/main" id="{CF88C02F-BD40-E20B-0032-87E2BCBBD73A}"/>
              </a:ext>
            </a:extLst>
          </p:cNvPr>
          <p:cNvSpPr/>
          <p:nvPr/>
        </p:nvSpPr>
        <p:spPr>
          <a:xfrm>
            <a:off x="5986096" y="4628147"/>
            <a:ext cx="354507" cy="1304525"/>
          </a:xfrm>
          <a:prstGeom prst="stripedRightArrow">
            <a:avLst/>
          </a:prstGeom>
          <a:solidFill>
            <a:srgbClr val="DAE3F3"/>
          </a:solidFill>
          <a:ln>
            <a:solidFill>
              <a:srgbClr val="DAE3F3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857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 animBg="1"/>
      <p:bldP spid="46" grpId="0" animBg="1"/>
      <p:bldP spid="47" grpId="0" animBg="1"/>
      <p:bldP spid="48" grpId="0" animBg="1"/>
      <p:bldP spid="50" grpId="0" animBg="1"/>
      <p:bldP spid="6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59">
            <a:extLst>
              <a:ext uri="{FF2B5EF4-FFF2-40B4-BE49-F238E27FC236}">
                <a16:creationId xmlns:a16="http://schemas.microsoft.com/office/drawing/2014/main" id="{71CE0525-4CDF-9451-C39A-45C92D5CD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0" y="116632"/>
            <a:ext cx="338437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内容二完成情况</a:t>
            </a:r>
            <a:endParaRPr lang="en-US" altLang="zh-CN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灯片编号占位符 35">
            <a:extLst>
              <a:ext uri="{FF2B5EF4-FFF2-40B4-BE49-F238E27FC236}">
                <a16:creationId xmlns:a16="http://schemas.microsoft.com/office/drawing/2014/main" id="{6C1D42DC-18ED-C128-EEF6-AFBF456D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C65444-C27E-4275-9B64-A99AFE6606A1}" type="slidenum">
              <a:rPr lang="zh-CN" altLang="en-US" smtClean="0"/>
              <a:t>8</a:t>
            </a:fld>
            <a:endParaRPr lang="en-US" altLang="zh-CN" dirty="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11D06698-B541-F860-8F68-89B4E70AB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727" y="2889658"/>
            <a:ext cx="4340728" cy="3139712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91F08955-D934-DE9F-1451-89D6549AAB52}"/>
              </a:ext>
            </a:extLst>
          </p:cNvPr>
          <p:cNvGrpSpPr/>
          <p:nvPr/>
        </p:nvGrpSpPr>
        <p:grpSpPr>
          <a:xfrm>
            <a:off x="551384" y="1412776"/>
            <a:ext cx="8280920" cy="4884042"/>
            <a:chOff x="-1565302" y="1404168"/>
            <a:chExt cx="8480304" cy="5108674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D475ED5-052E-6A65-8C7C-78083B206878}"/>
                </a:ext>
              </a:extLst>
            </p:cNvPr>
            <p:cNvSpPr/>
            <p:nvPr/>
          </p:nvSpPr>
          <p:spPr>
            <a:xfrm>
              <a:off x="-1565302" y="1404168"/>
              <a:ext cx="8480303" cy="49792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r>
                <a:rPr lang="zh-CN" altLang="en-US" sz="2400" b="1" kern="0" dirty="0">
                  <a:solidFill>
                    <a:srgbClr val="1B3F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中国道路自然驾驶数据 </a:t>
              </a:r>
              <a:r>
                <a:rPr lang="en-US" altLang="zh-CN" sz="2400" b="1" kern="0" dirty="0">
                  <a:solidFill>
                    <a:srgbClr val="1B3F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(CAERI-NDS)</a:t>
              </a:r>
            </a:p>
          </p:txBody>
        </p: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66A5C6FA-96C2-6C9A-6F18-95153DD42203}"/>
                </a:ext>
              </a:extLst>
            </p:cNvPr>
            <p:cNvCxnSpPr>
              <a:cxnSpLocks/>
            </p:cNvCxnSpPr>
            <p:nvPr/>
          </p:nvCxnSpPr>
          <p:spPr>
            <a:xfrm>
              <a:off x="2393695" y="4959041"/>
              <a:ext cx="1111355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F3A08800-86D1-E851-4DAD-774702DC2A2F}"/>
                </a:ext>
              </a:extLst>
            </p:cNvPr>
            <p:cNvSpPr/>
            <p:nvPr/>
          </p:nvSpPr>
          <p:spPr>
            <a:xfrm>
              <a:off x="5966722" y="2200044"/>
              <a:ext cx="948279" cy="19288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/>
              <a:r>
                <a:rPr lang="zh-CN" altLang="en-US" sz="2000" b="1" kern="0" dirty="0">
                  <a:solidFill>
                    <a:srgbClr val="1B3F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驾驶场景片段数据集</a:t>
              </a: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66123254-765B-AC39-6A49-E10ED926E4DE}"/>
                </a:ext>
              </a:extLst>
            </p:cNvPr>
            <p:cNvSpPr/>
            <p:nvPr/>
          </p:nvSpPr>
          <p:spPr>
            <a:xfrm>
              <a:off x="-1561629" y="2200044"/>
              <a:ext cx="4121822" cy="75152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 cap="flat" cmpd="sng" algn="ctr">
              <a:solidFill>
                <a:srgbClr val="4472C4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r>
                <a:rPr lang="zh-CN" altLang="en-US" sz="20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基于</a:t>
              </a:r>
              <a:r>
                <a:rPr lang="zh-CN" altLang="en-US" sz="2000" b="1" kern="0" dirty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车辆运动学</a:t>
              </a:r>
              <a:r>
                <a:rPr lang="zh-CN" altLang="en-US" sz="20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的轨迹模型</a:t>
              </a:r>
              <a:endParaRPr lang="zh-CN" altLang="en-US" sz="2000" b="1" kern="0" baseline="30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483BF1CC-8C7C-3E61-E5DC-B3EBAE9EC5B0}"/>
                </a:ext>
              </a:extLst>
            </p:cNvPr>
            <p:cNvCxnSpPr>
              <a:cxnSpLocks/>
              <a:stCxn id="75" idx="3"/>
            </p:cNvCxnSpPr>
            <p:nvPr/>
          </p:nvCxnSpPr>
          <p:spPr>
            <a:xfrm>
              <a:off x="5334305" y="6136392"/>
              <a:ext cx="632417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BC7BC846-91EE-E70F-7E2D-AF3FD9D596D1}"/>
                </a:ext>
              </a:extLst>
            </p:cNvPr>
            <p:cNvSpPr txBox="1"/>
            <p:nvPr/>
          </p:nvSpPr>
          <p:spPr>
            <a:xfrm>
              <a:off x="2560563" y="2269053"/>
              <a:ext cx="932859" cy="321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/>
              <a:r>
                <a:rPr lang="zh-CN" altLang="en-US" sz="1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模型标定</a:t>
              </a:r>
            </a:p>
          </p:txBody>
        </p: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8DF9D094-F4ED-8798-A3A2-33ECC5F3499C}"/>
                </a:ext>
              </a:extLst>
            </p:cNvPr>
            <p:cNvCxnSpPr>
              <a:cxnSpLocks/>
              <a:endCxn id="57" idx="3"/>
            </p:cNvCxnSpPr>
            <p:nvPr/>
          </p:nvCxnSpPr>
          <p:spPr>
            <a:xfrm flipH="1">
              <a:off x="5334305" y="2573452"/>
              <a:ext cx="632417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310F92F0-A872-49C6-002E-4AE4E6C47693}"/>
                </a:ext>
              </a:extLst>
            </p:cNvPr>
            <p:cNvSpPr/>
            <p:nvPr/>
          </p:nvSpPr>
          <p:spPr>
            <a:xfrm>
              <a:off x="3505050" y="2195342"/>
              <a:ext cx="1829255" cy="756221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r>
                <a:rPr lang="zh-CN" altLang="en-US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场景参数集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B1917369-725D-666E-F4F2-0EBFB3B1E33B}"/>
                </a:ext>
              </a:extLst>
            </p:cNvPr>
            <p:cNvSpPr txBox="1"/>
            <p:nvPr/>
          </p:nvSpPr>
          <p:spPr>
            <a:xfrm>
              <a:off x="5498839" y="1916068"/>
              <a:ext cx="877896" cy="289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12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场景提取</a:t>
              </a: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20B04A53-16D5-69C8-A786-37C34B7D137D}"/>
                </a:ext>
              </a:extLst>
            </p:cNvPr>
            <p:cNvSpPr/>
            <p:nvPr/>
          </p:nvSpPr>
          <p:spPr>
            <a:xfrm>
              <a:off x="-1561629" y="3309576"/>
              <a:ext cx="4121822" cy="75152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 cap="flat" cmpd="sng" algn="ctr">
              <a:solidFill>
                <a:srgbClr val="4472C4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r>
                <a:rPr lang="zh-CN" altLang="en-US" sz="20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基于</a:t>
              </a:r>
              <a:r>
                <a:rPr lang="en-US" altLang="zh-CN" sz="2000" b="1" kern="0" dirty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GMM</a:t>
              </a:r>
              <a:r>
                <a:rPr lang="zh-CN" altLang="en-US" sz="20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的逻辑场景构建</a:t>
              </a: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16EBDB46-047D-738F-17FC-5EC0C193D50B}"/>
                </a:ext>
              </a:extLst>
            </p:cNvPr>
            <p:cNvSpPr/>
            <p:nvPr/>
          </p:nvSpPr>
          <p:spPr>
            <a:xfrm>
              <a:off x="3505050" y="3315340"/>
              <a:ext cx="1829255" cy="745757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r>
                <a:rPr lang="zh-CN" altLang="en-US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场景参数联合概率密度分布函数</a:t>
              </a:r>
            </a:p>
          </p:txBody>
        </p: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066D1482-9FE6-D29F-62B1-A4D163C71266}"/>
                </a:ext>
              </a:extLst>
            </p:cNvPr>
            <p:cNvCxnSpPr>
              <a:cxnSpLocks/>
              <a:endCxn id="52" idx="0"/>
            </p:cNvCxnSpPr>
            <p:nvPr/>
          </p:nvCxnSpPr>
          <p:spPr>
            <a:xfrm>
              <a:off x="6440861" y="1902097"/>
              <a:ext cx="0" cy="297947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E7D063E0-2258-7C50-B21D-338A05A5E3EF}"/>
                </a:ext>
              </a:extLst>
            </p:cNvPr>
            <p:cNvCxnSpPr>
              <a:cxnSpLocks/>
              <a:stCxn id="53" idx="3"/>
              <a:endCxn id="57" idx="1"/>
            </p:cNvCxnSpPr>
            <p:nvPr/>
          </p:nvCxnSpPr>
          <p:spPr>
            <a:xfrm flipV="1">
              <a:off x="2560193" y="2573453"/>
              <a:ext cx="944857" cy="2351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3030C756-6128-F873-ACC3-1AC215D6FB48}"/>
                </a:ext>
              </a:extLst>
            </p:cNvPr>
            <p:cNvSpPr/>
            <p:nvPr/>
          </p:nvSpPr>
          <p:spPr>
            <a:xfrm>
              <a:off x="-1559433" y="4355350"/>
              <a:ext cx="4117663" cy="60369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 cap="flat" cmpd="sng" algn="ctr">
              <a:solidFill>
                <a:srgbClr val="4472C4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r>
                <a:rPr lang="zh-CN" altLang="en-US" sz="20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基于</a:t>
              </a:r>
              <a:r>
                <a:rPr lang="en-US" altLang="zh-CN" sz="2000" b="1" kern="0" dirty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HMC</a:t>
              </a:r>
              <a:r>
                <a:rPr lang="zh-CN" altLang="en-US" sz="20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的场景参数采样</a:t>
              </a: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BBBEBD69-3320-0591-D16F-DEF0F5CAA903}"/>
                </a:ext>
              </a:extLst>
            </p:cNvPr>
            <p:cNvSpPr/>
            <p:nvPr/>
          </p:nvSpPr>
          <p:spPr>
            <a:xfrm>
              <a:off x="3505050" y="4582590"/>
              <a:ext cx="1829255" cy="752901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r>
                <a:rPr lang="zh-CN" altLang="en-US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不同场景采样数</a:t>
              </a:r>
            </a:p>
          </p:txBody>
        </p: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AFFAEAE7-2DCA-5F03-AE14-38513539F62A}"/>
                </a:ext>
              </a:extLst>
            </p:cNvPr>
            <p:cNvCxnSpPr>
              <a:cxnSpLocks/>
              <a:stCxn id="57" idx="2"/>
              <a:endCxn id="66" idx="0"/>
            </p:cNvCxnSpPr>
            <p:nvPr/>
          </p:nvCxnSpPr>
          <p:spPr>
            <a:xfrm>
              <a:off x="4419678" y="2951562"/>
              <a:ext cx="0" cy="363777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B827B560-9111-B992-F9F5-1DD69BC45D60}"/>
                </a:ext>
              </a:extLst>
            </p:cNvPr>
            <p:cNvCxnSpPr>
              <a:cxnSpLocks/>
              <a:stCxn id="65" idx="3"/>
              <a:endCxn id="66" idx="1"/>
            </p:cNvCxnSpPr>
            <p:nvPr/>
          </p:nvCxnSpPr>
          <p:spPr>
            <a:xfrm>
              <a:off x="2560193" y="3685337"/>
              <a:ext cx="944857" cy="2882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4DF97057-4FF3-C0BB-8E34-B1148AD5E1AD}"/>
                </a:ext>
              </a:extLst>
            </p:cNvPr>
            <p:cNvSpPr/>
            <p:nvPr/>
          </p:nvSpPr>
          <p:spPr>
            <a:xfrm>
              <a:off x="-1563591" y="5759915"/>
              <a:ext cx="4121822" cy="75152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 cap="flat" cmpd="sng" algn="ctr">
              <a:solidFill>
                <a:srgbClr val="4472C4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r>
                <a:rPr lang="zh-CN" altLang="en-US" sz="20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基于</a:t>
              </a:r>
              <a:r>
                <a:rPr lang="en-US" altLang="zh-CN" sz="2000" b="1" kern="0" dirty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JS</a:t>
              </a:r>
              <a:r>
                <a:rPr lang="zh-CN" altLang="en-US" sz="2000" b="1" kern="0" dirty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散度</a:t>
              </a:r>
              <a:r>
                <a:rPr lang="zh-CN" altLang="en-US" sz="20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的场景参数覆盖度评估</a:t>
              </a:r>
            </a:p>
          </p:txBody>
        </p: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E25CEEE7-63CF-9069-0D34-CE243AB6CAAC}"/>
                </a:ext>
              </a:extLst>
            </p:cNvPr>
            <p:cNvCxnSpPr>
              <a:cxnSpLocks/>
              <a:stCxn id="66" idx="2"/>
              <a:endCxn id="70" idx="0"/>
            </p:cNvCxnSpPr>
            <p:nvPr/>
          </p:nvCxnSpPr>
          <p:spPr>
            <a:xfrm>
              <a:off x="4419678" y="4061096"/>
              <a:ext cx="0" cy="521494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200EAE17-0230-1469-F949-8A9D2495363D}"/>
                </a:ext>
              </a:extLst>
            </p:cNvPr>
            <p:cNvSpPr/>
            <p:nvPr/>
          </p:nvSpPr>
          <p:spPr>
            <a:xfrm>
              <a:off x="3505050" y="5759941"/>
              <a:ext cx="1829255" cy="752901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r>
                <a:rPr lang="zh-CN" altLang="en-US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最佳场景采样数</a:t>
              </a:r>
            </a:p>
          </p:txBody>
        </p: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FBDA51E4-A641-8447-DC9E-085F4EFBFA5F}"/>
                </a:ext>
              </a:extLst>
            </p:cNvPr>
            <p:cNvCxnSpPr>
              <a:cxnSpLocks/>
              <a:stCxn id="73" idx="3"/>
              <a:endCxn id="75" idx="1"/>
            </p:cNvCxnSpPr>
            <p:nvPr/>
          </p:nvCxnSpPr>
          <p:spPr>
            <a:xfrm>
              <a:off x="2558231" y="6135676"/>
              <a:ext cx="946819" cy="717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B51A6078-53E6-705B-BEA8-0078336F2165}"/>
                </a:ext>
              </a:extLst>
            </p:cNvPr>
            <p:cNvCxnSpPr>
              <a:cxnSpLocks/>
              <a:stCxn id="70" idx="2"/>
              <a:endCxn id="75" idx="0"/>
            </p:cNvCxnSpPr>
            <p:nvPr/>
          </p:nvCxnSpPr>
          <p:spPr>
            <a:xfrm>
              <a:off x="4419678" y="5335491"/>
              <a:ext cx="0" cy="424451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E80B7E02-F35B-E77D-E0B7-C7EBD71DBCF1}"/>
                </a:ext>
              </a:extLst>
            </p:cNvPr>
            <p:cNvSpPr txBox="1"/>
            <p:nvPr/>
          </p:nvSpPr>
          <p:spPr>
            <a:xfrm>
              <a:off x="2560563" y="3375013"/>
              <a:ext cx="932859" cy="321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/>
              <a:r>
                <a:rPr lang="zh-CN" altLang="en-US" sz="1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分布拟合</a:t>
              </a: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C983B23B-773E-09AE-AA30-5C191F834E7E}"/>
                </a:ext>
              </a:extLst>
            </p:cNvPr>
            <p:cNvSpPr txBox="1"/>
            <p:nvPr/>
          </p:nvSpPr>
          <p:spPr>
            <a:xfrm>
              <a:off x="2560563" y="4651152"/>
              <a:ext cx="932859" cy="321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/>
              <a:r>
                <a:rPr lang="zh-CN" altLang="en-US" sz="1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采样生成</a:t>
              </a: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C93EFD3A-A0BF-0814-7553-07D0B88083F6}"/>
                </a:ext>
              </a:extLst>
            </p:cNvPr>
            <p:cNvSpPr txBox="1"/>
            <p:nvPr/>
          </p:nvSpPr>
          <p:spPr>
            <a:xfrm>
              <a:off x="2522802" y="5817479"/>
              <a:ext cx="1008379" cy="653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>
                <a:lnSpc>
                  <a:spcPct val="130000"/>
                </a:lnSpc>
              </a:pPr>
              <a:r>
                <a:rPr lang="zh-CN" altLang="en-US" sz="1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覆盖度</a:t>
              </a:r>
              <a:endPara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400">
                <a:lnSpc>
                  <a:spcPct val="130000"/>
                </a:lnSpc>
              </a:pPr>
              <a:r>
                <a:rPr lang="zh-CN" altLang="en-US" sz="1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评估</a:t>
              </a:r>
            </a:p>
          </p:txBody>
        </p:sp>
        <p:sp>
          <p:nvSpPr>
            <p:cNvPr id="81" name="流程图: 磁盘 80">
              <a:extLst>
                <a:ext uri="{FF2B5EF4-FFF2-40B4-BE49-F238E27FC236}">
                  <a16:creationId xmlns:a16="http://schemas.microsoft.com/office/drawing/2014/main" id="{54FDA14E-11E0-E6BA-3E07-13FF1F33D611}"/>
                </a:ext>
              </a:extLst>
            </p:cNvPr>
            <p:cNvSpPr/>
            <p:nvPr/>
          </p:nvSpPr>
          <p:spPr>
            <a:xfrm>
              <a:off x="5966723" y="4651152"/>
              <a:ext cx="948279" cy="1860280"/>
            </a:xfrm>
            <a:prstGeom prst="flowChartMagneticDisk">
              <a:avLst/>
            </a:prstGeom>
            <a:solidFill>
              <a:schemeClr val="accent5">
                <a:lumMod val="40000"/>
                <a:lumOff val="60000"/>
              </a:schemeClr>
            </a:solidFill>
            <a:ln w="6350" cap="flat" cmpd="sng" algn="ctr">
              <a:solidFill>
                <a:schemeClr val="accent5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/>
              <a:r>
                <a:rPr lang="zh-CN" altLang="en-US" sz="2000" b="1" kern="0" dirty="0">
                  <a:solidFill>
                    <a:srgbClr val="1B3F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高覆盖测试场景库</a:t>
              </a: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DACB50AD-D016-62E9-647B-B46EC66FB8C6}"/>
                </a:ext>
              </a:extLst>
            </p:cNvPr>
            <p:cNvSpPr/>
            <p:nvPr/>
          </p:nvSpPr>
          <p:spPr>
            <a:xfrm>
              <a:off x="-1559434" y="4968993"/>
              <a:ext cx="4117663" cy="60369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 cap="flat" cmpd="sng" algn="ctr">
              <a:solidFill>
                <a:srgbClr val="4472C4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r>
                <a:rPr lang="zh-CN" altLang="en-US" sz="20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基于传统</a:t>
              </a:r>
              <a:r>
                <a:rPr lang="en-US" altLang="zh-CN" sz="20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MCMC</a:t>
              </a:r>
              <a:r>
                <a:rPr lang="zh-CN" altLang="en-US" sz="20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的场景参数采样</a:t>
              </a:r>
              <a:r>
                <a:rPr lang="en-US" altLang="zh-CN" sz="2000" b="1" kern="0" baseline="300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[2]</a:t>
              </a:r>
              <a:endParaRPr lang="zh-CN" altLang="en-US" sz="2000" b="1" kern="0" baseline="30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EFA78754-A7D5-C5CF-3F3F-BBCEF972BCDA}"/>
                </a:ext>
              </a:extLst>
            </p:cNvPr>
            <p:cNvSpPr txBox="1"/>
            <p:nvPr/>
          </p:nvSpPr>
          <p:spPr>
            <a:xfrm>
              <a:off x="2560563" y="4968070"/>
              <a:ext cx="932859" cy="321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/>
              <a:r>
                <a:rPr lang="zh-CN" altLang="en-US" sz="1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对比</a:t>
              </a: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3F10D02F-2DDC-C67E-2082-AC034A0A5ADE}"/>
                </a:ext>
              </a:extLst>
            </p:cNvPr>
            <p:cNvSpPr txBox="1"/>
            <p:nvPr/>
          </p:nvSpPr>
          <p:spPr>
            <a:xfrm>
              <a:off x="5444806" y="4859861"/>
              <a:ext cx="444581" cy="12555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12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具体场景生成</a:t>
              </a:r>
            </a:p>
          </p:txBody>
        </p:sp>
      </p:grpSp>
      <p:sp>
        <p:nvSpPr>
          <p:cNvPr id="85" name="矩形 84">
            <a:extLst>
              <a:ext uri="{FF2B5EF4-FFF2-40B4-BE49-F238E27FC236}">
                <a16:creationId xmlns:a16="http://schemas.microsoft.com/office/drawing/2014/main" id="{03F04994-D15B-F639-7C76-9ED2CA181A4D}"/>
              </a:ext>
            </a:extLst>
          </p:cNvPr>
          <p:cNvSpPr/>
          <p:nvPr/>
        </p:nvSpPr>
        <p:spPr>
          <a:xfrm>
            <a:off x="10648069" y="1772816"/>
            <a:ext cx="1062885" cy="460735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自动驾驶仿真测试</a:t>
            </a:r>
            <a:r>
              <a:rPr lang="zh-CN" altLang="en-US" sz="2400" b="1" dirty="0">
                <a:solidFill>
                  <a:srgbClr val="FFC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高覆盖切入、跟车</a:t>
            </a:r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场景生成</a:t>
            </a:r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1D4EB8A2-E785-92D8-5986-8940A93A5B91}"/>
              </a:ext>
            </a:extLst>
          </p:cNvPr>
          <p:cNvGrpSpPr/>
          <p:nvPr/>
        </p:nvGrpSpPr>
        <p:grpSpPr>
          <a:xfrm>
            <a:off x="9483963" y="2889658"/>
            <a:ext cx="818463" cy="1633480"/>
            <a:chOff x="7524796" y="3516679"/>
            <a:chExt cx="264201" cy="1633480"/>
          </a:xfrm>
        </p:grpSpPr>
        <p:sp>
          <p:nvSpPr>
            <p:cNvPr id="87" name="箭头: 右 86">
              <a:extLst>
                <a:ext uri="{FF2B5EF4-FFF2-40B4-BE49-F238E27FC236}">
                  <a16:creationId xmlns:a16="http://schemas.microsoft.com/office/drawing/2014/main" id="{E3DEEF08-F6F6-BF23-B864-D84E2BD96AC5}"/>
                </a:ext>
              </a:extLst>
            </p:cNvPr>
            <p:cNvSpPr/>
            <p:nvPr/>
          </p:nvSpPr>
          <p:spPr>
            <a:xfrm>
              <a:off x="7524796" y="3516679"/>
              <a:ext cx="264201" cy="1633480"/>
            </a:xfrm>
            <a:prstGeom prst="stripedRightArrow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73E874F0-6A79-F8D3-42B8-258959974622}"/>
                </a:ext>
              </a:extLst>
            </p:cNvPr>
            <p:cNvSpPr txBox="1"/>
            <p:nvPr/>
          </p:nvSpPr>
          <p:spPr>
            <a:xfrm>
              <a:off x="7559208" y="3640987"/>
              <a:ext cx="184435" cy="1406188"/>
            </a:xfrm>
            <a:prstGeom prst="stripedRightArrow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2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应用</a:t>
              </a:r>
            </a:p>
          </p:txBody>
        </p:sp>
      </p:grpSp>
      <p:sp>
        <p:nvSpPr>
          <p:cNvPr id="89" name="矩形 88">
            <a:extLst>
              <a:ext uri="{FF2B5EF4-FFF2-40B4-BE49-F238E27FC236}">
                <a16:creationId xmlns:a16="http://schemas.microsoft.com/office/drawing/2014/main" id="{94A43354-DF55-B614-70D4-F96509CE1022}"/>
              </a:ext>
            </a:extLst>
          </p:cNvPr>
          <p:cNvSpPr/>
          <p:nvPr/>
        </p:nvSpPr>
        <p:spPr>
          <a:xfrm>
            <a:off x="263352" y="908720"/>
            <a:ext cx="8928992" cy="5471447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90" name="圆角矩形 74">
            <a:extLst>
              <a:ext uri="{FF2B5EF4-FFF2-40B4-BE49-F238E27FC236}">
                <a16:creationId xmlns:a16="http://schemas.microsoft.com/office/drawing/2014/main" id="{746CD715-F766-9435-8236-8DCD96F304CE}"/>
              </a:ext>
            </a:extLst>
          </p:cNvPr>
          <p:cNvSpPr/>
          <p:nvPr/>
        </p:nvSpPr>
        <p:spPr>
          <a:xfrm>
            <a:off x="263352" y="918274"/>
            <a:ext cx="4782391" cy="39434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2600" b="1" dirty="0">
                <a:solidFill>
                  <a:srgbClr val="1D47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内容二：高覆盖测试场景库构建</a:t>
            </a:r>
            <a:endParaRPr lang="en-US" altLang="zh-CN" sz="2600" b="1" dirty="0">
              <a:solidFill>
                <a:srgbClr val="1D47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圆角矩形 74">
            <a:extLst>
              <a:ext uri="{FF2B5EF4-FFF2-40B4-BE49-F238E27FC236}">
                <a16:creationId xmlns:a16="http://schemas.microsoft.com/office/drawing/2014/main" id="{A9282E75-A828-4331-D516-F8C5068085E1}"/>
              </a:ext>
            </a:extLst>
          </p:cNvPr>
          <p:cNvSpPr/>
          <p:nvPr/>
        </p:nvSpPr>
        <p:spPr>
          <a:xfrm>
            <a:off x="10695960" y="919477"/>
            <a:ext cx="948100" cy="75158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zh-CN" altLang="en-US" sz="2400" b="1" dirty="0">
                <a:solidFill>
                  <a:srgbClr val="1D47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应用案例</a:t>
            </a:r>
            <a:endParaRPr lang="en-US" altLang="zh-CN" sz="2400" b="1" dirty="0">
              <a:solidFill>
                <a:srgbClr val="1D47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A32A8B54-B994-6457-F8C4-07D3FAFD3C6A}"/>
              </a:ext>
            </a:extLst>
          </p:cNvPr>
          <p:cNvSpPr/>
          <p:nvPr/>
        </p:nvSpPr>
        <p:spPr>
          <a:xfrm>
            <a:off x="191344" y="6381328"/>
            <a:ext cx="117373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[2]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Testing Automated Vehicle from logical to concrete scenarios: A method Combining Gaussian mixture model and Markov Chain Monte Carlo Sampling[C].</a:t>
            </a:r>
            <a:r>
              <a:rPr lang="zh-CN" altLang="en-US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第三十一届中国汽车工程学会年会论文集精选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2024.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（已录用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会议）</a:t>
            </a:r>
          </a:p>
        </p:txBody>
      </p:sp>
    </p:spTree>
    <p:extLst>
      <p:ext uri="{BB962C8B-B14F-4D97-AF65-F5344CB8AC3E}">
        <p14:creationId xmlns:p14="http://schemas.microsoft.com/office/powerpoint/2010/main" val="2292490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105">
            <a:extLst>
              <a:ext uri="{FF2B5EF4-FFF2-40B4-BE49-F238E27FC236}">
                <a16:creationId xmlns:a16="http://schemas.microsoft.com/office/drawing/2014/main" id="{DCF31C13-11C5-B69D-813C-00E8C96CC517}"/>
              </a:ext>
            </a:extLst>
          </p:cNvPr>
          <p:cNvSpPr txBox="1"/>
          <p:nvPr/>
        </p:nvSpPr>
        <p:spPr>
          <a:xfrm>
            <a:off x="41367" y="841812"/>
            <a:ext cx="11239209" cy="5979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基于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HMC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采样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的高速公路自动驾驶仿真测试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高覆盖切入场景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库生成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矩形 59">
            <a:extLst>
              <a:ext uri="{FF2B5EF4-FFF2-40B4-BE49-F238E27FC236}">
                <a16:creationId xmlns:a16="http://schemas.microsoft.com/office/drawing/2014/main" id="{EA75F268-4074-C1C5-C992-B7DA1EE71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0" y="116632"/>
            <a:ext cx="338437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内容二完成情况</a:t>
            </a:r>
            <a:endParaRPr lang="en-US" altLang="zh-CN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BCC6771-1307-AAFB-4DCE-D907CE7585AA}"/>
              </a:ext>
            </a:extLst>
          </p:cNvPr>
          <p:cNvSpPr/>
          <p:nvPr/>
        </p:nvSpPr>
        <p:spPr>
          <a:xfrm>
            <a:off x="407369" y="1700808"/>
            <a:ext cx="5055574" cy="2090057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FABEF34-79F7-FD63-7236-1888E75B96F3}"/>
              </a:ext>
            </a:extLst>
          </p:cNvPr>
          <p:cNvSpPr/>
          <p:nvPr/>
        </p:nvSpPr>
        <p:spPr>
          <a:xfrm>
            <a:off x="6593950" y="1700808"/>
            <a:ext cx="5118562" cy="2090057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AAE704EB-BC82-C5AE-4870-986596E83A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71" r="5896"/>
          <a:stretch/>
        </p:blipFill>
        <p:spPr>
          <a:xfrm>
            <a:off x="6864049" y="1736263"/>
            <a:ext cx="4602616" cy="1581224"/>
          </a:xfrm>
          <a:prstGeom prst="rect">
            <a:avLst/>
          </a:prstGeom>
        </p:spPr>
      </p:pic>
      <p:sp>
        <p:nvSpPr>
          <p:cNvPr id="39" name="箭头: 右 38">
            <a:extLst>
              <a:ext uri="{FF2B5EF4-FFF2-40B4-BE49-F238E27FC236}">
                <a16:creationId xmlns:a16="http://schemas.microsoft.com/office/drawing/2014/main" id="{A3ADD282-7D75-BAAA-098B-1EC607953274}"/>
              </a:ext>
            </a:extLst>
          </p:cNvPr>
          <p:cNvSpPr/>
          <p:nvPr/>
        </p:nvSpPr>
        <p:spPr>
          <a:xfrm>
            <a:off x="5661318" y="2575489"/>
            <a:ext cx="806676" cy="34069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559BAC0-BCF9-9CA0-3691-8F7EA87C473D}"/>
              </a:ext>
            </a:extLst>
          </p:cNvPr>
          <p:cNvSpPr/>
          <p:nvPr/>
        </p:nvSpPr>
        <p:spPr>
          <a:xfrm>
            <a:off x="6593150" y="4581128"/>
            <a:ext cx="5119474" cy="2090057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08A2B2F1-C022-D8A1-D760-5470467537E8}"/>
              </a:ext>
            </a:extLst>
          </p:cNvPr>
          <p:cNvSpPr/>
          <p:nvPr/>
        </p:nvSpPr>
        <p:spPr>
          <a:xfrm rot="5400000">
            <a:off x="8784307" y="4012152"/>
            <a:ext cx="648000" cy="34069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4AA7065-7F9D-6C53-BB04-24EC64F62893}"/>
              </a:ext>
            </a:extLst>
          </p:cNvPr>
          <p:cNvSpPr/>
          <p:nvPr/>
        </p:nvSpPr>
        <p:spPr>
          <a:xfrm>
            <a:off x="407368" y="4581128"/>
            <a:ext cx="5055574" cy="2090057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7259E067-E281-A4CB-ADEB-24488C6059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84" y="4722825"/>
            <a:ext cx="1846221" cy="138600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20B6F779-5824-DDE4-7162-103A177F9A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085" y="4722825"/>
            <a:ext cx="1846221" cy="138600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A72F4B45-C48F-FEAC-58C6-678A2649C963}"/>
              </a:ext>
            </a:extLst>
          </p:cNvPr>
          <p:cNvSpPr/>
          <p:nvPr/>
        </p:nvSpPr>
        <p:spPr>
          <a:xfrm>
            <a:off x="4858787" y="4722825"/>
            <a:ext cx="402772" cy="138600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BE52498-3190-E6BD-1D0E-B9DC3DAF22A1}"/>
              </a:ext>
            </a:extLst>
          </p:cNvPr>
          <p:cNvSpPr txBox="1"/>
          <p:nvPr/>
        </p:nvSpPr>
        <p:spPr>
          <a:xfrm>
            <a:off x="4875478" y="5115724"/>
            <a:ext cx="35922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箭头: 右 48">
            <a:extLst>
              <a:ext uri="{FF2B5EF4-FFF2-40B4-BE49-F238E27FC236}">
                <a16:creationId xmlns:a16="http://schemas.microsoft.com/office/drawing/2014/main" id="{A47C0140-3739-2703-0955-67BFCC76CE38}"/>
              </a:ext>
            </a:extLst>
          </p:cNvPr>
          <p:cNvSpPr/>
          <p:nvPr/>
        </p:nvSpPr>
        <p:spPr>
          <a:xfrm flipH="1">
            <a:off x="5661318" y="5449170"/>
            <a:ext cx="741654" cy="34069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11F0696D-8C2D-E9C4-E35E-0CF6971264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994" y="4707296"/>
            <a:ext cx="1846982" cy="1385237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7B4635E0-B787-3C7E-FB73-B8A3F586E6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9097" y="4707296"/>
            <a:ext cx="1848000" cy="138600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D60B509A-BFA5-2A54-9455-48126B1D67B6}"/>
              </a:ext>
            </a:extLst>
          </p:cNvPr>
          <p:cNvSpPr/>
          <p:nvPr/>
        </p:nvSpPr>
        <p:spPr>
          <a:xfrm>
            <a:off x="11116218" y="4707296"/>
            <a:ext cx="380382" cy="138600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F83087B-6152-A375-6642-C3B18AB8B378}"/>
              </a:ext>
            </a:extLst>
          </p:cNvPr>
          <p:cNvSpPr txBox="1"/>
          <p:nvPr/>
        </p:nvSpPr>
        <p:spPr>
          <a:xfrm>
            <a:off x="11126794" y="5112267"/>
            <a:ext cx="359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" name="图形 1">
            <a:extLst>
              <a:ext uri="{FF2B5EF4-FFF2-40B4-BE49-F238E27FC236}">
                <a16:creationId xmlns:a16="http://schemas.microsoft.com/office/drawing/2014/main" id="{B13904BA-4A0F-C58A-DBEA-66BFC29F9B8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5156" y="1802442"/>
            <a:ext cx="4680000" cy="1367603"/>
          </a:xfrm>
          <a:prstGeom prst="rect">
            <a:avLst/>
          </a:prstGeom>
        </p:spPr>
      </p:pic>
      <p:sp>
        <p:nvSpPr>
          <p:cNvPr id="55" name="矩形 54">
            <a:extLst>
              <a:ext uri="{FF2B5EF4-FFF2-40B4-BE49-F238E27FC236}">
                <a16:creationId xmlns:a16="http://schemas.microsoft.com/office/drawing/2014/main" id="{CE3B4D6C-590D-F8EE-4489-219985E38A8B}"/>
              </a:ext>
            </a:extLst>
          </p:cNvPr>
          <p:cNvSpPr/>
          <p:nvPr/>
        </p:nvSpPr>
        <p:spPr>
          <a:xfrm>
            <a:off x="798827" y="3279639"/>
            <a:ext cx="4272658" cy="4001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sz="2000" b="1" dirty="0">
                <a:solidFill>
                  <a:srgbClr val="ED7D31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车辆运动学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模型构建切入轨迹</a:t>
            </a:r>
            <a:endParaRPr lang="zh-CN" altLang="en-US" sz="2000" b="1" baseline="30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61B5B67-87C3-C2DF-2571-4DCC0FCE1E5D}"/>
              </a:ext>
            </a:extLst>
          </p:cNvPr>
          <p:cNvSpPr/>
          <p:nvPr/>
        </p:nvSpPr>
        <p:spPr>
          <a:xfrm>
            <a:off x="5517708" y="2300556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场景参数集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B26A091-7073-6A68-F0CB-FE2DD87957D5}"/>
              </a:ext>
            </a:extLst>
          </p:cNvPr>
          <p:cNvSpPr/>
          <p:nvPr/>
        </p:nvSpPr>
        <p:spPr>
          <a:xfrm>
            <a:off x="5581544" y="2904863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分布拟合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FCD8136-EA84-D782-6664-C9EC0474D18D}"/>
              </a:ext>
            </a:extLst>
          </p:cNvPr>
          <p:cNvSpPr/>
          <p:nvPr/>
        </p:nvSpPr>
        <p:spPr>
          <a:xfrm>
            <a:off x="5602468" y="4961836"/>
            <a:ext cx="9028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不同场景采样数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0FF52D2-0B9A-9008-BED7-B1CBB687E04D}"/>
              </a:ext>
            </a:extLst>
          </p:cNvPr>
          <p:cNvSpPr/>
          <p:nvPr/>
        </p:nvSpPr>
        <p:spPr>
          <a:xfrm>
            <a:off x="7598695" y="3317487"/>
            <a:ext cx="3109072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GMM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构建切入逻辑场景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B83A178-06C7-8454-D478-953E2B711A30}"/>
              </a:ext>
            </a:extLst>
          </p:cNvPr>
          <p:cNvSpPr/>
          <p:nvPr/>
        </p:nvSpPr>
        <p:spPr>
          <a:xfrm>
            <a:off x="7598351" y="6196708"/>
            <a:ext cx="3109072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HMC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采样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生成具体场景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BB85E47-3BAC-0AE0-0442-71E44C5CB27A}"/>
              </a:ext>
            </a:extLst>
          </p:cNvPr>
          <p:cNvSpPr/>
          <p:nvPr/>
        </p:nvSpPr>
        <p:spPr>
          <a:xfrm>
            <a:off x="8054678" y="3886227"/>
            <a:ext cx="10499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联合概率分布函数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C04B98D7-3492-C11F-8230-5E8B4E03E99E}"/>
              </a:ext>
            </a:extLst>
          </p:cNvPr>
          <p:cNvSpPr/>
          <p:nvPr/>
        </p:nvSpPr>
        <p:spPr>
          <a:xfrm>
            <a:off x="1099804" y="6176109"/>
            <a:ext cx="3670703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b="1" dirty="0">
                <a:solidFill>
                  <a:srgbClr val="ED7D31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JS</a:t>
            </a:r>
            <a:r>
              <a:rPr lang="zh-CN" altLang="en-US" b="1" dirty="0">
                <a:solidFill>
                  <a:srgbClr val="ED7D31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散度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的场景参数覆盖度评估</a:t>
            </a:r>
          </a:p>
        </p:txBody>
      </p:sp>
      <p:sp>
        <p:nvSpPr>
          <p:cNvPr id="64" name="箭头: 右 63">
            <a:extLst>
              <a:ext uri="{FF2B5EF4-FFF2-40B4-BE49-F238E27FC236}">
                <a16:creationId xmlns:a16="http://schemas.microsoft.com/office/drawing/2014/main" id="{6F106000-86D7-0E12-E241-27F9C240C992}"/>
              </a:ext>
            </a:extLst>
          </p:cNvPr>
          <p:cNvSpPr/>
          <p:nvPr/>
        </p:nvSpPr>
        <p:spPr>
          <a:xfrm rot="16200000" flipV="1">
            <a:off x="2619933" y="4016411"/>
            <a:ext cx="639484" cy="340692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481A420-EBFB-8165-E738-8C22A25C7E59}"/>
              </a:ext>
            </a:extLst>
          </p:cNvPr>
          <p:cNvSpPr/>
          <p:nvPr/>
        </p:nvSpPr>
        <p:spPr>
          <a:xfrm>
            <a:off x="1707945" y="3853446"/>
            <a:ext cx="11833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最小切入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场景参数集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3C16211-FDFD-9052-72A8-FF0AE0576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C65444-C27E-4275-9B64-A99AFE6606A1}" type="slidenum">
              <a:rPr lang="zh-CN" altLang="en-US" smtClean="0"/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13087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EF17DB5A-88A8-F21F-F5BB-646B20CC9BAD}"/>
              </a:ext>
            </a:extLst>
          </p:cNvPr>
          <p:cNvSpPr/>
          <p:nvPr/>
        </p:nvSpPr>
        <p:spPr>
          <a:xfrm>
            <a:off x="335359" y="3925689"/>
            <a:ext cx="7404807" cy="2614519"/>
          </a:xfrm>
          <a:prstGeom prst="rect">
            <a:avLst/>
          </a:prstGeom>
          <a:noFill/>
          <a:ln w="12700">
            <a:solidFill>
              <a:schemeClr val="bg2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7049FA96-4AD2-1B12-2528-52AF0A4AF3DC}"/>
              </a:ext>
            </a:extLst>
          </p:cNvPr>
          <p:cNvSpPr txBox="1">
            <a:spLocks/>
          </p:cNvSpPr>
          <p:nvPr/>
        </p:nvSpPr>
        <p:spPr>
          <a:xfrm>
            <a:off x="41367" y="836713"/>
            <a:ext cx="8642350" cy="720075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基于车辆运动学的切入轨迹模型</a:t>
            </a:r>
            <a:r>
              <a:rPr lang="en-US" altLang="zh-CN" sz="2400" b="1" baseline="30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[3]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241959-94AD-5D6D-3702-8C699E3BA56D}"/>
              </a:ext>
            </a:extLst>
          </p:cNvPr>
          <p:cNvSpPr/>
          <p:nvPr/>
        </p:nvSpPr>
        <p:spPr>
          <a:xfrm>
            <a:off x="335359" y="1909105"/>
            <a:ext cx="11498729" cy="1748390"/>
          </a:xfrm>
          <a:prstGeom prst="rect">
            <a:avLst/>
          </a:prstGeom>
          <a:noFill/>
          <a:ln w="12700">
            <a:solidFill>
              <a:schemeClr val="bg2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形 1">
            <a:extLst>
              <a:ext uri="{FF2B5EF4-FFF2-40B4-BE49-F238E27FC236}">
                <a16:creationId xmlns:a16="http://schemas.microsoft.com/office/drawing/2014/main" id="{7F57AACB-837A-7612-D7BC-6009B96671C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272"/>
          <a:stretch/>
        </p:blipFill>
        <p:spPr>
          <a:xfrm>
            <a:off x="551384" y="2050319"/>
            <a:ext cx="5144727" cy="1538358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4100302-5FDF-42F5-CE94-D5D57D5F5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572250"/>
              </p:ext>
            </p:extLst>
          </p:nvPr>
        </p:nvGraphicFramePr>
        <p:xfrm>
          <a:off x="6412659" y="2099498"/>
          <a:ext cx="5232828" cy="1440000"/>
        </p:xfrm>
        <a:graphic>
          <a:graphicData uri="http://schemas.openxmlformats.org/drawingml/2006/table">
            <a:tbl>
              <a:tblPr firstRow="1" bandRow="1">
                <a:solidFill>
                  <a:srgbClr val="FBE5B8"/>
                </a:solidFill>
                <a:tableStyleId>{5C22544A-7EE6-4342-B048-85BDC9FD1C3A}</a:tableStyleId>
              </a:tblPr>
              <a:tblGrid>
                <a:gridCol w="513015">
                  <a:extLst>
                    <a:ext uri="{9D8B030D-6E8A-4147-A177-3AD203B41FA5}">
                      <a16:colId xmlns:a16="http://schemas.microsoft.com/office/drawing/2014/main" val="4204602574"/>
                    </a:ext>
                  </a:extLst>
                </a:gridCol>
                <a:gridCol w="2027708">
                  <a:extLst>
                    <a:ext uri="{9D8B030D-6E8A-4147-A177-3AD203B41FA5}">
                      <a16:colId xmlns:a16="http://schemas.microsoft.com/office/drawing/2014/main" val="850475822"/>
                    </a:ext>
                  </a:extLst>
                </a:gridCol>
                <a:gridCol w="431426">
                  <a:extLst>
                    <a:ext uri="{9D8B030D-6E8A-4147-A177-3AD203B41FA5}">
                      <a16:colId xmlns:a16="http://schemas.microsoft.com/office/drawing/2014/main" val="2060325550"/>
                    </a:ext>
                  </a:extLst>
                </a:gridCol>
                <a:gridCol w="2260679">
                  <a:extLst>
                    <a:ext uri="{9D8B030D-6E8A-4147-A177-3AD203B41FA5}">
                      <a16:colId xmlns:a16="http://schemas.microsoft.com/office/drawing/2014/main" val="3856161136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i="0" kern="1200" dirty="0">
                          <a:solidFill>
                            <a:srgbClr val="1B3F8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</a:t>
                      </a:r>
                      <a:r>
                        <a:rPr lang="en-US" sz="1800" b="0" i="0" kern="1200" baseline="-25000" dirty="0">
                          <a:solidFill>
                            <a:srgbClr val="1B3F8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e0</a:t>
                      </a:r>
                      <a:endParaRPr lang="zh-CN" altLang="en-US" sz="1800" b="0" i="0" kern="1200" baseline="-25000" dirty="0">
                        <a:solidFill>
                          <a:srgbClr val="1B3F8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kern="1200" dirty="0">
                          <a:solidFill>
                            <a:srgbClr val="1B3F8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初始时刻主车速度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rgbClr val="1B3F8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</a:t>
                      </a:r>
                      <a:endParaRPr lang="zh-CN" altLang="en-US" sz="1800" b="0" kern="1200" dirty="0">
                        <a:solidFill>
                          <a:srgbClr val="1B3F8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kern="1200" dirty="0">
                          <a:solidFill>
                            <a:srgbClr val="1B3F8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切入持续时长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40896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i="0" kern="1200" dirty="0">
                          <a:solidFill>
                            <a:srgbClr val="1B3F8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</a:t>
                      </a:r>
                      <a:r>
                        <a:rPr lang="en-US" sz="1800" b="0" i="0" kern="1200" baseline="-25000" dirty="0">
                          <a:solidFill>
                            <a:srgbClr val="1B3F8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r0</a:t>
                      </a:r>
                      <a:endParaRPr lang="zh-CN" altLang="en-US" sz="1800" b="0" i="0" kern="1200" baseline="-25000" dirty="0">
                        <a:solidFill>
                          <a:srgbClr val="1B3F8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kern="1200" dirty="0">
                          <a:solidFill>
                            <a:srgbClr val="1B3F8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初始时刻相对速度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rgbClr val="1B3F8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</a:t>
                      </a:r>
                      <a:r>
                        <a:rPr lang="en-US" sz="1800" b="0" kern="1200" baseline="-25000" dirty="0">
                          <a:solidFill>
                            <a:srgbClr val="1B3F8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</a:t>
                      </a:r>
                      <a:endParaRPr lang="zh-CN" altLang="en-US" sz="1800" b="0" kern="1200" baseline="-25000" dirty="0">
                        <a:solidFill>
                          <a:srgbClr val="1B3F8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kern="1200" dirty="0">
                          <a:solidFill>
                            <a:srgbClr val="1B3F8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切入车辆纵向加速度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36858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i="0" kern="1200" dirty="0">
                          <a:solidFill>
                            <a:srgbClr val="1B3F8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</a:t>
                      </a:r>
                      <a:r>
                        <a:rPr lang="en-US" sz="1800" b="0" i="0" kern="1200" baseline="-25000" dirty="0">
                          <a:solidFill>
                            <a:srgbClr val="1B3F8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x0</a:t>
                      </a:r>
                      <a:endParaRPr lang="zh-CN" altLang="en-US" sz="1800" b="0" i="0" kern="1200" baseline="-25000" dirty="0">
                        <a:solidFill>
                          <a:srgbClr val="1B3F8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kern="1200" dirty="0">
                          <a:solidFill>
                            <a:srgbClr val="1B3F8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初始时刻纵向车距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>
                          <a:solidFill>
                            <a:srgbClr val="1B3F8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</a:t>
                      </a:r>
                      <a:r>
                        <a:rPr lang="en-US" sz="1800" b="0" kern="1200" baseline="-25000" dirty="0">
                          <a:solidFill>
                            <a:srgbClr val="1B3F8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y</a:t>
                      </a:r>
                      <a:endParaRPr lang="zh-CN" altLang="en-US" sz="1800" b="0" kern="1200" baseline="-25000" dirty="0">
                        <a:solidFill>
                          <a:srgbClr val="1B3F8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kern="1200" dirty="0">
                          <a:solidFill>
                            <a:srgbClr val="1B3F8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切入车辆横向加速度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99517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691F437F-0D9F-FE34-C9E1-99C2D99532B3}"/>
              </a:ext>
            </a:extLst>
          </p:cNvPr>
          <p:cNvSpPr txBox="1"/>
          <p:nvPr/>
        </p:nvSpPr>
        <p:spPr>
          <a:xfrm>
            <a:off x="335360" y="1491576"/>
            <a:ext cx="2219056" cy="4308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B3F8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模型参数选择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1B3F8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BCD89AF-F7F2-7EC8-4F31-5C289C66F6DC}"/>
              </a:ext>
            </a:extLst>
          </p:cNvPr>
          <p:cNvSpPr/>
          <p:nvPr/>
        </p:nvSpPr>
        <p:spPr>
          <a:xfrm>
            <a:off x="5882344" y="2589424"/>
            <a:ext cx="344081" cy="504056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441D13E-31D2-1E4C-7FA5-8810B4776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823" y="18225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54E6060-11BB-CEEA-5596-482E38EF40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7494534"/>
              </p:ext>
            </p:extLst>
          </p:nvPr>
        </p:nvGraphicFramePr>
        <p:xfrm>
          <a:off x="3600072" y="3994507"/>
          <a:ext cx="3384035" cy="2399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74560" imgH="1777680" progId="Equation.DSMT4">
                  <p:embed/>
                </p:oleObj>
              </mc:Choice>
              <mc:Fallback>
                <p:oleObj name="Equation" r:id="rId5" imgW="2374560" imgH="17776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54E6060-11BB-CEEA-5596-482E38EF40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072" y="3994507"/>
                        <a:ext cx="3384035" cy="23998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8CF307BA-D7C4-DA01-AFC7-880C1CEB3AFE}"/>
              </a:ext>
            </a:extLst>
          </p:cNvPr>
          <p:cNvSpPr txBox="1"/>
          <p:nvPr/>
        </p:nvSpPr>
        <p:spPr>
          <a:xfrm>
            <a:off x="335360" y="3645024"/>
            <a:ext cx="1877437" cy="430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模型参数标定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33C9C663-3EF4-F307-38FF-E8DCF70E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2BAF20-B4D1-4F6A-96C9-F7D91BB9A681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59">
            <a:extLst>
              <a:ext uri="{FF2B5EF4-FFF2-40B4-BE49-F238E27FC236}">
                <a16:creationId xmlns:a16="http://schemas.microsoft.com/office/drawing/2014/main" id="{ACB1268A-6FDD-3436-6816-21A9EDAF8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0" y="116632"/>
            <a:ext cx="24479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研究内容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19FB75-A8A3-7E0B-6A37-4FCE62B6FA20}"/>
              </a:ext>
            </a:extLst>
          </p:cNvPr>
          <p:cNvSpPr/>
          <p:nvPr/>
        </p:nvSpPr>
        <p:spPr>
          <a:xfrm>
            <a:off x="3749371" y="5820127"/>
            <a:ext cx="3811141" cy="5742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矩形 117">
            <a:extLst>
              <a:ext uri="{FF2B5EF4-FFF2-40B4-BE49-F238E27FC236}">
                <a16:creationId xmlns:a16="http://schemas.microsoft.com/office/drawing/2014/main" id="{9B1ABA05-6A23-AEA0-BDD9-FE34E5557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3269" y="5963978"/>
            <a:ext cx="2367951" cy="363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64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印品黑体" panose="00000500000000000000" pitchFamily="2" charset="-122"/>
                <a:cs typeface="Times New Roman" panose="02020603050405020304" pitchFamily="18" charset="0"/>
              </a:rPr>
              <a:t>纵向：匀加速</a:t>
            </a:r>
          </a:p>
        </p:txBody>
      </p:sp>
      <p:sp>
        <p:nvSpPr>
          <p:cNvPr id="16" name="矩形 117">
            <a:extLst>
              <a:ext uri="{FF2B5EF4-FFF2-40B4-BE49-F238E27FC236}">
                <a16:creationId xmlns:a16="http://schemas.microsoft.com/office/drawing/2014/main" id="{71272F50-AA99-2CE6-77D2-C4949C4CF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4433" y="3971049"/>
            <a:ext cx="125574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切入车辆位置坐标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90FF27-9F29-E88A-52D4-E83A8D3D9B9B}"/>
              </a:ext>
            </a:extLst>
          </p:cNvPr>
          <p:cNvSpPr/>
          <p:nvPr/>
        </p:nvSpPr>
        <p:spPr>
          <a:xfrm>
            <a:off x="746143" y="6076741"/>
            <a:ext cx="2053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模型基本假设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83DF9498-9DC0-A951-2903-8D0872EDE7D8}"/>
              </a:ext>
            </a:extLst>
          </p:cNvPr>
          <p:cNvSpPr/>
          <p:nvPr/>
        </p:nvSpPr>
        <p:spPr>
          <a:xfrm>
            <a:off x="3195431" y="5015143"/>
            <a:ext cx="343649" cy="419454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AE1B969-81C7-8354-02A8-61A9EDC3FA56}"/>
              </a:ext>
            </a:extLst>
          </p:cNvPr>
          <p:cNvSpPr/>
          <p:nvPr/>
        </p:nvSpPr>
        <p:spPr>
          <a:xfrm>
            <a:off x="3745749" y="4014173"/>
            <a:ext cx="3811141" cy="1762830"/>
          </a:xfrm>
          <a:prstGeom prst="rect">
            <a:avLst/>
          </a:prstGeom>
          <a:noFill/>
          <a:ln w="19050">
            <a:solidFill>
              <a:srgbClr val="1B3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D85A98B5-3709-57A9-A5DF-77246811C55D}"/>
              </a:ext>
            </a:extLst>
          </p:cNvPr>
          <p:cNvSpPr/>
          <p:nvPr/>
        </p:nvSpPr>
        <p:spPr>
          <a:xfrm>
            <a:off x="8566823" y="5194441"/>
            <a:ext cx="432048" cy="419454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0" name="图形 25">
            <a:extLst>
              <a:ext uri="{FF2B5EF4-FFF2-40B4-BE49-F238E27FC236}">
                <a16:creationId xmlns:a16="http://schemas.microsoft.com/office/drawing/2014/main" id="{AF9EB9C1-ABD1-0F99-CFE1-343C2B7C81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54094" y="4365104"/>
            <a:ext cx="3818570" cy="2116643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3D6DDB2B-0C6B-0CD3-95B0-5B5C1C398A80}"/>
              </a:ext>
            </a:extLst>
          </p:cNvPr>
          <p:cNvSpPr/>
          <p:nvPr/>
        </p:nvSpPr>
        <p:spPr>
          <a:xfrm>
            <a:off x="8278790" y="4223118"/>
            <a:ext cx="3555297" cy="2317089"/>
          </a:xfrm>
          <a:prstGeom prst="rect">
            <a:avLst/>
          </a:prstGeom>
          <a:noFill/>
          <a:ln w="12700" cap="flat" cmpd="sng" algn="ctr">
            <a:solidFill>
              <a:schemeClr val="accent5">
                <a:lumMod val="75000"/>
              </a:scheme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5520865-B33B-1CC6-AA67-0D08F54A7DD3}"/>
              </a:ext>
            </a:extLst>
          </p:cNvPr>
          <p:cNvSpPr/>
          <p:nvPr/>
        </p:nvSpPr>
        <p:spPr>
          <a:xfrm>
            <a:off x="8680370" y="3905066"/>
            <a:ext cx="2828657" cy="400110"/>
          </a:xfrm>
          <a:prstGeom prst="rect">
            <a:avLst/>
          </a:prstGeom>
          <a:solidFill>
            <a:srgbClr val="1B3F85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切入轨迹模型拟合示例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E3A87E1F-9744-882C-2870-17EB0A7CCDDC}"/>
              </a:ext>
            </a:extLst>
          </p:cNvPr>
          <p:cNvSpPr/>
          <p:nvPr/>
        </p:nvSpPr>
        <p:spPr>
          <a:xfrm>
            <a:off x="7859503" y="4998013"/>
            <a:ext cx="349835" cy="464498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9" name="Rectangle">
            <a:extLst>
              <a:ext uri="{FF2B5EF4-FFF2-40B4-BE49-F238E27FC236}">
                <a16:creationId xmlns:a16="http://schemas.microsoft.com/office/drawing/2014/main" id="{3741923D-3F58-7CC7-3F1C-14C65238E0D6}"/>
              </a:ext>
            </a:extLst>
          </p:cNvPr>
          <p:cNvSpPr/>
          <p:nvPr/>
        </p:nvSpPr>
        <p:spPr>
          <a:xfrm>
            <a:off x="1397040" y="5552960"/>
            <a:ext cx="954961" cy="801925"/>
          </a:xfrm>
          <a:custGeom>
            <a:avLst/>
            <a:gdLst/>
            <a:ahLst/>
            <a:cxnLst/>
            <a:rect l="l" t="t" r="r" b="b"/>
            <a:pathLst>
              <a:path w="676400" h="600400" stroke="0">
                <a:moveTo>
                  <a:pt x="0" y="0"/>
                </a:moveTo>
                <a:lnTo>
                  <a:pt x="676400" y="0"/>
                </a:lnTo>
                <a:lnTo>
                  <a:pt x="676400" y="600400"/>
                </a:lnTo>
                <a:lnTo>
                  <a:pt x="0" y="600400"/>
                </a:lnTo>
                <a:lnTo>
                  <a:pt x="0" y="0"/>
                </a:lnTo>
                <a:close/>
              </a:path>
              <a:path w="676400" h="600400" fill="none">
                <a:moveTo>
                  <a:pt x="0" y="0"/>
                </a:moveTo>
                <a:lnTo>
                  <a:pt x="676400" y="0"/>
                </a:lnTo>
                <a:lnTo>
                  <a:pt x="676400" y="600400"/>
                </a:lnTo>
                <a:lnTo>
                  <a:pt x="0" y="600400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noFill/>
            <a:miter/>
          </a:ln>
        </p:spPr>
        <p:txBody>
          <a:bodyPr wrap="square" lIns="38100" tIns="38100" rIns="38100" bIns="381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切入时间 </a:t>
            </a:r>
            <a:r>
              <a:rPr kumimoji="0" lang="zh-CN" alt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6936AC-238D-02AF-D83A-6FD9856F7649}"/>
              </a:ext>
            </a:extLst>
          </p:cNvPr>
          <p:cNvGrpSpPr/>
          <p:nvPr/>
        </p:nvGrpSpPr>
        <p:grpSpPr>
          <a:xfrm>
            <a:off x="551384" y="4194829"/>
            <a:ext cx="2629097" cy="1869632"/>
            <a:chOff x="753799" y="4293280"/>
            <a:chExt cx="2629097" cy="1869632"/>
          </a:xfrm>
        </p:grpSpPr>
        <p:sp>
          <p:nvSpPr>
            <p:cNvPr id="27" name="Rectangle">
              <a:extLst>
                <a:ext uri="{FF2B5EF4-FFF2-40B4-BE49-F238E27FC236}">
                  <a16:creationId xmlns:a16="http://schemas.microsoft.com/office/drawing/2014/main" id="{B04D7D8E-6C6D-9153-C3D8-ABFD5443E4B2}"/>
                </a:ext>
              </a:extLst>
            </p:cNvPr>
            <p:cNvSpPr/>
            <p:nvPr/>
          </p:nvSpPr>
          <p:spPr>
            <a:xfrm>
              <a:off x="753799" y="4356043"/>
              <a:ext cx="903435" cy="801925"/>
            </a:xfrm>
            <a:custGeom>
              <a:avLst/>
              <a:gdLst/>
              <a:ahLst/>
              <a:cxnLst/>
              <a:rect l="l" t="t" r="r" b="b"/>
              <a:pathLst>
                <a:path w="676400" h="600400" stroke="0">
                  <a:moveTo>
                    <a:pt x="0" y="0"/>
                  </a:moveTo>
                  <a:lnTo>
                    <a:pt x="676400" y="0"/>
                  </a:lnTo>
                  <a:lnTo>
                    <a:pt x="676400" y="600400"/>
                  </a:lnTo>
                  <a:lnTo>
                    <a:pt x="0" y="600400"/>
                  </a:lnTo>
                  <a:lnTo>
                    <a:pt x="0" y="0"/>
                  </a:lnTo>
                  <a:close/>
                </a:path>
                <a:path w="676400" h="600400" fill="none">
                  <a:moveTo>
                    <a:pt x="0" y="0"/>
                  </a:moveTo>
                  <a:lnTo>
                    <a:pt x="676400" y="0"/>
                  </a:lnTo>
                  <a:lnTo>
                    <a:pt x="676400" y="600400"/>
                  </a:lnTo>
                  <a:lnTo>
                    <a:pt x="0" y="600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19191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kumimoji="0" lang="zh-CN" altLang="en-US" sz="18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19191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34" name="ConnectLine">
              <a:extLst>
                <a:ext uri="{FF2B5EF4-FFF2-40B4-BE49-F238E27FC236}">
                  <a16:creationId xmlns:a16="http://schemas.microsoft.com/office/drawing/2014/main" id="{E8C93E94-4575-F416-740B-3792D54AD57A}"/>
                </a:ext>
              </a:extLst>
            </p:cNvPr>
            <p:cNvSpPr/>
            <p:nvPr/>
          </p:nvSpPr>
          <p:spPr>
            <a:xfrm>
              <a:off x="2042970" y="4293280"/>
              <a:ext cx="10151" cy="1656000"/>
            </a:xfrm>
            <a:custGeom>
              <a:avLst/>
              <a:gdLst/>
              <a:ahLst/>
              <a:cxnLst/>
              <a:rect l="l" t="t" r="r" b="b"/>
              <a:pathLst>
                <a:path w="7600" h="1322400" fill="none">
                  <a:moveTo>
                    <a:pt x="0" y="0"/>
                  </a:moveTo>
                  <a:lnTo>
                    <a:pt x="0" y="1322400"/>
                  </a:lnTo>
                </a:path>
              </a:pathLst>
            </a:custGeom>
            <a:noFill/>
            <a:ln w="17733" cap="flat">
              <a:solidFill>
                <a:srgbClr val="323232"/>
              </a:solidFill>
              <a:custDash>
                <a:ds d="1100000" sp="500000"/>
              </a:custDash>
              <a:miter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" name="ConnectLine">
              <a:extLst>
                <a:ext uri="{FF2B5EF4-FFF2-40B4-BE49-F238E27FC236}">
                  <a16:creationId xmlns:a16="http://schemas.microsoft.com/office/drawing/2014/main" id="{D2E99D8A-F22E-DE69-85E6-CCC838015481}"/>
                </a:ext>
              </a:extLst>
            </p:cNvPr>
            <p:cNvSpPr/>
            <p:nvPr/>
          </p:nvSpPr>
          <p:spPr>
            <a:xfrm>
              <a:off x="885761" y="5360987"/>
              <a:ext cx="10151" cy="771472"/>
            </a:xfrm>
            <a:custGeom>
              <a:avLst/>
              <a:gdLst/>
              <a:ahLst/>
              <a:cxnLst/>
              <a:rect l="l" t="t" r="r" b="b"/>
              <a:pathLst>
                <a:path w="7600" h="577600" fill="none">
                  <a:moveTo>
                    <a:pt x="0" y="0"/>
                  </a:moveTo>
                  <a:lnTo>
                    <a:pt x="0" y="577600"/>
                  </a:lnTo>
                </a:path>
              </a:pathLst>
            </a:custGeom>
            <a:noFill/>
            <a:ln w="15200" cap="flat">
              <a:solidFill>
                <a:srgbClr val="323232"/>
              </a:solidFill>
              <a:miter/>
            </a:ln>
          </p:spPr>
        </p:sp>
        <p:sp>
          <p:nvSpPr>
            <p:cNvPr id="36" name="ConnectLine">
              <a:extLst>
                <a:ext uri="{FF2B5EF4-FFF2-40B4-BE49-F238E27FC236}">
                  <a16:creationId xmlns:a16="http://schemas.microsoft.com/office/drawing/2014/main" id="{866B9006-7DC9-8436-C4C9-E838D10582F4}"/>
                </a:ext>
              </a:extLst>
            </p:cNvPr>
            <p:cNvSpPr/>
            <p:nvPr/>
          </p:nvSpPr>
          <p:spPr>
            <a:xfrm>
              <a:off x="3190028" y="5360987"/>
              <a:ext cx="10151" cy="771472"/>
            </a:xfrm>
            <a:custGeom>
              <a:avLst/>
              <a:gdLst/>
              <a:ahLst/>
              <a:cxnLst/>
              <a:rect l="l" t="t" r="r" b="b"/>
              <a:pathLst>
                <a:path w="7600" h="577600" fill="none">
                  <a:moveTo>
                    <a:pt x="0" y="0"/>
                  </a:moveTo>
                  <a:lnTo>
                    <a:pt x="0" y="577600"/>
                  </a:lnTo>
                </a:path>
              </a:pathLst>
            </a:custGeom>
            <a:noFill/>
            <a:ln w="15200" cap="flat">
              <a:solidFill>
                <a:srgbClr val="323232"/>
              </a:solidFill>
              <a:miter/>
            </a:ln>
          </p:spPr>
        </p:sp>
        <p:sp>
          <p:nvSpPr>
            <p:cNvPr id="37" name="ConnectLine">
              <a:extLst>
                <a:ext uri="{FF2B5EF4-FFF2-40B4-BE49-F238E27FC236}">
                  <a16:creationId xmlns:a16="http://schemas.microsoft.com/office/drawing/2014/main" id="{E7CC4D83-2A96-3E5F-5165-4BB456FE742B}"/>
                </a:ext>
              </a:extLst>
            </p:cNvPr>
            <p:cNvSpPr/>
            <p:nvPr/>
          </p:nvSpPr>
          <p:spPr>
            <a:xfrm>
              <a:off x="885761" y="5553855"/>
              <a:ext cx="1157209" cy="10151"/>
            </a:xfrm>
            <a:custGeom>
              <a:avLst/>
              <a:gdLst/>
              <a:ahLst/>
              <a:cxnLst/>
              <a:rect l="l" t="t" r="r" b="b"/>
              <a:pathLst>
                <a:path w="866400" h="7600" fill="none">
                  <a:moveTo>
                    <a:pt x="0" y="0"/>
                  </a:moveTo>
                  <a:lnTo>
                    <a:pt x="866400" y="1094"/>
                  </a:lnTo>
                </a:path>
              </a:pathLst>
            </a:custGeom>
            <a:noFill/>
            <a:ln w="7600" cap="flat">
              <a:solidFill>
                <a:srgbClr val="323232"/>
              </a:solidFill>
              <a:miter/>
              <a:headEnd type="triangle" w="med" len="med"/>
              <a:tailEnd type="triangle" w="med" len="med"/>
            </a:ln>
          </p:spPr>
        </p:sp>
        <p:sp>
          <p:nvSpPr>
            <p:cNvPr id="38" name="ConnectLine">
              <a:extLst>
                <a:ext uri="{FF2B5EF4-FFF2-40B4-BE49-F238E27FC236}">
                  <a16:creationId xmlns:a16="http://schemas.microsoft.com/office/drawing/2014/main" id="{38BFC1E9-26F2-9E63-744C-66D31612C54C}"/>
                </a:ext>
              </a:extLst>
            </p:cNvPr>
            <p:cNvSpPr/>
            <p:nvPr/>
          </p:nvSpPr>
          <p:spPr>
            <a:xfrm>
              <a:off x="2042970" y="5570097"/>
              <a:ext cx="1157209" cy="10151"/>
            </a:xfrm>
            <a:custGeom>
              <a:avLst/>
              <a:gdLst/>
              <a:ahLst/>
              <a:cxnLst/>
              <a:rect l="l" t="t" r="r" b="b"/>
              <a:pathLst>
                <a:path w="866400" h="7600" fill="none">
                  <a:moveTo>
                    <a:pt x="0" y="0"/>
                  </a:moveTo>
                  <a:lnTo>
                    <a:pt x="866400" y="0"/>
                  </a:lnTo>
                </a:path>
              </a:pathLst>
            </a:custGeom>
            <a:noFill/>
            <a:ln w="7600" cap="flat">
              <a:solidFill>
                <a:srgbClr val="323232"/>
              </a:solidFill>
              <a:miter/>
              <a:headEnd type="triangle" w="med" len="med"/>
              <a:tailEnd type="triangle" w="med" len="med"/>
            </a:ln>
          </p:spPr>
        </p:sp>
        <p:sp>
          <p:nvSpPr>
            <p:cNvPr id="39" name="Rectangle">
              <a:extLst>
                <a:ext uri="{FF2B5EF4-FFF2-40B4-BE49-F238E27FC236}">
                  <a16:creationId xmlns:a16="http://schemas.microsoft.com/office/drawing/2014/main" id="{C88A8FB5-3ECB-560C-BC2F-7C447F31ED21}"/>
                </a:ext>
              </a:extLst>
            </p:cNvPr>
            <p:cNvSpPr/>
            <p:nvPr/>
          </p:nvSpPr>
          <p:spPr>
            <a:xfrm>
              <a:off x="1027875" y="5031081"/>
              <a:ext cx="903435" cy="801925"/>
            </a:xfrm>
            <a:custGeom>
              <a:avLst/>
              <a:gdLst/>
              <a:ahLst/>
              <a:cxnLst/>
              <a:rect l="l" t="t" r="r" b="b"/>
              <a:pathLst>
                <a:path w="676400" h="600400" stroke="0">
                  <a:moveTo>
                    <a:pt x="0" y="0"/>
                  </a:moveTo>
                  <a:lnTo>
                    <a:pt x="676400" y="0"/>
                  </a:lnTo>
                  <a:lnTo>
                    <a:pt x="676400" y="600400"/>
                  </a:lnTo>
                  <a:lnTo>
                    <a:pt x="0" y="600400"/>
                  </a:lnTo>
                  <a:lnTo>
                    <a:pt x="0" y="0"/>
                  </a:lnTo>
                  <a:close/>
                </a:path>
                <a:path w="676400" h="600400" fill="none">
                  <a:moveTo>
                    <a:pt x="0" y="0"/>
                  </a:moveTo>
                  <a:lnTo>
                    <a:pt x="676400" y="0"/>
                  </a:lnTo>
                  <a:lnTo>
                    <a:pt x="676400" y="600400"/>
                  </a:lnTo>
                  <a:lnTo>
                    <a:pt x="0" y="600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19191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9191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/ 2</a:t>
              </a:r>
            </a:p>
          </p:txBody>
        </p:sp>
        <p:sp>
          <p:nvSpPr>
            <p:cNvPr id="40" name="Rectangle">
              <a:extLst>
                <a:ext uri="{FF2B5EF4-FFF2-40B4-BE49-F238E27FC236}">
                  <a16:creationId xmlns:a16="http://schemas.microsoft.com/office/drawing/2014/main" id="{79094DC4-EA92-DB15-06A7-AC707605F30F}"/>
                </a:ext>
              </a:extLst>
            </p:cNvPr>
            <p:cNvSpPr/>
            <p:nvPr/>
          </p:nvSpPr>
          <p:spPr>
            <a:xfrm>
              <a:off x="2144480" y="5020930"/>
              <a:ext cx="903435" cy="801925"/>
            </a:xfrm>
            <a:custGeom>
              <a:avLst/>
              <a:gdLst/>
              <a:ahLst/>
              <a:cxnLst/>
              <a:rect l="l" t="t" r="r" b="b"/>
              <a:pathLst>
                <a:path w="676400" h="600400" stroke="0">
                  <a:moveTo>
                    <a:pt x="0" y="0"/>
                  </a:moveTo>
                  <a:lnTo>
                    <a:pt x="676400" y="0"/>
                  </a:lnTo>
                  <a:lnTo>
                    <a:pt x="676400" y="600400"/>
                  </a:lnTo>
                  <a:lnTo>
                    <a:pt x="0" y="600400"/>
                  </a:lnTo>
                  <a:lnTo>
                    <a:pt x="0" y="0"/>
                  </a:lnTo>
                  <a:close/>
                </a:path>
                <a:path w="676400" h="600400" fill="none">
                  <a:moveTo>
                    <a:pt x="0" y="0"/>
                  </a:moveTo>
                  <a:lnTo>
                    <a:pt x="676400" y="0"/>
                  </a:lnTo>
                  <a:lnTo>
                    <a:pt x="676400" y="600400"/>
                  </a:lnTo>
                  <a:lnTo>
                    <a:pt x="0" y="600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19191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9191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/ 2</a:t>
              </a:r>
            </a:p>
          </p:txBody>
        </p:sp>
        <p:sp>
          <p:nvSpPr>
            <p:cNvPr id="41" name="Rectangle">
              <a:extLst>
                <a:ext uri="{FF2B5EF4-FFF2-40B4-BE49-F238E27FC236}">
                  <a16:creationId xmlns:a16="http://schemas.microsoft.com/office/drawing/2014/main" id="{5B9848F5-E3EF-D38C-49B5-C4D5BA55DE94}"/>
                </a:ext>
              </a:extLst>
            </p:cNvPr>
            <p:cNvSpPr/>
            <p:nvPr/>
          </p:nvSpPr>
          <p:spPr>
            <a:xfrm>
              <a:off x="1012648" y="5360987"/>
              <a:ext cx="969417" cy="801925"/>
            </a:xfrm>
            <a:custGeom>
              <a:avLst/>
              <a:gdLst/>
              <a:ahLst/>
              <a:cxnLst/>
              <a:rect l="l" t="t" r="r" b="b"/>
              <a:pathLst>
                <a:path w="676400" h="600400" stroke="0">
                  <a:moveTo>
                    <a:pt x="0" y="0"/>
                  </a:moveTo>
                  <a:lnTo>
                    <a:pt x="676400" y="0"/>
                  </a:lnTo>
                  <a:lnTo>
                    <a:pt x="676400" y="600400"/>
                  </a:lnTo>
                  <a:lnTo>
                    <a:pt x="0" y="600400"/>
                  </a:lnTo>
                  <a:lnTo>
                    <a:pt x="0" y="0"/>
                  </a:lnTo>
                  <a:close/>
                </a:path>
                <a:path w="676400" h="600400" fill="none">
                  <a:moveTo>
                    <a:pt x="0" y="0"/>
                  </a:moveTo>
                  <a:lnTo>
                    <a:pt x="676400" y="0"/>
                  </a:lnTo>
                  <a:lnTo>
                    <a:pt x="676400" y="600400"/>
                  </a:lnTo>
                  <a:lnTo>
                    <a:pt x="0" y="600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9191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匀加速阶段</a:t>
              </a:r>
            </a:p>
          </p:txBody>
        </p:sp>
        <p:sp>
          <p:nvSpPr>
            <p:cNvPr id="42" name="Rectangle">
              <a:extLst>
                <a:ext uri="{FF2B5EF4-FFF2-40B4-BE49-F238E27FC236}">
                  <a16:creationId xmlns:a16="http://schemas.microsoft.com/office/drawing/2014/main" id="{4B0E4975-91BA-FA86-6BD6-A33170B87517}"/>
                </a:ext>
              </a:extLst>
            </p:cNvPr>
            <p:cNvSpPr/>
            <p:nvPr/>
          </p:nvSpPr>
          <p:spPr>
            <a:xfrm>
              <a:off x="2169857" y="5360987"/>
              <a:ext cx="975945" cy="801925"/>
            </a:xfrm>
            <a:custGeom>
              <a:avLst/>
              <a:gdLst/>
              <a:ahLst/>
              <a:cxnLst/>
              <a:rect l="l" t="t" r="r" b="b"/>
              <a:pathLst>
                <a:path w="676400" h="600400" stroke="0">
                  <a:moveTo>
                    <a:pt x="0" y="0"/>
                  </a:moveTo>
                  <a:lnTo>
                    <a:pt x="676400" y="0"/>
                  </a:lnTo>
                  <a:lnTo>
                    <a:pt x="676400" y="600400"/>
                  </a:lnTo>
                  <a:lnTo>
                    <a:pt x="0" y="600400"/>
                  </a:lnTo>
                  <a:lnTo>
                    <a:pt x="0" y="0"/>
                  </a:lnTo>
                  <a:close/>
                </a:path>
                <a:path w="676400" h="600400" fill="none">
                  <a:moveTo>
                    <a:pt x="0" y="0"/>
                  </a:moveTo>
                  <a:lnTo>
                    <a:pt x="676400" y="0"/>
                  </a:lnTo>
                  <a:lnTo>
                    <a:pt x="676400" y="600400"/>
                  </a:lnTo>
                  <a:lnTo>
                    <a:pt x="0" y="600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9191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匀减速阶段</a:t>
              </a:r>
            </a:p>
          </p:txBody>
        </p:sp>
        <p:sp>
          <p:nvSpPr>
            <p:cNvPr id="43" name="ConnectLine">
              <a:extLst>
                <a:ext uri="{FF2B5EF4-FFF2-40B4-BE49-F238E27FC236}">
                  <a16:creationId xmlns:a16="http://schemas.microsoft.com/office/drawing/2014/main" id="{3C04A2FE-B85F-0033-6B06-54AA3C2693FB}"/>
                </a:ext>
              </a:extLst>
            </p:cNvPr>
            <p:cNvSpPr/>
            <p:nvPr/>
          </p:nvSpPr>
          <p:spPr>
            <a:xfrm>
              <a:off x="885761" y="6021288"/>
              <a:ext cx="680114" cy="10151"/>
            </a:xfrm>
            <a:custGeom>
              <a:avLst/>
              <a:gdLst/>
              <a:ahLst/>
              <a:cxnLst/>
              <a:rect l="l" t="t" r="r" b="b"/>
              <a:pathLst>
                <a:path w="509200" h="7600" fill="none">
                  <a:moveTo>
                    <a:pt x="509200" y="0"/>
                  </a:moveTo>
                  <a:lnTo>
                    <a:pt x="0" y="0"/>
                  </a:lnTo>
                </a:path>
              </a:pathLst>
            </a:custGeom>
            <a:noFill/>
            <a:ln w="12667" cap="flat">
              <a:solidFill>
                <a:srgbClr val="323232"/>
              </a:solidFill>
              <a:miter/>
              <a:tailEnd type="stealth" w="med" len="med"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" name="ConnectLine">
              <a:extLst>
                <a:ext uri="{FF2B5EF4-FFF2-40B4-BE49-F238E27FC236}">
                  <a16:creationId xmlns:a16="http://schemas.microsoft.com/office/drawing/2014/main" id="{E7904743-7973-C0D2-5621-9295A8D9C3A6}"/>
                </a:ext>
              </a:extLst>
            </p:cNvPr>
            <p:cNvSpPr/>
            <p:nvPr/>
          </p:nvSpPr>
          <p:spPr>
            <a:xfrm>
              <a:off x="2520065" y="6021288"/>
              <a:ext cx="669963" cy="10151"/>
            </a:xfrm>
            <a:custGeom>
              <a:avLst/>
              <a:gdLst/>
              <a:ahLst/>
              <a:cxnLst/>
              <a:rect l="l" t="t" r="r" b="b"/>
              <a:pathLst>
                <a:path w="501600" h="7600" fill="none">
                  <a:moveTo>
                    <a:pt x="0" y="0"/>
                  </a:moveTo>
                  <a:lnTo>
                    <a:pt x="501600" y="0"/>
                  </a:lnTo>
                </a:path>
              </a:pathLst>
            </a:custGeom>
            <a:noFill/>
            <a:ln w="12667" cap="flat">
              <a:solidFill>
                <a:srgbClr val="323232"/>
              </a:solidFill>
              <a:miter/>
              <a:tailEnd type="stealth" w="med" len="med"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" name="ConnectLine">
              <a:extLst>
                <a:ext uri="{FF2B5EF4-FFF2-40B4-BE49-F238E27FC236}">
                  <a16:creationId xmlns:a16="http://schemas.microsoft.com/office/drawing/2014/main" id="{D2AFB8A6-38EB-9409-3BA8-93E0CA504565}"/>
                </a:ext>
              </a:extLst>
            </p:cNvPr>
            <p:cNvSpPr/>
            <p:nvPr/>
          </p:nvSpPr>
          <p:spPr>
            <a:xfrm>
              <a:off x="885761" y="5273182"/>
              <a:ext cx="2330811" cy="10151"/>
            </a:xfrm>
            <a:custGeom>
              <a:avLst/>
              <a:gdLst/>
              <a:ahLst/>
              <a:cxnLst/>
              <a:rect l="l" t="t" r="r" b="b"/>
              <a:pathLst>
                <a:path w="1745074" h="7600" fill="none">
                  <a:moveTo>
                    <a:pt x="0" y="0"/>
                  </a:moveTo>
                  <a:lnTo>
                    <a:pt x="1745074" y="0"/>
                  </a:lnTo>
                </a:path>
              </a:pathLst>
            </a:custGeom>
            <a:noFill/>
            <a:ln w="20267" cap="flat">
              <a:solidFill>
                <a:srgbClr val="323232"/>
              </a:solidFill>
              <a:miter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" name="ConnectLine">
              <a:extLst>
                <a:ext uri="{FF2B5EF4-FFF2-40B4-BE49-F238E27FC236}">
                  <a16:creationId xmlns:a16="http://schemas.microsoft.com/office/drawing/2014/main" id="{6DAC43E7-0F4D-50C8-3DCB-B50C3E984FAA}"/>
                </a:ext>
              </a:extLst>
            </p:cNvPr>
            <p:cNvSpPr/>
            <p:nvPr/>
          </p:nvSpPr>
          <p:spPr>
            <a:xfrm>
              <a:off x="885761" y="4506785"/>
              <a:ext cx="1157209" cy="766397"/>
            </a:xfrm>
            <a:custGeom>
              <a:avLst/>
              <a:gdLst/>
              <a:ahLst/>
              <a:cxnLst/>
              <a:rect l="l" t="t" r="r" b="b"/>
              <a:pathLst>
                <a:path w="866400" h="573800" fill="none">
                  <a:moveTo>
                    <a:pt x="0" y="573800"/>
                  </a:moveTo>
                  <a:lnTo>
                    <a:pt x="866400" y="0"/>
                  </a:lnTo>
                </a:path>
              </a:pathLst>
            </a:custGeom>
            <a:noFill/>
            <a:ln w="20267" cap="flat">
              <a:solidFill>
                <a:srgbClr val="323232"/>
              </a:solidFill>
              <a:miter/>
              <a:tailEnd type="triangle" w="med" len="med"/>
            </a:ln>
          </p:spPr>
        </p:sp>
        <p:sp>
          <p:nvSpPr>
            <p:cNvPr id="47" name="ConnectLine">
              <a:extLst>
                <a:ext uri="{FF2B5EF4-FFF2-40B4-BE49-F238E27FC236}">
                  <a16:creationId xmlns:a16="http://schemas.microsoft.com/office/drawing/2014/main" id="{D5A7EFCB-026F-4235-900F-2D02C1E2BE5B}"/>
                </a:ext>
              </a:extLst>
            </p:cNvPr>
            <p:cNvSpPr/>
            <p:nvPr/>
          </p:nvSpPr>
          <p:spPr>
            <a:xfrm>
              <a:off x="2042970" y="4506785"/>
              <a:ext cx="1166609" cy="766397"/>
            </a:xfrm>
            <a:custGeom>
              <a:avLst/>
              <a:gdLst/>
              <a:ahLst/>
              <a:cxnLst/>
              <a:rect l="l" t="t" r="r" b="b"/>
              <a:pathLst>
                <a:path w="873438" h="573800" fill="none">
                  <a:moveTo>
                    <a:pt x="0" y="0"/>
                  </a:moveTo>
                  <a:lnTo>
                    <a:pt x="873438" y="573800"/>
                  </a:lnTo>
                </a:path>
              </a:pathLst>
            </a:custGeom>
            <a:noFill/>
            <a:ln w="20267" cap="flat">
              <a:solidFill>
                <a:srgbClr val="323232"/>
              </a:solidFill>
              <a:miter/>
              <a:tailEnd type="triangle" w="med" len="med"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" name="Rectangle">
              <a:extLst>
                <a:ext uri="{FF2B5EF4-FFF2-40B4-BE49-F238E27FC236}">
                  <a16:creationId xmlns:a16="http://schemas.microsoft.com/office/drawing/2014/main" id="{628E651E-0626-84B9-866C-B0492A67510C}"/>
                </a:ext>
              </a:extLst>
            </p:cNvPr>
            <p:cNvSpPr/>
            <p:nvPr/>
          </p:nvSpPr>
          <p:spPr>
            <a:xfrm>
              <a:off x="2479461" y="4356043"/>
              <a:ext cx="903435" cy="801925"/>
            </a:xfrm>
            <a:custGeom>
              <a:avLst/>
              <a:gdLst/>
              <a:ahLst/>
              <a:cxnLst/>
              <a:rect l="l" t="t" r="r" b="b"/>
              <a:pathLst>
                <a:path w="676400" h="600400" stroke="0">
                  <a:moveTo>
                    <a:pt x="0" y="0"/>
                  </a:moveTo>
                  <a:lnTo>
                    <a:pt x="676400" y="0"/>
                  </a:lnTo>
                  <a:lnTo>
                    <a:pt x="676400" y="600400"/>
                  </a:lnTo>
                  <a:lnTo>
                    <a:pt x="0" y="600400"/>
                  </a:lnTo>
                  <a:lnTo>
                    <a:pt x="0" y="0"/>
                  </a:lnTo>
                  <a:close/>
                </a:path>
                <a:path w="676400" h="600400" fill="none">
                  <a:moveTo>
                    <a:pt x="0" y="0"/>
                  </a:moveTo>
                  <a:lnTo>
                    <a:pt x="676400" y="0"/>
                  </a:lnTo>
                  <a:lnTo>
                    <a:pt x="676400" y="600400"/>
                  </a:lnTo>
                  <a:lnTo>
                    <a:pt x="0" y="600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19191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-a</a:t>
              </a:r>
              <a:r>
                <a:rPr kumimoji="0" lang="zh-CN" altLang="en-US" sz="18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19191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y</a:t>
              </a: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3A7B334E-2B30-34F5-536C-918B2675F606}"/>
              </a:ext>
            </a:extLst>
          </p:cNvPr>
          <p:cNvSpPr txBox="1"/>
          <p:nvPr/>
        </p:nvSpPr>
        <p:spPr>
          <a:xfrm>
            <a:off x="119336" y="6572900"/>
            <a:ext cx="116589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[3]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面向自动驾驶仿真测试的高速公路可解释性切入逻辑场景模型构建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[C]. </a:t>
            </a:r>
            <a:r>
              <a:rPr kumimoji="0" lang="en-US" altLang="zh-CN" sz="14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kumimoji="0" lang="zh-CN" altLang="en-US" sz="14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世界交通运输大会论文集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（会议，一作）</a:t>
            </a:r>
          </a:p>
        </p:txBody>
      </p:sp>
    </p:spTree>
    <p:extLst>
      <p:ext uri="{BB962C8B-B14F-4D97-AF65-F5344CB8AC3E}">
        <p14:creationId xmlns:p14="http://schemas.microsoft.com/office/powerpoint/2010/main" val="3503923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>
            <a:extLst>
              <a:ext uri="{FF2B5EF4-FFF2-40B4-BE49-F238E27FC236}">
                <a16:creationId xmlns:a16="http://schemas.microsoft.com/office/drawing/2014/main" id="{7049FA96-4AD2-1B12-2528-52AF0A4AF3DC}"/>
              </a:ext>
            </a:extLst>
          </p:cNvPr>
          <p:cNvSpPr txBox="1">
            <a:spLocks/>
          </p:cNvSpPr>
          <p:nvPr/>
        </p:nvSpPr>
        <p:spPr>
          <a:xfrm>
            <a:off x="41367" y="836713"/>
            <a:ext cx="8642350" cy="720075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轨迹模型拟合优度对比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441D13E-31D2-1E4C-7FA5-8810B4776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823" y="18225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02F5FC96-0056-02E6-C799-94FBBF992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1D269E8-3F6F-B170-699C-4E101CE4F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181" y="1556792"/>
            <a:ext cx="3541711" cy="2646000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sp>
        <p:nvSpPr>
          <p:cNvPr id="7" name="文本框 105">
            <a:extLst>
              <a:ext uri="{FF2B5EF4-FFF2-40B4-BE49-F238E27FC236}">
                <a16:creationId xmlns:a16="http://schemas.microsoft.com/office/drawing/2014/main" id="{BA26DDF8-76A8-2027-74F2-4E29A52C6221}"/>
              </a:ext>
            </a:extLst>
          </p:cNvPr>
          <p:cNvSpPr txBox="1"/>
          <p:nvPr/>
        </p:nvSpPr>
        <p:spPr>
          <a:xfrm>
            <a:off x="622002" y="5735580"/>
            <a:ext cx="11784173" cy="100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基于六参数的车辆运动学轨迹模型对比同类运动学模型表现更优；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与仿真软件自带模型相比，拟合效果更好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105">
            <a:extLst>
              <a:ext uri="{FF2B5EF4-FFF2-40B4-BE49-F238E27FC236}">
                <a16:creationId xmlns:a16="http://schemas.microsoft.com/office/drawing/2014/main" id="{D496722A-7A24-EEFC-1E86-F35EE89B9C10}"/>
              </a:ext>
            </a:extLst>
          </p:cNvPr>
          <p:cNvSpPr txBox="1"/>
          <p:nvPr/>
        </p:nvSpPr>
        <p:spPr>
          <a:xfrm>
            <a:off x="518742" y="4307451"/>
            <a:ext cx="3572104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Arial" panose="020B0604020202020204" pitchFamily="34" charset="0"/>
              </a:rPr>
              <a:t>真实轨迹与生成轨迹对比</a:t>
            </a:r>
            <a:r>
              <a:rPr lang="en-US" altLang="zh-CN" dirty="0">
                <a:sym typeface="Arial" panose="020B0604020202020204" pitchFamily="34" charset="0"/>
              </a:rPr>
              <a:t>RMSE</a:t>
            </a:r>
            <a:r>
              <a:rPr lang="zh-CN" altLang="en-US" dirty="0">
                <a:sym typeface="Arial" panose="020B0604020202020204" pitchFamily="34" charset="0"/>
              </a:rPr>
              <a:t>值</a:t>
            </a:r>
            <a:endParaRPr lang="en-US" altLang="zh-CN" dirty="0">
              <a:sym typeface="Arial" panose="020B0604020202020204" pitchFamily="34" charset="0"/>
            </a:endParaRPr>
          </a:p>
        </p:txBody>
      </p:sp>
      <p:sp>
        <p:nvSpPr>
          <p:cNvPr id="10" name="文本框 105">
            <a:extLst>
              <a:ext uri="{FF2B5EF4-FFF2-40B4-BE49-F238E27FC236}">
                <a16:creationId xmlns:a16="http://schemas.microsoft.com/office/drawing/2014/main" id="{5EADB78C-7A7B-F23E-F6EE-C94B312B2DCA}"/>
              </a:ext>
            </a:extLst>
          </p:cNvPr>
          <p:cNvSpPr txBox="1"/>
          <p:nvPr/>
        </p:nvSpPr>
        <p:spPr>
          <a:xfrm>
            <a:off x="4374894" y="4301438"/>
            <a:ext cx="4090285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Arial" panose="020B0604020202020204" pitchFamily="34" charset="0"/>
              </a:rPr>
              <a:t>“两控制点”</a:t>
            </a:r>
            <a:r>
              <a:rPr lang="en-US" altLang="zh-CN" dirty="0">
                <a:sym typeface="Arial" panose="020B0604020202020204" pitchFamily="34" charset="0"/>
              </a:rPr>
              <a:t>&amp;</a:t>
            </a:r>
            <a:r>
              <a:rPr lang="zh-CN" altLang="en-US" dirty="0">
                <a:sym typeface="Arial" panose="020B0604020202020204" pitchFamily="34" charset="0"/>
              </a:rPr>
              <a:t>“四控制点”切入轨迹</a:t>
            </a:r>
            <a:endParaRPr lang="en-US" altLang="zh-CN" dirty="0">
              <a:sym typeface="Arial" panose="020B0604020202020204" pitchFamily="34" charset="0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427CAE3-BBFD-BADD-6947-EE29F7F0E146}"/>
              </a:ext>
            </a:extLst>
          </p:cNvPr>
          <p:cNvCxnSpPr>
            <a:cxnSpLocks/>
          </p:cNvCxnSpPr>
          <p:nvPr/>
        </p:nvCxnSpPr>
        <p:spPr>
          <a:xfrm>
            <a:off x="549994" y="5606874"/>
            <a:ext cx="11162630" cy="0"/>
          </a:xfrm>
          <a:prstGeom prst="line">
            <a:avLst/>
          </a:prstGeom>
          <a:ln w="12700" cap="flat" cmpd="sng" algn="ctr">
            <a:solidFill>
              <a:srgbClr val="1B3F8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743C5C5B-AE61-D43B-9545-C0AD45DAB6D8}"/>
              </a:ext>
            </a:extLst>
          </p:cNvPr>
          <p:cNvGrpSpPr/>
          <p:nvPr/>
        </p:nvGrpSpPr>
        <p:grpSpPr>
          <a:xfrm>
            <a:off x="263352" y="1556792"/>
            <a:ext cx="4082885" cy="2644537"/>
            <a:chOff x="335360" y="1574665"/>
            <a:chExt cx="4586941" cy="2911790"/>
          </a:xfrm>
        </p:grpSpPr>
        <p:sp>
          <p:nvSpPr>
            <p:cNvPr id="23" name="Rectangle 2">
              <a:extLst>
                <a:ext uri="{FF2B5EF4-FFF2-40B4-BE49-F238E27FC236}">
                  <a16:creationId xmlns:a16="http://schemas.microsoft.com/office/drawing/2014/main" id="{2F6AF5B3-4B10-C4C1-C92A-2B5873063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899" y="3827800"/>
              <a:ext cx="1847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6D36B739-7C07-D1CD-41AF-BFA43113C9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475" r="7020"/>
            <a:stretch/>
          </p:blipFill>
          <p:spPr>
            <a:xfrm>
              <a:off x="335360" y="1574665"/>
              <a:ext cx="4586941" cy="2911790"/>
            </a:xfrm>
            <a:prstGeom prst="rect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</p:pic>
        <p:sp>
          <p:nvSpPr>
            <p:cNvPr id="11" name="文本框 105">
              <a:extLst>
                <a:ext uri="{FF2B5EF4-FFF2-40B4-BE49-F238E27FC236}">
                  <a16:creationId xmlns:a16="http://schemas.microsoft.com/office/drawing/2014/main" id="{CEAABF4A-7527-BDBF-9FD0-748BAD6D27BC}"/>
                </a:ext>
              </a:extLst>
            </p:cNvPr>
            <p:cNvSpPr txBox="1"/>
            <p:nvPr/>
          </p:nvSpPr>
          <p:spPr>
            <a:xfrm>
              <a:off x="3079597" y="1847896"/>
              <a:ext cx="1475088" cy="3799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RMSE 0.5m</a:t>
              </a:r>
            </a:p>
          </p:txBody>
        </p:sp>
        <p:sp>
          <p:nvSpPr>
            <p:cNvPr id="16" name="文本框 105">
              <a:extLst>
                <a:ext uri="{FF2B5EF4-FFF2-40B4-BE49-F238E27FC236}">
                  <a16:creationId xmlns:a16="http://schemas.microsoft.com/office/drawing/2014/main" id="{5E4C9A7D-068D-C13D-5893-70934025DB17}"/>
                </a:ext>
              </a:extLst>
            </p:cNvPr>
            <p:cNvSpPr txBox="1"/>
            <p:nvPr/>
          </p:nvSpPr>
          <p:spPr>
            <a:xfrm>
              <a:off x="770691" y="2405465"/>
              <a:ext cx="1475088" cy="3799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RMSE 0.3m</a:t>
              </a:r>
            </a:p>
          </p:txBody>
        </p:sp>
        <p:sp>
          <p:nvSpPr>
            <p:cNvPr id="20" name="文本框 105">
              <a:extLst>
                <a:ext uri="{FF2B5EF4-FFF2-40B4-BE49-F238E27FC236}">
                  <a16:creationId xmlns:a16="http://schemas.microsoft.com/office/drawing/2014/main" id="{A107CF38-D492-232B-C84B-1495D19A857D}"/>
                </a:ext>
              </a:extLst>
            </p:cNvPr>
            <p:cNvSpPr txBox="1"/>
            <p:nvPr/>
          </p:nvSpPr>
          <p:spPr>
            <a:xfrm>
              <a:off x="846929" y="3682293"/>
              <a:ext cx="1911089" cy="3799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综合</a:t>
              </a:r>
              <a:r>
                <a:rPr lang="en-US" altLang="zh-CN" sz="14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RMSE 0.7m</a:t>
              </a:r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64F231FD-62CE-248D-3F9A-348957A33645}"/>
              </a:ext>
            </a:extLst>
          </p:cNvPr>
          <p:cNvSpPr/>
          <p:nvPr/>
        </p:nvSpPr>
        <p:spPr>
          <a:xfrm>
            <a:off x="4079776" y="4719884"/>
            <a:ext cx="4680520" cy="853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“两控制点”纵向</a:t>
            </a:r>
            <a:r>
              <a:rPr lang="en-US" altLang="zh-CN" sz="20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RMSE: 4.965m</a:t>
            </a:r>
          </a:p>
          <a:p>
            <a:pPr algn="ctr">
              <a:lnSpc>
                <a:spcPct val="130000"/>
              </a:lnSpc>
            </a:pPr>
            <a:r>
              <a:rPr lang="zh-CN" altLang="en-US" sz="20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“四控制点”纵向</a:t>
            </a:r>
            <a:r>
              <a:rPr lang="en-US" altLang="zh-CN" sz="20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RMSE: 0.817m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84E5EB1-0630-3992-273E-EB56E690E1EA}"/>
              </a:ext>
            </a:extLst>
          </p:cNvPr>
          <p:cNvSpPr/>
          <p:nvPr/>
        </p:nvSpPr>
        <p:spPr>
          <a:xfrm>
            <a:off x="451288" y="4719884"/>
            <a:ext cx="3707013" cy="853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车辆运动学轨迹模型</a:t>
            </a:r>
            <a:endParaRPr lang="en-US" altLang="zh-CN" sz="20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纵向平均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RMSE: 0.5m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5502E90-851A-C234-3BF3-83C35B1216AC}"/>
              </a:ext>
            </a:extLst>
          </p:cNvPr>
          <p:cNvSpPr/>
          <p:nvPr/>
        </p:nvSpPr>
        <p:spPr>
          <a:xfrm>
            <a:off x="8976320" y="1571519"/>
            <a:ext cx="2592288" cy="1803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6590119-5735-3EBE-C53E-FAC0B311883D}"/>
              </a:ext>
            </a:extLst>
          </p:cNvPr>
          <p:cNvSpPr/>
          <p:nvPr/>
        </p:nvSpPr>
        <p:spPr>
          <a:xfrm>
            <a:off x="8400256" y="4719884"/>
            <a:ext cx="3791744" cy="853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模型拟合平均误差：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0.16</a:t>
            </a:r>
          </a:p>
          <a:p>
            <a:pPr algn="ctr">
              <a:lnSpc>
                <a:spcPct val="130000"/>
              </a:lnSpc>
            </a:pP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VTD 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拟合平均误差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0.30</a:t>
            </a:r>
          </a:p>
        </p:txBody>
      </p:sp>
      <p:sp>
        <p:nvSpPr>
          <p:cNvPr id="19" name="文本框 105">
            <a:extLst>
              <a:ext uri="{FF2B5EF4-FFF2-40B4-BE49-F238E27FC236}">
                <a16:creationId xmlns:a16="http://schemas.microsoft.com/office/drawing/2014/main" id="{131D1FC1-CF45-F085-DCB1-368ACA0C2106}"/>
              </a:ext>
            </a:extLst>
          </p:cNvPr>
          <p:cNvSpPr txBox="1"/>
          <p:nvPr/>
        </p:nvSpPr>
        <p:spPr>
          <a:xfrm>
            <a:off x="8595916" y="4298572"/>
            <a:ext cx="3256408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Arial" panose="020B0604020202020204" pitchFamily="34" charset="0"/>
              </a:rPr>
              <a:t>运动学模型 </a:t>
            </a:r>
            <a:r>
              <a:rPr lang="en-US" altLang="zh-CN" dirty="0">
                <a:sym typeface="Arial" panose="020B0604020202020204" pitchFamily="34" charset="0"/>
              </a:rPr>
              <a:t>VS. </a:t>
            </a:r>
            <a:r>
              <a:rPr lang="zh-CN" altLang="en-US" dirty="0">
                <a:sym typeface="Arial" panose="020B0604020202020204" pitchFamily="34" charset="0"/>
              </a:rPr>
              <a:t>软件内置模型</a:t>
            </a:r>
            <a:endParaRPr lang="en-US" altLang="zh-CN" dirty="0">
              <a:sym typeface="Arial" panose="020B0604020202020204" pitchFamily="34" charset="0"/>
            </a:endParaRPr>
          </a:p>
        </p:txBody>
      </p:sp>
      <p:sp>
        <p:nvSpPr>
          <p:cNvPr id="22" name="矩形 59">
            <a:extLst>
              <a:ext uri="{FF2B5EF4-FFF2-40B4-BE49-F238E27FC236}">
                <a16:creationId xmlns:a16="http://schemas.microsoft.com/office/drawing/2014/main" id="{40CA3ED1-DB95-FFEB-0B6E-474D769B9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0" y="116632"/>
            <a:ext cx="324036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内容二完成情况</a:t>
            </a:r>
            <a:endParaRPr lang="en-US" altLang="zh-CN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CE0460F-FA90-9863-7546-3042E0BE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C65444-C27E-4275-9B64-A99AFE6606A1}" type="slidenum">
              <a:rPr lang="zh-CN" altLang="en-US" smtClean="0"/>
              <a:t>11</a:t>
            </a:fld>
            <a:endParaRPr lang="en-US" altLang="zh-CN" dirty="0"/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A99EDF1E-009C-8EAB-AE84-FD914BCAB547}"/>
              </a:ext>
            </a:extLst>
          </p:cNvPr>
          <p:cNvSpPr txBox="1">
            <a:spLocks/>
          </p:cNvSpPr>
          <p:nvPr/>
        </p:nvSpPr>
        <p:spPr>
          <a:xfrm>
            <a:off x="41367" y="1196757"/>
            <a:ext cx="8642350" cy="720075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130000"/>
              </a:lnSpc>
              <a:spcBef>
                <a:spcPts val="0"/>
              </a:spcBef>
              <a:buNone/>
            </a:pPr>
            <a:endParaRPr lang="zh-CN" altLang="en-US" sz="2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B50CF151-77FC-9A27-0381-DD69EBFAA8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17"/>
          <a:stretch/>
        </p:blipFill>
        <p:spPr bwMode="auto">
          <a:xfrm>
            <a:off x="8569444" y="1736708"/>
            <a:ext cx="3477634" cy="2418003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59E86A4E-5A1B-60D8-98E7-F94FBFCE1E46}"/>
              </a:ext>
            </a:extLst>
          </p:cNvPr>
          <p:cNvSpPr/>
          <p:nvPr/>
        </p:nvSpPr>
        <p:spPr>
          <a:xfrm>
            <a:off x="8595916" y="1555329"/>
            <a:ext cx="3256408" cy="2646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31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006024EC-8589-CEBF-F610-21A0659E29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342" y="3919017"/>
            <a:ext cx="4744112" cy="2829320"/>
          </a:xfrm>
          <a:prstGeom prst="rect">
            <a:avLst/>
          </a:prstGeom>
        </p:spPr>
      </p:pic>
      <p:sp>
        <p:nvSpPr>
          <p:cNvPr id="42" name="文本框 105">
            <a:extLst>
              <a:ext uri="{FF2B5EF4-FFF2-40B4-BE49-F238E27FC236}">
                <a16:creationId xmlns:a16="http://schemas.microsoft.com/office/drawing/2014/main" id="{977422F1-3CEA-1802-DEED-FA5DF7A98412}"/>
              </a:ext>
            </a:extLst>
          </p:cNvPr>
          <p:cNvSpPr txBox="1"/>
          <p:nvPr/>
        </p:nvSpPr>
        <p:spPr>
          <a:xfrm>
            <a:off x="3719736" y="1947008"/>
            <a:ext cx="21035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0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覆盖度提升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16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倍</a:t>
            </a:r>
            <a:endParaRPr lang="en-US" altLang="zh-CN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>
              <a:spcAft>
                <a:spcPts val="600"/>
              </a:spcAft>
            </a:pPr>
            <a:endParaRPr lang="en-US" altLang="zh-CN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zh-CN" altLang="en-US" sz="20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测试场景减少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160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倍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4A6AB89-C774-5E3F-C949-CBDA7442902C}"/>
              </a:ext>
            </a:extLst>
          </p:cNvPr>
          <p:cNvSpPr/>
          <p:nvPr/>
        </p:nvSpPr>
        <p:spPr>
          <a:xfrm>
            <a:off x="1799381" y="1431403"/>
            <a:ext cx="8468550" cy="2016224"/>
          </a:xfrm>
          <a:prstGeom prst="roundRect">
            <a:avLst>
              <a:gd name="adj" fmla="val 7964"/>
            </a:avLst>
          </a:prstGeom>
          <a:noFill/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just">
              <a:lnSpc>
                <a:spcPct val="125000"/>
              </a:lnSpc>
              <a:defRPr/>
            </a:pPr>
            <a:endParaRPr lang="zh-CN" altLang="en-US" b="1" dirty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_GB231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441D13E-31D2-1E4C-7FA5-8810B4776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823" y="18225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053B4C-7ED6-B4AF-B39F-2CB861135F2A}"/>
              </a:ext>
            </a:extLst>
          </p:cNvPr>
          <p:cNvSpPr/>
          <p:nvPr/>
        </p:nvSpPr>
        <p:spPr>
          <a:xfrm>
            <a:off x="263352" y="1496482"/>
            <a:ext cx="11631212" cy="2368727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67110C23-5E14-7220-FCE4-ABD8E99C3AB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1397" t="6146" r="7476"/>
          <a:stretch/>
        </p:blipFill>
        <p:spPr>
          <a:xfrm>
            <a:off x="4079776" y="4220113"/>
            <a:ext cx="2706465" cy="2160000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0E6008AA-BD9D-039A-0F37-2844AF383A1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7154" t="6146" r="51719"/>
          <a:stretch/>
        </p:blipFill>
        <p:spPr>
          <a:xfrm>
            <a:off x="1199456" y="4219954"/>
            <a:ext cx="2706864" cy="2160318"/>
          </a:xfrm>
          <a:prstGeom prst="rect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A62DE011-ACF7-F098-77A2-ECD78C4BECE0}"/>
              </a:ext>
            </a:extLst>
          </p:cNvPr>
          <p:cNvGrpSpPr>
            <a:grpSpLocks noChangeAspect="1"/>
          </p:cNvGrpSpPr>
          <p:nvPr/>
        </p:nvGrpSpPr>
        <p:grpSpPr>
          <a:xfrm>
            <a:off x="5807968" y="1412776"/>
            <a:ext cx="3644969" cy="2437200"/>
            <a:chOff x="2409759" y="3429000"/>
            <a:chExt cx="4231984" cy="2829707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B1E59582-423C-CD60-3DB6-29AC5B178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09759" y="3429000"/>
              <a:ext cx="4231984" cy="2829707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967C8B8-F311-5D6A-A671-8581B8B268D8}"/>
                </a:ext>
              </a:extLst>
            </p:cNvPr>
            <p:cNvSpPr txBox="1"/>
            <p:nvPr/>
          </p:nvSpPr>
          <p:spPr>
            <a:xfrm>
              <a:off x="3653405" y="4128338"/>
              <a:ext cx="2231907" cy="1143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4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defRPr>
              </a:lvl1pPr>
            </a:lstStyle>
            <a:p>
              <a:pPr>
                <a:spcAft>
                  <a:spcPts val="600"/>
                </a:spcAft>
              </a:pPr>
              <a:r>
                <a:rPr lang="zh-CN" altLang="en-US" sz="1600" dirty="0"/>
                <a:t>最佳采样数</a:t>
              </a:r>
              <a:r>
                <a:rPr lang="en-US" altLang="zh-CN" sz="1600" dirty="0"/>
                <a:t>: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3×10</a:t>
              </a:r>
              <a:r>
                <a:rPr lang="en-US" altLang="zh-CN" sz="1600" baseline="30000" dirty="0"/>
                <a:t>4</a:t>
              </a:r>
            </a:p>
            <a:p>
              <a:pPr>
                <a:spcAft>
                  <a:spcPts val="600"/>
                </a:spcAft>
              </a:pPr>
              <a:r>
                <a:rPr lang="zh-CN" altLang="en-US" sz="1600" b="1" dirty="0">
                  <a:solidFill>
                    <a:srgbClr val="FF0000"/>
                  </a:solidFill>
                </a:rPr>
                <a:t>测试场景：</a:t>
              </a:r>
              <a:r>
                <a:rPr lang="en-US" altLang="zh-CN" sz="1600" b="1" dirty="0">
                  <a:solidFill>
                    <a:srgbClr val="FF0000"/>
                  </a:solidFill>
                </a:rPr>
                <a:t>2160</a:t>
              </a:r>
              <a:r>
                <a:rPr lang="zh-CN" altLang="en-US" sz="1600" b="1" dirty="0">
                  <a:solidFill>
                    <a:srgbClr val="FF0000"/>
                  </a:solidFill>
                </a:rPr>
                <a:t>例</a:t>
              </a:r>
              <a:endParaRPr lang="en-US" altLang="zh-CN" sz="1600" b="1" dirty="0">
                <a:solidFill>
                  <a:srgbClr val="FF0000"/>
                </a:solidFill>
              </a:endParaRPr>
            </a:p>
            <a:p>
              <a:pPr>
                <a:spcAft>
                  <a:spcPts val="600"/>
                </a:spcAft>
              </a:pPr>
              <a:r>
                <a:rPr lang="en-US" altLang="zh-CN" sz="1600" dirty="0"/>
                <a:t>JS</a:t>
              </a:r>
              <a:r>
                <a:rPr lang="zh-CN" altLang="en-US" sz="1600" dirty="0"/>
                <a:t>散度：</a:t>
              </a:r>
              <a:r>
                <a:rPr lang="en-US" altLang="zh-CN" sz="1600" dirty="0"/>
                <a:t>0.01</a:t>
              </a:r>
              <a:endParaRPr lang="zh-CN" altLang="en-US" sz="1600" dirty="0"/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7650364A-2982-9ACB-F57B-A6D02CC329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0972" y="5351997"/>
              <a:ext cx="286930" cy="32148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5" name="等腰三角形 24">
              <a:extLst>
                <a:ext uri="{FF2B5EF4-FFF2-40B4-BE49-F238E27FC236}">
                  <a16:creationId xmlns:a16="http://schemas.microsoft.com/office/drawing/2014/main" id="{AC863BF1-C069-97CF-0A84-959F58A1688C}"/>
                </a:ext>
              </a:extLst>
            </p:cNvPr>
            <p:cNvSpPr/>
            <p:nvPr/>
          </p:nvSpPr>
          <p:spPr>
            <a:xfrm>
              <a:off x="4552951" y="5672582"/>
              <a:ext cx="103187" cy="87560"/>
            </a:xfrm>
            <a:prstGeom prst="triangle">
              <a:avLst>
                <a:gd name="adj" fmla="val 49735"/>
              </a:avLst>
            </a:prstGeom>
            <a:noFill/>
            <a:ln w="1905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AE822EE-FF53-CC48-1B87-073CD77F9A9C}"/>
              </a:ext>
            </a:extLst>
          </p:cNvPr>
          <p:cNvGrpSpPr/>
          <p:nvPr/>
        </p:nvGrpSpPr>
        <p:grpSpPr>
          <a:xfrm>
            <a:off x="297436" y="1412776"/>
            <a:ext cx="3811890" cy="2437200"/>
            <a:chOff x="-263918" y="1538160"/>
            <a:chExt cx="3811890" cy="2437200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19C8F47F-7056-7EBF-5953-D1E041098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-263918" y="1538160"/>
              <a:ext cx="3811890" cy="2437200"/>
            </a:xfrm>
            <a:prstGeom prst="rect">
              <a:avLst/>
            </a:prstGeom>
          </p:spPr>
        </p:pic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97F62165-0612-C5EC-9332-1E0C82DC682C}"/>
                </a:ext>
              </a:extLst>
            </p:cNvPr>
            <p:cNvSpPr txBox="1"/>
            <p:nvPr/>
          </p:nvSpPr>
          <p:spPr>
            <a:xfrm>
              <a:off x="729150" y="2182123"/>
              <a:ext cx="2222083" cy="9848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zh-CN" altLang="en-US" sz="1600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最佳采样数</a:t>
              </a:r>
              <a:r>
                <a:rPr lang="en-US" altLang="zh-CN" sz="1600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:</a:t>
              </a:r>
              <a:r>
                <a:rPr lang="zh-CN" altLang="en-US" sz="1600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600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5×10</a:t>
              </a:r>
              <a:r>
                <a:rPr lang="en-US" altLang="zh-CN" sz="1600" baseline="30000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5</a:t>
              </a:r>
            </a:p>
            <a:p>
              <a:pPr>
                <a:spcAft>
                  <a:spcPts val="600"/>
                </a:spcAft>
              </a:pP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测试场景：</a:t>
              </a: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3.5×10</a:t>
              </a:r>
              <a:r>
                <a:rPr lang="en-US" altLang="zh-CN" sz="1600" b="1" baseline="30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5</a:t>
              </a: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例</a:t>
              </a:r>
              <a:endPara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spcAft>
                  <a:spcPts val="600"/>
                </a:spcAft>
              </a:pPr>
              <a:r>
                <a:rPr lang="en-US" altLang="zh-CN" sz="1600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JS</a:t>
              </a:r>
              <a:r>
                <a:rPr lang="zh-CN" altLang="en-US" sz="1600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散度：</a:t>
              </a:r>
              <a:r>
                <a:rPr lang="en-US" altLang="zh-CN" sz="1600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0.16</a:t>
              </a:r>
              <a:endParaRPr lang="zh-CN" altLang="en-US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0F35FE79-B435-D588-2068-B0481CAA2A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057" y="3076915"/>
              <a:ext cx="185738" cy="21431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9" name="等腰三角形 38">
              <a:extLst>
                <a:ext uri="{FF2B5EF4-FFF2-40B4-BE49-F238E27FC236}">
                  <a16:creationId xmlns:a16="http://schemas.microsoft.com/office/drawing/2014/main" id="{691F1B57-4E46-624C-3105-F0231182B94D}"/>
                </a:ext>
              </a:extLst>
            </p:cNvPr>
            <p:cNvSpPr/>
            <p:nvPr/>
          </p:nvSpPr>
          <p:spPr>
            <a:xfrm>
              <a:off x="491127" y="3294692"/>
              <a:ext cx="87313" cy="76056"/>
            </a:xfrm>
            <a:prstGeom prst="triangle">
              <a:avLst>
                <a:gd name="adj" fmla="val 49735"/>
              </a:avLst>
            </a:prstGeom>
            <a:noFill/>
            <a:ln w="1905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5" name="箭头: 下 44">
            <a:extLst>
              <a:ext uri="{FF2B5EF4-FFF2-40B4-BE49-F238E27FC236}">
                <a16:creationId xmlns:a16="http://schemas.microsoft.com/office/drawing/2014/main" id="{42461167-4BBC-0CFB-4529-E73C1DF235FC}"/>
              </a:ext>
            </a:extLst>
          </p:cNvPr>
          <p:cNvSpPr/>
          <p:nvPr/>
        </p:nvSpPr>
        <p:spPr>
          <a:xfrm rot="16200000">
            <a:off x="4531728" y="1601207"/>
            <a:ext cx="578665" cy="2004470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4E3DEF-2754-44C1-A3DF-2737155BE29A}"/>
              </a:ext>
            </a:extLst>
          </p:cNvPr>
          <p:cNvSpPr txBox="1"/>
          <p:nvPr/>
        </p:nvSpPr>
        <p:spPr>
          <a:xfrm>
            <a:off x="263352" y="6525344"/>
            <a:ext cx="11089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[4]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面向自动驾驶仿真测试的高覆盖切入场景库生成方法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[J].</a:t>
            </a:r>
            <a:r>
              <a:rPr lang="zh-CN" altLang="en-US" sz="1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中国公路学报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2024,37(07):237-249.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期刊，学生一作）</a:t>
            </a:r>
          </a:p>
        </p:txBody>
      </p:sp>
      <p:sp>
        <p:nvSpPr>
          <p:cNvPr id="5" name="矩形 59">
            <a:extLst>
              <a:ext uri="{FF2B5EF4-FFF2-40B4-BE49-F238E27FC236}">
                <a16:creationId xmlns:a16="http://schemas.microsoft.com/office/drawing/2014/main" id="{E9405894-E61F-2485-DDD7-60A4C8A2D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0" y="116632"/>
            <a:ext cx="316835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内容二完成情况</a:t>
            </a:r>
            <a:endParaRPr lang="en-US" altLang="zh-CN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74">
            <a:extLst>
              <a:ext uri="{FF2B5EF4-FFF2-40B4-BE49-F238E27FC236}">
                <a16:creationId xmlns:a16="http://schemas.microsoft.com/office/drawing/2014/main" id="{CD0CE733-A7AE-D36C-EA9A-44CF7BB9EC10}"/>
              </a:ext>
            </a:extLst>
          </p:cNvPr>
          <p:cNvSpPr/>
          <p:nvPr/>
        </p:nvSpPr>
        <p:spPr>
          <a:xfrm>
            <a:off x="7387610" y="4000135"/>
            <a:ext cx="4367577" cy="438774"/>
          </a:xfrm>
          <a:prstGeom prst="roundRect">
            <a:avLst>
              <a:gd name="adj" fmla="val 0"/>
            </a:avLst>
          </a:prstGeom>
          <a:solidFill>
            <a:srgbClr val="DAE3F3"/>
          </a:solidFill>
          <a:ln>
            <a:solidFill>
              <a:srgbClr val="1B3F85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2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具体场景生成案例</a:t>
            </a:r>
            <a:endParaRPr lang="en-US" altLang="zh-CN" sz="2200" b="1" dirty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100E14-0E01-750F-EA4B-C1C1602137B8}"/>
              </a:ext>
            </a:extLst>
          </p:cNvPr>
          <p:cNvSpPr/>
          <p:nvPr/>
        </p:nvSpPr>
        <p:spPr>
          <a:xfrm>
            <a:off x="263352" y="4077072"/>
            <a:ext cx="6759773" cy="244608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A24E58-1E25-4EDA-F9E0-7B0BB75D5055}"/>
              </a:ext>
            </a:extLst>
          </p:cNvPr>
          <p:cNvSpPr/>
          <p:nvPr/>
        </p:nvSpPr>
        <p:spPr>
          <a:xfrm>
            <a:off x="479376" y="4149702"/>
            <a:ext cx="545890" cy="2300823"/>
          </a:xfrm>
          <a:prstGeom prst="rect">
            <a:avLst/>
          </a:prstGeom>
          <a:solidFill>
            <a:srgbClr val="DAE3F3"/>
          </a:solidFill>
          <a:ln>
            <a:solidFill>
              <a:srgbClr val="1B3F85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2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切入轨迹示例</a:t>
            </a:r>
            <a:endParaRPr lang="en-US" altLang="zh-CN" sz="2200" b="1" dirty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A41540E-699D-63EA-4ED1-5AD4DB73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C65444-C27E-4275-9B64-A99AFE6606A1}" type="slidenum">
              <a:rPr lang="zh-CN" altLang="en-US" smtClean="0"/>
              <a:t>12</a:t>
            </a:fld>
            <a:endParaRPr lang="en-US" altLang="zh-CN" dirty="0"/>
          </a:p>
        </p:txBody>
      </p:sp>
      <p:sp>
        <p:nvSpPr>
          <p:cNvPr id="12" name="文本框 105">
            <a:extLst>
              <a:ext uri="{FF2B5EF4-FFF2-40B4-BE49-F238E27FC236}">
                <a16:creationId xmlns:a16="http://schemas.microsoft.com/office/drawing/2014/main" id="{C58F9DAA-15E1-B33B-FC70-06914F1B2E45}"/>
              </a:ext>
            </a:extLst>
          </p:cNvPr>
          <p:cNvSpPr txBox="1"/>
          <p:nvPr/>
        </p:nvSpPr>
        <p:spPr>
          <a:xfrm>
            <a:off x="41367" y="841812"/>
            <a:ext cx="11239209" cy="5979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基于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HMC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采样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的高速公路自动驾驶仿真测试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高覆盖切入场景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库生成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161871-6D76-03FB-52B4-40A160910A36}"/>
              </a:ext>
            </a:extLst>
          </p:cNvPr>
          <p:cNvSpPr/>
          <p:nvPr/>
        </p:nvSpPr>
        <p:spPr>
          <a:xfrm>
            <a:off x="752321" y="1561595"/>
            <a:ext cx="3024336" cy="45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</a:t>
            </a:r>
            <a:r>
              <a:rPr lang="en-US" altLang="zh-CN" sz="20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MCMC</a:t>
            </a:r>
            <a:r>
              <a:rPr lang="zh-CN" altLang="en-US" sz="20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采样方法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7C6C40-FB1A-DC9E-91FA-CA6F45350E76}"/>
              </a:ext>
            </a:extLst>
          </p:cNvPr>
          <p:cNvSpPr/>
          <p:nvPr/>
        </p:nvSpPr>
        <p:spPr>
          <a:xfrm>
            <a:off x="6390321" y="1542728"/>
            <a:ext cx="2661514" cy="45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本研究</a:t>
            </a:r>
            <a:r>
              <a:rPr lang="en-US" altLang="zh-CN" sz="20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HMC</a:t>
            </a:r>
            <a:r>
              <a:rPr lang="zh-CN" altLang="en-US" sz="2000" b="1" dirty="0">
                <a:solidFill>
                  <a:srgbClr val="1B3F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采样方法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C385FA8-A0D9-7EE0-88CB-1F03E9DCCB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364688"/>
              </p:ext>
            </p:extLst>
          </p:nvPr>
        </p:nvGraphicFramePr>
        <p:xfrm>
          <a:off x="9195126" y="1916832"/>
          <a:ext cx="2661515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35200" imgH="1206500" progId="Equation.DSMT4">
                  <p:embed/>
                </p:oleObj>
              </mc:Choice>
              <mc:Fallback>
                <p:oleObj name="Equation" r:id="rId9" imgW="2235200" imgH="120650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5A3BDF65-C118-F986-BB72-60093B95F9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5126" y="1916832"/>
                        <a:ext cx="2661515" cy="162877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ysClr val="window" lastClr="FFFFFF">
                            <a:lumMod val="65000"/>
                          </a:sys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5">
            <a:extLst>
              <a:ext uri="{FF2B5EF4-FFF2-40B4-BE49-F238E27FC236}">
                <a16:creationId xmlns:a16="http://schemas.microsoft.com/office/drawing/2014/main" id="{71238C9D-CB0D-AA23-5294-214F2B4351A7}"/>
              </a:ext>
            </a:extLst>
          </p:cNvPr>
          <p:cNvSpPr txBox="1"/>
          <p:nvPr/>
        </p:nvSpPr>
        <p:spPr>
          <a:xfrm>
            <a:off x="9195126" y="1603657"/>
            <a:ext cx="2661514" cy="369332"/>
          </a:xfrm>
          <a:prstGeom prst="rect">
            <a:avLst/>
          </a:prstGeom>
          <a:solidFill>
            <a:sysClr val="window" lastClr="FFFFFF">
              <a:lumMod val="75000"/>
            </a:sys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>
                <a:latin typeface="印品黑体" panose="00000500000000000000" pitchFamily="2" charset="-122"/>
                <a:ea typeface="印品黑体" panose="00000500000000000000" pitchFamily="2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Leapfrog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法更新采样点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2560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5" grpId="0" animBg="1"/>
      <p:bldP spid="14" grpId="0" animBg="1"/>
      <p:bldP spid="17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1441D13E-31D2-1E4C-7FA5-8810B4776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823" y="18225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矩形 59">
            <a:extLst>
              <a:ext uri="{FF2B5EF4-FFF2-40B4-BE49-F238E27FC236}">
                <a16:creationId xmlns:a16="http://schemas.microsoft.com/office/drawing/2014/main" id="{E9405894-E61F-2485-DDD7-60A4C8A2D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0" y="116632"/>
            <a:ext cx="316835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后续工作安排</a:t>
            </a:r>
            <a:endParaRPr lang="en-US" altLang="zh-CN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A41540E-699D-63EA-4ED1-5AD4DB73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C65444-C27E-4275-9B64-A99AFE6606A1}" type="slidenum">
              <a:rPr lang="zh-CN" altLang="en-US" smtClean="0"/>
              <a:t>13</a:t>
            </a:fld>
            <a:endParaRPr lang="en-US" altLang="zh-CN" dirty="0"/>
          </a:p>
        </p:txBody>
      </p:sp>
      <p:sp>
        <p:nvSpPr>
          <p:cNvPr id="7" name="箭头: 虚尾 6">
            <a:extLst>
              <a:ext uri="{FF2B5EF4-FFF2-40B4-BE49-F238E27FC236}">
                <a16:creationId xmlns:a16="http://schemas.microsoft.com/office/drawing/2014/main" id="{9C4E08AE-B850-3E1C-6D81-F8AC6BA19ABA}"/>
              </a:ext>
            </a:extLst>
          </p:cNvPr>
          <p:cNvSpPr/>
          <p:nvPr/>
        </p:nvSpPr>
        <p:spPr>
          <a:xfrm rot="5400000">
            <a:off x="6550328" y="2065893"/>
            <a:ext cx="395390" cy="624996"/>
          </a:xfrm>
          <a:prstGeom prst="stripedRightArrow">
            <a:avLst/>
          </a:prstGeom>
          <a:solidFill>
            <a:srgbClr val="4071CA">
              <a:alpha val="20000"/>
            </a:srgb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71CBAB4-FD20-A12F-C792-C8EC5977BB3F}"/>
              </a:ext>
            </a:extLst>
          </p:cNvPr>
          <p:cNvSpPr/>
          <p:nvPr/>
        </p:nvSpPr>
        <p:spPr>
          <a:xfrm>
            <a:off x="1227875" y="3738344"/>
            <a:ext cx="10513166" cy="151844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2400" b="1" kern="0" dirty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76E1D29-BFBD-C634-8DEA-0784983C0A78}"/>
              </a:ext>
            </a:extLst>
          </p:cNvPr>
          <p:cNvSpPr/>
          <p:nvPr/>
        </p:nvSpPr>
        <p:spPr>
          <a:xfrm>
            <a:off x="1227872" y="1052738"/>
            <a:ext cx="4471253" cy="11163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2400" b="1" kern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925F1FE-489D-7A1D-B8EA-19438C4390A5}"/>
              </a:ext>
            </a:extLst>
          </p:cNvPr>
          <p:cNvSpPr/>
          <p:nvPr/>
        </p:nvSpPr>
        <p:spPr>
          <a:xfrm>
            <a:off x="1281449" y="1076821"/>
            <a:ext cx="41100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zh-CN" altLang="en-US" sz="2400" b="1" kern="0" dirty="0">
                <a:solidFill>
                  <a:srgbClr val="1D47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科学问题一：典型场景辨识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790AEB0-E6C2-0B94-D4C1-F4BE7B5224E6}"/>
              </a:ext>
            </a:extLst>
          </p:cNvPr>
          <p:cNvSpPr txBox="1"/>
          <p:nvPr/>
        </p:nvSpPr>
        <p:spPr>
          <a:xfrm>
            <a:off x="1299881" y="1548897"/>
            <a:ext cx="2008341" cy="5874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 defTabSz="685800">
              <a:lnSpc>
                <a:spcPct val="12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1400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切入场景提取</a:t>
            </a:r>
            <a:endParaRPr lang="en-US" altLang="zh-CN" sz="1400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defTabSz="685800">
              <a:lnSpc>
                <a:spcPct val="12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1400" b="1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场景要素</a:t>
            </a:r>
            <a:r>
              <a:rPr lang="zh-CN" altLang="en-US" sz="1400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选取与分析</a:t>
            </a:r>
            <a:endParaRPr lang="en-US" altLang="zh-CN" sz="1400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3718767-6624-46CB-A695-A9CDCDA5AEFA}"/>
              </a:ext>
            </a:extLst>
          </p:cNvPr>
          <p:cNvSpPr txBox="1"/>
          <p:nvPr/>
        </p:nvSpPr>
        <p:spPr>
          <a:xfrm>
            <a:off x="3807163" y="1548897"/>
            <a:ext cx="1813198" cy="5874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171450" indent="-171450">
              <a:buFont typeface="Wingdings" panose="05000000000000000000" pitchFamily="2" charset="2"/>
              <a:buChar char="u"/>
              <a:defRPr sz="12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defTabSz="685800">
              <a:lnSpc>
                <a:spcPct val="120000"/>
              </a:lnSpc>
              <a:defRPr/>
            </a:pPr>
            <a:r>
              <a:rPr lang="zh-CN" altLang="en-US" sz="1400" b="1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典型测试场景类型</a:t>
            </a:r>
            <a:endParaRPr lang="en-US" altLang="zh-CN" sz="1400" b="1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>
              <a:lnSpc>
                <a:spcPct val="120000"/>
              </a:lnSpc>
              <a:defRPr/>
            </a:pPr>
            <a:r>
              <a:rPr lang="zh-CN" altLang="en-US" sz="1400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聚类结果分析对比</a:t>
            </a:r>
            <a:endParaRPr lang="en-US" altLang="zh-CN" sz="1400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1876ECDA-BAEE-2AF3-2287-42E88A881824}"/>
              </a:ext>
            </a:extLst>
          </p:cNvPr>
          <p:cNvSpPr/>
          <p:nvPr/>
        </p:nvSpPr>
        <p:spPr>
          <a:xfrm>
            <a:off x="3372480" y="1852740"/>
            <a:ext cx="351911" cy="166777"/>
          </a:xfrm>
          <a:prstGeom prst="rightArrow">
            <a:avLst/>
          </a:prstGeom>
          <a:solidFill>
            <a:srgbClr val="BDD7EE"/>
          </a:solidFill>
          <a:ln w="12700" cap="flat" cmpd="sng" algn="ctr">
            <a:solidFill>
              <a:srgbClr val="4584D3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6C19240-5D56-4CBA-8A4B-2CE7B7D03D98}"/>
              </a:ext>
            </a:extLst>
          </p:cNvPr>
          <p:cNvSpPr/>
          <p:nvPr/>
        </p:nvSpPr>
        <p:spPr>
          <a:xfrm>
            <a:off x="6240016" y="1052736"/>
            <a:ext cx="5501024" cy="111631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2400" b="1" kern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9EA157C-EC45-BA3A-9395-BF65E6BB7B0E}"/>
              </a:ext>
            </a:extLst>
          </p:cNvPr>
          <p:cNvSpPr/>
          <p:nvPr/>
        </p:nvSpPr>
        <p:spPr>
          <a:xfrm>
            <a:off x="7123060" y="1076821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zh-CN" altLang="en-US" sz="2400" b="1" kern="0" dirty="0">
                <a:solidFill>
                  <a:srgbClr val="1D47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科学问题二：高覆盖场景生成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1798DC1-1BD0-3666-B402-F0DA771D3E9A}"/>
              </a:ext>
            </a:extLst>
          </p:cNvPr>
          <p:cNvSpPr txBox="1"/>
          <p:nvPr/>
        </p:nvSpPr>
        <p:spPr>
          <a:xfrm>
            <a:off x="9036988" y="1554839"/>
            <a:ext cx="1800200" cy="5874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marR="0" lvl="0" indent="-171450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4584D3">
                    <a:lumMod val="7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联合概率分布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采样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覆盖度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评估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C45112D-574F-34D4-789C-409E67F33F42}"/>
              </a:ext>
            </a:extLst>
          </p:cNvPr>
          <p:cNvSpPr/>
          <p:nvPr/>
        </p:nvSpPr>
        <p:spPr>
          <a:xfrm>
            <a:off x="2090768" y="4192285"/>
            <a:ext cx="20313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zh-CN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场景多维度评价模型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1832B93-5653-E126-1518-4A03E0849233}"/>
              </a:ext>
            </a:extLst>
          </p:cNvPr>
          <p:cNvSpPr txBox="1"/>
          <p:nvPr/>
        </p:nvSpPr>
        <p:spPr>
          <a:xfrm>
            <a:off x="1323503" y="4537919"/>
            <a:ext cx="3565854" cy="5874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marR="0" lvl="0" indent="-171450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4584D3">
                    <a:lumMod val="7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</a:defRPr>
            </a:lvl1pPr>
          </a:lstStyle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评价维度：危险度、复杂度、是否碰撞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量化指标：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TTC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THW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PET…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57AE3CEB-F2D3-4A21-351C-47260F96A3F4}"/>
              </a:ext>
            </a:extLst>
          </p:cNvPr>
          <p:cNvSpPr/>
          <p:nvPr/>
        </p:nvSpPr>
        <p:spPr>
          <a:xfrm>
            <a:off x="1233485" y="2601097"/>
            <a:ext cx="10507556" cy="7667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2400" b="1" kern="0">
              <a:solidFill>
                <a:srgbClr val="1B3F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094F08B-4E55-993F-E1DA-B4A2DFA1DBFB}"/>
              </a:ext>
            </a:extLst>
          </p:cNvPr>
          <p:cNvSpPr/>
          <p:nvPr/>
        </p:nvSpPr>
        <p:spPr>
          <a:xfrm>
            <a:off x="1287546" y="2743872"/>
            <a:ext cx="2020675" cy="482935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zh-CN" altLang="en-US" sz="2400" b="1" kern="0" dirty="0">
                <a:solidFill>
                  <a:srgbClr val="1D47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仿真测试验证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6F077FE-11D6-BE1E-3764-DD11555F6550}"/>
              </a:ext>
            </a:extLst>
          </p:cNvPr>
          <p:cNvSpPr txBox="1"/>
          <p:nvPr/>
        </p:nvSpPr>
        <p:spPr>
          <a:xfrm>
            <a:off x="6122730" y="4557344"/>
            <a:ext cx="2163018" cy="5874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marR="0" lvl="0" indent="-171450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4584D3">
                    <a:lumMod val="7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</a:defRPr>
            </a:lvl1pPr>
          </a:lstStyle>
          <a:p>
            <a:r>
              <a:rPr lang="zh-CN" altLang="en-US" sz="1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软件在环测试</a:t>
            </a:r>
            <a:endParaRPr lang="en-US" altLang="zh-CN" sz="14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危险场景迭代优化搜索</a:t>
            </a:r>
            <a:endParaRPr lang="en-US" altLang="zh-CN" sz="14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E7A48BD-E9D1-1402-70F0-CA427DD5CE33}"/>
              </a:ext>
            </a:extLst>
          </p:cNvPr>
          <p:cNvSpPr txBox="1"/>
          <p:nvPr/>
        </p:nvSpPr>
        <p:spPr>
          <a:xfrm>
            <a:off x="7538920" y="2998821"/>
            <a:ext cx="1249793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zh-CN" altLang="en-US" sz="14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接入被测算法</a:t>
            </a:r>
            <a:endParaRPr lang="en-US" altLang="zh-CN" sz="1400" b="1" kern="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725E16F-A81A-4EE6-3C82-406A821BFA80}"/>
              </a:ext>
            </a:extLst>
          </p:cNvPr>
          <p:cNvSpPr txBox="1"/>
          <p:nvPr/>
        </p:nvSpPr>
        <p:spPr>
          <a:xfrm>
            <a:off x="9046507" y="2674889"/>
            <a:ext cx="966342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zh-CN" altLang="en-US" sz="1400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测试执行</a:t>
            </a:r>
            <a:endParaRPr lang="en-US" altLang="zh-CN" sz="1400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B4BCD486-4B7C-2378-8CC6-4DF472B81A3D}"/>
              </a:ext>
            </a:extLst>
          </p:cNvPr>
          <p:cNvSpPr/>
          <p:nvPr/>
        </p:nvSpPr>
        <p:spPr>
          <a:xfrm>
            <a:off x="10853060" y="1664993"/>
            <a:ext cx="224036" cy="138500"/>
          </a:xfrm>
          <a:prstGeom prst="rightArrow">
            <a:avLst/>
          </a:prstGeom>
          <a:solidFill>
            <a:srgbClr val="BDD7EE"/>
          </a:solidFill>
          <a:ln w="12700" cap="flat" cmpd="sng" algn="ctr">
            <a:solidFill>
              <a:srgbClr val="4584D3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箭头: 右 46">
            <a:extLst>
              <a:ext uri="{FF2B5EF4-FFF2-40B4-BE49-F238E27FC236}">
                <a16:creationId xmlns:a16="http://schemas.microsoft.com/office/drawing/2014/main" id="{949B7DE5-F7BD-EE84-955F-FBC35F42F00A}"/>
              </a:ext>
            </a:extLst>
          </p:cNvPr>
          <p:cNvSpPr/>
          <p:nvPr/>
        </p:nvSpPr>
        <p:spPr>
          <a:xfrm flipH="1">
            <a:off x="10853060" y="1843889"/>
            <a:ext cx="224036" cy="138500"/>
          </a:xfrm>
          <a:prstGeom prst="rightArrow">
            <a:avLst/>
          </a:prstGeom>
          <a:solidFill>
            <a:srgbClr val="BDD7EE"/>
          </a:solidFill>
          <a:ln w="12700" cap="flat" cmpd="sng" algn="ctr">
            <a:solidFill>
              <a:srgbClr val="4584D3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3B7D54D-C2CD-8A47-1360-F59AE35637E5}"/>
              </a:ext>
            </a:extLst>
          </p:cNvPr>
          <p:cNvSpPr/>
          <p:nvPr/>
        </p:nvSpPr>
        <p:spPr>
          <a:xfrm>
            <a:off x="4248788" y="3763412"/>
            <a:ext cx="44713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zh-CN" altLang="en-US" sz="2400" b="1" kern="0" dirty="0">
                <a:solidFill>
                  <a:srgbClr val="1D47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科学问题三：测试效率的提升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5265ED7-09E5-D87C-1575-5127C7F6F7D5}"/>
              </a:ext>
            </a:extLst>
          </p:cNvPr>
          <p:cNvSpPr/>
          <p:nvPr/>
        </p:nvSpPr>
        <p:spPr>
          <a:xfrm>
            <a:off x="1294274" y="4206787"/>
            <a:ext cx="3624313" cy="971626"/>
          </a:xfrm>
          <a:prstGeom prst="rect">
            <a:avLst/>
          </a:prstGeom>
          <a:noFill/>
          <a:ln w="12700" cap="flat" cmpd="sng" algn="ctr">
            <a:solidFill>
              <a:srgbClr val="4584D3">
                <a:lumMod val="5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FFD0B83-8480-4B50-DDE3-EA6A8B7A9487}"/>
              </a:ext>
            </a:extLst>
          </p:cNvPr>
          <p:cNvSpPr/>
          <p:nvPr/>
        </p:nvSpPr>
        <p:spPr>
          <a:xfrm>
            <a:off x="6291169" y="4208108"/>
            <a:ext cx="182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zh-CN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危险场景加速生成</a:t>
            </a:r>
          </a:p>
        </p:txBody>
      </p:sp>
      <p:sp>
        <p:nvSpPr>
          <p:cNvPr id="51" name="箭头: 右 50">
            <a:extLst>
              <a:ext uri="{FF2B5EF4-FFF2-40B4-BE49-F238E27FC236}">
                <a16:creationId xmlns:a16="http://schemas.microsoft.com/office/drawing/2014/main" id="{9A066FFB-06DE-E93F-E947-B42181DF1535}"/>
              </a:ext>
            </a:extLst>
          </p:cNvPr>
          <p:cNvSpPr/>
          <p:nvPr/>
        </p:nvSpPr>
        <p:spPr>
          <a:xfrm>
            <a:off x="5148187" y="4708195"/>
            <a:ext cx="674621" cy="190778"/>
          </a:xfrm>
          <a:prstGeom prst="rightArrow">
            <a:avLst/>
          </a:prstGeom>
          <a:solidFill>
            <a:srgbClr val="BDD7EE"/>
          </a:solidFill>
          <a:ln w="12700" cap="flat" cmpd="sng" algn="ctr">
            <a:solidFill>
              <a:srgbClr val="4584D3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5E6F03D-2763-A4CE-39FB-CCA0EFCE2DE4}"/>
              </a:ext>
            </a:extLst>
          </p:cNvPr>
          <p:cNvSpPr/>
          <p:nvPr/>
        </p:nvSpPr>
        <p:spPr>
          <a:xfrm>
            <a:off x="6052409" y="4206787"/>
            <a:ext cx="2303661" cy="971626"/>
          </a:xfrm>
          <a:prstGeom prst="rect">
            <a:avLst/>
          </a:prstGeom>
          <a:noFill/>
          <a:ln w="12700" cap="flat" cmpd="sng" algn="ctr">
            <a:solidFill>
              <a:srgbClr val="4584D3">
                <a:lumMod val="5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箭头: 右 52">
            <a:extLst>
              <a:ext uri="{FF2B5EF4-FFF2-40B4-BE49-F238E27FC236}">
                <a16:creationId xmlns:a16="http://schemas.microsoft.com/office/drawing/2014/main" id="{ADB8B85D-5078-1951-A887-2408761384CE}"/>
              </a:ext>
            </a:extLst>
          </p:cNvPr>
          <p:cNvSpPr/>
          <p:nvPr/>
        </p:nvSpPr>
        <p:spPr>
          <a:xfrm>
            <a:off x="5743377" y="1432543"/>
            <a:ext cx="408171" cy="356701"/>
          </a:xfrm>
          <a:prstGeom prst="rightArrow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C2A0DDC-7C5B-59DF-74F8-539569659613}"/>
              </a:ext>
            </a:extLst>
          </p:cNvPr>
          <p:cNvSpPr txBox="1"/>
          <p:nvPr/>
        </p:nvSpPr>
        <p:spPr>
          <a:xfrm>
            <a:off x="9183378" y="4557343"/>
            <a:ext cx="2359934" cy="5874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marR="0" lvl="0" indent="-171450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4584D3">
                    <a:lumMod val="7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</a:defRPr>
            </a:lvl1pPr>
          </a:lstStyle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任务完成质量、拟人化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感知、规划、决策能力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E15862E-554F-3FBD-22A6-D08633D30D76}"/>
              </a:ext>
            </a:extLst>
          </p:cNvPr>
          <p:cNvSpPr/>
          <p:nvPr/>
        </p:nvSpPr>
        <p:spPr>
          <a:xfrm>
            <a:off x="9579192" y="4208107"/>
            <a:ext cx="182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zh-CN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自动驾驶算法评价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BB318EE-18CC-5D0E-478C-2632AA77C134}"/>
              </a:ext>
            </a:extLst>
          </p:cNvPr>
          <p:cNvSpPr/>
          <p:nvPr/>
        </p:nvSpPr>
        <p:spPr>
          <a:xfrm>
            <a:off x="9089116" y="4206786"/>
            <a:ext cx="2530629" cy="971626"/>
          </a:xfrm>
          <a:prstGeom prst="rect">
            <a:avLst/>
          </a:prstGeom>
          <a:noFill/>
          <a:ln w="12700" cap="flat" cmpd="sng" algn="ctr">
            <a:solidFill>
              <a:srgbClr val="4584D3">
                <a:lumMod val="5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箭头: 虚尾 56">
            <a:extLst>
              <a:ext uri="{FF2B5EF4-FFF2-40B4-BE49-F238E27FC236}">
                <a16:creationId xmlns:a16="http://schemas.microsoft.com/office/drawing/2014/main" id="{B3D61576-6C7F-9181-4069-0C22AAFA3ED8}"/>
              </a:ext>
            </a:extLst>
          </p:cNvPr>
          <p:cNvSpPr/>
          <p:nvPr/>
        </p:nvSpPr>
        <p:spPr>
          <a:xfrm rot="16200000" flipV="1">
            <a:off x="8204613" y="3673181"/>
            <a:ext cx="1080119" cy="520127"/>
          </a:xfrm>
          <a:prstGeom prst="stripedRightArrow">
            <a:avLst/>
          </a:prstGeom>
          <a:solidFill>
            <a:srgbClr val="4071CA">
              <a:alpha val="20000"/>
            </a:srgb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177A65F-631D-3772-AE75-3496FB80225B}"/>
              </a:ext>
            </a:extLst>
          </p:cNvPr>
          <p:cNvSpPr/>
          <p:nvPr/>
        </p:nvSpPr>
        <p:spPr>
          <a:xfrm>
            <a:off x="8513101" y="3404081"/>
            <a:ext cx="4631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zh-CN" alt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加速测试</a:t>
            </a:r>
            <a:endParaRPr lang="en-US" altLang="zh-CN" sz="14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箭头: 右 58">
            <a:extLst>
              <a:ext uri="{FF2B5EF4-FFF2-40B4-BE49-F238E27FC236}">
                <a16:creationId xmlns:a16="http://schemas.microsoft.com/office/drawing/2014/main" id="{A304AA70-74B4-33C1-524E-DFB23C9F1933}"/>
              </a:ext>
            </a:extLst>
          </p:cNvPr>
          <p:cNvSpPr/>
          <p:nvPr/>
        </p:nvSpPr>
        <p:spPr>
          <a:xfrm>
            <a:off x="8474102" y="4595755"/>
            <a:ext cx="496982" cy="237589"/>
          </a:xfrm>
          <a:prstGeom prst="rightArrow">
            <a:avLst/>
          </a:prstGeom>
          <a:solidFill>
            <a:srgbClr val="BDD7EE"/>
          </a:solidFill>
          <a:ln w="12700" cap="flat" cmpd="sng" algn="ctr">
            <a:solidFill>
              <a:srgbClr val="4584D3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F6D0958-4F46-707C-263A-B1C9E9D3FE57}"/>
              </a:ext>
            </a:extLst>
          </p:cNvPr>
          <p:cNvSpPr txBox="1"/>
          <p:nvPr/>
        </p:nvSpPr>
        <p:spPr>
          <a:xfrm>
            <a:off x="10441319" y="2998821"/>
            <a:ext cx="939682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zh-CN" altLang="en-US" sz="1400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测试结果</a:t>
            </a:r>
            <a:endParaRPr lang="en-US" altLang="zh-CN" sz="1400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8D902286-D33F-4B1C-B87D-AF9F33AF8B9D}"/>
              </a:ext>
            </a:extLst>
          </p:cNvPr>
          <p:cNvCxnSpPr>
            <a:cxnSpLocks/>
          </p:cNvCxnSpPr>
          <p:nvPr/>
        </p:nvCxnSpPr>
        <p:spPr>
          <a:xfrm>
            <a:off x="3350653" y="2985338"/>
            <a:ext cx="8174363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F4FFD18F-C3B1-86DB-F38D-BBE30085D1D3}"/>
              </a:ext>
            </a:extLst>
          </p:cNvPr>
          <p:cNvSpPr txBox="1"/>
          <p:nvPr/>
        </p:nvSpPr>
        <p:spPr>
          <a:xfrm>
            <a:off x="3350653" y="2723729"/>
            <a:ext cx="943942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marR="0" lvl="0" indent="-171450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4584D3">
                    <a:lumMod val="7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</a:defRPr>
            </a:lvl1pPr>
          </a:lstStyle>
          <a:p>
            <a:pPr marL="0" indent="0"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仿真测试平台搭建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67E864C-ABE3-946E-68EA-C60B5A805AC1}"/>
              </a:ext>
            </a:extLst>
          </p:cNvPr>
          <p:cNvSpPr txBox="1"/>
          <p:nvPr/>
        </p:nvSpPr>
        <p:spPr>
          <a:xfrm>
            <a:off x="6012477" y="2674889"/>
            <a:ext cx="1264068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1400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动态场景构建</a:t>
            </a:r>
            <a:endParaRPr lang="en-US" altLang="zh-CN" sz="1400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EA66DE2E-08B2-CBE7-F437-E718C8F056D3}"/>
              </a:ext>
            </a:extLst>
          </p:cNvPr>
          <p:cNvSpPr/>
          <p:nvPr/>
        </p:nvSpPr>
        <p:spPr>
          <a:xfrm>
            <a:off x="4236863" y="2931338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B62F5996-0CB5-6808-80DE-D77E7DB4D74C}"/>
              </a:ext>
            </a:extLst>
          </p:cNvPr>
          <p:cNvSpPr/>
          <p:nvPr/>
        </p:nvSpPr>
        <p:spPr>
          <a:xfrm>
            <a:off x="5930645" y="2931338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FFB498D6-950D-7148-3BCF-2E0DC9E89BDA}"/>
              </a:ext>
            </a:extLst>
          </p:cNvPr>
          <p:cNvSpPr/>
          <p:nvPr/>
        </p:nvSpPr>
        <p:spPr>
          <a:xfrm>
            <a:off x="7438896" y="2931338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12DB0FD7-C8CE-A329-9420-5E05DE49F7E5}"/>
              </a:ext>
            </a:extLst>
          </p:cNvPr>
          <p:cNvSpPr/>
          <p:nvPr/>
        </p:nvSpPr>
        <p:spPr>
          <a:xfrm>
            <a:off x="8935840" y="2931338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6DAF609B-68FE-9F23-8ED5-F216CDD598DC}"/>
              </a:ext>
            </a:extLst>
          </p:cNvPr>
          <p:cNvSpPr/>
          <p:nvPr/>
        </p:nvSpPr>
        <p:spPr>
          <a:xfrm>
            <a:off x="10344649" y="2931338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F3FAC677-B3EE-3791-F5C9-72EA0273287A}"/>
              </a:ext>
            </a:extLst>
          </p:cNvPr>
          <p:cNvSpPr/>
          <p:nvPr/>
        </p:nvSpPr>
        <p:spPr>
          <a:xfrm>
            <a:off x="6487961" y="2239892"/>
            <a:ext cx="52012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</a:t>
            </a:r>
            <a:endParaRPr lang="en-US" altLang="zh-CN" sz="12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76B2113F-BFD7-7A01-FC93-64553F9322F2}"/>
              </a:ext>
            </a:extLst>
          </p:cNvPr>
          <p:cNvCxnSpPr>
            <a:cxnSpLocks/>
          </p:cNvCxnSpPr>
          <p:nvPr/>
        </p:nvCxnSpPr>
        <p:spPr>
          <a:xfrm>
            <a:off x="10226907" y="3367853"/>
            <a:ext cx="6380" cy="370491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4BCF7B94-A639-9CA8-CED8-EDB5EFA20C92}"/>
              </a:ext>
            </a:extLst>
          </p:cNvPr>
          <p:cNvCxnSpPr>
            <a:cxnSpLocks/>
          </p:cNvCxnSpPr>
          <p:nvPr/>
        </p:nvCxnSpPr>
        <p:spPr>
          <a:xfrm flipV="1">
            <a:off x="11390582" y="2158689"/>
            <a:ext cx="0" cy="399588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71637C9C-2C1F-191B-F178-E85C4B6E0472}"/>
              </a:ext>
            </a:extLst>
          </p:cNvPr>
          <p:cNvCxnSpPr>
            <a:cxnSpLocks/>
          </p:cNvCxnSpPr>
          <p:nvPr/>
        </p:nvCxnSpPr>
        <p:spPr>
          <a:xfrm flipV="1">
            <a:off x="7523724" y="2158689"/>
            <a:ext cx="0" cy="399588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11A41906-0A6C-C877-908E-2C9364661019}"/>
              </a:ext>
            </a:extLst>
          </p:cNvPr>
          <p:cNvSpPr/>
          <p:nvPr/>
        </p:nvSpPr>
        <p:spPr>
          <a:xfrm>
            <a:off x="7532829" y="2211852"/>
            <a:ext cx="82383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验证模型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7F1D550B-5A68-7547-D5BE-06660C635231}"/>
              </a:ext>
            </a:extLst>
          </p:cNvPr>
          <p:cNvSpPr/>
          <p:nvPr/>
        </p:nvSpPr>
        <p:spPr>
          <a:xfrm>
            <a:off x="10484275" y="2184888"/>
            <a:ext cx="968734" cy="330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ts val="2103"/>
              </a:lnSpc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评估场景库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29F7E55-54F4-5B1F-282A-9114552D7F39}"/>
              </a:ext>
            </a:extLst>
          </p:cNvPr>
          <p:cNvSpPr/>
          <p:nvPr/>
        </p:nvSpPr>
        <p:spPr>
          <a:xfrm>
            <a:off x="3298677" y="1592985"/>
            <a:ext cx="49306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聚类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76A3FDB-27D1-4868-E11A-D3D070C49369}"/>
              </a:ext>
            </a:extLst>
          </p:cNvPr>
          <p:cNvSpPr txBox="1"/>
          <p:nvPr/>
        </p:nvSpPr>
        <p:spPr>
          <a:xfrm>
            <a:off x="6340441" y="1548896"/>
            <a:ext cx="2160239" cy="5874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171450" indent="-171450">
              <a:buFont typeface="Wingdings" panose="05000000000000000000" pitchFamily="2" charset="2"/>
              <a:buChar char="u"/>
              <a:defRPr sz="12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defTabSz="685800">
              <a:lnSpc>
                <a:spcPct val="120000"/>
              </a:lnSpc>
              <a:defRPr/>
            </a:pPr>
            <a:r>
              <a:rPr lang="zh-CN" altLang="en-US" sz="1400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r>
              <a:rPr lang="zh-CN" altLang="en-US" sz="1400" b="1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切入车辆轨迹</a:t>
            </a:r>
            <a:r>
              <a:rPr lang="zh-CN" altLang="en-US" sz="1400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en-US" altLang="zh-CN" sz="1400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>
              <a:lnSpc>
                <a:spcPct val="120000"/>
              </a:lnSpc>
              <a:defRPr/>
            </a:pPr>
            <a:r>
              <a:rPr lang="zh-CN" altLang="en-US" sz="1400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切入逻辑场景构建</a:t>
            </a:r>
            <a:endParaRPr lang="en-US" altLang="zh-CN" sz="1400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A6EADAC4-CFC2-749B-F160-EA11745F53E5}"/>
              </a:ext>
            </a:extLst>
          </p:cNvPr>
          <p:cNvSpPr/>
          <p:nvPr/>
        </p:nvSpPr>
        <p:spPr>
          <a:xfrm>
            <a:off x="8560761" y="1759650"/>
            <a:ext cx="416146" cy="166777"/>
          </a:xfrm>
          <a:prstGeom prst="rightArrow">
            <a:avLst/>
          </a:prstGeom>
          <a:solidFill>
            <a:srgbClr val="BDD7EE"/>
          </a:solidFill>
          <a:ln w="12700" cap="flat" cmpd="sng" algn="ctr">
            <a:solidFill>
              <a:srgbClr val="4584D3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2E50D26B-1072-B1F3-DC00-832A78334CF7}"/>
              </a:ext>
            </a:extLst>
          </p:cNvPr>
          <p:cNvSpPr txBox="1"/>
          <p:nvPr/>
        </p:nvSpPr>
        <p:spPr>
          <a:xfrm>
            <a:off x="11092968" y="1548846"/>
            <a:ext cx="541024" cy="5874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marR="0" lvl="0" indent="-171450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4584D3">
                    <a:lumMod val="75000"/>
                  </a:srgbClr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</a:defRPr>
            </a:lvl1pPr>
          </a:lstStyle>
          <a:p>
            <a:pPr marL="0" indent="0" algn="ctr">
              <a:lnSpc>
                <a:spcPct val="120000"/>
              </a:lnSpc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0832FEF-877B-58E0-26BD-79D8F29E66A4}"/>
              </a:ext>
            </a:extLst>
          </p:cNvPr>
          <p:cNvSpPr/>
          <p:nvPr/>
        </p:nvSpPr>
        <p:spPr>
          <a:xfrm>
            <a:off x="8448553" y="1519465"/>
            <a:ext cx="640563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逻辑场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景参数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AB292405-65E9-A878-5CA2-4A6C7A2DFCF1}"/>
              </a:ext>
            </a:extLst>
          </p:cNvPr>
          <p:cNvSpPr txBox="1"/>
          <p:nvPr/>
        </p:nvSpPr>
        <p:spPr>
          <a:xfrm>
            <a:off x="4580749" y="2998821"/>
            <a:ext cx="1249792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1400" kern="0" dirty="0">
                <a:solidFill>
                  <a:srgbClr val="4584D3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静态道路搭建</a:t>
            </a:r>
            <a:endParaRPr lang="en-US" altLang="zh-CN" sz="1400" kern="0" dirty="0">
              <a:solidFill>
                <a:srgbClr val="4584D3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7823FC60-BAF5-88CD-0ADD-63E6C66D5C32}"/>
              </a:ext>
            </a:extLst>
          </p:cNvPr>
          <p:cNvSpPr/>
          <p:nvPr/>
        </p:nvSpPr>
        <p:spPr>
          <a:xfrm>
            <a:off x="4525178" y="2929877"/>
            <a:ext cx="108000" cy="108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箭头: 右 81">
            <a:extLst>
              <a:ext uri="{FF2B5EF4-FFF2-40B4-BE49-F238E27FC236}">
                <a16:creationId xmlns:a16="http://schemas.microsoft.com/office/drawing/2014/main" id="{DA9A5307-4514-0AFB-77C2-1E290EE948FC}"/>
              </a:ext>
            </a:extLst>
          </p:cNvPr>
          <p:cNvSpPr/>
          <p:nvPr/>
        </p:nvSpPr>
        <p:spPr>
          <a:xfrm flipH="1">
            <a:off x="5148187" y="4480861"/>
            <a:ext cx="674621" cy="190778"/>
          </a:xfrm>
          <a:prstGeom prst="rightArrow">
            <a:avLst/>
          </a:prstGeom>
          <a:solidFill>
            <a:srgbClr val="BDD7EE"/>
          </a:solidFill>
          <a:ln w="12700" cap="flat" cmpd="sng" algn="ctr">
            <a:solidFill>
              <a:srgbClr val="4584D3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8719BF69-E46C-3ED6-49C9-62CE3AE2E889}"/>
              </a:ext>
            </a:extLst>
          </p:cNvPr>
          <p:cNvSpPr/>
          <p:nvPr/>
        </p:nvSpPr>
        <p:spPr>
          <a:xfrm>
            <a:off x="5088314" y="4203862"/>
            <a:ext cx="79436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测试结果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52E2451C-E1A0-DE23-CA60-EF2F239B0E59}"/>
              </a:ext>
            </a:extLst>
          </p:cNvPr>
          <p:cNvSpPr/>
          <p:nvPr/>
        </p:nvSpPr>
        <p:spPr>
          <a:xfrm>
            <a:off x="5088314" y="4916386"/>
            <a:ext cx="79436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优化搜索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C5A51539-D944-6160-CE24-64D704EFE1FC}"/>
              </a:ext>
            </a:extLst>
          </p:cNvPr>
          <p:cNvSpPr/>
          <p:nvPr/>
        </p:nvSpPr>
        <p:spPr>
          <a:xfrm>
            <a:off x="10228873" y="3371192"/>
            <a:ext cx="1222987" cy="330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ts val="2103"/>
              </a:lnSpc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评价被测算法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F5D5C42B-B652-20B1-47B4-4DCF36BC97C3}"/>
              </a:ext>
            </a:extLst>
          </p:cNvPr>
          <p:cNvSpPr/>
          <p:nvPr/>
        </p:nvSpPr>
        <p:spPr>
          <a:xfrm>
            <a:off x="119337" y="2292303"/>
            <a:ext cx="11881320" cy="3046231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文本框 105">
            <a:extLst>
              <a:ext uri="{FF2B5EF4-FFF2-40B4-BE49-F238E27FC236}">
                <a16:creationId xmlns:a16="http://schemas.microsoft.com/office/drawing/2014/main" id="{CDDC6CAF-EB4F-F03C-EDB2-20BB01BD9ACD}"/>
              </a:ext>
            </a:extLst>
          </p:cNvPr>
          <p:cNvSpPr txBox="1"/>
          <p:nvPr/>
        </p:nvSpPr>
        <p:spPr>
          <a:xfrm>
            <a:off x="953581" y="5569631"/>
            <a:ext cx="10451751" cy="11568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研究重点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/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难点：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被测自动驾驶算法与仿真软件的接口；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批量场景自动化测试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0F403231-7FE6-802E-67FD-5F9B2E5F7DD3}"/>
              </a:ext>
            </a:extLst>
          </p:cNvPr>
          <p:cNvSpPr/>
          <p:nvPr/>
        </p:nvSpPr>
        <p:spPr>
          <a:xfrm>
            <a:off x="293980" y="2723484"/>
            <a:ext cx="554971" cy="23082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zh-CN" altLang="en-US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</a:t>
            </a:r>
            <a:endParaRPr lang="en-US" altLang="zh-CN" b="1" kern="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defTabSz="914400"/>
            <a:r>
              <a:rPr lang="zh-CN" altLang="en-US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endParaRPr lang="en-US" altLang="zh-CN" b="1" kern="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defTabSz="914400"/>
            <a:r>
              <a:rPr lang="zh-CN" altLang="en-US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步</a:t>
            </a:r>
            <a:endParaRPr lang="en-US" altLang="zh-CN" b="1" kern="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defTabSz="914400"/>
            <a:r>
              <a:rPr lang="zh-CN" altLang="en-US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</a:t>
            </a:r>
            <a:endParaRPr lang="en-US" altLang="zh-CN" b="1" kern="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defTabSz="914400"/>
            <a:r>
              <a:rPr lang="zh-CN" altLang="en-US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作</a:t>
            </a:r>
            <a:endParaRPr lang="en-US" altLang="zh-CN" b="1" kern="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defTabSz="914400"/>
            <a:r>
              <a:rPr lang="zh-CN" altLang="en-US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</a:t>
            </a:r>
            <a:endParaRPr lang="en-US" altLang="zh-CN" b="1" kern="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defTabSz="914400"/>
            <a:r>
              <a:rPr lang="zh-CN" altLang="en-US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划</a:t>
            </a:r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4B3776C8-B7E1-7A5C-6415-42F5D1DC70D0}"/>
              </a:ext>
            </a:extLst>
          </p:cNvPr>
          <p:cNvCxnSpPr>
            <a:cxnSpLocks/>
          </p:cNvCxnSpPr>
          <p:nvPr/>
        </p:nvCxnSpPr>
        <p:spPr>
          <a:xfrm flipV="1">
            <a:off x="5735960" y="5748138"/>
            <a:ext cx="7338" cy="92122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7" name="文本框 105">
            <a:extLst>
              <a:ext uri="{FF2B5EF4-FFF2-40B4-BE49-F238E27FC236}">
                <a16:creationId xmlns:a16="http://schemas.microsoft.com/office/drawing/2014/main" id="{C930D7EE-E6D1-D7F9-3542-FF4134F16092}"/>
              </a:ext>
            </a:extLst>
          </p:cNvPr>
          <p:cNvSpPr txBox="1"/>
          <p:nvPr/>
        </p:nvSpPr>
        <p:spPr>
          <a:xfrm>
            <a:off x="5822809" y="5569630"/>
            <a:ext cx="5582524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对测试结果数据的分析、处理；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基于测试结果进行轨迹模型、场景库、被测算法的评价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524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 animBg="1"/>
      <p:bldP spid="86" grpId="0" animBg="1"/>
      <p:bldP spid="88" grpId="0" animBg="1"/>
      <p:bldP spid="90" grpId="0" animBg="1"/>
      <p:bldP spid="9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1441D13E-31D2-1E4C-7FA5-8810B4776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823" y="18225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矩形 59">
            <a:extLst>
              <a:ext uri="{FF2B5EF4-FFF2-40B4-BE49-F238E27FC236}">
                <a16:creationId xmlns:a16="http://schemas.microsoft.com/office/drawing/2014/main" id="{E9405894-E61F-2485-DDD7-60A4C8A2D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60" y="116632"/>
            <a:ext cx="316835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后续工作安排</a:t>
            </a:r>
            <a:endParaRPr lang="en-US" altLang="zh-CN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A41540E-699D-63EA-4ED1-5AD4DB73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C65444-C27E-4275-9B64-A99AFE6606A1}" type="slidenum">
              <a:rPr lang="zh-CN" altLang="en-US" smtClean="0"/>
              <a:t>14</a:t>
            </a:fld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4C9723-ABBE-897D-F45D-1AF8E1E56C0C}"/>
              </a:ext>
            </a:extLst>
          </p:cNvPr>
          <p:cNvSpPr/>
          <p:nvPr/>
        </p:nvSpPr>
        <p:spPr>
          <a:xfrm>
            <a:off x="263352" y="1196752"/>
            <a:ext cx="11593288" cy="4536504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105">
            <a:extLst>
              <a:ext uri="{FF2B5EF4-FFF2-40B4-BE49-F238E27FC236}">
                <a16:creationId xmlns:a16="http://schemas.microsoft.com/office/drawing/2014/main" id="{02BFE825-78AB-38F2-8E62-29CF419936DF}"/>
              </a:ext>
            </a:extLst>
          </p:cNvPr>
          <p:cNvSpPr txBox="1"/>
          <p:nvPr/>
        </p:nvSpPr>
        <p:spPr>
          <a:xfrm>
            <a:off x="312428" y="1208631"/>
            <a:ext cx="6575659" cy="4285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论文目录：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第一章：引言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第二章：面向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封闭场地测试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典型切入场景聚类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方法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	2.1.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切入片段提取与预处理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	2.2.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切入场景要素选取与分析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	2.3.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典型切入场景聚类方法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	2.4.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典型切入场景聚类结果对比分析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第三章：面向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虚拟仿真测试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高覆盖场景生成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方法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	3.1.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基于车辆运动学的切入轨迹模型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105">
            <a:extLst>
              <a:ext uri="{FF2B5EF4-FFF2-40B4-BE49-F238E27FC236}">
                <a16:creationId xmlns:a16="http://schemas.microsoft.com/office/drawing/2014/main" id="{350279CB-CA61-3E85-30CE-22244095BA9E}"/>
              </a:ext>
            </a:extLst>
          </p:cNvPr>
          <p:cNvSpPr txBox="1"/>
          <p:nvPr/>
        </p:nvSpPr>
        <p:spPr>
          <a:xfrm>
            <a:off x="6312024" y="980728"/>
            <a:ext cx="5544613" cy="4746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3.2.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基于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GMM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的切入逻辑场景构建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3.3.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基于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HMC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的场景参数采样方法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3.4.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基于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JS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散度的场景参数覆盖度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第四章：基于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迭代测试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危险场景加速生成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方法</a:t>
            </a:r>
            <a:endParaRPr lang="en-US" altLang="zh-CN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	4.1. 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软件在环仿真测试方法</a:t>
            </a:r>
            <a:endParaRPr lang="en-US" altLang="zh-CN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	4.2. 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场景多维度评价模型</a:t>
            </a:r>
            <a:endParaRPr lang="en-US" altLang="zh-CN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	4.3. 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危险场景加速生成方法</a:t>
            </a:r>
            <a:endParaRPr lang="en-US" altLang="zh-CN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	4.4. 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仿真测试结果评价</a:t>
            </a:r>
            <a:endParaRPr lang="en-US" altLang="zh-CN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第五章：结论</a:t>
            </a:r>
            <a:endParaRPr lang="en-US" altLang="zh-CN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4C43587-4818-258B-B058-D22F15F94D97}"/>
              </a:ext>
            </a:extLst>
          </p:cNvPr>
          <p:cNvCxnSpPr>
            <a:cxnSpLocks/>
          </p:cNvCxnSpPr>
          <p:nvPr/>
        </p:nvCxnSpPr>
        <p:spPr>
          <a:xfrm>
            <a:off x="6312024" y="1628800"/>
            <a:ext cx="0" cy="403244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640D2CDD-8E9B-4D27-132E-5BB93F077022}"/>
              </a:ext>
            </a:extLst>
          </p:cNvPr>
          <p:cNvSpPr/>
          <p:nvPr/>
        </p:nvSpPr>
        <p:spPr>
          <a:xfrm>
            <a:off x="10704512" y="3645024"/>
            <a:ext cx="576064" cy="13681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zh-CN" altLang="en-US" sz="24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未完成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5ABD621-BEAA-B960-70BB-2FBE7F91D96E}"/>
              </a:ext>
            </a:extLst>
          </p:cNvPr>
          <p:cNvSpPr/>
          <p:nvPr/>
        </p:nvSpPr>
        <p:spPr>
          <a:xfrm>
            <a:off x="1931545" y="5960154"/>
            <a:ext cx="8352928" cy="5400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zh-CN" altLang="en-US" sz="2000" b="1" kern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预计</a:t>
            </a:r>
            <a:r>
              <a:rPr lang="en-US" altLang="zh-CN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2025.01</a:t>
            </a:r>
            <a:r>
              <a:rPr lang="zh-CN" altLang="en-US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完成所有研究</a:t>
            </a:r>
            <a:r>
              <a:rPr lang="zh-CN" altLang="en-US" sz="2000" b="1" kern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内容，</a:t>
            </a:r>
            <a:r>
              <a:rPr lang="en-US" altLang="zh-CN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月底完成论文初稿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868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1"/>
          <a:stretch/>
        </p:blipFill>
        <p:spPr>
          <a:xfrm>
            <a:off x="4328637" y="999065"/>
            <a:ext cx="7865491" cy="5063822"/>
          </a:xfrm>
          <a:prstGeom prst="rect">
            <a:avLst/>
          </a:prstGeom>
        </p:spPr>
      </p:pic>
      <p:sp>
        <p:nvSpPr>
          <p:cNvPr id="4" name="流程图: 手动输入 3"/>
          <p:cNvSpPr/>
          <p:nvPr/>
        </p:nvSpPr>
        <p:spPr>
          <a:xfrm rot="5400000">
            <a:off x="1693987" y="-694922"/>
            <a:ext cx="5063820" cy="8451798"/>
          </a:xfrm>
          <a:prstGeom prst="flowChartManualInput">
            <a:avLst/>
          </a:prstGeom>
          <a:solidFill>
            <a:srgbClr val="1B3F85"/>
          </a:solidFill>
          <a:ln>
            <a:noFill/>
          </a:ln>
        </p:spPr>
        <p:txBody>
          <a:bodyPr/>
          <a:lstStyle/>
          <a:p>
            <a:endParaRPr lang="zh-CN" altLang="en-US" sz="1600" b="1">
              <a:solidFill>
                <a:srgbClr val="00000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  <p:pic>
        <p:nvPicPr>
          <p:cNvPr id="8" name="Picture 2" descr="北京交通大学ppt角标图案（右）.jp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9912424" y="116632"/>
            <a:ext cx="1962088" cy="576064"/>
          </a:xfrm>
          <a:prstGeom prst="rect">
            <a:avLst/>
          </a:prstGeom>
          <a:noFill/>
        </p:spPr>
      </p:pic>
      <p:sp>
        <p:nvSpPr>
          <p:cNvPr id="7" name="TextBox 7"/>
          <p:cNvSpPr txBox="1"/>
          <p:nvPr/>
        </p:nvSpPr>
        <p:spPr>
          <a:xfrm>
            <a:off x="16021" y="2345498"/>
            <a:ext cx="8361849" cy="2438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en-US" altLang="zh-CN" sz="54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54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敬请批评指正！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5|82.8|9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5.7|7.2|0.9|0.6|1|0.2|0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2|0.4|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1|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3705</TotalTime>
  <Words>1843</Words>
  <Application>Microsoft Office PowerPoint</Application>
  <PresentationFormat>宽屏</PresentationFormat>
  <Paragraphs>394</Paragraphs>
  <Slides>15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Office 主题</vt:lpstr>
      <vt:lpstr>1_Office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1234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/>
  <cp:lastModifiedBy/>
  <cp:revision>1773</cp:revision>
  <cp:lastPrinted>2022-02-15T07:39:57Z</cp:lastPrinted>
  <dcterms:created xsi:type="dcterms:W3CDTF">2010-04-14T09:56:00Z</dcterms:created>
  <dcterms:modified xsi:type="dcterms:W3CDTF">2026-09-03T07:18:30Z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7BBD3A2B0D9F4A2EAAF2C28EEC267037</vt:lpwstr>
  </property>
  <property fmtid="{D5CDD505-2E9C-101B-9397-08002B2CF9AE}" pid="3" name="KSOProductBuildVer">
    <vt:lpwstr>2052-11.1.0.11045</vt:lpwstr>
  </property>
</Properties>
</file>