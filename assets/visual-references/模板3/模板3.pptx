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97" r:id="rId3"/>
    <p:sldId id="430" r:id="rId4"/>
    <p:sldId id="3596" r:id="rId5"/>
    <p:sldId id="3589" r:id="rId6"/>
    <p:sldId id="3602" r:id="rId7"/>
    <p:sldId id="3586" r:id="rId8"/>
    <p:sldId id="3603" r:id="rId9"/>
    <p:sldId id="3591" r:id="rId10"/>
    <p:sldId id="3592" r:id="rId11"/>
    <p:sldId id="3583" r:id="rId12"/>
    <p:sldId id="360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4FA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2421" autoAdjust="0"/>
  </p:normalViewPr>
  <p:slideViewPr>
    <p:cSldViewPr snapToGrid="0">
      <p:cViewPr varScale="1">
        <p:scale>
          <a:sx n="96" d="100"/>
          <a:sy n="96" d="100"/>
        </p:scale>
        <p:origin x="250" y="67"/>
      </p:cViewPr>
      <p:guideLst/>
    </p:cSldViewPr>
  </p:slideViewPr>
  <p:outlineViewPr>
    <p:cViewPr>
      <p:scale>
        <a:sx n="33" d="100"/>
        <a:sy n="33" d="100"/>
      </p:scale>
      <p:origin x="0" y="-57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E904F-00CE-4964-B128-DCD8A5860F1F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C402C-E9B9-4EDC-A17F-9A8050794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5DFE1-ACCC-114D-A3DF-9550B062065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3E084-6989-45E8-9205-AF759CE61D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3E084-6989-45E8-9205-AF759CE61D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541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3E084-6989-45E8-9205-AF759CE61D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1EF71-718A-7568-0131-06363900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96C7C3-8011-C0D4-ADD1-702935AA4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610E89-16A3-A9D7-F794-20F812E75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B877E5-F416-1D5A-C43C-9DFBD5223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3E084-6989-45E8-9205-AF759CE61D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953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3E084-6989-45E8-9205-AF759CE61D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747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3E084-6989-45E8-9205-AF759CE61D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6352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3E084-6989-45E8-9205-AF759CE61D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764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3E084-6989-45E8-9205-AF759CE61D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75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0" t="21550" r="36750" b="25796"/>
          <a:stretch>
            <a:fillRect/>
          </a:stretch>
        </p:blipFill>
        <p:spPr>
          <a:xfrm>
            <a:off x="1539240" y="1287780"/>
            <a:ext cx="3352800" cy="3611880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 userDrawn="1"/>
        </p:nvCxnSpPr>
        <p:spPr>
          <a:xfrm>
            <a:off x="1525828" y="911898"/>
            <a:ext cx="904331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727424" y="249116"/>
            <a:ext cx="9157110" cy="6627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257713" y="6280875"/>
            <a:ext cx="2895600" cy="577125"/>
          </a:xfrm>
        </p:spPr>
        <p:txBody>
          <a:bodyPr/>
          <a:lstStyle/>
          <a:p>
            <a:fld id="{9E47A511-072D-5346-A76C-BA5655CE3D40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6305979" y="1493519"/>
            <a:ext cx="4263167" cy="468344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 sz="24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defRPr sz="20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 sz="18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 sz="18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482725" y="1493520"/>
            <a:ext cx="4362021" cy="468344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 sz="24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defRPr sz="20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 sz="18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 sz="18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69" y="57993"/>
            <a:ext cx="1177797" cy="1242868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138052" y="479372"/>
            <a:ext cx="1177797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000" b="1" cap="none" spc="0" baseline="0" dirty="0">
                <a:ln w="0"/>
                <a:solidFill>
                  <a:schemeClr val="accent1">
                    <a:lumMod val="75000"/>
                  </a:schemeClr>
                </a:solidFill>
                <a:effectLst/>
                <a:latin typeface="Berlin Sans FB" panose="020E0602020502020306" pitchFamily="34" charset="0"/>
                <a:ea typeface="Segoe UI Symbol" pitchFamily="34" charset="0"/>
              </a:rPr>
              <a:t>RIOH</a:t>
            </a:r>
            <a:endParaRPr lang="zh-CN" altLang="en-US" sz="2000" b="1" cap="none" spc="0" baseline="0" dirty="0">
              <a:ln w="0"/>
              <a:solidFill>
                <a:schemeClr val="accent1">
                  <a:lumMod val="75000"/>
                </a:schemeClr>
              </a:solidFill>
              <a:effectLst/>
              <a:latin typeface="Berlin Sans FB" panose="020E0602020502020306" pitchFamily="34" charset="0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DA1EC-47F2-44EB-970B-D6DE473F17A2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C8427-654C-4282-8935-116342F32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623675" y="6494145"/>
            <a:ext cx="803275" cy="365125"/>
          </a:xfrm>
        </p:spPr>
        <p:txBody>
          <a:bodyPr/>
          <a:lstStyle>
            <a:lvl1pPr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‹#›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18" Type="http://schemas.openxmlformats.org/officeDocument/2006/relationships/image" Target="../media/image22.png"/><Relationship Id="rId3" Type="http://schemas.openxmlformats.org/officeDocument/2006/relationships/tags" Target="../tags/tag3.xml"/><Relationship Id="rId21" Type="http://schemas.openxmlformats.org/officeDocument/2006/relationships/image" Target="../media/image25.jpeg"/><Relationship Id="rId7" Type="http://schemas.openxmlformats.org/officeDocument/2006/relationships/notesSlide" Target="../notesSlides/notesSlide3.xml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tags" Target="../tags/tag2.xml"/><Relationship Id="rId16" Type="http://schemas.openxmlformats.org/officeDocument/2006/relationships/image" Target="../media/image20.png"/><Relationship Id="rId20" Type="http://schemas.openxmlformats.org/officeDocument/2006/relationships/image" Target="../media/image24.jpeg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5.jpeg"/><Relationship Id="rId5" Type="http://schemas.openxmlformats.org/officeDocument/2006/relationships/tags" Target="../tags/tag5.xml"/><Relationship Id="rId15" Type="http://schemas.openxmlformats.org/officeDocument/2006/relationships/image" Target="../media/image19.png"/><Relationship Id="rId10" Type="http://schemas.openxmlformats.org/officeDocument/2006/relationships/image" Target="../media/image14.jpeg"/><Relationship Id="rId19" Type="http://schemas.openxmlformats.org/officeDocument/2006/relationships/image" Target="../media/image23.jpeg"/><Relationship Id="rId4" Type="http://schemas.openxmlformats.org/officeDocument/2006/relationships/tags" Target="../tags/tag4.xml"/><Relationship Id="rId9" Type="http://schemas.openxmlformats.org/officeDocument/2006/relationships/image" Target="../media/image13.jpe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G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tags" Target="../tags/tag8.xml"/><Relationship Id="rId7" Type="http://schemas.openxmlformats.org/officeDocument/2006/relationships/image" Target="../media/image15.jpeg"/><Relationship Id="rId12" Type="http://schemas.openxmlformats.org/officeDocument/2006/relationships/image" Target="../media/image38.jpeg"/><Relationship Id="rId17" Type="http://schemas.openxmlformats.org/officeDocument/2006/relationships/image" Target="../media/image43.jpeg"/><Relationship Id="rId2" Type="http://schemas.openxmlformats.org/officeDocument/2006/relationships/tags" Target="../tags/tag7.xml"/><Relationship Id="rId16" Type="http://schemas.openxmlformats.org/officeDocument/2006/relationships/image" Target="../media/image42.jpeg"/><Relationship Id="rId20" Type="http://schemas.openxmlformats.org/officeDocument/2006/relationships/image" Target="../media/image46.png"/><Relationship Id="rId1" Type="http://schemas.openxmlformats.org/officeDocument/2006/relationships/tags" Target="../tags/tag6.xml"/><Relationship Id="rId6" Type="http://schemas.openxmlformats.org/officeDocument/2006/relationships/notesSlide" Target="../notesSlides/notesSlide6.xml"/><Relationship Id="rId11" Type="http://schemas.openxmlformats.org/officeDocument/2006/relationships/image" Target="../media/image37.png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41.png"/><Relationship Id="rId10" Type="http://schemas.openxmlformats.org/officeDocument/2006/relationships/image" Target="../media/image36.jpeg"/><Relationship Id="rId19" Type="http://schemas.openxmlformats.org/officeDocument/2006/relationships/image" Target="../media/image45.png"/><Relationship Id="rId4" Type="http://schemas.openxmlformats.org/officeDocument/2006/relationships/tags" Target="../tags/tag9.xml"/><Relationship Id="rId9" Type="http://schemas.openxmlformats.org/officeDocument/2006/relationships/image" Target="../media/image17.jpeg"/><Relationship Id="rId1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52.jpeg"/><Relationship Id="rId18" Type="http://schemas.openxmlformats.org/officeDocument/2006/relationships/image" Target="../media/image57.png"/><Relationship Id="rId3" Type="http://schemas.openxmlformats.org/officeDocument/2006/relationships/image" Target="../media/image19.png"/><Relationship Id="rId7" Type="http://schemas.openxmlformats.org/officeDocument/2006/relationships/image" Target="../media/image49.jpeg"/><Relationship Id="rId12" Type="http://schemas.openxmlformats.org/officeDocument/2006/relationships/image" Target="../media/image51.jpe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jpeg"/><Relationship Id="rId11" Type="http://schemas.openxmlformats.org/officeDocument/2006/relationships/image" Target="../media/image50.jpeg"/><Relationship Id="rId5" Type="http://schemas.openxmlformats.org/officeDocument/2006/relationships/image" Target="../media/image47.jpeg"/><Relationship Id="rId15" Type="http://schemas.openxmlformats.org/officeDocument/2006/relationships/image" Target="../media/image54.png"/><Relationship Id="rId10" Type="http://schemas.openxmlformats.org/officeDocument/2006/relationships/image" Target="../media/image16.png"/><Relationship Id="rId19" Type="http://schemas.openxmlformats.org/officeDocument/2006/relationships/image" Target="../media/image58.png"/><Relationship Id="rId4" Type="http://schemas.openxmlformats.org/officeDocument/2006/relationships/image" Target="../media/image12.jpeg"/><Relationship Id="rId9" Type="http://schemas.openxmlformats.org/officeDocument/2006/relationships/image" Target="../media/image15.jpeg"/><Relationship Id="rId1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34"/>
            <a:ext cx="12192000" cy="685971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646920" y="-1021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+mn-ea"/>
              <a:sym typeface="+mn-lt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251523" y="5775281"/>
            <a:ext cx="368895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eaLnBrk="1" hangingPunct="1">
              <a:defRPr sz="3200" spc="300"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lnSpc>
                <a:spcPct val="150000"/>
              </a:lnSpc>
            </a:pPr>
            <a:r>
              <a:rPr lang="zh-CN" altLang="en-US" sz="2000" spc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二〇×× 年 ×月</a:t>
            </a:r>
            <a:endParaRPr lang="en-US" altLang="zh-CN" sz="2000" spc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2495" y="2955783"/>
            <a:ext cx="10367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面向全生命周期智能监控的公路事故风险主动预防与安全效能评估</a:t>
            </a:r>
          </a:p>
        </p:txBody>
      </p:sp>
      <p:pic>
        <p:nvPicPr>
          <p:cNvPr id="15" name="图片 14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3" t="26984" r="17328" b="26271"/>
          <a:stretch>
            <a:fillRect/>
          </a:stretch>
        </p:blipFill>
        <p:spPr bwMode="auto">
          <a:xfrm>
            <a:off x="5043646" y="1568080"/>
            <a:ext cx="2104709" cy="56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6" descr="公路院-logo.png">
            <a:extLst>
              <a:ext uri="{FF2B5EF4-FFF2-40B4-BE49-F238E27FC236}">
                <a16:creationId xmlns:a16="http://schemas.microsoft.com/office/drawing/2014/main" id="{DB6FFD43-C3AE-51A3-6A28-0CECA661D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844" y="5323311"/>
            <a:ext cx="3528060" cy="48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/>
        </p:nvSpPr>
        <p:spPr>
          <a:xfrm>
            <a:off x="11623675" y="6494145"/>
            <a:ext cx="803275" cy="365125"/>
          </a:xfrm>
        </p:spPr>
        <p:txBody>
          <a:bodyPr/>
          <a:lstStyle>
            <a:lvl1pPr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2A45A2-C6D2-2B72-3A94-8DD4A20DB264}"/>
              </a:ext>
            </a:extLst>
          </p:cNvPr>
          <p:cNvSpPr/>
          <p:nvPr/>
        </p:nvSpPr>
        <p:spPr>
          <a:xfrm>
            <a:off x="6881473" y="2471104"/>
            <a:ext cx="11751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8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  </a:t>
            </a:r>
            <a:r>
              <a:rPr kumimoji="1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rgbClr val="18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kumimoji="1" lang="zh-CN" altLang="en-US" sz="2000" b="1" u="none" strike="noStrike" kern="1200" cap="none" spc="0" normalizeH="0" baseline="0" noProof="0" dirty="0">
              <a:ln>
                <a:noFill/>
              </a:ln>
              <a:solidFill>
                <a:srgbClr val="185BA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CBD62E-1C63-1744-0306-88B8FA0941B0}"/>
              </a:ext>
            </a:extLst>
          </p:cNvPr>
          <p:cNvSpPr txBox="1"/>
          <p:nvPr/>
        </p:nvSpPr>
        <p:spPr>
          <a:xfrm>
            <a:off x="6881473" y="2860008"/>
            <a:ext cx="256993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主要研究内容</a:t>
            </a:r>
          </a:p>
          <a:p>
            <a:pPr lvl="0">
              <a:defRPr/>
            </a:pPr>
            <a:r>
              <a:rPr kumimoji="1" lang="en-US" altLang="zh-CN" sz="9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////////////////////////////////////////////////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5F7E50-2960-D29F-2A26-6EC856B8D14D}"/>
              </a:ext>
            </a:extLst>
          </p:cNvPr>
          <p:cNvSpPr/>
          <p:nvPr/>
        </p:nvSpPr>
        <p:spPr>
          <a:xfrm>
            <a:off x="6881473" y="3491872"/>
            <a:ext cx="11751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8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  </a:t>
            </a:r>
            <a:r>
              <a:rPr kumimoji="1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rgbClr val="18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kumimoji="1" lang="zh-CN" altLang="en-US" sz="2000" b="1" u="none" strike="noStrike" kern="1200" cap="none" spc="0" normalizeH="0" baseline="0" noProof="0" dirty="0">
              <a:ln>
                <a:noFill/>
              </a:ln>
              <a:solidFill>
                <a:srgbClr val="185BA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A60187-665B-127A-2380-7DDA737739FC}"/>
              </a:ext>
            </a:extLst>
          </p:cNvPr>
          <p:cNvSpPr txBox="1"/>
          <p:nvPr/>
        </p:nvSpPr>
        <p:spPr>
          <a:xfrm>
            <a:off x="6881473" y="3891792"/>
            <a:ext cx="2550698" cy="623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1"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创新点</a:t>
            </a:r>
          </a:p>
          <a:p>
            <a:pPr lvl="0">
              <a:defRPr/>
            </a:pPr>
            <a:r>
              <a:rPr kumimoji="1"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/////////////////////////////////////////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53FFB9-949D-21B0-C395-8CB6CC55C7F2}"/>
              </a:ext>
            </a:extLst>
          </p:cNvPr>
          <p:cNvSpPr/>
          <p:nvPr/>
        </p:nvSpPr>
        <p:spPr>
          <a:xfrm>
            <a:off x="6881473" y="1466898"/>
            <a:ext cx="11751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8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 </a:t>
            </a:r>
            <a:r>
              <a:rPr kumimoji="1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srgbClr val="18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1</a:t>
            </a:r>
            <a:endParaRPr kumimoji="1" lang="zh-CN" altLang="en-US" sz="2000" b="1" u="none" strike="noStrike" kern="1200" cap="none" spc="0" normalizeH="0" baseline="0" noProof="0" dirty="0">
              <a:ln>
                <a:noFill/>
              </a:ln>
              <a:solidFill>
                <a:srgbClr val="185BA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9FEDED-07A9-70E6-C871-22138DFB092F}"/>
              </a:ext>
            </a:extLst>
          </p:cNvPr>
          <p:cNvSpPr txBox="1"/>
          <p:nvPr/>
        </p:nvSpPr>
        <p:spPr>
          <a:xfrm>
            <a:off x="6881473" y="1863242"/>
            <a:ext cx="26494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背景和必要性</a:t>
            </a:r>
          </a:p>
          <a:p>
            <a:pPr lvl="0">
              <a:defRPr/>
            </a:pPr>
            <a:r>
              <a:rPr kumimoji="1" lang="en-US" altLang="zh-CN" sz="9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////////////////////////////////////////////////</a:t>
            </a:r>
            <a:endParaRPr kumimoji="1" lang="en-US" altLang="zh-CN" sz="9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2921A0-54DD-3FC9-9190-F6393AB29C65}"/>
              </a:ext>
            </a:extLst>
          </p:cNvPr>
          <p:cNvSpPr/>
          <p:nvPr/>
        </p:nvSpPr>
        <p:spPr>
          <a:xfrm>
            <a:off x="6881473" y="4461776"/>
            <a:ext cx="11751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85BA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  4</a:t>
            </a:r>
            <a:endParaRPr kumimoji="1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185BA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773DA5-656B-62B3-F43F-7DCE3E80A87E}"/>
              </a:ext>
            </a:extLst>
          </p:cNvPr>
          <p:cNvSpPr txBox="1"/>
          <p:nvPr/>
        </p:nvSpPr>
        <p:spPr>
          <a:xfrm>
            <a:off x="6884013" y="4865681"/>
            <a:ext cx="2608406" cy="623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defRPr/>
            </a:pPr>
            <a:r>
              <a:rPr kumimoji="1"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预期成果和效益</a:t>
            </a:r>
          </a:p>
          <a:p>
            <a:pPr lvl="0" algn="l">
              <a:defRPr/>
            </a:pPr>
            <a:r>
              <a:rPr kumimoji="1"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//////////////////////////////////////////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1B42FA1E-FE54-4102-BFDC-BE82CB09B296}"/>
              </a:ext>
            </a:extLst>
          </p:cNvPr>
          <p:cNvSpPr/>
          <p:nvPr/>
        </p:nvSpPr>
        <p:spPr>
          <a:xfrm>
            <a:off x="872042" y="3757836"/>
            <a:ext cx="5031868" cy="27639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5D68605-6269-4A6D-A1C3-29748CED0FC7}"/>
              </a:ext>
            </a:extLst>
          </p:cNvPr>
          <p:cNvGrpSpPr/>
          <p:nvPr/>
        </p:nvGrpSpPr>
        <p:grpSpPr>
          <a:xfrm>
            <a:off x="460246" y="1303158"/>
            <a:ext cx="11364100" cy="2341285"/>
            <a:chOff x="342102" y="898046"/>
            <a:chExt cx="11364100" cy="234128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4F76EC6-660E-4B0F-B45B-D3C395650845}"/>
                </a:ext>
              </a:extLst>
            </p:cNvPr>
            <p:cNvSpPr/>
            <p:nvPr/>
          </p:nvSpPr>
          <p:spPr>
            <a:xfrm>
              <a:off x="776110" y="898046"/>
              <a:ext cx="10923498" cy="231688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74699D3-325D-4141-8F1D-1CA126D9BB9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6486" y="992124"/>
              <a:ext cx="1671524" cy="96116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56EF995-1D54-4A2A-90F7-B7D0F8668993}"/>
                </a:ext>
              </a:extLst>
            </p:cNvPr>
            <p:cNvSpPr txBox="1"/>
            <p:nvPr/>
          </p:nvSpPr>
          <p:spPr>
            <a:xfrm>
              <a:off x="7529445" y="997397"/>
              <a:ext cx="803644" cy="9611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anchor="ctr" anchorCtr="0">
              <a:noAutofit/>
            </a:bodyPr>
            <a:lstStyle>
              <a:defPPr>
                <a:defRPr lang="zh-CN"/>
              </a:defPPr>
              <a:lvl1pPr marR="0" lvl="0" indent="0" algn="ctr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②在途风险实时研判</a:t>
              </a: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3D90B60-0CC8-4FB6-BBE6-EE91F19E4A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507" t="17010" r="23444" b="22511"/>
            <a:stretch/>
          </p:blipFill>
          <p:spPr>
            <a:xfrm>
              <a:off x="5677557" y="981449"/>
              <a:ext cx="1730465" cy="994152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DC979E4-31A3-4458-B0F5-24518883EFBF}"/>
                </a:ext>
              </a:extLst>
            </p:cNvPr>
            <p:cNvGrpSpPr/>
            <p:nvPr/>
          </p:nvGrpSpPr>
          <p:grpSpPr>
            <a:xfrm>
              <a:off x="10083144" y="990745"/>
              <a:ext cx="1397477" cy="1108327"/>
              <a:chOff x="2596914" y="1143124"/>
              <a:chExt cx="1127324" cy="1108327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FC93B642-47E4-4225-939F-B6ECB06E2C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6914" y="1155157"/>
                <a:ext cx="0" cy="10074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8FAA30E-EAFA-421F-91CB-BBCCC86FBAC9}"/>
                  </a:ext>
                </a:extLst>
              </p:cNvPr>
              <p:cNvSpPr txBox="1"/>
              <p:nvPr/>
            </p:nvSpPr>
            <p:spPr>
              <a:xfrm>
                <a:off x="2607059" y="1410879"/>
                <a:ext cx="11142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主动预防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0FE10A5-0169-483D-A501-F0149F4FFC66}"/>
                  </a:ext>
                </a:extLst>
              </p:cNvPr>
              <p:cNvSpPr txBox="1"/>
              <p:nvPr/>
            </p:nvSpPr>
            <p:spPr>
              <a:xfrm>
                <a:off x="2609973" y="1687878"/>
                <a:ext cx="11142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应急管理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9E51BDC-F007-45E5-8786-C7BC3CDC14D3}"/>
                  </a:ext>
                </a:extLst>
              </p:cNvPr>
              <p:cNvSpPr txBox="1"/>
              <p:nvPr/>
            </p:nvSpPr>
            <p:spPr>
              <a:xfrm>
                <a:off x="2609969" y="1143124"/>
                <a:ext cx="11142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实时研判</a:t>
                </a: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F28CD1C-99AC-4DCD-B5E6-F338364854AA}"/>
                  </a:ext>
                </a:extLst>
              </p:cNvPr>
              <p:cNvSpPr txBox="1"/>
              <p:nvPr/>
            </p:nvSpPr>
            <p:spPr>
              <a:xfrm rot="5400000">
                <a:off x="3031561" y="1943525"/>
                <a:ext cx="30807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AFD0360-9CC4-45EF-943D-D5A5B184155D}"/>
                </a:ext>
              </a:extLst>
            </p:cNvPr>
            <p:cNvSpPr txBox="1"/>
            <p:nvPr/>
          </p:nvSpPr>
          <p:spPr>
            <a:xfrm>
              <a:off x="4905735" y="982585"/>
              <a:ext cx="803644" cy="9930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anchor="ctr" anchorCtr="0"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①识别改潜在风险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129BB4D-48AC-4C25-B065-B7F61205E1F4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b="8854"/>
            <a:stretch/>
          </p:blipFill>
          <p:spPr>
            <a:xfrm>
              <a:off x="8333089" y="2161449"/>
              <a:ext cx="1652867" cy="977679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6119C72-771B-4A3C-A33D-CEE22F0067EA}"/>
                </a:ext>
              </a:extLst>
            </p:cNvPr>
            <p:cNvSpPr txBox="1"/>
            <p:nvPr/>
          </p:nvSpPr>
          <p:spPr>
            <a:xfrm>
              <a:off x="7529444" y="2162894"/>
              <a:ext cx="803644" cy="98728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anchor="ctr" anchorCtr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④评估安全提升效果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55091F8-33D8-4A75-A902-3C608A9E574F}"/>
                </a:ext>
              </a:extLst>
            </p:cNvPr>
            <p:cNvSpPr txBox="1"/>
            <p:nvPr/>
          </p:nvSpPr>
          <p:spPr>
            <a:xfrm>
              <a:off x="4909270" y="2151091"/>
              <a:ext cx="803644" cy="99415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anchor="ctr" anchorCtr="0"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③监管交通状况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56128DA-0F1A-49D2-8A5C-A7092AEEC190}"/>
                </a:ext>
              </a:extLst>
            </p:cNvPr>
            <p:cNvGrpSpPr/>
            <p:nvPr/>
          </p:nvGrpSpPr>
          <p:grpSpPr>
            <a:xfrm>
              <a:off x="9919580" y="2167648"/>
              <a:ext cx="1786622" cy="1071683"/>
              <a:chOff x="7603995" y="1163145"/>
              <a:chExt cx="1441242" cy="1071683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1B8EE98B-112D-4ED6-8F21-1E470826B0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9538" y="1163145"/>
                <a:ext cx="0" cy="99987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0430614-7707-4A83-82EE-C3E3523483DF}"/>
                  </a:ext>
                </a:extLst>
              </p:cNvPr>
              <p:cNvSpPr txBox="1"/>
              <p:nvPr/>
            </p:nvSpPr>
            <p:spPr>
              <a:xfrm>
                <a:off x="7751296" y="1441293"/>
                <a:ext cx="11142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低空经济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49269C6-08DC-4FEC-A590-A85388298E34}"/>
                  </a:ext>
                </a:extLst>
              </p:cNvPr>
              <p:cNvSpPr txBox="1"/>
              <p:nvPr/>
            </p:nvSpPr>
            <p:spPr>
              <a:xfrm>
                <a:off x="7603995" y="1731301"/>
                <a:ext cx="144124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路衍经济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23FA90D-6AED-461B-989A-6D85DFFFEE62}"/>
                  </a:ext>
                </a:extLst>
              </p:cNvPr>
              <p:cNvSpPr txBox="1"/>
              <p:nvPr/>
            </p:nvSpPr>
            <p:spPr>
              <a:xfrm>
                <a:off x="7679100" y="1191902"/>
                <a:ext cx="13653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交通效率、安全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C9CE8AB-29A4-4FE6-9CEC-881045A4D86E}"/>
                  </a:ext>
                </a:extLst>
              </p:cNvPr>
              <p:cNvSpPr txBox="1"/>
              <p:nvPr/>
            </p:nvSpPr>
            <p:spPr>
              <a:xfrm rot="5400000">
                <a:off x="8207714" y="1926902"/>
                <a:ext cx="30807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CC5510C-067D-4326-AC8B-FBADC31CF41D}"/>
                </a:ext>
              </a:extLst>
            </p:cNvPr>
            <p:cNvCxnSpPr>
              <a:cxnSpLocks/>
            </p:cNvCxnSpPr>
            <p:nvPr/>
          </p:nvCxnSpPr>
          <p:spPr>
            <a:xfrm>
              <a:off x="2583725" y="1651534"/>
              <a:ext cx="0" cy="8822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00E4023-F8F0-461C-BF1F-3A247E50C13A}"/>
                </a:ext>
              </a:extLst>
            </p:cNvPr>
            <p:cNvSpPr txBox="1"/>
            <p:nvPr/>
          </p:nvSpPr>
          <p:spPr>
            <a:xfrm>
              <a:off x="2568026" y="1588115"/>
              <a:ext cx="130768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服务水平偏低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F00E64B-EDCC-4729-B426-801565D80398}"/>
                </a:ext>
              </a:extLst>
            </p:cNvPr>
            <p:cNvSpPr txBox="1"/>
            <p:nvPr/>
          </p:nvSpPr>
          <p:spPr>
            <a:xfrm>
              <a:off x="2597803" y="2103205"/>
              <a:ext cx="151796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交通量饱和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46EE733-1EE5-4FDF-B3F2-4EF5D1BE9A99}"/>
                </a:ext>
              </a:extLst>
            </p:cNvPr>
            <p:cNvSpPr txBox="1"/>
            <p:nvPr/>
          </p:nvSpPr>
          <p:spPr>
            <a:xfrm>
              <a:off x="2546500" y="1835462"/>
              <a:ext cx="13284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周边环境复杂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707261D-A77A-4CE3-9AE0-95E8A7601515}"/>
                </a:ext>
              </a:extLst>
            </p:cNvPr>
            <p:cNvSpPr txBox="1"/>
            <p:nvPr/>
          </p:nvSpPr>
          <p:spPr>
            <a:xfrm rot="5400000">
              <a:off x="2725059" y="2344375"/>
              <a:ext cx="3080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2F61E34-EF24-45A6-A5F6-0DBD88A1017A}"/>
                </a:ext>
              </a:extLst>
            </p:cNvPr>
            <p:cNvSpPr/>
            <p:nvPr/>
          </p:nvSpPr>
          <p:spPr>
            <a:xfrm>
              <a:off x="342102" y="898046"/>
              <a:ext cx="418227" cy="2316884"/>
            </a:xfrm>
            <a:prstGeom prst="rect">
              <a:avLst/>
            </a:prstGeom>
            <a:solidFill>
              <a:srgbClr val="1F4E79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关键问题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B1F204-04CD-4F1C-9083-BF3181BB7C82}"/>
                </a:ext>
              </a:extLst>
            </p:cNvPr>
            <p:cNvSpPr txBox="1"/>
            <p:nvPr/>
          </p:nvSpPr>
          <p:spPr>
            <a:xfrm>
              <a:off x="4458492" y="1464507"/>
              <a:ext cx="353155" cy="10772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亟待解决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72E23523-4094-4724-AE71-32BAC76503BE}"/>
                </a:ext>
              </a:extLst>
            </p:cNvPr>
            <p:cNvSpPr/>
            <p:nvPr/>
          </p:nvSpPr>
          <p:spPr>
            <a:xfrm>
              <a:off x="3886162" y="1902918"/>
              <a:ext cx="481700" cy="21454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A506ACD5-6328-46CB-976A-9B84D1D737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759"/>
            <a:stretch/>
          </p:blipFill>
          <p:spPr bwMode="auto">
            <a:xfrm>
              <a:off x="845650" y="2167648"/>
              <a:ext cx="1628313" cy="977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6858A632-22FC-4716-AE25-725920A49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5651" y="1218368"/>
              <a:ext cx="1635566" cy="1004823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E6C9848-E724-4243-834C-23931E205545}"/>
                </a:ext>
              </a:extLst>
            </p:cNvPr>
            <p:cNvSpPr txBox="1"/>
            <p:nvPr/>
          </p:nvSpPr>
          <p:spPr>
            <a:xfrm>
              <a:off x="829870" y="946945"/>
              <a:ext cx="1651347" cy="3077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改扩建工程</a:t>
              </a:r>
            </a:p>
          </p:txBody>
        </p:sp>
      </p:grpSp>
      <p:sp>
        <p:nvSpPr>
          <p:cNvPr id="39" name="标题 1">
            <a:extLst>
              <a:ext uri="{FF2B5EF4-FFF2-40B4-BE49-F238E27FC236}">
                <a16:creationId xmlns:a16="http://schemas.microsoft.com/office/drawing/2014/main" id="{135230BA-0B4B-43E9-9055-BF886203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45" y="336201"/>
            <a:ext cx="9157110" cy="57819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主要研究内容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F11275A-D759-43FC-8B1F-B8A76AED01B5}"/>
              </a:ext>
            </a:extLst>
          </p:cNvPr>
          <p:cNvSpPr/>
          <p:nvPr/>
        </p:nvSpPr>
        <p:spPr>
          <a:xfrm>
            <a:off x="460246" y="3757836"/>
            <a:ext cx="418227" cy="2763961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研究目标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5612EE4-67C5-493B-BF6A-A7E1C2F798D3}"/>
              </a:ext>
            </a:extLst>
          </p:cNvPr>
          <p:cNvSpPr/>
          <p:nvPr/>
        </p:nvSpPr>
        <p:spPr>
          <a:xfrm>
            <a:off x="11401927" y="3757835"/>
            <a:ext cx="418227" cy="2763963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研究课题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C532608-DF97-467D-AC83-60252B752D80}"/>
              </a:ext>
            </a:extLst>
          </p:cNvPr>
          <p:cNvSpPr/>
          <p:nvPr/>
        </p:nvSpPr>
        <p:spPr>
          <a:xfrm>
            <a:off x="6163488" y="3757836"/>
            <a:ext cx="5238439" cy="2763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1015FAD-306C-4841-80F1-BA966A5F72FC}"/>
              </a:ext>
            </a:extLst>
          </p:cNvPr>
          <p:cNvSpPr/>
          <p:nvPr/>
        </p:nvSpPr>
        <p:spPr>
          <a:xfrm>
            <a:off x="912239" y="4005483"/>
            <a:ext cx="5031868" cy="201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1" indent="-171450" algn="ctr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需求：运营公路改扩建项目事故风险防控与智能监管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9F41DEC-CE55-4C36-8EC3-016F42D73A2E}"/>
              </a:ext>
            </a:extLst>
          </p:cNvPr>
          <p:cNvSpPr/>
          <p:nvPr/>
        </p:nvSpPr>
        <p:spPr>
          <a:xfrm>
            <a:off x="6264168" y="3950308"/>
            <a:ext cx="4988133" cy="42441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77900" eaLnBrk="0"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高速公路改扩建前中后交通事故特征及高危场景画像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EBDEFD5-3058-4004-B12B-ACBEB57E901E}"/>
              </a:ext>
            </a:extLst>
          </p:cNvPr>
          <p:cNvSpPr/>
          <p:nvPr/>
        </p:nvSpPr>
        <p:spPr>
          <a:xfrm>
            <a:off x="6269304" y="4480571"/>
            <a:ext cx="2543730" cy="88926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7900" eaLnBrk="0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：考虑改扩建前中后交通需求与高危场景的交通监测设施布设优化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8B193CB-D14C-4458-A367-D1D36A4B3EB8}"/>
              </a:ext>
            </a:extLst>
          </p:cNvPr>
          <p:cNvSpPr/>
          <p:nvPr/>
        </p:nvSpPr>
        <p:spPr>
          <a:xfrm>
            <a:off x="8955750" y="4478072"/>
            <a:ext cx="2307278" cy="88199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7900" eaLnBrk="0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：基于智能监测技术的高危路段车辆在途风险研判与推演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25219D8-E370-4C64-AD96-5F81F51D7320}"/>
              </a:ext>
            </a:extLst>
          </p:cNvPr>
          <p:cNvSpPr txBox="1"/>
          <p:nvPr/>
        </p:nvSpPr>
        <p:spPr>
          <a:xfrm>
            <a:off x="975369" y="4359113"/>
            <a:ext cx="62034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0FF4311-6584-4122-9460-97C9F3375905}"/>
              </a:ext>
            </a:extLst>
          </p:cNvPr>
          <p:cNvSpPr/>
          <p:nvPr/>
        </p:nvSpPr>
        <p:spPr>
          <a:xfrm>
            <a:off x="1659073" y="4359113"/>
            <a:ext cx="4136628" cy="3385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77900" eaLnBrk="0">
              <a:defRPr/>
            </a:pPr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事故发生频次、严重程度以及时空分布特征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D4CED33-E6BF-4869-883A-4A17E65C4394}"/>
              </a:ext>
            </a:extLst>
          </p:cNvPr>
          <p:cNvSpPr/>
          <p:nvPr/>
        </p:nvSpPr>
        <p:spPr>
          <a:xfrm>
            <a:off x="1659073" y="5620161"/>
            <a:ext cx="4134161" cy="3385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77900" eaLnBrk="0">
              <a:defRPr/>
            </a:pPr>
            <a:r>
              <a:rPr lang="zh-CN" altLang="en-US" sz="1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面向事故风险的预防措施与智慧应急管控策略</a:t>
            </a:r>
            <a:endParaRPr lang="zh-CN" altLang="en-US" sz="1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B798AD6-5DB7-48D6-B328-3C646EC4005C}"/>
              </a:ext>
            </a:extLst>
          </p:cNvPr>
          <p:cNvSpPr/>
          <p:nvPr/>
        </p:nvSpPr>
        <p:spPr>
          <a:xfrm>
            <a:off x="1659073" y="5204954"/>
            <a:ext cx="4134161" cy="3385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77900" eaLnBrk="0">
              <a:defRPr/>
            </a:pPr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高危路段车辆在途风险研判与推演方法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D3A4711-7879-4960-B546-8A42CC77B82E}"/>
              </a:ext>
            </a:extLst>
          </p:cNvPr>
          <p:cNvSpPr/>
          <p:nvPr/>
        </p:nvSpPr>
        <p:spPr>
          <a:xfrm>
            <a:off x="1661540" y="4778809"/>
            <a:ext cx="4134161" cy="3385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7900" eaLnBrk="0">
              <a:defRPr/>
            </a:pPr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向“降本增效”的智能交通监测设施布局法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2B624C5-1E6A-4A8E-976D-CCBD20C235A7}"/>
              </a:ext>
            </a:extLst>
          </p:cNvPr>
          <p:cNvSpPr txBox="1"/>
          <p:nvPr/>
        </p:nvSpPr>
        <p:spPr>
          <a:xfrm>
            <a:off x="975369" y="4778809"/>
            <a:ext cx="62034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定位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A5E66F2-C983-4C07-8F13-5723BCA65B64}"/>
              </a:ext>
            </a:extLst>
          </p:cNvPr>
          <p:cNvSpPr/>
          <p:nvPr/>
        </p:nvSpPr>
        <p:spPr>
          <a:xfrm>
            <a:off x="6264167" y="5479762"/>
            <a:ext cx="5006333" cy="48515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7900" eaLnBrk="0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：面向事故风险的预防措施与智慧应急管控策略研究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31407A0-16D3-42EE-9E75-C76C66335CAA}"/>
              </a:ext>
            </a:extLst>
          </p:cNvPr>
          <p:cNvSpPr/>
          <p:nvPr/>
        </p:nvSpPr>
        <p:spPr>
          <a:xfrm>
            <a:off x="6264168" y="6091233"/>
            <a:ext cx="4998860" cy="3719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7900" eaLnBrk="0"/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：低空路衍经济影响下公路安全效能与韧性评估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FCB0767-592D-4644-978B-7ABC91E74712}"/>
              </a:ext>
            </a:extLst>
          </p:cNvPr>
          <p:cNvSpPr txBox="1"/>
          <p:nvPr/>
        </p:nvSpPr>
        <p:spPr>
          <a:xfrm>
            <a:off x="964983" y="5204954"/>
            <a:ext cx="62034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7055085-AE2E-49BB-A417-6482874198AF}"/>
              </a:ext>
            </a:extLst>
          </p:cNvPr>
          <p:cNvSpPr txBox="1"/>
          <p:nvPr/>
        </p:nvSpPr>
        <p:spPr>
          <a:xfrm>
            <a:off x="957775" y="5631099"/>
            <a:ext cx="62034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E8A9A81C-B623-4EE4-B39C-54CA9C3AFDE8}"/>
              </a:ext>
            </a:extLst>
          </p:cNvPr>
          <p:cNvSpPr/>
          <p:nvPr/>
        </p:nvSpPr>
        <p:spPr>
          <a:xfrm>
            <a:off x="1659073" y="6040877"/>
            <a:ext cx="4134161" cy="3385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77900" eaLnBrk="0">
              <a:defRPr/>
            </a:pPr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低空路衍经济影响下的改扩建安全效能与韧性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95AFF668-17DE-49AD-8C21-B8A282D7AD8D}"/>
              </a:ext>
            </a:extLst>
          </p:cNvPr>
          <p:cNvSpPr txBox="1"/>
          <p:nvPr/>
        </p:nvSpPr>
        <p:spPr>
          <a:xfrm>
            <a:off x="957775" y="6048032"/>
            <a:ext cx="620344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评估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右箭头 91">
            <a:extLst>
              <a:ext uri="{FF2B5EF4-FFF2-40B4-BE49-F238E27FC236}">
                <a16:creationId xmlns:a16="http://schemas.microsoft.com/office/drawing/2014/main" id="{531558BD-7AE2-4575-8EC6-774114D66AC3}"/>
              </a:ext>
            </a:extLst>
          </p:cNvPr>
          <p:cNvSpPr/>
          <p:nvPr/>
        </p:nvSpPr>
        <p:spPr>
          <a:xfrm>
            <a:off x="5903242" y="5015229"/>
            <a:ext cx="254880" cy="249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1AE8535C-DDA1-4065-BD29-3ACB2954963A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541169" y="4366880"/>
            <a:ext cx="0" cy="113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AD3E0E37-5C36-43AF-B3A5-15E6A276E3F8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8813034" y="4925202"/>
            <a:ext cx="1427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8C551FDA-B499-4ACA-9B37-8AB92B6CE21A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10104100" y="5360068"/>
            <a:ext cx="5289" cy="1247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F27B20FC-BB6B-4FB7-955D-FFCB09F54D13}"/>
              </a:ext>
            </a:extLst>
          </p:cNvPr>
          <p:cNvCxnSpPr>
            <a:cxnSpLocks/>
          </p:cNvCxnSpPr>
          <p:nvPr/>
        </p:nvCxnSpPr>
        <p:spPr>
          <a:xfrm>
            <a:off x="7516080" y="5369832"/>
            <a:ext cx="0" cy="115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6AD7657-F0EE-4E83-8E6E-C00D8B8E541A}"/>
              </a:ext>
            </a:extLst>
          </p:cNvPr>
          <p:cNvCxnSpPr>
            <a:cxnSpLocks/>
          </p:cNvCxnSpPr>
          <p:nvPr/>
        </p:nvCxnSpPr>
        <p:spPr>
          <a:xfrm>
            <a:off x="8813034" y="5958715"/>
            <a:ext cx="0" cy="136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9671C37E-15DC-46AF-A21A-E3DD151CECA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3397" t="974" r="14610" b="14543"/>
          <a:stretch/>
        </p:blipFill>
        <p:spPr>
          <a:xfrm>
            <a:off x="5839726" y="2548350"/>
            <a:ext cx="1676354" cy="101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48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7445" y="336201"/>
            <a:ext cx="9157110" cy="578199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课题</a:t>
            </a:r>
            <a:r>
              <a:rPr lang="en-US" altLang="zh-CN" dirty="0"/>
              <a:t>1</a:t>
            </a:r>
            <a:r>
              <a:rPr lang="zh-CN" altLang="en-US" dirty="0"/>
              <a:t>：高速公路改扩建前中后交通事故特征及高危场景画像</a:t>
            </a:r>
          </a:p>
        </p:txBody>
      </p:sp>
      <p:sp>
        <p:nvSpPr>
          <p:cNvPr id="138" name="圆角矩形 24"/>
          <p:cNvSpPr/>
          <p:nvPr/>
        </p:nvSpPr>
        <p:spPr>
          <a:xfrm>
            <a:off x="1289050" y="4929505"/>
            <a:ext cx="2117725" cy="485140"/>
          </a:xfrm>
          <a:prstGeom prst="roundRect">
            <a:avLst>
              <a:gd name="adj" fmla="val 6430"/>
            </a:avLst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车载设备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3620770" y="4469130"/>
            <a:ext cx="507301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高速公路改扩建前中后交通事故数据底座构建</a:t>
            </a:r>
          </a:p>
        </p:txBody>
      </p:sp>
      <p:sp>
        <p:nvSpPr>
          <p:cNvPr id="173" name="圆角矩形 24"/>
          <p:cNvSpPr/>
          <p:nvPr/>
        </p:nvSpPr>
        <p:spPr>
          <a:xfrm>
            <a:off x="4886325" y="4929505"/>
            <a:ext cx="2392680" cy="495935"/>
          </a:xfrm>
          <a:prstGeom prst="roundRect">
            <a:avLst>
              <a:gd name="adj" fmla="val 6430"/>
            </a:avLst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道路监控</a:t>
            </a:r>
          </a:p>
        </p:txBody>
      </p:sp>
      <p:sp>
        <p:nvSpPr>
          <p:cNvPr id="174" name="圆角矩形 24"/>
          <p:cNvSpPr/>
          <p:nvPr/>
        </p:nvSpPr>
        <p:spPr>
          <a:xfrm>
            <a:off x="8494395" y="4929505"/>
            <a:ext cx="2559685" cy="495935"/>
          </a:xfrm>
          <a:prstGeom prst="roundRect">
            <a:avLst>
              <a:gd name="adj" fmla="val 6430"/>
            </a:avLst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监测系统</a:t>
            </a:r>
          </a:p>
        </p:txBody>
      </p:sp>
      <p:sp>
        <p:nvSpPr>
          <p:cNvPr id="175" name="加号 174"/>
          <p:cNvSpPr/>
          <p:nvPr/>
        </p:nvSpPr>
        <p:spPr>
          <a:xfrm>
            <a:off x="3896360" y="4996815"/>
            <a:ext cx="365760" cy="361950"/>
          </a:xfrm>
          <a:prstGeom prst="mathPlus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76" name="加号 175"/>
          <p:cNvSpPr/>
          <p:nvPr/>
        </p:nvSpPr>
        <p:spPr>
          <a:xfrm>
            <a:off x="7792085" y="4996815"/>
            <a:ext cx="365760" cy="361950"/>
          </a:xfrm>
          <a:prstGeom prst="mathPlus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pic>
        <p:nvPicPr>
          <p:cNvPr id="1026" name="Picture 2" descr="GPS全球卫星定位系统简介-西安佰骏电子科技有限公司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5485130"/>
            <a:ext cx="2178050" cy="113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5" y="5495925"/>
            <a:ext cx="249555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6-ADAS高级辅助驾驶+DSM防疲劳驾驶检测系统-ADAS高级辅助驾驶系统-深圳市恒基科达安普科技有限公司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57" r="1000"/>
          <a:stretch>
            <a:fillRect/>
          </a:stretch>
        </p:blipFill>
        <p:spPr bwMode="auto">
          <a:xfrm>
            <a:off x="8493760" y="5513070"/>
            <a:ext cx="2560320" cy="110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组合 17"/>
          <p:cNvGrpSpPr/>
          <p:nvPr/>
        </p:nvGrpSpPr>
        <p:grpSpPr>
          <a:xfrm>
            <a:off x="4549140" y="2766060"/>
            <a:ext cx="2279015" cy="697230"/>
            <a:chOff x="7402" y="6231"/>
            <a:chExt cx="3074" cy="838"/>
          </a:xfrm>
        </p:grpSpPr>
        <p:pic>
          <p:nvPicPr>
            <p:cNvPr id="311" name="Picture 7"/>
            <p:cNvPicPr>
              <a:picLocks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7" y="6232"/>
              <a:ext cx="1036" cy="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3" name="图片 312"/>
            <p:cNvPicPr/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2" y="6231"/>
              <a:ext cx="1025" cy="838"/>
            </a:xfrm>
            <a:prstGeom prst="rect">
              <a:avLst/>
            </a:prstGeom>
          </p:spPr>
        </p:pic>
        <p:pic>
          <p:nvPicPr>
            <p:cNvPr id="315" name="Picture 4" descr="无人车系统仿真相关软件介绍-Carsim - 知乎"/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948" b="5020"/>
            <a:stretch>
              <a:fillRect/>
            </a:stretch>
          </p:blipFill>
          <p:spPr bwMode="auto">
            <a:xfrm>
              <a:off x="9464" y="6232"/>
              <a:ext cx="1013" cy="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9" name="图片 10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4710" y="2745105"/>
            <a:ext cx="1562735" cy="575310"/>
          </a:xfrm>
          <a:prstGeom prst="rect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300" y="2750820"/>
            <a:ext cx="1375410" cy="57594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49" name="箭头: 左弧形 154"/>
          <p:cNvSpPr/>
          <p:nvPr/>
        </p:nvSpPr>
        <p:spPr>
          <a:xfrm rot="10800000">
            <a:off x="11501755" y="2308225"/>
            <a:ext cx="440055" cy="2979420"/>
          </a:xfrm>
          <a:prstGeom prst="curvedRightArrow">
            <a:avLst>
              <a:gd name="adj1" fmla="val 25029"/>
              <a:gd name="adj2" fmla="val 50000"/>
              <a:gd name="adj3" fmla="val 2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文本框 82"/>
          <p:cNvSpPr txBox="1">
            <a:spLocks noChangeArrowheads="1"/>
          </p:cNvSpPr>
          <p:nvPr/>
        </p:nvSpPr>
        <p:spPr bwMode="auto">
          <a:xfrm>
            <a:off x="390105" y="3611573"/>
            <a:ext cx="367030" cy="12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kern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数据支撑</a:t>
            </a:r>
          </a:p>
        </p:txBody>
      </p:sp>
      <p:sp>
        <p:nvSpPr>
          <p:cNvPr id="52" name="文本框 82"/>
          <p:cNvSpPr txBox="1">
            <a:spLocks noChangeArrowheads="1"/>
          </p:cNvSpPr>
          <p:nvPr/>
        </p:nvSpPr>
        <p:spPr bwMode="auto">
          <a:xfrm>
            <a:off x="11468100" y="3529330"/>
            <a:ext cx="39878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no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kern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数据支撑</a:t>
            </a:r>
          </a:p>
        </p:txBody>
      </p:sp>
      <p:sp>
        <p:nvSpPr>
          <p:cNvPr id="6" name="右弧形箭头 5"/>
          <p:cNvSpPr/>
          <p:nvPr/>
        </p:nvSpPr>
        <p:spPr>
          <a:xfrm rot="10800000">
            <a:off x="392430" y="2308225"/>
            <a:ext cx="520700" cy="3050540"/>
          </a:xfrm>
          <a:prstGeom prst="curvedLeftArrow">
            <a:avLst/>
          </a:prstGeom>
          <a:solidFill>
            <a:srgbClr val="BFBFB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1041400" y="1089025"/>
            <a:ext cx="10429240" cy="3246755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8331200" y="1839595"/>
            <a:ext cx="2933065" cy="76517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事故发生概率与严重程度建模及特征分析</a:t>
            </a:r>
            <a:endParaRPr lang="zh-CN" altLang="zh-CN" sz="16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8373745" y="3326765"/>
            <a:ext cx="2933065" cy="76517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高速公路改扩建前中后高危场景画像</a:t>
            </a:r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 rot="16200000">
            <a:off x="286068" y="2390454"/>
            <a:ext cx="2595879" cy="58991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交通事故数据</a:t>
            </a:r>
          </a:p>
        </p:txBody>
      </p:sp>
      <p:sp>
        <p:nvSpPr>
          <p:cNvPr id="21" name="矩形 20"/>
          <p:cNvSpPr/>
          <p:nvPr>
            <p:custDataLst>
              <p:tags r:id="rId4"/>
            </p:custDataLst>
          </p:nvPr>
        </p:nvSpPr>
        <p:spPr>
          <a:xfrm>
            <a:off x="4597400" y="1979295"/>
            <a:ext cx="2276475" cy="48577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zh-CN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事故时空特征</a:t>
            </a:r>
          </a:p>
        </p:txBody>
      </p:sp>
      <p:sp>
        <p:nvSpPr>
          <p:cNvPr id="32" name="矩形 31"/>
          <p:cNvSpPr/>
          <p:nvPr>
            <p:custDataLst>
              <p:tags r:id="rId5"/>
            </p:custDataLst>
          </p:nvPr>
        </p:nvSpPr>
        <p:spPr>
          <a:xfrm>
            <a:off x="4549775" y="3463290"/>
            <a:ext cx="2279015" cy="52133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zh-CN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事故典型特征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3154045" y="1722755"/>
            <a:ext cx="1443355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b="1"/>
              <a:t>时间序列分析</a:t>
            </a:r>
          </a:p>
          <a:p>
            <a:pPr algn="ctr"/>
            <a:r>
              <a:rPr lang="zh-CN" altLang="en-US" sz="1200" b="1"/>
              <a:t>空间统计分析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971665" y="1722755"/>
            <a:ext cx="127889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贝叶斯网络</a:t>
            </a:r>
          </a:p>
          <a:p>
            <a:pPr algn="ctr"/>
            <a:r>
              <a:rPr lang="zh-CN" altLang="en-US" sz="12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随机参数</a:t>
            </a:r>
            <a:r>
              <a:rPr lang="en-US" altLang="zh-CN" sz="12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Logit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3286760" y="3113405"/>
            <a:ext cx="1064260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None/>
            </a:pPr>
            <a:r>
              <a:rPr lang="zh-CN" altLang="en-US" sz="1200" b="1"/>
              <a:t>驾驶员失能</a:t>
            </a:r>
          </a:p>
          <a:p>
            <a:pPr algn="ctr"/>
            <a:r>
              <a:rPr lang="zh-CN" altLang="en-US" sz="1200" b="1"/>
              <a:t>不利天气</a:t>
            </a:r>
          </a:p>
          <a:p>
            <a:pPr algn="ctr"/>
            <a:r>
              <a:rPr lang="zh-CN" altLang="en-US" sz="1200" b="1"/>
              <a:t>桥隧路段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6828790" y="3278505"/>
            <a:ext cx="1722120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1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地理信息系统（</a:t>
            </a:r>
            <a:r>
              <a:rPr lang="en-US" altLang="zh-CN" sz="12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GIS</a:t>
            </a:r>
            <a:r>
              <a:rPr lang="zh-CN" altLang="en-US" sz="12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）</a:t>
            </a:r>
            <a:endParaRPr lang="zh-CN" altLang="en-US" sz="1200" b="1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/>
            <a:r>
              <a:rPr lang="zh-CN" altLang="en-US" sz="12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因子分析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4596130" y="1295400"/>
            <a:ext cx="2232660" cy="633095"/>
            <a:chOff x="7453" y="3659"/>
            <a:chExt cx="3023" cy="739"/>
          </a:xfrm>
        </p:grpSpPr>
        <p:pic>
          <p:nvPicPr>
            <p:cNvPr id="19" name="图片 47" descr="A map of a city&#10;&#10;Description automatically generated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3" y="3660"/>
              <a:ext cx="1035" cy="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图片 55" descr="A map with different locations&#10;&#10;Description automatically generated with medium confidence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8" y="3660"/>
              <a:ext cx="992" cy="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图片 54" descr="A map of a city&#10;&#10;Description automatically generated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2" y="3659"/>
              <a:ext cx="995" cy="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" name="图片 47"/>
          <p:cNvPicPr/>
          <p:nvPr/>
        </p:nvPicPr>
        <p:blipFill>
          <a:blip r:embed="rId19"/>
          <a:stretch>
            <a:fillRect/>
          </a:stretch>
        </p:blipFill>
        <p:spPr>
          <a:xfrm>
            <a:off x="1936115" y="1388745"/>
            <a:ext cx="1166495" cy="2595880"/>
          </a:xfrm>
          <a:prstGeom prst="rect">
            <a:avLst/>
          </a:prstGeom>
        </p:spPr>
      </p:pic>
      <p:cxnSp>
        <p:nvCxnSpPr>
          <p:cNvPr id="51" name="直接箭头连接符 50"/>
          <p:cNvCxnSpPr/>
          <p:nvPr/>
        </p:nvCxnSpPr>
        <p:spPr>
          <a:xfrm>
            <a:off x="3101340" y="3717925"/>
            <a:ext cx="14351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cxnSpLocks/>
            <a:endCxn id="21" idx="1"/>
          </p:cNvCxnSpPr>
          <p:nvPr/>
        </p:nvCxnSpPr>
        <p:spPr>
          <a:xfrm flipV="1">
            <a:off x="3089910" y="2222500"/>
            <a:ext cx="150749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1041400" y="4506595"/>
            <a:ext cx="10429240" cy="2198370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cxnSp>
        <p:nvCxnSpPr>
          <p:cNvPr id="58" name="直接箭头连接符 57"/>
          <p:cNvCxnSpPr>
            <a:cxnSpLocks/>
            <a:stCxn id="21" idx="3"/>
            <a:endCxn id="10" idx="1"/>
          </p:cNvCxnSpPr>
          <p:nvPr/>
        </p:nvCxnSpPr>
        <p:spPr>
          <a:xfrm>
            <a:off x="6873875" y="2222500"/>
            <a:ext cx="14573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32" idx="3"/>
          </p:cNvCxnSpPr>
          <p:nvPr/>
        </p:nvCxnSpPr>
        <p:spPr>
          <a:xfrm>
            <a:off x="6828790" y="3724275"/>
            <a:ext cx="154051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0" name="图片 59"/>
          <p:cNvPicPr/>
          <p:nvPr/>
        </p:nvPicPr>
        <p:blipFill>
          <a:blip r:embed="rId20"/>
          <a:stretch>
            <a:fillRect/>
          </a:stretch>
        </p:blipFill>
        <p:spPr>
          <a:xfrm>
            <a:off x="8331200" y="1217930"/>
            <a:ext cx="1414145" cy="621665"/>
          </a:xfrm>
          <a:prstGeom prst="rect">
            <a:avLst/>
          </a:prstGeom>
        </p:spPr>
      </p:pic>
      <p:pic>
        <p:nvPicPr>
          <p:cNvPr id="61" name="图片 60"/>
          <p:cNvPicPr/>
          <p:nvPr/>
        </p:nvPicPr>
        <p:blipFill>
          <a:blip r:embed="rId21"/>
          <a:stretch>
            <a:fillRect/>
          </a:stretch>
        </p:blipFill>
        <p:spPr>
          <a:xfrm>
            <a:off x="9744710" y="1217930"/>
            <a:ext cx="1519555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7444" y="336201"/>
            <a:ext cx="10674556" cy="57819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500" dirty="0"/>
              <a:t>课题</a:t>
            </a:r>
            <a:r>
              <a:rPr lang="en-US" altLang="zh-CN" sz="2500" dirty="0"/>
              <a:t>2</a:t>
            </a:r>
            <a:r>
              <a:rPr lang="zh-CN" altLang="en-US" sz="2500" dirty="0"/>
              <a:t>：考虑改扩建前中后交通需求与高危场景的交通监测设施布设优化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D9029C2-7AA9-46F9-A9FA-864695DFA517}"/>
              </a:ext>
            </a:extLst>
          </p:cNvPr>
          <p:cNvSpPr/>
          <p:nvPr/>
        </p:nvSpPr>
        <p:spPr>
          <a:xfrm>
            <a:off x="1101643" y="3056318"/>
            <a:ext cx="1256022" cy="750579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实时交通数据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A843A535-9345-4FE1-A3FC-E1F1C46CA793}"/>
              </a:ext>
            </a:extLst>
          </p:cNvPr>
          <p:cNvSpPr/>
          <p:nvPr/>
        </p:nvSpPr>
        <p:spPr>
          <a:xfrm>
            <a:off x="1001926" y="1185044"/>
            <a:ext cx="1429193" cy="5329806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pic>
        <p:nvPicPr>
          <p:cNvPr id="129" name="图片 128">
            <a:extLst>
              <a:ext uri="{FF2B5EF4-FFF2-40B4-BE49-F238E27FC236}">
                <a16:creationId xmlns:a16="http://schemas.microsoft.com/office/drawing/2014/main" id="{57C8E352-8ECE-4359-BE7D-8DE0B3F48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95" y="3821443"/>
            <a:ext cx="1240318" cy="859848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sp>
        <p:nvSpPr>
          <p:cNvPr id="136" name="矩形 135">
            <a:extLst>
              <a:ext uri="{FF2B5EF4-FFF2-40B4-BE49-F238E27FC236}">
                <a16:creationId xmlns:a16="http://schemas.microsoft.com/office/drawing/2014/main" id="{B2647404-2840-4418-B640-24DE6418666F}"/>
              </a:ext>
            </a:extLst>
          </p:cNvPr>
          <p:cNvSpPr/>
          <p:nvPr/>
        </p:nvSpPr>
        <p:spPr>
          <a:xfrm>
            <a:off x="1091484" y="1300871"/>
            <a:ext cx="1256022" cy="750579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历史交通数据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BB23EC04-1ACD-4B14-8A14-A622AD882210}"/>
              </a:ext>
            </a:extLst>
          </p:cNvPr>
          <p:cNvSpPr/>
          <p:nvPr/>
        </p:nvSpPr>
        <p:spPr>
          <a:xfrm>
            <a:off x="3452335" y="1209028"/>
            <a:ext cx="713265" cy="1185421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贝叶斯时空模型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ED983D42-2390-43F2-8BE8-B0B6A150204F}"/>
              </a:ext>
            </a:extLst>
          </p:cNvPr>
          <p:cNvSpPr/>
          <p:nvPr/>
        </p:nvSpPr>
        <p:spPr>
          <a:xfrm>
            <a:off x="6145452" y="1206112"/>
            <a:ext cx="713265" cy="1188337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道路容量计算模型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CA8A83F9-7CA9-41D1-B229-A5F0B1D18C93}"/>
              </a:ext>
            </a:extLst>
          </p:cNvPr>
          <p:cNvSpPr/>
          <p:nvPr/>
        </p:nvSpPr>
        <p:spPr>
          <a:xfrm>
            <a:off x="3184300" y="1123218"/>
            <a:ext cx="5479214" cy="1676638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7ED8C422-6001-4FA2-9637-E6BC3FD4E8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80458" y="275395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/>
          </a:p>
        </p:txBody>
      </p:sp>
      <p:sp>
        <p:nvSpPr>
          <p:cNvPr id="149" name="AutoShape 6">
            <a:extLst>
              <a:ext uri="{FF2B5EF4-FFF2-40B4-BE49-F238E27FC236}">
                <a16:creationId xmlns:a16="http://schemas.microsoft.com/office/drawing/2014/main" id="{F7883E5E-8FA2-479A-8AEF-21744950C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833" y="29258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/>
          </a:p>
        </p:txBody>
      </p:sp>
      <p:sp>
        <p:nvSpPr>
          <p:cNvPr id="154" name="箭头: 虚尾 153">
            <a:extLst>
              <a:ext uri="{FF2B5EF4-FFF2-40B4-BE49-F238E27FC236}">
                <a16:creationId xmlns:a16="http://schemas.microsoft.com/office/drawing/2014/main" id="{0F70259F-9F45-477E-A2C9-5B1807C31F0D}"/>
              </a:ext>
            </a:extLst>
          </p:cNvPr>
          <p:cNvSpPr/>
          <p:nvPr/>
        </p:nvSpPr>
        <p:spPr>
          <a:xfrm>
            <a:off x="8993715" y="1557719"/>
            <a:ext cx="540366" cy="111174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sz="1600" dirty="0"/>
          </a:p>
        </p:txBody>
      </p:sp>
      <p:sp>
        <p:nvSpPr>
          <p:cNvPr id="155" name="圆角矩形 3">
            <a:extLst>
              <a:ext uri="{FF2B5EF4-FFF2-40B4-BE49-F238E27FC236}">
                <a16:creationId xmlns:a16="http://schemas.microsoft.com/office/drawing/2014/main" id="{B563FBAB-2CEB-4B2F-AF75-0F20CB39123A}"/>
              </a:ext>
            </a:extLst>
          </p:cNvPr>
          <p:cNvSpPr/>
          <p:nvPr/>
        </p:nvSpPr>
        <p:spPr>
          <a:xfrm>
            <a:off x="9845182" y="1384217"/>
            <a:ext cx="1655665" cy="1333763"/>
          </a:xfrm>
          <a:prstGeom prst="flowChartMagneticDisk">
            <a:avLst/>
          </a:prstGeom>
          <a:solidFill>
            <a:srgbClr val="0070C0"/>
          </a:solidFill>
          <a:ln>
            <a:solidFill>
              <a:srgbClr val="F9F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改扩建前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交通需求分析</a:t>
            </a:r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EA40B244-C891-49F4-A057-09B238EB3A58}"/>
              </a:ext>
            </a:extLst>
          </p:cNvPr>
          <p:cNvSpPr/>
          <p:nvPr/>
        </p:nvSpPr>
        <p:spPr>
          <a:xfrm>
            <a:off x="6468061" y="2392223"/>
            <a:ext cx="1873135" cy="328246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评估道路通行性能</a:t>
            </a: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81479CB5-D798-4682-8E57-9222D4673D97}"/>
              </a:ext>
            </a:extLst>
          </p:cNvPr>
          <p:cNvSpPr/>
          <p:nvPr/>
        </p:nvSpPr>
        <p:spPr>
          <a:xfrm>
            <a:off x="3424116" y="2395660"/>
            <a:ext cx="2502048" cy="328246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识别拥堵及事故时空特征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8C7A1253-9CF6-478F-A76E-D4DDD977A789}"/>
              </a:ext>
            </a:extLst>
          </p:cNvPr>
          <p:cNvSpPr/>
          <p:nvPr/>
        </p:nvSpPr>
        <p:spPr>
          <a:xfrm>
            <a:off x="1091484" y="4807506"/>
            <a:ext cx="1256022" cy="750579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en-US" altLang="zh-CN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VISSIM</a:t>
            </a:r>
          </a:p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仿真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06D06489-3C07-4E8D-A0E3-9CF9E1CFAF2A}"/>
              </a:ext>
            </a:extLst>
          </p:cNvPr>
          <p:cNvSpPr/>
          <p:nvPr/>
        </p:nvSpPr>
        <p:spPr>
          <a:xfrm>
            <a:off x="3184299" y="2985785"/>
            <a:ext cx="5479214" cy="2136686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93" name="圆角矩形 3">
            <a:extLst>
              <a:ext uri="{FF2B5EF4-FFF2-40B4-BE49-F238E27FC236}">
                <a16:creationId xmlns:a16="http://schemas.microsoft.com/office/drawing/2014/main" id="{AAECA75C-60E5-4FD4-B0EA-4E0849A71450}"/>
              </a:ext>
            </a:extLst>
          </p:cNvPr>
          <p:cNvSpPr/>
          <p:nvPr/>
        </p:nvSpPr>
        <p:spPr>
          <a:xfrm>
            <a:off x="9845183" y="3190853"/>
            <a:ext cx="1655666" cy="1333763"/>
          </a:xfrm>
          <a:prstGeom prst="flowChartMagneticDisk">
            <a:avLst/>
          </a:prstGeom>
          <a:solidFill>
            <a:srgbClr val="0070C0"/>
          </a:solidFill>
          <a:ln>
            <a:solidFill>
              <a:srgbClr val="F9F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改扩建中后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交通需求分析</a:t>
            </a:r>
          </a:p>
        </p:txBody>
      </p:sp>
      <p:sp>
        <p:nvSpPr>
          <p:cNvPr id="194" name="圆角矩形 3">
            <a:extLst>
              <a:ext uri="{FF2B5EF4-FFF2-40B4-BE49-F238E27FC236}">
                <a16:creationId xmlns:a16="http://schemas.microsoft.com/office/drawing/2014/main" id="{AEBC1FD5-479C-46F3-B596-CE6390AB3609}"/>
              </a:ext>
            </a:extLst>
          </p:cNvPr>
          <p:cNvSpPr/>
          <p:nvPr/>
        </p:nvSpPr>
        <p:spPr>
          <a:xfrm>
            <a:off x="9844982" y="5075930"/>
            <a:ext cx="1655665" cy="1333763"/>
          </a:xfrm>
          <a:prstGeom prst="flowChartMagneticDisk">
            <a:avLst/>
          </a:prstGeom>
          <a:solidFill>
            <a:srgbClr val="0070C0"/>
          </a:solidFill>
          <a:ln>
            <a:solidFill>
              <a:srgbClr val="F9F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监测设施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布局优化方法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0AB86B3B-1057-42E4-99F0-6B5D8CD68872}"/>
              </a:ext>
            </a:extLst>
          </p:cNvPr>
          <p:cNvSpPr/>
          <p:nvPr/>
        </p:nvSpPr>
        <p:spPr>
          <a:xfrm>
            <a:off x="3385609" y="3129468"/>
            <a:ext cx="1550279" cy="329471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车辆排队长度</a:t>
            </a: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924235D2-795B-4B32-A42A-1B4FBEEFF3AC}"/>
              </a:ext>
            </a:extLst>
          </p:cNvPr>
          <p:cNvSpPr/>
          <p:nvPr/>
        </p:nvSpPr>
        <p:spPr>
          <a:xfrm>
            <a:off x="5155398" y="3128017"/>
            <a:ext cx="1550280" cy="32453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车速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2BF68BB6-A500-4F8B-BE9B-BF48608D91E6}"/>
              </a:ext>
            </a:extLst>
          </p:cNvPr>
          <p:cNvSpPr/>
          <p:nvPr/>
        </p:nvSpPr>
        <p:spPr>
          <a:xfrm>
            <a:off x="6724679" y="5693009"/>
            <a:ext cx="1442072" cy="455768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桥梁</a:t>
            </a:r>
            <a:r>
              <a:rPr lang="en-US" altLang="zh-CN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/</a:t>
            </a:r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出入口</a:t>
            </a:r>
          </a:p>
        </p:txBody>
      </p: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BA0F7440-3C33-4672-8A8C-CCB4509B1311}"/>
              </a:ext>
            </a:extLst>
          </p:cNvPr>
          <p:cNvSpPr/>
          <p:nvPr/>
        </p:nvSpPr>
        <p:spPr>
          <a:xfrm>
            <a:off x="3734536" y="3491817"/>
            <a:ext cx="4277207" cy="321327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分析施工长、短期影响    动态优化施工方案</a:t>
            </a: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36B83F91-2B4E-4A57-B491-0421B6FBEAFB}"/>
              </a:ext>
            </a:extLst>
          </p:cNvPr>
          <p:cNvSpPr/>
          <p:nvPr/>
        </p:nvSpPr>
        <p:spPr>
          <a:xfrm>
            <a:off x="3179449" y="5322746"/>
            <a:ext cx="5488914" cy="1158121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209" name="箭头: 虚尾 208">
            <a:extLst>
              <a:ext uri="{FF2B5EF4-FFF2-40B4-BE49-F238E27FC236}">
                <a16:creationId xmlns:a16="http://schemas.microsoft.com/office/drawing/2014/main" id="{C849736B-D173-466A-9D62-BCD73C5EE858}"/>
              </a:ext>
            </a:extLst>
          </p:cNvPr>
          <p:cNvSpPr/>
          <p:nvPr/>
        </p:nvSpPr>
        <p:spPr>
          <a:xfrm>
            <a:off x="2502356" y="3050580"/>
            <a:ext cx="540366" cy="111174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sz="1600" dirty="0"/>
          </a:p>
        </p:txBody>
      </p:sp>
      <p:sp>
        <p:nvSpPr>
          <p:cNvPr id="210" name="箭头: 虚尾 209">
            <a:extLst>
              <a:ext uri="{FF2B5EF4-FFF2-40B4-BE49-F238E27FC236}">
                <a16:creationId xmlns:a16="http://schemas.microsoft.com/office/drawing/2014/main" id="{6DC05185-11A3-40B9-B2EE-31C144426C21}"/>
              </a:ext>
            </a:extLst>
          </p:cNvPr>
          <p:cNvSpPr/>
          <p:nvPr/>
        </p:nvSpPr>
        <p:spPr>
          <a:xfrm>
            <a:off x="8984064" y="3445890"/>
            <a:ext cx="540366" cy="111174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sz="1600" dirty="0"/>
          </a:p>
        </p:txBody>
      </p:sp>
      <p:sp>
        <p:nvSpPr>
          <p:cNvPr id="211" name="箭头: 虚尾 210">
            <a:extLst>
              <a:ext uri="{FF2B5EF4-FFF2-40B4-BE49-F238E27FC236}">
                <a16:creationId xmlns:a16="http://schemas.microsoft.com/office/drawing/2014/main" id="{1E0FC396-8614-4A92-80FB-9B8B69EF8915}"/>
              </a:ext>
            </a:extLst>
          </p:cNvPr>
          <p:cNvSpPr/>
          <p:nvPr/>
        </p:nvSpPr>
        <p:spPr>
          <a:xfrm>
            <a:off x="8981521" y="5268038"/>
            <a:ext cx="540366" cy="111174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sz="1600" dirty="0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4268C870-EC1C-4DD8-82B5-1A44E1315451}"/>
              </a:ext>
            </a:extLst>
          </p:cNvPr>
          <p:cNvSpPr/>
          <p:nvPr/>
        </p:nvSpPr>
        <p:spPr>
          <a:xfrm>
            <a:off x="3385610" y="5383308"/>
            <a:ext cx="1748586" cy="47384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交通需求预测</a:t>
            </a: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725C5F3D-2C5C-4B7F-9421-16AF3C34C2D7}"/>
              </a:ext>
            </a:extLst>
          </p:cNvPr>
          <p:cNvSpPr/>
          <p:nvPr/>
        </p:nvSpPr>
        <p:spPr>
          <a:xfrm>
            <a:off x="3385609" y="5983112"/>
            <a:ext cx="1748587" cy="432934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高危场景画像</a:t>
            </a:r>
          </a:p>
        </p:txBody>
      </p:sp>
      <p:sp>
        <p:nvSpPr>
          <p:cNvPr id="231" name="箭头: 虚尾 230">
            <a:extLst>
              <a:ext uri="{FF2B5EF4-FFF2-40B4-BE49-F238E27FC236}">
                <a16:creationId xmlns:a16="http://schemas.microsoft.com/office/drawing/2014/main" id="{EBBBF824-A79D-4962-97A8-42D64D4CF021}"/>
              </a:ext>
            </a:extLst>
          </p:cNvPr>
          <p:cNvSpPr/>
          <p:nvPr/>
        </p:nvSpPr>
        <p:spPr>
          <a:xfrm>
            <a:off x="5328472" y="5588061"/>
            <a:ext cx="1089337" cy="650844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92500" lnSpcReduction="10000"/>
          </a:bodyPr>
          <a:lstStyle/>
          <a:p>
            <a:pPr algn="ctr" defTabSz="914400"/>
            <a:endParaRPr lang="zh-CN" altLang="en-US" dirty="0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5B1F0EBF-6298-4733-A502-E6D00222A311}"/>
              </a:ext>
            </a:extLst>
          </p:cNvPr>
          <p:cNvSpPr/>
          <p:nvPr/>
        </p:nvSpPr>
        <p:spPr>
          <a:xfrm>
            <a:off x="6520099" y="5629293"/>
            <a:ext cx="2027388" cy="552546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监测设施数量、选址、设施类型</a:t>
            </a:r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2D10FECC-7363-4E77-BCFB-1E450D6D76E1}"/>
              </a:ext>
            </a:extLst>
          </p:cNvPr>
          <p:cNvSpPr/>
          <p:nvPr/>
        </p:nvSpPr>
        <p:spPr>
          <a:xfrm>
            <a:off x="4975116" y="5764083"/>
            <a:ext cx="1806797" cy="282966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构建模型</a:t>
            </a:r>
          </a:p>
        </p:txBody>
      </p:sp>
      <p:pic>
        <p:nvPicPr>
          <p:cNvPr id="4" name="Picture 2" descr="Vissim】做一次完整的交通仿真——4.信号相位设置_vissim左转待行区怎么设置-CSDN博客">
            <a:extLst>
              <a:ext uri="{FF2B5EF4-FFF2-40B4-BE49-F238E27FC236}">
                <a16:creationId xmlns:a16="http://schemas.microsoft.com/office/drawing/2014/main" id="{5EE7DFE2-9C99-7E8E-9477-93C59B3525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0" r="27438" b="26945"/>
          <a:stretch/>
        </p:blipFill>
        <p:spPr bwMode="auto">
          <a:xfrm>
            <a:off x="1088510" y="5554506"/>
            <a:ext cx="1256023" cy="750579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一种基于序列到序列时空注意力学习的交通流预测模型">
            <a:extLst>
              <a:ext uri="{FF2B5EF4-FFF2-40B4-BE49-F238E27FC236}">
                <a16:creationId xmlns:a16="http://schemas.microsoft.com/office/drawing/2014/main" id="{BD99E9F9-B8A0-3849-511D-F7F7E2580E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668"/>
          <a:stretch/>
        </p:blipFill>
        <p:spPr bwMode="auto">
          <a:xfrm>
            <a:off x="1098806" y="2051098"/>
            <a:ext cx="1245727" cy="845833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403B43-E2E2-4F38-6F49-6EA8733E3C23}"/>
              </a:ext>
            </a:extLst>
          </p:cNvPr>
          <p:cNvSpPr/>
          <p:nvPr/>
        </p:nvSpPr>
        <p:spPr>
          <a:xfrm>
            <a:off x="4962146" y="6088321"/>
            <a:ext cx="3853029" cy="321327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A3406551-28BE-C087-FAF6-12B8AAA0EB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9956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8C2EB8-0A5E-D28A-5F70-A71668EDA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5573" y="1214591"/>
            <a:ext cx="1709685" cy="118542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75F6757-0FDC-799E-2F66-80FCE1C87568}"/>
              </a:ext>
            </a:extLst>
          </p:cNvPr>
          <p:cNvSpPr/>
          <p:nvPr/>
        </p:nvSpPr>
        <p:spPr>
          <a:xfrm>
            <a:off x="6940118" y="3128017"/>
            <a:ext cx="1550280" cy="329471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通行能力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084129A-7FA1-B7A0-F7F1-43B6D6FA4354}"/>
              </a:ext>
            </a:extLst>
          </p:cNvPr>
          <p:cNvSpPr/>
          <p:nvPr/>
        </p:nvSpPr>
        <p:spPr>
          <a:xfrm>
            <a:off x="3680448" y="4773589"/>
            <a:ext cx="4428988" cy="321327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预测流量瓶颈，制定应对策略，评估运行效率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080BFBC-20D0-1555-670E-4B7A13F5F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1743" y="1214590"/>
            <a:ext cx="1710000" cy="1179860"/>
          </a:xfrm>
          <a:prstGeom prst="rect">
            <a:avLst/>
          </a:prstGeom>
        </p:spPr>
      </p:pic>
      <p:pic>
        <p:nvPicPr>
          <p:cNvPr id="1026" name="Picture 2" descr="卷积神经网络CNN总结- 最难不过二叉树- 博客园">
            <a:extLst>
              <a:ext uri="{FF2B5EF4-FFF2-40B4-BE49-F238E27FC236}">
                <a16:creationId xmlns:a16="http://schemas.microsoft.com/office/drawing/2014/main" id="{825F118B-836D-02D6-4B2D-334ADBF7F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036" y="3918693"/>
            <a:ext cx="1899906" cy="830720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C307394-090D-1DB1-9485-7C98FB88EC8E}"/>
              </a:ext>
            </a:extLst>
          </p:cNvPr>
          <p:cNvSpPr/>
          <p:nvPr/>
        </p:nvSpPr>
        <p:spPr>
          <a:xfrm>
            <a:off x="3381378" y="3917120"/>
            <a:ext cx="713265" cy="833818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神经网络</a:t>
            </a:r>
          </a:p>
        </p:txBody>
      </p:sp>
      <p:pic>
        <p:nvPicPr>
          <p:cNvPr id="1036" name="Picture 12" descr="新一代城市级交通操作系统OS｜城市级大规模网络实时在线中微观交通仿真平台TransSim产品介绍">
            <a:extLst>
              <a:ext uri="{FF2B5EF4-FFF2-40B4-BE49-F238E27FC236}">
                <a16:creationId xmlns:a16="http://schemas.microsoft.com/office/drawing/2014/main" id="{E273F167-5E32-293A-C6EA-CE7F2261B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2" b="5805"/>
          <a:stretch/>
        </p:blipFill>
        <p:spPr bwMode="auto">
          <a:xfrm>
            <a:off x="6705678" y="3897258"/>
            <a:ext cx="1816172" cy="85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A14806F-3B42-A69B-3152-8D5DA455E159}"/>
              </a:ext>
            </a:extLst>
          </p:cNvPr>
          <p:cNvSpPr/>
          <p:nvPr/>
        </p:nvSpPr>
        <p:spPr>
          <a:xfrm>
            <a:off x="6028292" y="3900436"/>
            <a:ext cx="713265" cy="849627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模拟运行状态</a:t>
            </a:r>
          </a:p>
        </p:txBody>
      </p:sp>
    </p:spTree>
    <p:extLst>
      <p:ext uri="{BB962C8B-B14F-4D97-AF65-F5344CB8AC3E}">
        <p14:creationId xmlns:p14="http://schemas.microsoft.com/office/powerpoint/2010/main" val="101876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箭头: 右 21"/>
          <p:cNvSpPr/>
          <p:nvPr/>
        </p:nvSpPr>
        <p:spPr>
          <a:xfrm>
            <a:off x="2837195" y="1491654"/>
            <a:ext cx="6176412" cy="171079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7445" y="336201"/>
            <a:ext cx="9157110" cy="578199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课题</a:t>
            </a:r>
            <a:r>
              <a:rPr lang="en-US" altLang="zh-CN" dirty="0"/>
              <a:t>3</a:t>
            </a:r>
            <a:r>
              <a:rPr lang="zh-CN" altLang="en-US" dirty="0"/>
              <a:t>：基于智能监测技术的高危路段车辆在途风险研判与推演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4615" y="1371945"/>
            <a:ext cx="3109568" cy="418191"/>
          </a:xfrm>
          <a:prstGeom prst="rect">
            <a:avLst/>
          </a:prstGeom>
          <a:solidFill>
            <a:srgbClr val="2E75B6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高危路段车辆运行状态实时监测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82200" y="1371945"/>
            <a:ext cx="3446836" cy="418191"/>
          </a:xfrm>
          <a:prstGeom prst="rect">
            <a:avLst/>
          </a:prstGeom>
          <a:solidFill>
            <a:srgbClr val="2E75B6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常规路段车辆行驶风险动态研判推演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247554" y="1371945"/>
            <a:ext cx="3540869" cy="418191"/>
          </a:xfrm>
          <a:prstGeom prst="rect">
            <a:avLst/>
          </a:prstGeom>
          <a:solidFill>
            <a:srgbClr val="2E75B6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改扩建区车辆行驶风险动态研判推演</a:t>
            </a:r>
          </a:p>
        </p:txBody>
      </p:sp>
      <p:sp>
        <p:nvSpPr>
          <p:cNvPr id="23" name="矩形 22"/>
          <p:cNvSpPr/>
          <p:nvPr/>
        </p:nvSpPr>
        <p:spPr>
          <a:xfrm>
            <a:off x="464615" y="2002267"/>
            <a:ext cx="3109568" cy="1453052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25962" y="2442658"/>
            <a:ext cx="140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车辆行驶轨迹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车辆运动参数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l="26399" b="5204"/>
          <a:stretch>
            <a:fillRect/>
          </a:stretch>
        </p:blipFill>
        <p:spPr>
          <a:xfrm>
            <a:off x="1796494" y="1998577"/>
            <a:ext cx="1777689" cy="1463204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454115" y="6166781"/>
            <a:ext cx="3109568" cy="418192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驾驶人风险驾驶行为辨识</a:t>
            </a:r>
          </a:p>
        </p:txBody>
      </p:sp>
      <p:sp>
        <p:nvSpPr>
          <p:cNvPr id="28" name="矩形 27"/>
          <p:cNvSpPr/>
          <p:nvPr/>
        </p:nvSpPr>
        <p:spPr>
          <a:xfrm>
            <a:off x="4182200" y="1998577"/>
            <a:ext cx="3446836" cy="1453053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247554" y="1949563"/>
            <a:ext cx="3540869" cy="1512217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201985" y="6166780"/>
            <a:ext cx="3446833" cy="418191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车辆运行风险实时识别与推演</a:t>
            </a:r>
          </a:p>
        </p:txBody>
      </p:sp>
      <p:sp>
        <p:nvSpPr>
          <p:cNvPr id="36" name="矩形 35"/>
          <p:cNvSpPr/>
          <p:nvPr/>
        </p:nvSpPr>
        <p:spPr>
          <a:xfrm>
            <a:off x="8247554" y="6166779"/>
            <a:ext cx="3540869" cy="418192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改扩建区车辆行驶风险研判与推演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rcRect t="23788" b="25955"/>
          <a:stretch>
            <a:fillRect/>
          </a:stretch>
        </p:blipFill>
        <p:spPr>
          <a:xfrm>
            <a:off x="4390030" y="2558164"/>
            <a:ext cx="3070741" cy="870836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4417186" y="2139974"/>
            <a:ext cx="2987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提取危险片段，标注风险等级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rcRect l="2593" t="1881"/>
          <a:stretch>
            <a:fillRect/>
          </a:stretch>
        </p:blipFill>
        <p:spPr>
          <a:xfrm>
            <a:off x="10218660" y="1949563"/>
            <a:ext cx="1569761" cy="1512217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8273172" y="2436403"/>
            <a:ext cx="1965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典型风险点位车辆冲突事故数据采集</a:t>
            </a:r>
          </a:p>
        </p:txBody>
      </p:sp>
      <p:sp>
        <p:nvSpPr>
          <p:cNvPr id="45" name="箭头: 虚尾 44"/>
          <p:cNvSpPr/>
          <p:nvPr/>
        </p:nvSpPr>
        <p:spPr>
          <a:xfrm rot="5400000">
            <a:off x="1590820" y="3324715"/>
            <a:ext cx="701897" cy="121399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dirty="0"/>
          </a:p>
        </p:txBody>
      </p:sp>
      <p:sp>
        <p:nvSpPr>
          <p:cNvPr id="46" name="矩形: 圆角 45"/>
          <p:cNvSpPr/>
          <p:nvPr/>
        </p:nvSpPr>
        <p:spPr>
          <a:xfrm>
            <a:off x="1602245" y="3725843"/>
            <a:ext cx="679046" cy="379981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滤波降噪</a:t>
            </a:r>
          </a:p>
        </p:txBody>
      </p:sp>
      <p:sp>
        <p:nvSpPr>
          <p:cNvPr id="49" name="箭头: 虚尾 48"/>
          <p:cNvSpPr/>
          <p:nvPr/>
        </p:nvSpPr>
        <p:spPr>
          <a:xfrm rot="5400000">
            <a:off x="1597307" y="5129060"/>
            <a:ext cx="701897" cy="121399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dirty="0"/>
          </a:p>
        </p:txBody>
      </p:sp>
      <p:sp>
        <p:nvSpPr>
          <p:cNvPr id="50" name="矩形: 圆角 49"/>
          <p:cNvSpPr/>
          <p:nvPr/>
        </p:nvSpPr>
        <p:spPr>
          <a:xfrm>
            <a:off x="1608732" y="5530188"/>
            <a:ext cx="679046" cy="379981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机器学习</a:t>
            </a:r>
          </a:p>
        </p:txBody>
      </p:sp>
      <p:sp>
        <p:nvSpPr>
          <p:cNvPr id="51" name="箭头: 虚尾 50"/>
          <p:cNvSpPr/>
          <p:nvPr/>
        </p:nvSpPr>
        <p:spPr>
          <a:xfrm rot="5400000">
            <a:off x="5522243" y="5129060"/>
            <a:ext cx="701897" cy="121399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dirty="0"/>
          </a:p>
        </p:txBody>
      </p:sp>
      <p:sp>
        <p:nvSpPr>
          <p:cNvPr id="52" name="矩形: 圆角 51"/>
          <p:cNvSpPr/>
          <p:nvPr/>
        </p:nvSpPr>
        <p:spPr>
          <a:xfrm>
            <a:off x="5533668" y="5530188"/>
            <a:ext cx="679046" cy="379981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机器学习</a:t>
            </a:r>
          </a:p>
        </p:txBody>
      </p:sp>
      <p:sp>
        <p:nvSpPr>
          <p:cNvPr id="53" name="箭头: 虚尾 52"/>
          <p:cNvSpPr/>
          <p:nvPr/>
        </p:nvSpPr>
        <p:spPr>
          <a:xfrm rot="5400000">
            <a:off x="5515756" y="3327324"/>
            <a:ext cx="701897" cy="121399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dirty="0"/>
          </a:p>
        </p:txBody>
      </p:sp>
      <p:sp>
        <p:nvSpPr>
          <p:cNvPr id="54" name="矩形: 圆角 53"/>
          <p:cNvSpPr/>
          <p:nvPr/>
        </p:nvSpPr>
        <p:spPr>
          <a:xfrm>
            <a:off x="5527181" y="3728452"/>
            <a:ext cx="679046" cy="379981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回归分析</a:t>
            </a:r>
          </a:p>
        </p:txBody>
      </p:sp>
      <p:sp>
        <p:nvSpPr>
          <p:cNvPr id="55" name="箭头: 虚尾 54"/>
          <p:cNvSpPr/>
          <p:nvPr/>
        </p:nvSpPr>
        <p:spPr>
          <a:xfrm rot="5400000">
            <a:off x="9704834" y="5128027"/>
            <a:ext cx="701897" cy="121399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dirty="0"/>
          </a:p>
        </p:txBody>
      </p:sp>
      <p:sp>
        <p:nvSpPr>
          <p:cNvPr id="56" name="矩形: 圆角 55"/>
          <p:cNvSpPr/>
          <p:nvPr/>
        </p:nvSpPr>
        <p:spPr>
          <a:xfrm>
            <a:off x="9716259" y="5529155"/>
            <a:ext cx="679046" cy="379981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机器学习</a:t>
            </a:r>
          </a:p>
        </p:txBody>
      </p:sp>
      <p:sp>
        <p:nvSpPr>
          <p:cNvPr id="57" name="箭头: 虚尾 56"/>
          <p:cNvSpPr/>
          <p:nvPr/>
        </p:nvSpPr>
        <p:spPr>
          <a:xfrm rot="5400000">
            <a:off x="9704834" y="3314563"/>
            <a:ext cx="701897" cy="1213997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dirty="0"/>
          </a:p>
        </p:txBody>
      </p:sp>
      <p:sp>
        <p:nvSpPr>
          <p:cNvPr id="58" name="矩形: 圆角 57"/>
          <p:cNvSpPr/>
          <p:nvPr/>
        </p:nvSpPr>
        <p:spPr>
          <a:xfrm>
            <a:off x="9664156" y="3684541"/>
            <a:ext cx="783252" cy="379981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构建</a:t>
            </a:r>
            <a:endParaRPr lang="en-US" altLang="zh-CN" sz="1400" b="1" dirty="0">
              <a:solidFill>
                <a:schemeClr val="bg1"/>
              </a:solidFill>
              <a:latin typeface="+mn-ea"/>
            </a:endParaRPr>
          </a:p>
          <a:p>
            <a:pPr algn="ctr" defTabSz="914400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数据集</a:t>
            </a:r>
          </a:p>
        </p:txBody>
      </p:sp>
      <p:sp>
        <p:nvSpPr>
          <p:cNvPr id="61" name="矩形 60"/>
          <p:cNvSpPr/>
          <p:nvPr/>
        </p:nvSpPr>
        <p:spPr>
          <a:xfrm>
            <a:off x="4237225" y="4367552"/>
            <a:ext cx="3446836" cy="901444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4313082" y="4425958"/>
            <a:ext cx="1263832" cy="750528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车辆运动风险</a:t>
            </a:r>
          </a:p>
        </p:txBody>
      </p:sp>
      <p:sp>
        <p:nvSpPr>
          <p:cNvPr id="63" name="矩形: 圆角 62"/>
          <p:cNvSpPr/>
          <p:nvPr/>
        </p:nvSpPr>
        <p:spPr>
          <a:xfrm>
            <a:off x="6102928" y="4426733"/>
            <a:ext cx="1480385" cy="359924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车辆运行参数</a:t>
            </a:r>
          </a:p>
        </p:txBody>
      </p:sp>
      <p:sp>
        <p:nvSpPr>
          <p:cNvPr id="64" name="矩形: 圆角 63"/>
          <p:cNvSpPr/>
          <p:nvPr/>
        </p:nvSpPr>
        <p:spPr>
          <a:xfrm>
            <a:off x="6102928" y="4861999"/>
            <a:ext cx="1480385" cy="359924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驾驶行为</a:t>
            </a:r>
          </a:p>
        </p:txBody>
      </p:sp>
      <p:sp>
        <p:nvSpPr>
          <p:cNvPr id="65" name="箭头: 左右 64"/>
          <p:cNvSpPr/>
          <p:nvPr/>
        </p:nvSpPr>
        <p:spPr>
          <a:xfrm>
            <a:off x="5675084" y="4665673"/>
            <a:ext cx="383239" cy="240418"/>
          </a:xfrm>
          <a:prstGeom prst="leftRightArrow">
            <a:avLst/>
          </a:prstGeom>
          <a:solidFill>
            <a:srgbClr val="AB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64615" y="4383164"/>
            <a:ext cx="3109568" cy="901444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493026" y="4460573"/>
            <a:ext cx="1134244" cy="73493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车辆运行轨迹</a:t>
            </a:r>
          </a:p>
        </p:txBody>
      </p:sp>
      <p:sp>
        <p:nvSpPr>
          <p:cNvPr id="69" name="矩形: 圆角 68"/>
          <p:cNvSpPr/>
          <p:nvPr/>
        </p:nvSpPr>
        <p:spPr>
          <a:xfrm>
            <a:off x="2190762" y="4453143"/>
            <a:ext cx="1327889" cy="73493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违停、跟车过近、车道偏离</a:t>
            </a:r>
          </a:p>
        </p:txBody>
      </p:sp>
      <p:sp>
        <p:nvSpPr>
          <p:cNvPr id="70" name="箭头: 左右 69"/>
          <p:cNvSpPr/>
          <p:nvPr/>
        </p:nvSpPr>
        <p:spPr>
          <a:xfrm>
            <a:off x="1799219" y="4740973"/>
            <a:ext cx="383239" cy="240418"/>
          </a:xfrm>
          <a:prstGeom prst="leftRightArrow">
            <a:avLst/>
          </a:prstGeom>
          <a:solidFill>
            <a:srgbClr val="AB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8247553" y="4377320"/>
            <a:ext cx="3540867" cy="901444"/>
          </a:xfrm>
          <a:prstGeom prst="rect">
            <a:avLst/>
          </a:prstGeom>
          <a:solidFill>
            <a:schemeClr val="bg1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8422642" y="4460062"/>
            <a:ext cx="1252147" cy="716424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交通冲突</a:t>
            </a:r>
          </a:p>
        </p:txBody>
      </p:sp>
      <p:sp>
        <p:nvSpPr>
          <p:cNvPr id="78" name="矩形: 圆角 77"/>
          <p:cNvSpPr/>
          <p:nvPr/>
        </p:nvSpPr>
        <p:spPr>
          <a:xfrm>
            <a:off x="10238281" y="4436788"/>
            <a:ext cx="1480385" cy="359924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道路交通要素</a:t>
            </a:r>
          </a:p>
        </p:txBody>
      </p:sp>
      <p:sp>
        <p:nvSpPr>
          <p:cNvPr id="79" name="矩形: 圆角 78"/>
          <p:cNvSpPr/>
          <p:nvPr/>
        </p:nvSpPr>
        <p:spPr>
          <a:xfrm>
            <a:off x="10238281" y="4872054"/>
            <a:ext cx="1480385" cy="359924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车辆要素</a:t>
            </a:r>
          </a:p>
        </p:txBody>
      </p:sp>
      <p:sp>
        <p:nvSpPr>
          <p:cNvPr id="80" name="箭头: 左右 79"/>
          <p:cNvSpPr/>
          <p:nvPr/>
        </p:nvSpPr>
        <p:spPr>
          <a:xfrm>
            <a:off x="9792945" y="4703606"/>
            <a:ext cx="383239" cy="240418"/>
          </a:xfrm>
          <a:prstGeom prst="leftRightArrow">
            <a:avLst/>
          </a:prstGeom>
          <a:solidFill>
            <a:srgbClr val="AB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DCF1-E9E8-D1C1-E60B-E640765E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9E89D-8062-33F4-7E20-995A9D01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45" y="336201"/>
            <a:ext cx="9157110" cy="578199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课题</a:t>
            </a:r>
            <a:r>
              <a:rPr lang="en-US" altLang="zh-CN" dirty="0"/>
              <a:t>4</a:t>
            </a:r>
            <a:r>
              <a:rPr lang="zh-CN" altLang="en-US" dirty="0"/>
              <a:t>：面向事故风险的预防措施与智慧应急管控策略研究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00F117F-2A79-CDA4-FB90-E3705B693A70}"/>
              </a:ext>
            </a:extLst>
          </p:cNvPr>
          <p:cNvGrpSpPr/>
          <p:nvPr/>
        </p:nvGrpSpPr>
        <p:grpSpPr>
          <a:xfrm>
            <a:off x="1575329" y="1532295"/>
            <a:ext cx="5529247" cy="701390"/>
            <a:chOff x="7440" y="6228"/>
            <a:chExt cx="7458" cy="843"/>
          </a:xfrm>
        </p:grpSpPr>
        <p:pic>
          <p:nvPicPr>
            <p:cNvPr id="311" name="Picture 7">
              <a:extLst>
                <a:ext uri="{FF2B5EF4-FFF2-40B4-BE49-F238E27FC236}">
                  <a16:creationId xmlns:a16="http://schemas.microsoft.com/office/drawing/2014/main" id="{F8108390-7260-3520-9047-7D766FEB3B8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94" y="6234"/>
              <a:ext cx="1204" cy="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3" name="图片 312">
              <a:extLst>
                <a:ext uri="{FF2B5EF4-FFF2-40B4-BE49-F238E27FC236}">
                  <a16:creationId xmlns:a16="http://schemas.microsoft.com/office/drawing/2014/main" id="{D68EBBC2-4054-95AC-B915-DEE7AAFEBC60}"/>
                </a:ext>
              </a:extLst>
            </p:cNvPr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0" y="6231"/>
              <a:ext cx="1196" cy="838"/>
            </a:xfrm>
            <a:prstGeom prst="rect">
              <a:avLst/>
            </a:prstGeom>
          </p:spPr>
        </p:pic>
        <p:pic>
          <p:nvPicPr>
            <p:cNvPr id="315" name="Picture 4" descr="无人车系统仿真相关软件介绍-Carsim - 知乎">
              <a:extLst>
                <a:ext uri="{FF2B5EF4-FFF2-40B4-BE49-F238E27FC236}">
                  <a16:creationId xmlns:a16="http://schemas.microsoft.com/office/drawing/2014/main" id="{6771FB28-CA87-2FCC-BDB5-AA500E6C02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948" b="5020"/>
            <a:stretch>
              <a:fillRect/>
            </a:stretch>
          </p:blipFill>
          <p:spPr bwMode="auto">
            <a:xfrm>
              <a:off x="8669" y="6228"/>
              <a:ext cx="1196" cy="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2" name="矩形 141">
            <a:extLst>
              <a:ext uri="{FF2B5EF4-FFF2-40B4-BE49-F238E27FC236}">
                <a16:creationId xmlns:a16="http://schemas.microsoft.com/office/drawing/2014/main" id="{61EE841B-B8A3-79A7-3DA0-EDD890618D7E}"/>
              </a:ext>
            </a:extLst>
          </p:cNvPr>
          <p:cNvSpPr/>
          <p:nvPr/>
        </p:nvSpPr>
        <p:spPr>
          <a:xfrm>
            <a:off x="1206500" y="1089025"/>
            <a:ext cx="9531350" cy="1253491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303233-68D3-B805-DCB8-18A34137F7F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73068" y="1200149"/>
            <a:ext cx="1804530" cy="33464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车辆与驾驶人数据</a:t>
            </a:r>
            <a:endParaRPr lang="zh-CN" altLang="zh-CN" sz="14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A5E97D-1715-B6C2-2204-4C5452CD6F5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90530" y="1196650"/>
            <a:ext cx="1804531" cy="33464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道路与施工数据</a:t>
            </a:r>
            <a:endParaRPr lang="zh-CN" altLang="zh-CN" sz="14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90E6E6-EB64-2493-0EA1-BBDA20C64B1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11888" y="1197603"/>
            <a:ext cx="1804530" cy="334645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环境与天气数据</a:t>
            </a:r>
            <a:endParaRPr lang="zh-CN" altLang="zh-CN" sz="14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1CAC01-C9B8-2A59-2C26-8FDA9229442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500269" y="1203001"/>
            <a:ext cx="1804530" cy="334644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交通流与事故数据</a:t>
            </a:r>
            <a:endParaRPr lang="zh-CN" altLang="zh-CN" sz="14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054" name="Picture 6" descr="高速下雪堵车，安徽小伙送泡面送开水给车主，网友点赞：好样的_手机搜狐网">
            <a:extLst>
              <a:ext uri="{FF2B5EF4-FFF2-40B4-BE49-F238E27FC236}">
                <a16:creationId xmlns:a16="http://schemas.microsoft.com/office/drawing/2014/main" id="{7E218BB4-ABB9-11B1-9E69-182DF1CB4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777" y="1536957"/>
            <a:ext cx="892675" cy="68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新设备上岗，高速养护效率加倍！ - 广东省交通运输厅">
            <a:extLst>
              <a:ext uri="{FF2B5EF4-FFF2-40B4-BE49-F238E27FC236}">
                <a16:creationId xmlns:a16="http://schemas.microsoft.com/office/drawing/2014/main" id="{3290FA88-C70A-37C6-DC11-401E8DF20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954" y="1538598"/>
            <a:ext cx="892675" cy="69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离通车再近一步！义东高速开始沥青路面施工">
            <a:extLst>
              <a:ext uri="{FF2B5EF4-FFF2-40B4-BE49-F238E27FC236}">
                <a16:creationId xmlns:a16="http://schemas.microsoft.com/office/drawing/2014/main" id="{F1CDAC94-B1D4-3BF0-04D7-0C416E735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788" y="1544949"/>
            <a:ext cx="892676" cy="69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中山大学智能工程学院">
            <a:extLst>
              <a:ext uri="{FF2B5EF4-FFF2-40B4-BE49-F238E27FC236}">
                <a16:creationId xmlns:a16="http://schemas.microsoft.com/office/drawing/2014/main" id="{D5455778-0A15-3BDF-51C1-C781720443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7"/>
          <a:stretch/>
        </p:blipFill>
        <p:spPr bwMode="auto">
          <a:xfrm>
            <a:off x="8500269" y="1551299"/>
            <a:ext cx="892675" cy="67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高速公路交通事故影响因素分析及防控策略">
            <a:extLst>
              <a:ext uri="{FF2B5EF4-FFF2-40B4-BE49-F238E27FC236}">
                <a16:creationId xmlns:a16="http://schemas.microsoft.com/office/drawing/2014/main" id="{12F26E0F-D976-0CA6-23A3-5271EAC35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874" y="1551299"/>
            <a:ext cx="912926" cy="6727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AD73AA6-A9EA-FBD5-D849-2DBF297903C6}"/>
              </a:ext>
            </a:extLst>
          </p:cNvPr>
          <p:cNvSpPr/>
          <p:nvPr/>
        </p:nvSpPr>
        <p:spPr>
          <a:xfrm>
            <a:off x="1461835" y="2969108"/>
            <a:ext cx="713265" cy="911530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风险评估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C00706-4215-4CE4-DD54-21AF2795D02B}"/>
              </a:ext>
            </a:extLst>
          </p:cNvPr>
          <p:cNvSpPr/>
          <p:nvPr/>
        </p:nvSpPr>
        <p:spPr>
          <a:xfrm>
            <a:off x="1193800" y="2862193"/>
            <a:ext cx="2908300" cy="2819005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9BD0030-57A0-0D85-CFCB-A7AACCA70C83}"/>
              </a:ext>
            </a:extLst>
          </p:cNvPr>
          <p:cNvSpPr/>
          <p:nvPr/>
        </p:nvSpPr>
        <p:spPr>
          <a:xfrm>
            <a:off x="1396926" y="3891260"/>
            <a:ext cx="2502048" cy="328246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预警与风险防控措施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6B0EDD-893E-29D1-652F-1AB22CDE557D}"/>
              </a:ext>
            </a:extLst>
          </p:cNvPr>
          <p:cNvSpPr/>
          <p:nvPr/>
        </p:nvSpPr>
        <p:spPr>
          <a:xfrm>
            <a:off x="4498307" y="2860297"/>
            <a:ext cx="2908300" cy="2819005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D1B154-4885-8C96-8687-6AC5ECAD1B78}"/>
              </a:ext>
            </a:extLst>
          </p:cNvPr>
          <p:cNvSpPr/>
          <p:nvPr/>
        </p:nvSpPr>
        <p:spPr>
          <a:xfrm>
            <a:off x="7802814" y="2860298"/>
            <a:ext cx="2908300" cy="2819005"/>
          </a:xfrm>
          <a:prstGeom prst="rect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36" name="圆角矩形 3">
            <a:extLst>
              <a:ext uri="{FF2B5EF4-FFF2-40B4-BE49-F238E27FC236}">
                <a16:creationId xmlns:a16="http://schemas.microsoft.com/office/drawing/2014/main" id="{B081D680-A05F-04C2-C02C-7E8150B0737F}"/>
              </a:ext>
            </a:extLst>
          </p:cNvPr>
          <p:cNvSpPr/>
          <p:nvPr/>
        </p:nvSpPr>
        <p:spPr>
          <a:xfrm>
            <a:off x="1259062" y="6031410"/>
            <a:ext cx="2631468" cy="541094"/>
          </a:xfrm>
          <a:prstGeom prst="flowChartMagneticDisk">
            <a:avLst/>
          </a:prstGeom>
          <a:solidFill>
            <a:srgbClr val="0070C0"/>
          </a:solidFill>
          <a:ln>
            <a:solidFill>
              <a:srgbClr val="F9F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多级主动防控机制</a:t>
            </a:r>
          </a:p>
        </p:txBody>
      </p:sp>
      <p:sp>
        <p:nvSpPr>
          <p:cNvPr id="37" name="圆角矩形 3">
            <a:extLst>
              <a:ext uri="{FF2B5EF4-FFF2-40B4-BE49-F238E27FC236}">
                <a16:creationId xmlns:a16="http://schemas.microsoft.com/office/drawing/2014/main" id="{706980F0-3BC4-A7C4-4FC3-48C12D55713A}"/>
              </a:ext>
            </a:extLst>
          </p:cNvPr>
          <p:cNvSpPr/>
          <p:nvPr/>
        </p:nvSpPr>
        <p:spPr>
          <a:xfrm>
            <a:off x="4542758" y="6031410"/>
            <a:ext cx="2631469" cy="541094"/>
          </a:xfrm>
          <a:prstGeom prst="flowChartMagneticDisk">
            <a:avLst/>
          </a:prstGeom>
          <a:solidFill>
            <a:srgbClr val="0070C0"/>
          </a:solidFill>
          <a:ln>
            <a:solidFill>
              <a:srgbClr val="F9F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交通风险演变趋势推演方法</a:t>
            </a:r>
          </a:p>
        </p:txBody>
      </p:sp>
      <p:sp>
        <p:nvSpPr>
          <p:cNvPr id="39" name="圆角矩形 3">
            <a:extLst>
              <a:ext uri="{FF2B5EF4-FFF2-40B4-BE49-F238E27FC236}">
                <a16:creationId xmlns:a16="http://schemas.microsoft.com/office/drawing/2014/main" id="{6F2D3EE2-4584-A3B3-89F5-F8D331C0549B}"/>
              </a:ext>
            </a:extLst>
          </p:cNvPr>
          <p:cNvSpPr/>
          <p:nvPr/>
        </p:nvSpPr>
        <p:spPr>
          <a:xfrm>
            <a:off x="7941229" y="6031410"/>
            <a:ext cx="2631469" cy="541094"/>
          </a:xfrm>
          <a:prstGeom prst="flowChartMagneticDisk">
            <a:avLst/>
          </a:prstGeom>
          <a:solidFill>
            <a:srgbClr val="0070C0"/>
          </a:solidFill>
          <a:ln>
            <a:solidFill>
              <a:srgbClr val="F9F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数模双驱动的应急管控机制</a:t>
            </a:r>
          </a:p>
        </p:txBody>
      </p:sp>
      <p:sp>
        <p:nvSpPr>
          <p:cNvPr id="41" name="箭头: 虚尾 40">
            <a:extLst>
              <a:ext uri="{FF2B5EF4-FFF2-40B4-BE49-F238E27FC236}">
                <a16:creationId xmlns:a16="http://schemas.microsoft.com/office/drawing/2014/main" id="{B200446B-6EA9-F963-E63A-F657570B9BEC}"/>
              </a:ext>
            </a:extLst>
          </p:cNvPr>
          <p:cNvSpPr/>
          <p:nvPr/>
        </p:nvSpPr>
        <p:spPr>
          <a:xfrm rot="5400000">
            <a:off x="5639877" y="1920694"/>
            <a:ext cx="347095" cy="1314449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 defTabSz="914400"/>
            <a:endParaRPr lang="zh-CN" altLang="en-US" sz="1600" dirty="0"/>
          </a:p>
        </p:txBody>
      </p:sp>
      <p:sp>
        <p:nvSpPr>
          <p:cNvPr id="43" name="箭头: 虚尾 42">
            <a:extLst>
              <a:ext uri="{FF2B5EF4-FFF2-40B4-BE49-F238E27FC236}">
                <a16:creationId xmlns:a16="http://schemas.microsoft.com/office/drawing/2014/main" id="{3AE22D21-513A-5F5D-DE25-55A235E95B4E}"/>
              </a:ext>
            </a:extLst>
          </p:cNvPr>
          <p:cNvSpPr/>
          <p:nvPr/>
        </p:nvSpPr>
        <p:spPr>
          <a:xfrm rot="5400000">
            <a:off x="2415842" y="5660751"/>
            <a:ext cx="317908" cy="402166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47500" lnSpcReduction="20000"/>
          </a:bodyPr>
          <a:lstStyle/>
          <a:p>
            <a:pPr algn="ctr" defTabSz="914400"/>
            <a:endParaRPr lang="zh-CN" altLang="en-US" sz="1600" dirty="0"/>
          </a:p>
        </p:txBody>
      </p:sp>
      <p:sp>
        <p:nvSpPr>
          <p:cNvPr id="44" name="箭头: 虚尾 43">
            <a:extLst>
              <a:ext uri="{FF2B5EF4-FFF2-40B4-BE49-F238E27FC236}">
                <a16:creationId xmlns:a16="http://schemas.microsoft.com/office/drawing/2014/main" id="{5A19B93C-3787-F0D9-0BA2-B47C91B8645C}"/>
              </a:ext>
            </a:extLst>
          </p:cNvPr>
          <p:cNvSpPr/>
          <p:nvPr/>
        </p:nvSpPr>
        <p:spPr>
          <a:xfrm rot="5400000">
            <a:off x="5745593" y="5656462"/>
            <a:ext cx="317908" cy="402166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47500" lnSpcReduction="20000"/>
          </a:bodyPr>
          <a:lstStyle/>
          <a:p>
            <a:pPr algn="ctr" defTabSz="914400"/>
            <a:endParaRPr lang="zh-CN" altLang="en-US" sz="1600" dirty="0"/>
          </a:p>
        </p:txBody>
      </p:sp>
      <p:sp>
        <p:nvSpPr>
          <p:cNvPr id="45" name="箭头: 虚尾 44">
            <a:extLst>
              <a:ext uri="{FF2B5EF4-FFF2-40B4-BE49-F238E27FC236}">
                <a16:creationId xmlns:a16="http://schemas.microsoft.com/office/drawing/2014/main" id="{8D08AE68-25D0-A166-DEDC-585C974DA3BB}"/>
              </a:ext>
            </a:extLst>
          </p:cNvPr>
          <p:cNvSpPr/>
          <p:nvPr/>
        </p:nvSpPr>
        <p:spPr>
          <a:xfrm rot="5400000">
            <a:off x="9098009" y="5637227"/>
            <a:ext cx="317908" cy="402166"/>
          </a:xfrm>
          <a:prstGeom prst="stripedRightArrow">
            <a:avLst/>
          </a:prstGeom>
          <a:solidFill>
            <a:srgbClr val="ABC7E7"/>
          </a:solidFill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47500" lnSpcReduction="20000"/>
          </a:bodyPr>
          <a:lstStyle/>
          <a:p>
            <a:pPr algn="ctr" defTabSz="914400"/>
            <a:endParaRPr lang="zh-CN" altLang="en-US" sz="1600" dirty="0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0DAF666-8451-EDDE-27FE-C80D564436A5}"/>
              </a:ext>
            </a:extLst>
          </p:cNvPr>
          <p:cNvSpPr/>
          <p:nvPr/>
        </p:nvSpPr>
        <p:spPr>
          <a:xfrm>
            <a:off x="1375167" y="5315497"/>
            <a:ext cx="2502048" cy="328246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高危场景诱导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0D6F4209-9C0E-89B0-81DD-8548D79FE1DC}"/>
              </a:ext>
            </a:extLst>
          </p:cNvPr>
          <p:cNvPicPr/>
          <p:nvPr/>
        </p:nvPicPr>
        <p:blipFill>
          <a:blip r:embed="rId15"/>
          <a:srcRect l="-237" r="237"/>
          <a:stretch/>
        </p:blipFill>
        <p:spPr>
          <a:xfrm>
            <a:off x="2175100" y="2969108"/>
            <a:ext cx="1440793" cy="911530"/>
          </a:xfrm>
          <a:prstGeom prst="rect">
            <a:avLst/>
          </a:prstGeom>
        </p:spPr>
      </p:pic>
      <p:pic>
        <p:nvPicPr>
          <p:cNvPr id="2070" name="Picture 22" descr="2025年DMS前装搭载或突破750万辆！多方势力搅局「融合集成」_手机搜狐网">
            <a:extLst>
              <a:ext uri="{FF2B5EF4-FFF2-40B4-BE49-F238E27FC236}">
                <a16:creationId xmlns:a16="http://schemas.microsoft.com/office/drawing/2014/main" id="{5CB4A871-1CFA-106D-0734-9E6097F56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470" y="4299197"/>
            <a:ext cx="1440793" cy="911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29347F48-CB60-D40C-C26B-FCD979FC6872}"/>
              </a:ext>
            </a:extLst>
          </p:cNvPr>
          <p:cNvSpPr/>
          <p:nvPr/>
        </p:nvSpPr>
        <p:spPr>
          <a:xfrm>
            <a:off x="1461835" y="4299196"/>
            <a:ext cx="713265" cy="911530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车载监控系统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7AD6104-E621-E3EA-3662-99BCCBC09C9C}"/>
              </a:ext>
            </a:extLst>
          </p:cNvPr>
          <p:cNvSpPr/>
          <p:nvPr/>
        </p:nvSpPr>
        <p:spPr>
          <a:xfrm>
            <a:off x="4689111" y="2956105"/>
            <a:ext cx="713265" cy="911530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动态（非）参数模型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16E0B43-AECB-2363-1F58-3157E682CD31}"/>
              </a:ext>
            </a:extLst>
          </p:cNvPr>
          <p:cNvSpPr/>
          <p:nvPr/>
        </p:nvSpPr>
        <p:spPr>
          <a:xfrm>
            <a:off x="4498307" y="3875090"/>
            <a:ext cx="2908300" cy="328246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动态推演事故后风险演变趋势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10C5FC8F-84FB-E09A-38F1-3564ADA851DD}"/>
              </a:ext>
            </a:extLst>
          </p:cNvPr>
          <p:cNvSpPr/>
          <p:nvPr/>
        </p:nvSpPr>
        <p:spPr>
          <a:xfrm>
            <a:off x="4518025" y="5312061"/>
            <a:ext cx="2908300" cy="328246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揭示风险耦合机制和突变规律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3413522-ABCF-F45F-7BEA-7226C2DEAC91}"/>
              </a:ext>
            </a:extLst>
          </p:cNvPr>
          <p:cNvSpPr/>
          <p:nvPr/>
        </p:nvSpPr>
        <p:spPr>
          <a:xfrm>
            <a:off x="4724400" y="4304387"/>
            <a:ext cx="779721" cy="911530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时间序列分析</a:t>
            </a:r>
          </a:p>
        </p:txBody>
      </p:sp>
      <p:pic>
        <p:nvPicPr>
          <p:cNvPr id="2072" name="Picture 24" descr="机器学习】参数模型和非参数模型_什么叫非参数-CSDN博客">
            <a:extLst>
              <a:ext uri="{FF2B5EF4-FFF2-40B4-BE49-F238E27FC236}">
                <a16:creationId xmlns:a16="http://schemas.microsoft.com/office/drawing/2014/main" id="{1E33A137-9085-F8EA-5FB0-1D687B263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9" t="12442" r="349" b="30261"/>
          <a:stretch/>
        </p:blipFill>
        <p:spPr bwMode="auto">
          <a:xfrm>
            <a:off x="5402376" y="2952974"/>
            <a:ext cx="1702200" cy="92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1A876040-F68A-3E0A-656D-67796EE5AAA3}"/>
              </a:ext>
            </a:extLst>
          </p:cNvPr>
          <p:cNvSpPr/>
          <p:nvPr/>
        </p:nvSpPr>
        <p:spPr>
          <a:xfrm>
            <a:off x="6391311" y="3790950"/>
            <a:ext cx="713265" cy="104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DDE9692D-9226-133D-6865-0D59FD3A00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48247" y="4299197"/>
            <a:ext cx="1556329" cy="911530"/>
          </a:xfrm>
          <a:prstGeom prst="rect">
            <a:avLst/>
          </a:prstGeom>
        </p:spPr>
      </p:pic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E3DADFC4-AF82-465D-5F9D-1519D8C2D871}"/>
              </a:ext>
            </a:extLst>
          </p:cNvPr>
          <p:cNvSpPr/>
          <p:nvPr/>
        </p:nvSpPr>
        <p:spPr>
          <a:xfrm>
            <a:off x="7802814" y="5306701"/>
            <a:ext cx="2908300" cy="328246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优化资源调度、交通分流措施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DD0E52B3-D949-D52E-EED4-07DE25C168B5}"/>
              </a:ext>
            </a:extLst>
          </p:cNvPr>
          <p:cNvSpPr/>
          <p:nvPr/>
        </p:nvSpPr>
        <p:spPr>
          <a:xfrm>
            <a:off x="7879013" y="3941762"/>
            <a:ext cx="2858837" cy="194901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prstMaterial="fla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4400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识别风险因素、评估事故概率</a:t>
            </a:r>
          </a:p>
        </p:txBody>
      </p:sp>
      <p:pic>
        <p:nvPicPr>
          <p:cNvPr id="2076" name="Picture 28" descr="综合交通运输大数据应用技术交通运输行业重点实验室">
            <a:extLst>
              <a:ext uri="{FF2B5EF4-FFF2-40B4-BE49-F238E27FC236}">
                <a16:creationId xmlns:a16="http://schemas.microsoft.com/office/drawing/2014/main" id="{C98FAC1F-F900-3D3E-EB13-79344FA5D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66"/>
          <a:stretch/>
        </p:blipFill>
        <p:spPr bwMode="auto">
          <a:xfrm>
            <a:off x="8719279" y="2962491"/>
            <a:ext cx="1815372" cy="90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86752353-E84B-615E-CF72-6BFB19E3335D}"/>
              </a:ext>
            </a:extLst>
          </p:cNvPr>
          <p:cNvSpPr/>
          <p:nvPr/>
        </p:nvSpPr>
        <p:spPr>
          <a:xfrm>
            <a:off x="8006013" y="2956105"/>
            <a:ext cx="713265" cy="911530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大数据分析</a:t>
            </a:r>
          </a:p>
        </p:txBody>
      </p:sp>
      <p:pic>
        <p:nvPicPr>
          <p:cNvPr id="2078" name="Picture 30" descr="徐坤|| 智慧应急的全周期实战能力训练方案——基于模糊决策和资源配置视角-西北大学公共管理学院">
            <a:extLst>
              <a:ext uri="{FF2B5EF4-FFF2-40B4-BE49-F238E27FC236}">
                <a16:creationId xmlns:a16="http://schemas.microsoft.com/office/drawing/2014/main" id="{52C4F329-BFB9-0DD2-7EFE-7799E38FA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278" y="4252977"/>
            <a:ext cx="1815372" cy="91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矩形 74">
            <a:extLst>
              <a:ext uri="{FF2B5EF4-FFF2-40B4-BE49-F238E27FC236}">
                <a16:creationId xmlns:a16="http://schemas.microsoft.com/office/drawing/2014/main" id="{4763CF72-BCAB-6880-C32A-D2AB27897330}"/>
              </a:ext>
            </a:extLst>
          </p:cNvPr>
          <p:cNvSpPr/>
          <p:nvPr/>
        </p:nvSpPr>
        <p:spPr>
          <a:xfrm>
            <a:off x="8006013" y="4259265"/>
            <a:ext cx="713265" cy="911530"/>
          </a:xfrm>
          <a:prstGeom prst="rect">
            <a:avLst/>
          </a:prstGeom>
          <a:solidFill>
            <a:srgbClr val="D2F0FA"/>
          </a:solidFill>
          <a:ln w="6350" cap="flat" cmpd="sng" algn="ctr">
            <a:solidFill>
              <a:srgbClr val="003399"/>
            </a:solidFill>
            <a:prstDash val="solid"/>
            <a:miter lim="800000"/>
          </a:ln>
          <a:effectLst/>
        </p:spPr>
        <p:txBody>
          <a:bodyPr vert="horz" lIns="180000" tIns="36000" rIns="108000" bIns="36000" anchor="ctr"/>
          <a:lstStyle/>
          <a:p>
            <a:pPr algn="ctr"/>
            <a:r>
              <a:rPr lang="zh-CN" altLang="en-US" sz="1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应急响应优化</a:t>
            </a:r>
          </a:p>
        </p:txBody>
      </p:sp>
    </p:spTree>
    <p:extLst>
      <p:ext uri="{BB962C8B-B14F-4D97-AF65-F5344CB8AC3E}">
        <p14:creationId xmlns:p14="http://schemas.microsoft.com/office/powerpoint/2010/main" val="17927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7445" y="336201"/>
            <a:ext cx="9157110" cy="57819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主要研究内容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技术路线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F35551-9971-494F-B673-1B3A5E7B86DF}"/>
              </a:ext>
            </a:extLst>
          </p:cNvPr>
          <p:cNvSpPr/>
          <p:nvPr/>
        </p:nvSpPr>
        <p:spPr>
          <a:xfrm>
            <a:off x="340897" y="1589342"/>
            <a:ext cx="6299542" cy="2208462"/>
          </a:xfrm>
          <a:prstGeom prst="rect">
            <a:avLst/>
          </a:prstGeom>
          <a:solidFill>
            <a:srgbClr val="FDEEE3"/>
          </a:solidFill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4F65F7-84D6-44D9-8543-9F7E4FAE9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436" y="2250615"/>
            <a:ext cx="504113" cy="41337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箭头: 左弧形 11">
            <a:extLst>
              <a:ext uri="{FF2B5EF4-FFF2-40B4-BE49-F238E27FC236}">
                <a16:creationId xmlns:a16="http://schemas.microsoft.com/office/drawing/2014/main" id="{A4B4C022-5CC5-4C67-AADB-B22C53F2736C}"/>
              </a:ext>
            </a:extLst>
          </p:cNvPr>
          <p:cNvSpPr/>
          <p:nvPr/>
        </p:nvSpPr>
        <p:spPr>
          <a:xfrm rot="16200000">
            <a:off x="5892245" y="2504090"/>
            <a:ext cx="132762" cy="377878"/>
          </a:xfrm>
          <a:prstGeom prst="curvedRightArrow">
            <a:avLst/>
          </a:prstGeom>
          <a:solidFill>
            <a:srgbClr val="EBBD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kern="1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33">
            <a:extLst>
              <a:ext uri="{FF2B5EF4-FFF2-40B4-BE49-F238E27FC236}">
                <a16:creationId xmlns:a16="http://schemas.microsoft.com/office/drawing/2014/main" id="{48E79EB1-3253-4D4C-8334-A5343A49A9AA}"/>
              </a:ext>
            </a:extLst>
          </p:cNvPr>
          <p:cNvSpPr/>
          <p:nvPr/>
        </p:nvSpPr>
        <p:spPr>
          <a:xfrm>
            <a:off x="335905" y="1425204"/>
            <a:ext cx="6304533" cy="569791"/>
          </a:xfrm>
          <a:prstGeom prst="roundRect">
            <a:avLst>
              <a:gd name="adj" fmla="val 2528"/>
            </a:avLst>
          </a:prstGeom>
          <a:solidFill>
            <a:srgbClr val="EBBDB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课题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高速公路改扩建前中后交通事故特征及高危场景画像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914E28-E0E1-4492-9102-92243DB0126C}"/>
              </a:ext>
            </a:extLst>
          </p:cNvPr>
          <p:cNvSpPr/>
          <p:nvPr/>
        </p:nvSpPr>
        <p:spPr>
          <a:xfrm>
            <a:off x="397459" y="2179489"/>
            <a:ext cx="1992424" cy="8297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BA1DCD-DA4D-49A4-9DA5-2C336122D799}"/>
              </a:ext>
            </a:extLst>
          </p:cNvPr>
          <p:cNvSpPr/>
          <p:nvPr/>
        </p:nvSpPr>
        <p:spPr>
          <a:xfrm>
            <a:off x="403991" y="3199613"/>
            <a:ext cx="1992424" cy="35052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交通事故数据底座构建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0DA97A-CC3B-4AA1-B0D5-33B7844DBF32}"/>
              </a:ext>
            </a:extLst>
          </p:cNvPr>
          <p:cNvSpPr txBox="1"/>
          <p:nvPr/>
        </p:nvSpPr>
        <p:spPr>
          <a:xfrm>
            <a:off x="284655" y="2716743"/>
            <a:ext cx="875888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车载设备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A2AF04-9D68-46B4-ABD5-0AD781AB0AA3}"/>
              </a:ext>
            </a:extLst>
          </p:cNvPr>
          <p:cNvSpPr/>
          <p:nvPr/>
        </p:nvSpPr>
        <p:spPr>
          <a:xfrm>
            <a:off x="2559179" y="2179488"/>
            <a:ext cx="1992424" cy="8297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B54F0C-AA70-4E59-A749-AB9F3E5B85A0}"/>
              </a:ext>
            </a:extLst>
          </p:cNvPr>
          <p:cNvSpPr/>
          <p:nvPr/>
        </p:nvSpPr>
        <p:spPr>
          <a:xfrm>
            <a:off x="2568289" y="3205111"/>
            <a:ext cx="1992424" cy="35052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事故建模及特征分析</a:t>
            </a:r>
          </a:p>
        </p:txBody>
      </p:sp>
      <p:pic>
        <p:nvPicPr>
          <p:cNvPr id="17" name="Picture 2" descr="GPS全球卫星定位系统简介-西安佰骏电子科技有限公司">
            <a:extLst>
              <a:ext uri="{FF2B5EF4-FFF2-40B4-BE49-F238E27FC236}">
                <a16:creationId xmlns:a16="http://schemas.microsoft.com/office/drawing/2014/main" id="{0B38EF63-53B4-4918-95FE-59976B4A6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47" y="2250489"/>
            <a:ext cx="564023" cy="49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G6-ADAS高级辅助驾驶+DSM防疲劳驾驶检测系统-ADAS高级辅助驾驶系统-深圳市恒基科达安普科技有限公司">
            <a:extLst>
              <a:ext uri="{FF2B5EF4-FFF2-40B4-BE49-F238E27FC236}">
                <a16:creationId xmlns:a16="http://schemas.microsoft.com/office/drawing/2014/main" id="{44D36280-BE88-4218-8114-365113A36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57" r="1000"/>
          <a:stretch/>
        </p:blipFill>
        <p:spPr bwMode="auto">
          <a:xfrm>
            <a:off x="1673826" y="2259974"/>
            <a:ext cx="618549" cy="47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E1709440-9889-4C89-BAD0-6990A0E90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964" y="2259217"/>
            <a:ext cx="585768" cy="477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77D1613-FF1A-4381-8984-E48B6B4C14E1}"/>
              </a:ext>
            </a:extLst>
          </p:cNvPr>
          <p:cNvSpPr txBox="1"/>
          <p:nvPr/>
        </p:nvSpPr>
        <p:spPr>
          <a:xfrm>
            <a:off x="955735" y="2710206"/>
            <a:ext cx="796262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道路监控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D52874-C24E-4F34-9FCE-75FB845B0115}"/>
              </a:ext>
            </a:extLst>
          </p:cNvPr>
          <p:cNvSpPr txBox="1"/>
          <p:nvPr/>
        </p:nvSpPr>
        <p:spPr>
          <a:xfrm>
            <a:off x="1602027" y="2715812"/>
            <a:ext cx="796262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监测系统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6B42C3-D073-435A-A714-F7DB0377E2A1}"/>
              </a:ext>
            </a:extLst>
          </p:cNvPr>
          <p:cNvSpPr/>
          <p:nvPr/>
        </p:nvSpPr>
        <p:spPr>
          <a:xfrm>
            <a:off x="4725472" y="2169512"/>
            <a:ext cx="1826220" cy="84302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72DB9B-C014-46C0-B515-93762D2B595F}"/>
              </a:ext>
            </a:extLst>
          </p:cNvPr>
          <p:cNvSpPr/>
          <p:nvPr/>
        </p:nvSpPr>
        <p:spPr>
          <a:xfrm>
            <a:off x="4715728" y="3208457"/>
            <a:ext cx="1835964" cy="35052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高危场景画像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C0E104BF-5122-4C91-A52C-3CEF796E4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09434" y="2255642"/>
            <a:ext cx="524203" cy="446203"/>
          </a:xfrm>
          <a:prstGeom prst="rect">
            <a:avLst/>
          </a:prstGeom>
          <a:solidFill>
            <a:srgbClr val="C5E0B4"/>
          </a:solidFill>
        </p:spPr>
      </p:pic>
      <p:sp>
        <p:nvSpPr>
          <p:cNvPr id="25" name="箭头: 左弧形 11">
            <a:extLst>
              <a:ext uri="{FF2B5EF4-FFF2-40B4-BE49-F238E27FC236}">
                <a16:creationId xmlns:a16="http://schemas.microsoft.com/office/drawing/2014/main" id="{0B0DAD84-6731-4190-B575-0E672FFFCCE1}"/>
              </a:ext>
            </a:extLst>
          </p:cNvPr>
          <p:cNvSpPr/>
          <p:nvPr/>
        </p:nvSpPr>
        <p:spPr>
          <a:xfrm rot="16200000">
            <a:off x="5301495" y="2516339"/>
            <a:ext cx="132762" cy="377878"/>
          </a:xfrm>
          <a:prstGeom prst="curvedRightArrow">
            <a:avLst/>
          </a:prstGeom>
          <a:solidFill>
            <a:srgbClr val="EBBD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kern="1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D5394A9-5324-48DE-8EFF-B3AE8189C9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1792" y="2245247"/>
            <a:ext cx="571323" cy="459696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1F415EAD-4BB6-4FBD-9BBE-7E9F965217DA}"/>
              </a:ext>
            </a:extLst>
          </p:cNvPr>
          <p:cNvSpPr txBox="1"/>
          <p:nvPr/>
        </p:nvSpPr>
        <p:spPr>
          <a:xfrm>
            <a:off x="5659317" y="2711702"/>
            <a:ext cx="796262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特征画像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3EEB1F-DCDA-4EF5-ADFF-0CF361028D7B}"/>
              </a:ext>
            </a:extLst>
          </p:cNvPr>
          <p:cNvSpPr txBox="1"/>
          <p:nvPr/>
        </p:nvSpPr>
        <p:spPr>
          <a:xfrm>
            <a:off x="4692339" y="2712427"/>
            <a:ext cx="1128901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时空网格划分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370037-A531-400C-A5D9-F5E3F740A1C4}"/>
              </a:ext>
            </a:extLst>
          </p:cNvPr>
          <p:cNvSpPr/>
          <p:nvPr/>
        </p:nvSpPr>
        <p:spPr>
          <a:xfrm>
            <a:off x="335906" y="4000679"/>
            <a:ext cx="2951168" cy="2400123"/>
          </a:xfrm>
          <a:prstGeom prst="rect">
            <a:avLst/>
          </a:prstGeom>
          <a:solidFill>
            <a:srgbClr val="F2F8EE"/>
          </a:solidFill>
          <a:ln w="19050">
            <a:solidFill>
              <a:srgbClr val="20386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zh-CN" altLang="en-US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圆角矩形 16">
            <a:extLst>
              <a:ext uri="{FF2B5EF4-FFF2-40B4-BE49-F238E27FC236}">
                <a16:creationId xmlns:a16="http://schemas.microsoft.com/office/drawing/2014/main" id="{FB040A6E-D06E-49AE-9C87-381C135BE125}"/>
              </a:ext>
            </a:extLst>
          </p:cNvPr>
          <p:cNvSpPr/>
          <p:nvPr/>
        </p:nvSpPr>
        <p:spPr>
          <a:xfrm>
            <a:off x="340896" y="3970723"/>
            <a:ext cx="2951319" cy="578696"/>
          </a:xfrm>
          <a:prstGeom prst="roundRect">
            <a:avLst>
              <a:gd name="adj" fmla="val 3746"/>
            </a:avLst>
          </a:prstGeom>
          <a:solidFill>
            <a:srgbClr val="DBE6C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课题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：改扩建交通需求与高危场景的交通监测设施布设优化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圆角矩形 43">
            <a:extLst>
              <a:ext uri="{FF2B5EF4-FFF2-40B4-BE49-F238E27FC236}">
                <a16:creationId xmlns:a16="http://schemas.microsoft.com/office/drawing/2014/main" id="{5F5C95C8-21AE-4997-9C57-8F0C2665E085}"/>
              </a:ext>
            </a:extLst>
          </p:cNvPr>
          <p:cNvSpPr/>
          <p:nvPr/>
        </p:nvSpPr>
        <p:spPr>
          <a:xfrm>
            <a:off x="2461002" y="4849185"/>
            <a:ext cx="675645" cy="1219180"/>
          </a:xfrm>
          <a:prstGeom prst="roundRect">
            <a:avLst>
              <a:gd name="adj" fmla="val 3746"/>
            </a:avLst>
          </a:prstGeom>
          <a:solidFill>
            <a:srgbClr val="DBE6C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圆角矩形 57">
            <a:extLst>
              <a:ext uri="{FF2B5EF4-FFF2-40B4-BE49-F238E27FC236}">
                <a16:creationId xmlns:a16="http://schemas.microsoft.com/office/drawing/2014/main" id="{8313E89F-0563-44AE-8FEE-AE459F90DD69}"/>
              </a:ext>
            </a:extLst>
          </p:cNvPr>
          <p:cNvSpPr/>
          <p:nvPr/>
        </p:nvSpPr>
        <p:spPr>
          <a:xfrm>
            <a:off x="487059" y="4846638"/>
            <a:ext cx="712954" cy="1221727"/>
          </a:xfrm>
          <a:prstGeom prst="roundRect">
            <a:avLst>
              <a:gd name="adj" fmla="val 3369"/>
            </a:avLst>
          </a:prstGeom>
          <a:solidFill>
            <a:srgbClr val="DBE6C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圆角矩形 57">
            <a:extLst>
              <a:ext uri="{FF2B5EF4-FFF2-40B4-BE49-F238E27FC236}">
                <a16:creationId xmlns:a16="http://schemas.microsoft.com/office/drawing/2014/main" id="{0D873900-C808-44F5-BF48-C5936CE85617}"/>
              </a:ext>
            </a:extLst>
          </p:cNvPr>
          <p:cNvSpPr/>
          <p:nvPr/>
        </p:nvSpPr>
        <p:spPr>
          <a:xfrm>
            <a:off x="1471958" y="4853428"/>
            <a:ext cx="712954" cy="1221727"/>
          </a:xfrm>
          <a:prstGeom prst="roundRect">
            <a:avLst>
              <a:gd name="adj" fmla="val 3369"/>
            </a:avLst>
          </a:prstGeom>
          <a:solidFill>
            <a:srgbClr val="DBE6C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8D15827-0647-4E6E-A389-33E71A3CE9D7}"/>
              </a:ext>
            </a:extLst>
          </p:cNvPr>
          <p:cNvSpPr/>
          <p:nvPr/>
        </p:nvSpPr>
        <p:spPr>
          <a:xfrm flipH="1">
            <a:off x="485016" y="4855894"/>
            <a:ext cx="73077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：基于交通流量数据的</a:t>
            </a:r>
            <a:r>
              <a:rPr lang="zh-CN" altLang="en-US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改扩建前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交通需求分析</a:t>
            </a:r>
            <a:endPara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458F51C-D778-4C80-9A1B-FEC86BEFB022}"/>
              </a:ext>
            </a:extLst>
          </p:cNvPr>
          <p:cNvSpPr/>
          <p:nvPr/>
        </p:nvSpPr>
        <p:spPr>
          <a:xfrm flipH="1">
            <a:off x="1463945" y="4911539"/>
            <a:ext cx="72921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改扩建中后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交通需求影响特性分析与预测</a:t>
            </a:r>
            <a:endPara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" name="下箭头 107">
            <a:extLst>
              <a:ext uri="{FF2B5EF4-FFF2-40B4-BE49-F238E27FC236}">
                <a16:creationId xmlns:a16="http://schemas.microsoft.com/office/drawing/2014/main" id="{CBEC5947-885A-42EA-88D5-826F64A96E21}"/>
              </a:ext>
            </a:extLst>
          </p:cNvPr>
          <p:cNvSpPr/>
          <p:nvPr/>
        </p:nvSpPr>
        <p:spPr>
          <a:xfrm flipH="1">
            <a:off x="788167" y="4551378"/>
            <a:ext cx="103391" cy="302049"/>
          </a:xfrm>
          <a:prstGeom prst="downArrow">
            <a:avLst>
              <a:gd name="adj1" fmla="val 50000"/>
              <a:gd name="adj2" fmla="val 6043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下箭头 107">
            <a:extLst>
              <a:ext uri="{FF2B5EF4-FFF2-40B4-BE49-F238E27FC236}">
                <a16:creationId xmlns:a16="http://schemas.microsoft.com/office/drawing/2014/main" id="{BEA63389-E2D8-47C3-89D2-A5F66826C72A}"/>
              </a:ext>
            </a:extLst>
          </p:cNvPr>
          <p:cNvSpPr/>
          <p:nvPr/>
        </p:nvSpPr>
        <p:spPr>
          <a:xfrm flipH="1">
            <a:off x="1773067" y="4564111"/>
            <a:ext cx="103392" cy="282525"/>
          </a:xfrm>
          <a:prstGeom prst="downArrow">
            <a:avLst>
              <a:gd name="adj1" fmla="val 50000"/>
              <a:gd name="adj2" fmla="val 6043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下箭头 107">
            <a:extLst>
              <a:ext uri="{FF2B5EF4-FFF2-40B4-BE49-F238E27FC236}">
                <a16:creationId xmlns:a16="http://schemas.microsoft.com/office/drawing/2014/main" id="{AD9FC962-D682-424B-9971-20436DE8EDFC}"/>
              </a:ext>
            </a:extLst>
          </p:cNvPr>
          <p:cNvSpPr/>
          <p:nvPr/>
        </p:nvSpPr>
        <p:spPr>
          <a:xfrm flipH="1">
            <a:off x="2737168" y="4563264"/>
            <a:ext cx="103393" cy="283373"/>
          </a:xfrm>
          <a:prstGeom prst="downArrow">
            <a:avLst>
              <a:gd name="adj1" fmla="val 50000"/>
              <a:gd name="adj2" fmla="val 6043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5687E62-296B-42E4-B71A-2BDD17AD6AC6}"/>
              </a:ext>
            </a:extLst>
          </p:cNvPr>
          <p:cNvSpPr/>
          <p:nvPr/>
        </p:nvSpPr>
        <p:spPr>
          <a:xfrm flipH="1">
            <a:off x="2448429" y="4924263"/>
            <a:ext cx="68821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：智能交通监测设施</a:t>
            </a:r>
            <a:r>
              <a:rPr lang="zh-CN" altLang="en-US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布局优化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下箭头 110">
            <a:extLst>
              <a:ext uri="{FF2B5EF4-FFF2-40B4-BE49-F238E27FC236}">
                <a16:creationId xmlns:a16="http://schemas.microsoft.com/office/drawing/2014/main" id="{A736CEE4-3309-4822-8A35-8DFE6674CC5A}"/>
              </a:ext>
            </a:extLst>
          </p:cNvPr>
          <p:cNvSpPr/>
          <p:nvPr/>
        </p:nvSpPr>
        <p:spPr>
          <a:xfrm rot="16200000" flipH="1">
            <a:off x="2233198" y="5259553"/>
            <a:ext cx="183237" cy="242339"/>
          </a:xfrm>
          <a:prstGeom prst="downArrow">
            <a:avLst>
              <a:gd name="adj1" fmla="val 50000"/>
              <a:gd name="adj2" fmla="val 60436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下箭头 110">
            <a:extLst>
              <a:ext uri="{FF2B5EF4-FFF2-40B4-BE49-F238E27FC236}">
                <a16:creationId xmlns:a16="http://schemas.microsoft.com/office/drawing/2014/main" id="{1E7D018D-46A3-4635-82EB-FEDB7F2D551B}"/>
              </a:ext>
            </a:extLst>
          </p:cNvPr>
          <p:cNvSpPr/>
          <p:nvPr/>
        </p:nvSpPr>
        <p:spPr>
          <a:xfrm rot="16200000" flipH="1">
            <a:off x="1253351" y="5257541"/>
            <a:ext cx="183237" cy="242339"/>
          </a:xfrm>
          <a:prstGeom prst="downArrow">
            <a:avLst>
              <a:gd name="adj1" fmla="val 50000"/>
              <a:gd name="adj2" fmla="val 60436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50FEF60-22EE-4F8F-AEF1-795F59F396CD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2396415" y="3374873"/>
            <a:ext cx="171874" cy="54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C80CA4D-1840-4D10-A74D-8D188B8C717E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4560713" y="3380371"/>
            <a:ext cx="155015" cy="3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7">
            <a:extLst>
              <a:ext uri="{FF2B5EF4-FFF2-40B4-BE49-F238E27FC236}">
                <a16:creationId xmlns:a16="http://schemas.microsoft.com/office/drawing/2014/main" id="{A188C35B-E710-4414-BDCD-993FB41E72F8}"/>
              </a:ext>
            </a:extLst>
          </p:cNvPr>
          <p:cNvPicPr>
            <a:picLocks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988" y="2241387"/>
            <a:ext cx="570044" cy="499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C7E5202E-F1A7-4A48-A13B-37D9CD13D7A8}"/>
              </a:ext>
            </a:extLst>
          </p:cNvPr>
          <p:cNvSpPr txBox="1"/>
          <p:nvPr/>
        </p:nvSpPr>
        <p:spPr>
          <a:xfrm>
            <a:off x="2552516" y="2707137"/>
            <a:ext cx="796262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不利天气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D40CF419-97EC-4057-9D49-9A80C632150C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760" y="2260432"/>
            <a:ext cx="597391" cy="467335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EFE48096-889D-4C37-BBB7-4C028433BD1F}"/>
              </a:ext>
            </a:extLst>
          </p:cNvPr>
          <p:cNvSpPr txBox="1"/>
          <p:nvPr/>
        </p:nvSpPr>
        <p:spPr>
          <a:xfrm>
            <a:off x="3181507" y="2708754"/>
            <a:ext cx="796262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失能行为</a:t>
            </a:r>
          </a:p>
        </p:txBody>
      </p:sp>
      <p:pic>
        <p:nvPicPr>
          <p:cNvPr id="54" name="Picture 4" descr="无人车系统仿真相关软件介绍-Carsim - 知乎">
            <a:extLst>
              <a:ext uri="{FF2B5EF4-FFF2-40B4-BE49-F238E27FC236}">
                <a16:creationId xmlns:a16="http://schemas.microsoft.com/office/drawing/2014/main" id="{C677B89A-1F22-4647-A658-843AF13A09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48" b="5020"/>
          <a:stretch/>
        </p:blipFill>
        <p:spPr bwMode="auto">
          <a:xfrm>
            <a:off x="3923847" y="2258399"/>
            <a:ext cx="594571" cy="45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318919CE-D180-4A6B-B9A4-7E8F6D546A9D}"/>
              </a:ext>
            </a:extLst>
          </p:cNvPr>
          <p:cNvSpPr txBox="1"/>
          <p:nvPr/>
        </p:nvSpPr>
        <p:spPr>
          <a:xfrm>
            <a:off x="3815919" y="2708611"/>
            <a:ext cx="796262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特殊路段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28A54AA-8BDB-477B-B927-FFF1E47443DB}"/>
              </a:ext>
            </a:extLst>
          </p:cNvPr>
          <p:cNvSpPr/>
          <p:nvPr/>
        </p:nvSpPr>
        <p:spPr>
          <a:xfrm>
            <a:off x="3353060" y="3992002"/>
            <a:ext cx="3299827" cy="2400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20386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zh-CN" altLang="en-US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圆角矩形 33">
            <a:extLst>
              <a:ext uri="{FF2B5EF4-FFF2-40B4-BE49-F238E27FC236}">
                <a16:creationId xmlns:a16="http://schemas.microsoft.com/office/drawing/2014/main" id="{5976D3A7-B062-4F95-9963-634B2CDA8514}"/>
              </a:ext>
            </a:extLst>
          </p:cNvPr>
          <p:cNvSpPr/>
          <p:nvPr/>
        </p:nvSpPr>
        <p:spPr>
          <a:xfrm>
            <a:off x="3353059" y="3966181"/>
            <a:ext cx="3299827" cy="578695"/>
          </a:xfrm>
          <a:prstGeom prst="roundRect">
            <a:avLst>
              <a:gd name="adj" fmla="val 2528"/>
            </a:avLst>
          </a:prstGeom>
          <a:solidFill>
            <a:srgbClr val="C6D9F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课题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：基于智能监测技术的高危路段车辆在途风险研判与推演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9" name="Picture 10" descr="最新进展！山东南北交通主动脉——京台高速改扩建项目完成首次集中施工转序_头条_大众网">
            <a:extLst>
              <a:ext uri="{FF2B5EF4-FFF2-40B4-BE49-F238E27FC236}">
                <a16:creationId xmlns:a16="http://schemas.microsoft.com/office/drawing/2014/main" id="{EDDBE22C-3146-4695-9EAF-6637FB94C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071" y="4703118"/>
            <a:ext cx="1226522" cy="108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4" name="组合 83">
            <a:extLst>
              <a:ext uri="{FF2B5EF4-FFF2-40B4-BE49-F238E27FC236}">
                <a16:creationId xmlns:a16="http://schemas.microsoft.com/office/drawing/2014/main" id="{048A4FFA-4A3B-40F4-8216-33A0240392DA}"/>
              </a:ext>
            </a:extLst>
          </p:cNvPr>
          <p:cNvGrpSpPr/>
          <p:nvPr/>
        </p:nvGrpSpPr>
        <p:grpSpPr>
          <a:xfrm>
            <a:off x="3537005" y="5091137"/>
            <a:ext cx="951161" cy="299068"/>
            <a:chOff x="6017831" y="4261051"/>
            <a:chExt cx="951161" cy="299068"/>
          </a:xfrm>
        </p:grpSpPr>
        <p:sp>
          <p:nvSpPr>
            <p:cNvPr id="60" name="圆角矩形 35">
              <a:extLst>
                <a:ext uri="{FF2B5EF4-FFF2-40B4-BE49-F238E27FC236}">
                  <a16:creationId xmlns:a16="http://schemas.microsoft.com/office/drawing/2014/main" id="{99941201-2C7A-4FF7-B594-40F68F2DAC7D}"/>
                </a:ext>
              </a:extLst>
            </p:cNvPr>
            <p:cNvSpPr/>
            <p:nvPr/>
          </p:nvSpPr>
          <p:spPr>
            <a:xfrm>
              <a:off x="6017831" y="4261051"/>
              <a:ext cx="951161" cy="299068"/>
            </a:xfrm>
            <a:prstGeom prst="roundRect">
              <a:avLst>
                <a:gd name="adj" fmla="val 641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013"/>
                </a:lnSpc>
              </a:pPr>
              <a:endPara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4177842-7A38-4817-8E76-380C44687E5C}"/>
                </a:ext>
              </a:extLst>
            </p:cNvPr>
            <p:cNvSpPr txBox="1"/>
            <p:nvPr/>
          </p:nvSpPr>
          <p:spPr>
            <a:xfrm>
              <a:off x="6052358" y="4272856"/>
              <a:ext cx="909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900" b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200" dirty="0"/>
                <a:t>常规路段</a:t>
              </a:r>
            </a:p>
          </p:txBody>
        </p:sp>
      </p:grpSp>
      <p:sp>
        <p:nvSpPr>
          <p:cNvPr id="64" name="圆角矩形 35">
            <a:extLst>
              <a:ext uri="{FF2B5EF4-FFF2-40B4-BE49-F238E27FC236}">
                <a16:creationId xmlns:a16="http://schemas.microsoft.com/office/drawing/2014/main" id="{D9F4DBFE-65F4-4051-BFCB-A68D7042F175}"/>
              </a:ext>
            </a:extLst>
          </p:cNvPr>
          <p:cNvSpPr/>
          <p:nvPr/>
        </p:nvSpPr>
        <p:spPr>
          <a:xfrm>
            <a:off x="3547951" y="5434678"/>
            <a:ext cx="951161" cy="299068"/>
          </a:xfrm>
          <a:prstGeom prst="roundRect">
            <a:avLst>
              <a:gd name="adj" fmla="val 641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13"/>
              </a:lnSpc>
            </a:pPr>
            <a:endParaRPr lang="en-US" altLang="zh-CN" sz="1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E4C806B-B4C5-41E3-AED4-6D7FECD59960}"/>
              </a:ext>
            </a:extLst>
          </p:cNvPr>
          <p:cNvSpPr txBox="1"/>
          <p:nvPr/>
        </p:nvSpPr>
        <p:spPr>
          <a:xfrm>
            <a:off x="3559421" y="5466699"/>
            <a:ext cx="9093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200" dirty="0"/>
              <a:t>改扩建区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4FE1C36-009F-4AD6-BC0A-DD0CC812816C}"/>
              </a:ext>
            </a:extLst>
          </p:cNvPr>
          <p:cNvSpPr txBox="1"/>
          <p:nvPr/>
        </p:nvSpPr>
        <p:spPr>
          <a:xfrm>
            <a:off x="3582880" y="5819191"/>
            <a:ext cx="29202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行驶风险动态研判与推演</a:t>
            </a: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7A3D13CD-DCFD-4621-81E3-7B434D0AF4E3}"/>
              </a:ext>
            </a:extLst>
          </p:cNvPr>
          <p:cNvSpPr/>
          <p:nvPr/>
        </p:nvSpPr>
        <p:spPr>
          <a:xfrm>
            <a:off x="4228898" y="5031108"/>
            <a:ext cx="45719" cy="4571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1E2ECCC-F41D-410D-AB4E-4FEC0A407CDF}"/>
              </a:ext>
            </a:extLst>
          </p:cNvPr>
          <p:cNvSpPr txBox="1"/>
          <p:nvPr/>
        </p:nvSpPr>
        <p:spPr>
          <a:xfrm>
            <a:off x="4780702" y="4708294"/>
            <a:ext cx="1797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000" dirty="0">
                <a:latin typeface="Times New Roman" panose="02020603050405020304" pitchFamily="18" charset="0"/>
              </a:rPr>
              <a:t>基于机器学习的驾驶人注意力分散状态识别算法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D0B71F8-860A-4D68-86D0-1BA088034928}"/>
              </a:ext>
            </a:extLst>
          </p:cNvPr>
          <p:cNvSpPr/>
          <p:nvPr/>
        </p:nvSpPr>
        <p:spPr>
          <a:xfrm>
            <a:off x="4813558" y="4730891"/>
            <a:ext cx="1739987" cy="29542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83E3275-9397-4A46-B5F9-8D48A3180D5A}"/>
              </a:ext>
            </a:extLst>
          </p:cNvPr>
          <p:cNvSpPr/>
          <p:nvPr/>
        </p:nvSpPr>
        <p:spPr>
          <a:xfrm>
            <a:off x="4813558" y="5079323"/>
            <a:ext cx="1739987" cy="29542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00E8905-B348-41C1-9100-86704DEA755A}"/>
              </a:ext>
            </a:extLst>
          </p:cNvPr>
          <p:cNvSpPr/>
          <p:nvPr/>
        </p:nvSpPr>
        <p:spPr>
          <a:xfrm>
            <a:off x="4813558" y="5444105"/>
            <a:ext cx="1739987" cy="29542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390401F-7155-4394-8AEC-55A7C30F09DC}"/>
              </a:ext>
            </a:extLst>
          </p:cNvPr>
          <p:cNvSpPr txBox="1"/>
          <p:nvPr/>
        </p:nvSpPr>
        <p:spPr>
          <a:xfrm>
            <a:off x="4751828" y="5047703"/>
            <a:ext cx="1801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000" dirty="0">
                <a:latin typeface="Times New Roman" panose="02020603050405020304" pitchFamily="18" charset="0"/>
              </a:rPr>
              <a:t>基于风险指标构建耦合的危险驾驶行为判别原则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BC11BF6-08DC-44C1-AE76-77CF80862BC7}"/>
              </a:ext>
            </a:extLst>
          </p:cNvPr>
          <p:cNvSpPr txBox="1"/>
          <p:nvPr/>
        </p:nvSpPr>
        <p:spPr>
          <a:xfrm>
            <a:off x="4763130" y="5416609"/>
            <a:ext cx="1797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000" dirty="0">
                <a:latin typeface="Times New Roman" panose="02020603050405020304" pitchFamily="18" charset="0"/>
              </a:rPr>
              <a:t>基于机器学习算法的车辆行驶风险动态研判算法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B41E591B-9AF7-48D1-9BF3-1CFC9409885B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4509062" y="4877635"/>
            <a:ext cx="304496" cy="9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E216F017-E55E-429B-A583-C682A26F05CB}"/>
              </a:ext>
            </a:extLst>
          </p:cNvPr>
          <p:cNvGrpSpPr/>
          <p:nvPr/>
        </p:nvGrpSpPr>
        <p:grpSpPr>
          <a:xfrm>
            <a:off x="3527581" y="4717730"/>
            <a:ext cx="951161" cy="299068"/>
            <a:chOff x="6022038" y="3901680"/>
            <a:chExt cx="951161" cy="299068"/>
          </a:xfrm>
        </p:grpSpPr>
        <p:sp>
          <p:nvSpPr>
            <p:cNvPr id="58" name="圆角矩形 35">
              <a:extLst>
                <a:ext uri="{FF2B5EF4-FFF2-40B4-BE49-F238E27FC236}">
                  <a16:creationId xmlns:a16="http://schemas.microsoft.com/office/drawing/2014/main" id="{E3D177F2-3F6C-49AD-8AA1-64A204679B84}"/>
                </a:ext>
              </a:extLst>
            </p:cNvPr>
            <p:cNvSpPr/>
            <p:nvPr/>
          </p:nvSpPr>
          <p:spPr>
            <a:xfrm>
              <a:off x="6022038" y="3901680"/>
              <a:ext cx="951161" cy="299068"/>
            </a:xfrm>
            <a:prstGeom prst="roundRect">
              <a:avLst>
                <a:gd name="adj" fmla="val 641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013"/>
                </a:lnSpc>
              </a:pPr>
              <a:endParaRPr lang="en-US" altLang="zh-CN" sz="105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7A7BFA1-2FC7-4645-8FF5-1DE46F1D7B4E}"/>
                </a:ext>
              </a:extLst>
            </p:cNvPr>
            <p:cNvSpPr txBox="1"/>
            <p:nvPr/>
          </p:nvSpPr>
          <p:spPr>
            <a:xfrm>
              <a:off x="6052358" y="3917152"/>
              <a:ext cx="909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900" b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200" dirty="0"/>
                <a:t>高危路段</a:t>
              </a:r>
            </a:p>
          </p:txBody>
        </p:sp>
      </p:grp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F113DD52-A172-4F3E-A05C-FC7A435C3058}"/>
              </a:ext>
            </a:extLst>
          </p:cNvPr>
          <p:cNvCxnSpPr>
            <a:cxnSpLocks/>
          </p:cNvCxnSpPr>
          <p:nvPr/>
        </p:nvCxnSpPr>
        <p:spPr>
          <a:xfrm>
            <a:off x="4500969" y="5226767"/>
            <a:ext cx="304496" cy="9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51C14090-9FB1-4AA3-9D2E-58447BA39B16}"/>
              </a:ext>
            </a:extLst>
          </p:cNvPr>
          <p:cNvCxnSpPr>
            <a:cxnSpLocks/>
          </p:cNvCxnSpPr>
          <p:nvPr/>
        </p:nvCxnSpPr>
        <p:spPr>
          <a:xfrm>
            <a:off x="4500969" y="5588210"/>
            <a:ext cx="304496" cy="9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789F9FD7-AB90-425C-B55B-F41EA1CA1541}"/>
              </a:ext>
            </a:extLst>
          </p:cNvPr>
          <p:cNvSpPr/>
          <p:nvPr/>
        </p:nvSpPr>
        <p:spPr>
          <a:xfrm>
            <a:off x="6758802" y="1592861"/>
            <a:ext cx="5195104" cy="2198830"/>
          </a:xfrm>
          <a:prstGeom prst="rect">
            <a:avLst/>
          </a:prstGeom>
          <a:solidFill>
            <a:srgbClr val="FFF9E7"/>
          </a:solidFill>
          <a:ln w="19050">
            <a:solidFill>
              <a:srgbClr val="20386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zh-CN" altLang="en-US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圆角矩形 33">
            <a:extLst>
              <a:ext uri="{FF2B5EF4-FFF2-40B4-BE49-F238E27FC236}">
                <a16:creationId xmlns:a16="http://schemas.microsoft.com/office/drawing/2014/main" id="{9AA718F1-F02B-4599-8BE3-CBB243B35B91}"/>
              </a:ext>
            </a:extLst>
          </p:cNvPr>
          <p:cNvSpPr/>
          <p:nvPr/>
        </p:nvSpPr>
        <p:spPr>
          <a:xfrm rot="10800000" flipV="1">
            <a:off x="6758801" y="1424697"/>
            <a:ext cx="5195104" cy="571097"/>
          </a:xfrm>
          <a:prstGeom prst="roundRect">
            <a:avLst>
              <a:gd name="adj" fmla="val 2528"/>
            </a:avLst>
          </a:prstGeom>
          <a:solidFill>
            <a:srgbClr val="FFECC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课题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：面向事故风险预防措施与智慧应急管控策略研究</a:t>
            </a:r>
          </a:p>
        </p:txBody>
      </p:sp>
      <p:sp>
        <p:nvSpPr>
          <p:cNvPr id="92" name="圆角矩形 18">
            <a:extLst>
              <a:ext uri="{FF2B5EF4-FFF2-40B4-BE49-F238E27FC236}">
                <a16:creationId xmlns:a16="http://schemas.microsoft.com/office/drawing/2014/main" id="{ADE1D072-8C9D-41B2-9108-B9DA037C4444}"/>
              </a:ext>
            </a:extLst>
          </p:cNvPr>
          <p:cNvSpPr/>
          <p:nvPr/>
        </p:nvSpPr>
        <p:spPr>
          <a:xfrm>
            <a:off x="6853344" y="2200249"/>
            <a:ext cx="1650351" cy="281559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多级主动防控机制</a:t>
            </a:r>
          </a:p>
        </p:txBody>
      </p:sp>
      <p:pic>
        <p:nvPicPr>
          <p:cNvPr id="93" name="Picture 12" descr="公路视线诱导设施设计理论与方法-路桥设计资料-筑龙路桥市政论坛">
            <a:extLst>
              <a:ext uri="{FF2B5EF4-FFF2-40B4-BE49-F238E27FC236}">
                <a16:creationId xmlns:a16="http://schemas.microsoft.com/office/drawing/2014/main" id="{8C4CC61E-7627-4500-8A7A-0133AA4F0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68" y="2704075"/>
            <a:ext cx="855915" cy="637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9DA2A63D-3726-4FAC-B2B1-31D2174C2119}"/>
              </a:ext>
            </a:extLst>
          </p:cNvPr>
          <p:cNvSpPr txBox="1"/>
          <p:nvPr/>
        </p:nvSpPr>
        <p:spPr>
          <a:xfrm>
            <a:off x="6801099" y="3368600"/>
            <a:ext cx="107561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路侧诱导设施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BA089A8-5F20-4FE2-8221-1328C0D0ED2E}"/>
              </a:ext>
            </a:extLst>
          </p:cNvPr>
          <p:cNvSpPr txBox="1"/>
          <p:nvPr/>
        </p:nvSpPr>
        <p:spPr>
          <a:xfrm>
            <a:off x="7601676" y="3368640"/>
            <a:ext cx="11623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驾驶员状态识别</a:t>
            </a:r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C256C051-C80D-4D05-808B-3812C769C968}"/>
              </a:ext>
            </a:extLst>
          </p:cNvPr>
          <p:cNvPicPr>
            <a:picLocks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961" y="2711319"/>
            <a:ext cx="770734" cy="637347"/>
          </a:xfrm>
          <a:prstGeom prst="rect">
            <a:avLst/>
          </a:prstGeom>
        </p:spPr>
      </p:pic>
      <p:sp>
        <p:nvSpPr>
          <p:cNvPr id="99" name="圆角矩形 18">
            <a:extLst>
              <a:ext uri="{FF2B5EF4-FFF2-40B4-BE49-F238E27FC236}">
                <a16:creationId xmlns:a16="http://schemas.microsoft.com/office/drawing/2014/main" id="{BBC0F549-1B3A-48FA-BD98-6573065AC116}"/>
              </a:ext>
            </a:extLst>
          </p:cNvPr>
          <p:cNvSpPr/>
          <p:nvPr/>
        </p:nvSpPr>
        <p:spPr>
          <a:xfrm>
            <a:off x="8584177" y="2191701"/>
            <a:ext cx="1393461" cy="282281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风险演变趋势推演</a:t>
            </a:r>
          </a:p>
        </p:txBody>
      </p:sp>
      <p:sp>
        <p:nvSpPr>
          <p:cNvPr id="100" name="圆角矩形 18">
            <a:extLst>
              <a:ext uri="{FF2B5EF4-FFF2-40B4-BE49-F238E27FC236}">
                <a16:creationId xmlns:a16="http://schemas.microsoft.com/office/drawing/2014/main" id="{03E6DF3A-B587-4F89-BA24-F9076AD435BC}"/>
              </a:ext>
            </a:extLst>
          </p:cNvPr>
          <p:cNvSpPr/>
          <p:nvPr/>
        </p:nvSpPr>
        <p:spPr>
          <a:xfrm>
            <a:off x="10084420" y="2191701"/>
            <a:ext cx="1801189" cy="288116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数据模型双驱动的应急管控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778C3D7-3F24-462C-BC73-CAC82B39E178}"/>
              </a:ext>
            </a:extLst>
          </p:cNvPr>
          <p:cNvSpPr txBox="1"/>
          <p:nvPr/>
        </p:nvSpPr>
        <p:spPr>
          <a:xfrm>
            <a:off x="8530935" y="3401473"/>
            <a:ext cx="159044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事故热力图和空间分析</a:t>
            </a:r>
          </a:p>
        </p:txBody>
      </p:sp>
      <p:sp>
        <p:nvSpPr>
          <p:cNvPr id="102" name="流程图: 排序 101">
            <a:extLst>
              <a:ext uri="{FF2B5EF4-FFF2-40B4-BE49-F238E27FC236}">
                <a16:creationId xmlns:a16="http://schemas.microsoft.com/office/drawing/2014/main" id="{C879709F-3FB4-4A21-B778-50FBCD5AF3F0}"/>
              </a:ext>
            </a:extLst>
          </p:cNvPr>
          <p:cNvSpPr/>
          <p:nvPr/>
        </p:nvSpPr>
        <p:spPr>
          <a:xfrm>
            <a:off x="10664475" y="2794921"/>
            <a:ext cx="699769" cy="637346"/>
          </a:xfrm>
          <a:prstGeom prst="flowChartSor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DBFBDB3-1ABE-4C80-9505-63ECC72C7F85}"/>
              </a:ext>
            </a:extLst>
          </p:cNvPr>
          <p:cNvSpPr txBox="1"/>
          <p:nvPr/>
        </p:nvSpPr>
        <p:spPr>
          <a:xfrm>
            <a:off x="10649305" y="2889493"/>
            <a:ext cx="718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200" dirty="0"/>
              <a:t>数据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3C4C9FA-B066-4EBA-A2DF-4AF10A5C2C03}"/>
              </a:ext>
            </a:extLst>
          </p:cNvPr>
          <p:cNvSpPr txBox="1"/>
          <p:nvPr/>
        </p:nvSpPr>
        <p:spPr>
          <a:xfrm>
            <a:off x="10663219" y="3075109"/>
            <a:ext cx="718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9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200" dirty="0"/>
              <a:t>模型</a:t>
            </a:r>
          </a:p>
        </p:txBody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58797D81-8EE9-4BF6-87E9-3EDFEC7E473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4177" y="2600487"/>
            <a:ext cx="515485" cy="336871"/>
          </a:xfrm>
          <a:prstGeom prst="rect">
            <a:avLst/>
          </a:prstGeom>
        </p:spPr>
      </p:pic>
      <p:pic>
        <p:nvPicPr>
          <p:cNvPr id="106" name="图片 105">
            <a:extLst>
              <a:ext uri="{FF2B5EF4-FFF2-40B4-BE49-F238E27FC236}">
                <a16:creationId xmlns:a16="http://schemas.microsoft.com/office/drawing/2014/main" id="{3F41E69B-18F5-455B-8A2E-BB41666F5E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01829" y="2614728"/>
            <a:ext cx="983436" cy="338325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DF97655D-5DC5-4F74-83EF-BE16431059CE}"/>
              </a:ext>
            </a:extLst>
          </p:cNvPr>
          <p:cNvSpPr txBox="1"/>
          <p:nvPr/>
        </p:nvSpPr>
        <p:spPr>
          <a:xfrm>
            <a:off x="8529588" y="2922321"/>
            <a:ext cx="15917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动态参数和非参数模型</a:t>
            </a:r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0771A180-E068-4D2D-AFD2-0739420877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83656" y="3137148"/>
            <a:ext cx="506998" cy="304168"/>
          </a:xfrm>
          <a:prstGeom prst="rect">
            <a:avLst/>
          </a:prstGeom>
        </p:spPr>
      </p:pic>
      <p:pic>
        <p:nvPicPr>
          <p:cNvPr id="109" name="图片 108">
            <a:extLst>
              <a:ext uri="{FF2B5EF4-FFF2-40B4-BE49-F238E27FC236}">
                <a16:creationId xmlns:a16="http://schemas.microsoft.com/office/drawing/2014/main" id="{1B212ABE-AC55-45C1-9627-18368F180A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10199" y="3128485"/>
            <a:ext cx="440335" cy="324541"/>
          </a:xfrm>
          <a:prstGeom prst="rect">
            <a:avLst/>
          </a:prstGeom>
        </p:spPr>
      </p:pic>
      <p:pic>
        <p:nvPicPr>
          <p:cNvPr id="110" name="图片 109">
            <a:extLst>
              <a:ext uri="{FF2B5EF4-FFF2-40B4-BE49-F238E27FC236}">
                <a16:creationId xmlns:a16="http://schemas.microsoft.com/office/drawing/2014/main" id="{05D02038-0602-4CD6-B547-F3EBCFD30DCD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r="47473" b="12156"/>
          <a:stretch/>
        </p:blipFill>
        <p:spPr>
          <a:xfrm>
            <a:off x="9563376" y="3128485"/>
            <a:ext cx="430334" cy="302559"/>
          </a:xfrm>
          <a:prstGeom prst="rect">
            <a:avLst/>
          </a:prstGeom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0D9A81BF-0363-4588-849E-19655A257A73}"/>
              </a:ext>
            </a:extLst>
          </p:cNvPr>
          <p:cNvSpPr txBox="1"/>
          <p:nvPr/>
        </p:nvSpPr>
        <p:spPr>
          <a:xfrm>
            <a:off x="10084420" y="2832094"/>
            <a:ext cx="76066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监控系统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C8FEE4-D87C-40E4-B326-FE139265D3C7}"/>
              </a:ext>
            </a:extLst>
          </p:cNvPr>
          <p:cNvSpPr txBox="1"/>
          <p:nvPr/>
        </p:nvSpPr>
        <p:spPr>
          <a:xfrm>
            <a:off x="10508124" y="2567809"/>
            <a:ext cx="108157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050" dirty="0"/>
              <a:t>GPS</a:t>
            </a:r>
            <a:r>
              <a:rPr lang="zh-CN" altLang="en-US" sz="1050" dirty="0"/>
              <a:t>定位数据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40A43A6-D27A-470C-976B-085B390F1D58}"/>
              </a:ext>
            </a:extLst>
          </p:cNvPr>
          <p:cNvSpPr txBox="1"/>
          <p:nvPr/>
        </p:nvSpPr>
        <p:spPr>
          <a:xfrm>
            <a:off x="11262169" y="2824367"/>
            <a:ext cx="8573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视频监控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82B10CD-D8DA-47DF-A4B7-D01E71C64957}"/>
              </a:ext>
            </a:extLst>
          </p:cNvPr>
          <p:cNvSpPr txBox="1"/>
          <p:nvPr/>
        </p:nvSpPr>
        <p:spPr>
          <a:xfrm>
            <a:off x="10049468" y="3173320"/>
            <a:ext cx="90994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贝叶斯网络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64AFCAF9-009C-4BD8-AC43-2D77685CF232}"/>
              </a:ext>
            </a:extLst>
          </p:cNvPr>
          <p:cNvSpPr txBox="1"/>
          <p:nvPr/>
        </p:nvSpPr>
        <p:spPr>
          <a:xfrm>
            <a:off x="11189421" y="3222671"/>
            <a:ext cx="9043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模糊逻辑法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981D444-C192-4C8E-A82C-6FB772491C8D}"/>
              </a:ext>
            </a:extLst>
          </p:cNvPr>
          <p:cNvSpPr txBox="1"/>
          <p:nvPr/>
        </p:nvSpPr>
        <p:spPr>
          <a:xfrm>
            <a:off x="10424142" y="3430835"/>
            <a:ext cx="13589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应急响应优化模型</a:t>
            </a:r>
          </a:p>
        </p:txBody>
      </p:sp>
      <p:sp>
        <p:nvSpPr>
          <p:cNvPr id="117" name="圆角矩形 16">
            <a:extLst>
              <a:ext uri="{FF2B5EF4-FFF2-40B4-BE49-F238E27FC236}">
                <a16:creationId xmlns:a16="http://schemas.microsoft.com/office/drawing/2014/main" id="{2BED043E-37B8-414B-912E-3FAEBDADF553}"/>
              </a:ext>
            </a:extLst>
          </p:cNvPr>
          <p:cNvSpPr/>
          <p:nvPr/>
        </p:nvSpPr>
        <p:spPr>
          <a:xfrm>
            <a:off x="6767998" y="3987093"/>
            <a:ext cx="5185907" cy="240012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5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8" name="圆角矩形 33">
            <a:extLst>
              <a:ext uri="{FF2B5EF4-FFF2-40B4-BE49-F238E27FC236}">
                <a16:creationId xmlns:a16="http://schemas.microsoft.com/office/drawing/2014/main" id="{52379847-B7E5-4AD3-9182-669AD71777FD}"/>
              </a:ext>
            </a:extLst>
          </p:cNvPr>
          <p:cNvSpPr/>
          <p:nvPr/>
        </p:nvSpPr>
        <p:spPr>
          <a:xfrm rot="10800000" flipV="1">
            <a:off x="6767491" y="3966180"/>
            <a:ext cx="5186414" cy="583597"/>
          </a:xfrm>
          <a:prstGeom prst="roundRect">
            <a:avLst>
              <a:gd name="adj" fmla="val 2528"/>
            </a:avLst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课题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：低空路衍经济影响下公路安全效能与韧性评估</a:t>
            </a:r>
          </a:p>
        </p:txBody>
      </p:sp>
      <p:sp>
        <p:nvSpPr>
          <p:cNvPr id="119" name="圆角矩形 18">
            <a:extLst>
              <a:ext uri="{FF2B5EF4-FFF2-40B4-BE49-F238E27FC236}">
                <a16:creationId xmlns:a16="http://schemas.microsoft.com/office/drawing/2014/main" id="{5CF6E36D-A395-4314-A0C2-720F86B7A892}"/>
              </a:ext>
            </a:extLst>
          </p:cNvPr>
          <p:cNvSpPr/>
          <p:nvPr/>
        </p:nvSpPr>
        <p:spPr>
          <a:xfrm>
            <a:off x="7326949" y="4749760"/>
            <a:ext cx="500971" cy="145584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道路交通冲突分析与预测</a:t>
            </a:r>
          </a:p>
        </p:txBody>
      </p:sp>
      <p:sp>
        <p:nvSpPr>
          <p:cNvPr id="121" name="箭头: 五边形 120">
            <a:extLst>
              <a:ext uri="{FF2B5EF4-FFF2-40B4-BE49-F238E27FC236}">
                <a16:creationId xmlns:a16="http://schemas.microsoft.com/office/drawing/2014/main" id="{A0FC8881-5EC1-44EB-8538-3F6B2B4163F4}"/>
              </a:ext>
            </a:extLst>
          </p:cNvPr>
          <p:cNvSpPr/>
          <p:nvPr/>
        </p:nvSpPr>
        <p:spPr>
          <a:xfrm rot="5400000">
            <a:off x="6835062" y="5334867"/>
            <a:ext cx="365499" cy="188976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2" name="圆角矩形 18">
            <a:extLst>
              <a:ext uri="{FF2B5EF4-FFF2-40B4-BE49-F238E27FC236}">
                <a16:creationId xmlns:a16="http://schemas.microsoft.com/office/drawing/2014/main" id="{B9A89B79-1AB0-420F-A835-A0B94DE9C964}"/>
              </a:ext>
            </a:extLst>
          </p:cNvPr>
          <p:cNvSpPr/>
          <p:nvPr/>
        </p:nvSpPr>
        <p:spPr>
          <a:xfrm>
            <a:off x="7911294" y="4765156"/>
            <a:ext cx="493963" cy="143637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安全效能评估</a:t>
            </a:r>
          </a:p>
        </p:txBody>
      </p:sp>
      <p:sp>
        <p:nvSpPr>
          <p:cNvPr id="123" name="圆角矩形 18">
            <a:extLst>
              <a:ext uri="{FF2B5EF4-FFF2-40B4-BE49-F238E27FC236}">
                <a16:creationId xmlns:a16="http://schemas.microsoft.com/office/drawing/2014/main" id="{0E7E4F82-3A5B-4631-9744-2D3F3C69BC65}"/>
              </a:ext>
            </a:extLst>
          </p:cNvPr>
          <p:cNvSpPr/>
          <p:nvPr/>
        </p:nvSpPr>
        <p:spPr>
          <a:xfrm>
            <a:off x="8513676" y="4757614"/>
            <a:ext cx="538738" cy="145584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公路安全韧性评估</a:t>
            </a:r>
          </a:p>
        </p:txBody>
      </p:sp>
      <p:sp>
        <p:nvSpPr>
          <p:cNvPr id="124" name="箭头: V 形 123">
            <a:extLst>
              <a:ext uri="{FF2B5EF4-FFF2-40B4-BE49-F238E27FC236}">
                <a16:creationId xmlns:a16="http://schemas.microsoft.com/office/drawing/2014/main" id="{FB9C21F0-C3DD-485C-8009-794B9AE0D24C}"/>
              </a:ext>
            </a:extLst>
          </p:cNvPr>
          <p:cNvSpPr/>
          <p:nvPr/>
        </p:nvSpPr>
        <p:spPr>
          <a:xfrm rot="5400000">
            <a:off x="6848438" y="5648957"/>
            <a:ext cx="347472" cy="197704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5" name="圆角矩形 35">
            <a:extLst>
              <a:ext uri="{FF2B5EF4-FFF2-40B4-BE49-F238E27FC236}">
                <a16:creationId xmlns:a16="http://schemas.microsoft.com/office/drawing/2014/main" id="{07C10201-6485-489A-A70F-D9EB6C62897D}"/>
              </a:ext>
            </a:extLst>
          </p:cNvPr>
          <p:cNvSpPr/>
          <p:nvPr/>
        </p:nvSpPr>
        <p:spPr>
          <a:xfrm>
            <a:off x="6912565" y="5236661"/>
            <a:ext cx="208462" cy="33764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7" name="箭头: V 形 126">
            <a:extLst>
              <a:ext uri="{FF2B5EF4-FFF2-40B4-BE49-F238E27FC236}">
                <a16:creationId xmlns:a16="http://schemas.microsoft.com/office/drawing/2014/main" id="{187DA277-062F-441A-8416-71A82A0FAC0A}"/>
              </a:ext>
            </a:extLst>
          </p:cNvPr>
          <p:cNvSpPr/>
          <p:nvPr/>
        </p:nvSpPr>
        <p:spPr>
          <a:xfrm rot="5400000">
            <a:off x="6843448" y="5947398"/>
            <a:ext cx="347472" cy="197704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8" name="圆角矩形 35">
            <a:extLst>
              <a:ext uri="{FF2B5EF4-FFF2-40B4-BE49-F238E27FC236}">
                <a16:creationId xmlns:a16="http://schemas.microsoft.com/office/drawing/2014/main" id="{43DA896E-6363-4305-9526-361377D02165}"/>
              </a:ext>
            </a:extLst>
          </p:cNvPr>
          <p:cNvSpPr/>
          <p:nvPr/>
        </p:nvSpPr>
        <p:spPr>
          <a:xfrm>
            <a:off x="6908989" y="5578414"/>
            <a:ext cx="225916" cy="3654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0" name="圆角矩形 35">
            <a:extLst>
              <a:ext uri="{FF2B5EF4-FFF2-40B4-BE49-F238E27FC236}">
                <a16:creationId xmlns:a16="http://schemas.microsoft.com/office/drawing/2014/main" id="{79F8A16C-3B1D-4F8D-919D-C51C7AE8182C}"/>
              </a:ext>
            </a:extLst>
          </p:cNvPr>
          <p:cNvSpPr/>
          <p:nvPr/>
        </p:nvSpPr>
        <p:spPr>
          <a:xfrm>
            <a:off x="6871932" y="5830455"/>
            <a:ext cx="289226" cy="46338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4" name="下箭头 107">
            <a:extLst>
              <a:ext uri="{FF2B5EF4-FFF2-40B4-BE49-F238E27FC236}">
                <a16:creationId xmlns:a16="http://schemas.microsoft.com/office/drawing/2014/main" id="{5F499B27-D3AB-4D81-B1E4-47DCBFA13886}"/>
              </a:ext>
            </a:extLst>
          </p:cNvPr>
          <p:cNvSpPr/>
          <p:nvPr/>
        </p:nvSpPr>
        <p:spPr>
          <a:xfrm rot="16200000" flipH="1">
            <a:off x="7767665" y="5379933"/>
            <a:ext cx="209574" cy="103750"/>
          </a:xfrm>
          <a:prstGeom prst="downArrow">
            <a:avLst>
              <a:gd name="adj1" fmla="val 50000"/>
              <a:gd name="adj2" fmla="val 6043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下箭头 107">
            <a:extLst>
              <a:ext uri="{FF2B5EF4-FFF2-40B4-BE49-F238E27FC236}">
                <a16:creationId xmlns:a16="http://schemas.microsoft.com/office/drawing/2014/main" id="{DE579B9A-31AE-4350-B018-DE65151873C7}"/>
              </a:ext>
            </a:extLst>
          </p:cNvPr>
          <p:cNvSpPr/>
          <p:nvPr/>
        </p:nvSpPr>
        <p:spPr>
          <a:xfrm flipH="1">
            <a:off x="10451847" y="4779517"/>
            <a:ext cx="226762" cy="176956"/>
          </a:xfrm>
          <a:prstGeom prst="downArrow">
            <a:avLst>
              <a:gd name="adj1" fmla="val 50000"/>
              <a:gd name="adj2" fmla="val 6043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圆角矩形 35">
            <a:extLst>
              <a:ext uri="{FF2B5EF4-FFF2-40B4-BE49-F238E27FC236}">
                <a16:creationId xmlns:a16="http://schemas.microsoft.com/office/drawing/2014/main" id="{327F357F-F39F-4377-A927-734237C610F4}"/>
              </a:ext>
            </a:extLst>
          </p:cNvPr>
          <p:cNvSpPr/>
          <p:nvPr/>
        </p:nvSpPr>
        <p:spPr>
          <a:xfrm>
            <a:off x="6904108" y="4432525"/>
            <a:ext cx="225916" cy="97361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改扩建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8" name="流程图: 磁盘 137">
            <a:extLst>
              <a:ext uri="{FF2B5EF4-FFF2-40B4-BE49-F238E27FC236}">
                <a16:creationId xmlns:a16="http://schemas.microsoft.com/office/drawing/2014/main" id="{28C83ADB-72D8-4A3B-B6FA-48E648693263}"/>
              </a:ext>
            </a:extLst>
          </p:cNvPr>
          <p:cNvSpPr/>
          <p:nvPr/>
        </p:nvSpPr>
        <p:spPr>
          <a:xfrm>
            <a:off x="10153201" y="4944058"/>
            <a:ext cx="751989" cy="35756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低空经济</a:t>
            </a:r>
          </a:p>
        </p:txBody>
      </p:sp>
      <p:sp>
        <p:nvSpPr>
          <p:cNvPr id="139" name="流程图: 磁盘 138">
            <a:extLst>
              <a:ext uri="{FF2B5EF4-FFF2-40B4-BE49-F238E27FC236}">
                <a16:creationId xmlns:a16="http://schemas.microsoft.com/office/drawing/2014/main" id="{739D2A70-FF9D-4467-B154-878126E87F1B}"/>
              </a:ext>
            </a:extLst>
          </p:cNvPr>
          <p:cNvSpPr/>
          <p:nvPr/>
        </p:nvSpPr>
        <p:spPr>
          <a:xfrm>
            <a:off x="10087884" y="5343704"/>
            <a:ext cx="880625" cy="35756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路衍经济</a:t>
            </a:r>
          </a:p>
        </p:txBody>
      </p:sp>
      <p:sp>
        <p:nvSpPr>
          <p:cNvPr id="140" name="流程图: 磁盘 139">
            <a:extLst>
              <a:ext uri="{FF2B5EF4-FFF2-40B4-BE49-F238E27FC236}">
                <a16:creationId xmlns:a16="http://schemas.microsoft.com/office/drawing/2014/main" id="{1D00C6AC-4FF8-4003-8A53-9608C7098092}"/>
              </a:ext>
            </a:extLst>
          </p:cNvPr>
          <p:cNvSpPr/>
          <p:nvPr/>
        </p:nvSpPr>
        <p:spPr>
          <a:xfrm>
            <a:off x="9899692" y="5785315"/>
            <a:ext cx="1248100" cy="35756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安全韧性评估</a:t>
            </a: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B2FDECAA-F5E6-466B-9DBA-672623B32920}"/>
              </a:ext>
            </a:extLst>
          </p:cNvPr>
          <p:cNvCxnSpPr>
            <a:cxnSpLocks/>
            <a:stCxn id="138" idx="3"/>
            <a:endCxn id="139" idx="1"/>
          </p:cNvCxnSpPr>
          <p:nvPr/>
        </p:nvCxnSpPr>
        <p:spPr>
          <a:xfrm flipH="1">
            <a:off x="10528197" y="5301620"/>
            <a:ext cx="999" cy="42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8D40CEF2-AD37-4707-982E-3D34177525B2}"/>
              </a:ext>
            </a:extLst>
          </p:cNvPr>
          <p:cNvCxnSpPr>
            <a:cxnSpLocks/>
            <a:stCxn id="139" idx="3"/>
            <a:endCxn id="140" idx="1"/>
          </p:cNvCxnSpPr>
          <p:nvPr/>
        </p:nvCxnSpPr>
        <p:spPr>
          <a:xfrm flipH="1">
            <a:off x="10523742" y="5701266"/>
            <a:ext cx="4455" cy="8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C5B5EBF2-42F1-4F94-841C-19A89EB84510}"/>
              </a:ext>
            </a:extLst>
          </p:cNvPr>
          <p:cNvSpPr txBox="1"/>
          <p:nvPr/>
        </p:nvSpPr>
        <p:spPr>
          <a:xfrm>
            <a:off x="9220875" y="4997867"/>
            <a:ext cx="11218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050" dirty="0"/>
              <a:t>无人机物流</a:t>
            </a:r>
            <a:endParaRPr lang="en-US" altLang="zh-CN" sz="105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687CA155-2684-4372-A5A1-FB3638F871E0}"/>
              </a:ext>
            </a:extLst>
          </p:cNvPr>
          <p:cNvSpPr txBox="1"/>
          <p:nvPr/>
        </p:nvSpPr>
        <p:spPr>
          <a:xfrm>
            <a:off x="8948666" y="5419070"/>
            <a:ext cx="135003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050" dirty="0"/>
              <a:t>物流车道分流</a:t>
            </a:r>
            <a:endParaRPr lang="en-US" altLang="zh-CN" sz="105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A1488AE2-503A-447C-9C9C-9B76A3D527AE}"/>
              </a:ext>
            </a:extLst>
          </p:cNvPr>
          <p:cNvSpPr txBox="1"/>
          <p:nvPr/>
        </p:nvSpPr>
        <p:spPr>
          <a:xfrm>
            <a:off x="10753222" y="4999728"/>
            <a:ext cx="9530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050" dirty="0"/>
              <a:t>监控技术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302FAB77-C8D3-4D05-8EC2-70E00A8660CF}"/>
              </a:ext>
            </a:extLst>
          </p:cNvPr>
          <p:cNvSpPr txBox="1"/>
          <p:nvPr/>
        </p:nvSpPr>
        <p:spPr>
          <a:xfrm>
            <a:off x="9281553" y="5864884"/>
            <a:ext cx="6725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（</a:t>
            </a:r>
            <a:r>
              <a:rPr lang="en-US" altLang="zh-CN" sz="1050" dirty="0"/>
              <a:t>MAS</a:t>
            </a:r>
            <a:r>
              <a:rPr lang="zh-CN" altLang="en-US" sz="1050" dirty="0"/>
              <a:t>）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108DC57F-CF59-4A24-B908-A1C6821ABB79}"/>
              </a:ext>
            </a:extLst>
          </p:cNvPr>
          <p:cNvSpPr txBox="1"/>
          <p:nvPr/>
        </p:nvSpPr>
        <p:spPr>
          <a:xfrm>
            <a:off x="11120476" y="5864883"/>
            <a:ext cx="7605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050" dirty="0"/>
              <a:t>（</a:t>
            </a:r>
            <a:r>
              <a:rPr lang="en-US" altLang="zh-CN" sz="1050" b="0" i="0" dirty="0">
                <a:solidFill>
                  <a:srgbClr val="333333"/>
                </a:solidFill>
                <a:effectLst/>
                <a:latin typeface="Helvetica Neue"/>
              </a:rPr>
              <a:t>Bayes</a:t>
            </a:r>
            <a:r>
              <a:rPr lang="zh-CN" altLang="en-US" sz="1050" dirty="0"/>
              <a:t>）</a:t>
            </a:r>
          </a:p>
        </p:txBody>
      </p:sp>
      <p:sp>
        <p:nvSpPr>
          <p:cNvPr id="148" name="下箭头 107">
            <a:extLst>
              <a:ext uri="{FF2B5EF4-FFF2-40B4-BE49-F238E27FC236}">
                <a16:creationId xmlns:a16="http://schemas.microsoft.com/office/drawing/2014/main" id="{CEE7C6FD-F6A2-4B38-9BBF-39ECAF66AB80}"/>
              </a:ext>
            </a:extLst>
          </p:cNvPr>
          <p:cNvSpPr/>
          <p:nvPr/>
        </p:nvSpPr>
        <p:spPr>
          <a:xfrm rot="16200000" flipH="1">
            <a:off x="8362703" y="5400587"/>
            <a:ext cx="209574" cy="103750"/>
          </a:xfrm>
          <a:prstGeom prst="downArrow">
            <a:avLst>
              <a:gd name="adj1" fmla="val 50000"/>
              <a:gd name="adj2" fmla="val 60436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50A0C9F4-693A-4511-B81F-783920F952A6}"/>
              </a:ext>
            </a:extLst>
          </p:cNvPr>
          <p:cNvSpPr txBox="1"/>
          <p:nvPr/>
        </p:nvSpPr>
        <p:spPr>
          <a:xfrm>
            <a:off x="10755501" y="5399109"/>
            <a:ext cx="135003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050" dirty="0"/>
              <a:t>交通疏导策略</a:t>
            </a:r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247779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7445" y="336201"/>
            <a:ext cx="9157110" cy="57819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主要研究内容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关键技术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12E237-B15E-4A01-8214-5B25AFAE16FD}"/>
              </a:ext>
            </a:extLst>
          </p:cNvPr>
          <p:cNvSpPr/>
          <p:nvPr/>
        </p:nvSpPr>
        <p:spPr>
          <a:xfrm>
            <a:off x="491603" y="1185576"/>
            <a:ext cx="11283950" cy="63040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面向全生命周期智能监控的公路事故风险主动预防与安全效能评估</a:t>
            </a:r>
            <a:r>
              <a:rPr lang="zh-CN" altLang="en-US" sz="2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BF4B20FE-48D6-44C4-BDC3-DCDF7BFC0707}"/>
              </a:ext>
            </a:extLst>
          </p:cNvPr>
          <p:cNvSpPr/>
          <p:nvPr/>
        </p:nvSpPr>
        <p:spPr>
          <a:xfrm>
            <a:off x="4029235" y="4157948"/>
            <a:ext cx="358899" cy="287377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ED41ECB-11A3-4BD8-ACD1-178CF33F5FA8}"/>
              </a:ext>
            </a:extLst>
          </p:cNvPr>
          <p:cNvGrpSpPr/>
          <p:nvPr/>
        </p:nvGrpSpPr>
        <p:grpSpPr>
          <a:xfrm>
            <a:off x="897464" y="1859324"/>
            <a:ext cx="2794000" cy="4854068"/>
            <a:chOff x="436245" y="1859324"/>
            <a:chExt cx="2794000" cy="485406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EC59D40-CDD0-43CA-AA83-2A2C75FA6374}"/>
                </a:ext>
              </a:extLst>
            </p:cNvPr>
            <p:cNvSpPr/>
            <p:nvPr/>
          </p:nvSpPr>
          <p:spPr>
            <a:xfrm>
              <a:off x="436245" y="2040427"/>
              <a:ext cx="2794000" cy="4672965"/>
            </a:xfrm>
            <a:prstGeom prst="roundRect">
              <a:avLst>
                <a:gd name="adj" fmla="val 6229"/>
              </a:avLst>
            </a:prstGeom>
            <a:solidFill>
              <a:schemeClr val="tx1">
                <a:lumMod val="40000"/>
                <a:lumOff val="60000"/>
                <a:alpha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1576D3A-A02D-4E66-8E59-84F35307C01F}"/>
                </a:ext>
              </a:extLst>
            </p:cNvPr>
            <p:cNvSpPr/>
            <p:nvPr/>
          </p:nvSpPr>
          <p:spPr>
            <a:xfrm>
              <a:off x="570865" y="2193462"/>
              <a:ext cx="2533650" cy="6045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高速公路改扩建前中后高危场景画像构建技术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FDB5E66-0FDF-4B3A-A341-3E1AA9ABB7E4}"/>
                </a:ext>
              </a:extLst>
            </p:cNvPr>
            <p:cNvSpPr/>
            <p:nvPr/>
          </p:nvSpPr>
          <p:spPr>
            <a:xfrm>
              <a:off x="599440" y="3162471"/>
              <a:ext cx="2491740" cy="791845"/>
            </a:xfrm>
            <a:prstGeom prst="rect">
              <a:avLst/>
            </a:prstGeom>
            <a:solidFill>
              <a:srgbClr val="F3F8FC"/>
            </a:solidFill>
            <a:ln w="19050">
              <a:solidFill>
                <a:srgbClr val="378E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同类别高速公路交通事故数据底座构建技术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A1226A9-BB7D-49FA-B56B-B5CF8129B26E}"/>
                </a:ext>
              </a:extLst>
            </p:cNvPr>
            <p:cNvSpPr/>
            <p:nvPr/>
          </p:nvSpPr>
          <p:spPr>
            <a:xfrm>
              <a:off x="599440" y="4375639"/>
              <a:ext cx="2491740" cy="791845"/>
            </a:xfrm>
            <a:prstGeom prst="rect">
              <a:avLst/>
            </a:prstGeom>
            <a:solidFill>
              <a:srgbClr val="F3F8FC"/>
            </a:solidFill>
            <a:ln w="19050">
              <a:solidFill>
                <a:srgbClr val="378E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事故发生概率与严重程度建模方法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588B947-EB99-4713-B924-108D3B001E0E}"/>
                </a:ext>
              </a:extLst>
            </p:cNvPr>
            <p:cNvSpPr/>
            <p:nvPr/>
          </p:nvSpPr>
          <p:spPr>
            <a:xfrm>
              <a:off x="599440" y="5588807"/>
              <a:ext cx="2508885" cy="791845"/>
            </a:xfrm>
            <a:prstGeom prst="rect">
              <a:avLst/>
            </a:prstGeom>
            <a:solidFill>
              <a:srgbClr val="F3F8FC"/>
            </a:solidFill>
            <a:ln w="19050">
              <a:solidFill>
                <a:srgbClr val="378E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高速公路全生命周期高危场景特征识别方法</a:t>
              </a:r>
            </a:p>
          </p:txBody>
        </p:sp>
        <p:sp>
          <p:nvSpPr>
            <p:cNvPr id="23" name="箭头: 虚尾 22">
              <a:extLst>
                <a:ext uri="{FF2B5EF4-FFF2-40B4-BE49-F238E27FC236}">
                  <a16:creationId xmlns:a16="http://schemas.microsoft.com/office/drawing/2014/main" id="{FC394A50-6876-4A28-A7FA-BE11238ED55F}"/>
                </a:ext>
              </a:extLst>
            </p:cNvPr>
            <p:cNvSpPr/>
            <p:nvPr/>
          </p:nvSpPr>
          <p:spPr>
            <a:xfrm rot="5400000">
              <a:off x="1647940" y="1753073"/>
              <a:ext cx="259183" cy="471686"/>
            </a:xfrm>
            <a:prstGeom prst="striped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D7BA8B9-78AB-4ADE-B449-666F3A7B2EC8}"/>
              </a:ext>
            </a:extLst>
          </p:cNvPr>
          <p:cNvGrpSpPr/>
          <p:nvPr/>
        </p:nvGrpSpPr>
        <p:grpSpPr>
          <a:xfrm>
            <a:off x="4631271" y="1864791"/>
            <a:ext cx="2794000" cy="4860793"/>
            <a:chOff x="3596640" y="1852599"/>
            <a:chExt cx="2794000" cy="486079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E42F82B9-2BE1-45A9-9A33-700134D4FE4F}"/>
                </a:ext>
              </a:extLst>
            </p:cNvPr>
            <p:cNvSpPr/>
            <p:nvPr/>
          </p:nvSpPr>
          <p:spPr>
            <a:xfrm>
              <a:off x="3596640" y="2040427"/>
              <a:ext cx="2794000" cy="4672965"/>
            </a:xfrm>
            <a:prstGeom prst="roundRect">
              <a:avLst>
                <a:gd name="adj" fmla="val 6959"/>
              </a:avLst>
            </a:prstGeom>
            <a:solidFill>
              <a:schemeClr val="tx1">
                <a:lumMod val="40000"/>
                <a:lumOff val="60000"/>
                <a:alpha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CD2F54D-796D-414F-89D6-0EEF10C9A557}"/>
                </a:ext>
              </a:extLst>
            </p:cNvPr>
            <p:cNvSpPr/>
            <p:nvPr/>
          </p:nvSpPr>
          <p:spPr>
            <a:xfrm>
              <a:off x="3717925" y="2193462"/>
              <a:ext cx="2534920" cy="60452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智能交通监测设施布局优化技术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B8B8889-C66B-4FEC-B564-56D0A01ECAE3}"/>
                </a:ext>
              </a:extLst>
            </p:cNvPr>
            <p:cNvSpPr/>
            <p:nvPr/>
          </p:nvSpPr>
          <p:spPr>
            <a:xfrm>
              <a:off x="3785075" y="3158547"/>
              <a:ext cx="2440902" cy="795769"/>
            </a:xfrm>
            <a:prstGeom prst="rect">
              <a:avLst/>
            </a:prstGeom>
            <a:solidFill>
              <a:srgbClr val="FDF3EB"/>
            </a:solidFill>
            <a:ln w="19050"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改扩建前后交通需求分析技术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CA77C3D-5186-4531-AF0B-58C5CF3F5E8E}"/>
                </a:ext>
              </a:extLst>
            </p:cNvPr>
            <p:cNvSpPr/>
            <p:nvPr/>
          </p:nvSpPr>
          <p:spPr>
            <a:xfrm>
              <a:off x="3785075" y="4371714"/>
              <a:ext cx="2440902" cy="795769"/>
            </a:xfrm>
            <a:prstGeom prst="rect">
              <a:avLst/>
            </a:prstGeom>
            <a:solidFill>
              <a:srgbClr val="FDF3EB"/>
            </a:solidFill>
            <a:ln w="19050"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改扩建中后交通需求影响特性分析与预测技术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9232197-336B-488C-BDAE-27D2DCD11648}"/>
                </a:ext>
              </a:extLst>
            </p:cNvPr>
            <p:cNvSpPr/>
            <p:nvPr/>
          </p:nvSpPr>
          <p:spPr>
            <a:xfrm>
              <a:off x="3785075" y="5588804"/>
              <a:ext cx="2440902" cy="791845"/>
            </a:xfrm>
            <a:prstGeom prst="rect">
              <a:avLst/>
            </a:prstGeom>
            <a:solidFill>
              <a:srgbClr val="FDF3EB"/>
            </a:solidFill>
            <a:ln w="19050"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基于动态优化的改扩建前后交通设施优化技术</a:t>
              </a:r>
            </a:p>
          </p:txBody>
        </p:sp>
        <p:sp>
          <p:nvSpPr>
            <p:cNvPr id="24" name="箭头: 虚尾 23">
              <a:extLst>
                <a:ext uri="{FF2B5EF4-FFF2-40B4-BE49-F238E27FC236}">
                  <a16:creationId xmlns:a16="http://schemas.microsoft.com/office/drawing/2014/main" id="{F016099C-DA81-417D-9949-4B9ADB62F7CD}"/>
                </a:ext>
              </a:extLst>
            </p:cNvPr>
            <p:cNvSpPr/>
            <p:nvPr/>
          </p:nvSpPr>
          <p:spPr>
            <a:xfrm rot="5400000">
              <a:off x="4778577" y="1746348"/>
              <a:ext cx="259183" cy="471686"/>
            </a:xfrm>
            <a:prstGeom prst="striped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3" name="箭头: 左右 32">
            <a:extLst>
              <a:ext uri="{FF2B5EF4-FFF2-40B4-BE49-F238E27FC236}">
                <a16:creationId xmlns:a16="http://schemas.microsoft.com/office/drawing/2014/main" id="{1A34DB88-CFCC-4CF7-94C5-D2BF895286A5}"/>
              </a:ext>
            </a:extLst>
          </p:cNvPr>
          <p:cNvSpPr/>
          <p:nvPr/>
        </p:nvSpPr>
        <p:spPr>
          <a:xfrm>
            <a:off x="7783454" y="4096529"/>
            <a:ext cx="358899" cy="287377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E6C8015-6E86-452E-9650-C9255720E662}"/>
              </a:ext>
            </a:extLst>
          </p:cNvPr>
          <p:cNvGrpSpPr/>
          <p:nvPr/>
        </p:nvGrpSpPr>
        <p:grpSpPr>
          <a:xfrm>
            <a:off x="8500536" y="1871381"/>
            <a:ext cx="2794000" cy="4854203"/>
            <a:chOff x="6832600" y="1859189"/>
            <a:chExt cx="2794000" cy="485420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328A726-4FB7-40B3-B3F4-AFF3636FA6A0}"/>
                </a:ext>
              </a:extLst>
            </p:cNvPr>
            <p:cNvSpPr/>
            <p:nvPr/>
          </p:nvSpPr>
          <p:spPr>
            <a:xfrm>
              <a:off x="6832600" y="2040427"/>
              <a:ext cx="2794000" cy="4672965"/>
            </a:xfrm>
            <a:prstGeom prst="roundRect">
              <a:avLst>
                <a:gd name="adj" fmla="val 6379"/>
              </a:avLst>
            </a:prstGeom>
            <a:solidFill>
              <a:schemeClr val="tx1">
                <a:lumMod val="40000"/>
                <a:lumOff val="60000"/>
                <a:alpha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ym typeface="+mn-ea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D76E1A60-C61F-4F7C-A675-1746E556FB1F}"/>
                </a:ext>
              </a:extLst>
            </p:cNvPr>
            <p:cNvSpPr/>
            <p:nvPr/>
          </p:nvSpPr>
          <p:spPr>
            <a:xfrm>
              <a:off x="7017385" y="2193462"/>
              <a:ext cx="2488565" cy="60452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高危路段车辆在途风险研判与推演技术</a:t>
              </a:r>
            </a:p>
          </p:txBody>
        </p:sp>
        <p:sp>
          <p:nvSpPr>
            <p:cNvPr id="25" name="箭头: 虚尾 24">
              <a:extLst>
                <a:ext uri="{FF2B5EF4-FFF2-40B4-BE49-F238E27FC236}">
                  <a16:creationId xmlns:a16="http://schemas.microsoft.com/office/drawing/2014/main" id="{41773529-CE86-45C0-BB90-17216B468659}"/>
                </a:ext>
              </a:extLst>
            </p:cNvPr>
            <p:cNvSpPr/>
            <p:nvPr/>
          </p:nvSpPr>
          <p:spPr>
            <a:xfrm rot="5400000">
              <a:off x="8070225" y="1752938"/>
              <a:ext cx="259183" cy="471686"/>
            </a:xfrm>
            <a:prstGeom prst="striped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15F3FE1-D334-4B17-8570-9FBE640689D3}"/>
                </a:ext>
              </a:extLst>
            </p:cNvPr>
            <p:cNvSpPr/>
            <p:nvPr/>
          </p:nvSpPr>
          <p:spPr>
            <a:xfrm>
              <a:off x="6959976" y="3158547"/>
              <a:ext cx="2555720" cy="795769"/>
            </a:xfrm>
            <a:prstGeom prst="rect">
              <a:avLst/>
            </a:prstGeom>
            <a:noFill/>
            <a:ln>
              <a:solidFill>
                <a:srgbClr val="5281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基于车路协同的车辆运行状态实时监测技术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BEEC24E-5658-49CF-BB2B-18C41803320A}"/>
                </a:ext>
              </a:extLst>
            </p:cNvPr>
            <p:cNvSpPr/>
            <p:nvPr/>
          </p:nvSpPr>
          <p:spPr>
            <a:xfrm>
              <a:off x="6959976" y="4371714"/>
              <a:ext cx="2555720" cy="795769"/>
            </a:xfrm>
            <a:prstGeom prst="rect">
              <a:avLst/>
            </a:prstGeom>
            <a:noFill/>
            <a:ln>
              <a:solidFill>
                <a:srgbClr val="5281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车辆行驶风险动态研判技术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1EC4EEDD-D82E-44BF-AD49-B9EAB005D601}"/>
                </a:ext>
              </a:extLst>
            </p:cNvPr>
            <p:cNvSpPr/>
            <p:nvPr/>
          </p:nvSpPr>
          <p:spPr>
            <a:xfrm>
              <a:off x="6959976" y="5584881"/>
              <a:ext cx="2555720" cy="795769"/>
            </a:xfrm>
            <a:prstGeom prst="rect">
              <a:avLst/>
            </a:prstGeom>
            <a:noFill/>
            <a:ln>
              <a:solidFill>
                <a:srgbClr val="5281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车辆行驶风险推演技术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4119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7445" y="336201"/>
            <a:ext cx="9157110" cy="57819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创新点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F70748-6DA8-955A-DFBD-A78A1AA9FC17}"/>
              </a:ext>
            </a:extLst>
          </p:cNvPr>
          <p:cNvSpPr/>
          <p:nvPr/>
        </p:nvSpPr>
        <p:spPr>
          <a:xfrm>
            <a:off x="734179" y="1556794"/>
            <a:ext cx="1113349" cy="4942565"/>
          </a:xfrm>
          <a:prstGeom prst="rect">
            <a:avLst/>
          </a:prstGeom>
          <a:solidFill>
            <a:srgbClr val="FFFDF7"/>
          </a:solidFill>
          <a:ln w="19050">
            <a:solidFill>
              <a:srgbClr val="9933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just">
              <a:lnSpc>
                <a:spcPct val="125000"/>
              </a:lnSpc>
              <a:defRPr/>
            </a:pPr>
            <a:endParaRPr lang="zh-CN" altLang="en-US" sz="1100" b="1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22C3E-0C09-F1EB-6777-CEA96B66560B}"/>
              </a:ext>
            </a:extLst>
          </p:cNvPr>
          <p:cNvSpPr/>
          <p:nvPr/>
        </p:nvSpPr>
        <p:spPr>
          <a:xfrm>
            <a:off x="2815508" y="1556792"/>
            <a:ext cx="8825108" cy="4968552"/>
          </a:xfrm>
          <a:prstGeom prst="rect">
            <a:avLst/>
          </a:prstGeom>
          <a:solidFill>
            <a:srgbClr val="FFFDF7"/>
          </a:solidFill>
          <a:ln w="19050">
            <a:solidFill>
              <a:srgbClr val="9933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just">
              <a:lnSpc>
                <a:spcPct val="125000"/>
              </a:lnSpc>
              <a:defRPr/>
            </a:pPr>
            <a:endParaRPr lang="zh-CN" altLang="en-US" sz="1100" b="1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9942CB-3DFB-13FF-6530-260D91D3E29D}"/>
              </a:ext>
            </a:extLst>
          </p:cNvPr>
          <p:cNvSpPr txBox="1"/>
          <p:nvPr/>
        </p:nvSpPr>
        <p:spPr>
          <a:xfrm>
            <a:off x="4483296" y="2065505"/>
            <a:ext cx="6854271" cy="1413907"/>
          </a:xfrm>
          <a:prstGeom prst="rect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just">
              <a:defRPr/>
            </a:pP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形成</a:t>
            </a: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改扩建及运营全生命周期的</a:t>
            </a: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交通事故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特征识别</a:t>
            </a: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风险防控</a:t>
            </a: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理论方法体系</a:t>
            </a:r>
            <a:endParaRPr lang="en-US" altLang="zh-CN" sz="1400" b="1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构建汉宜高速同类道路交通事故数据集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建立汉宜高速事故发生概率和严重程度模型构建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构建高危路段车辆在途风险动态推演方法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构建高危路段行车风险量化的多级主动防控机制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</p:txBody>
      </p:sp>
      <p:sp>
        <p:nvSpPr>
          <p:cNvPr id="7" name="圆角矩形 74">
            <a:extLst>
              <a:ext uri="{FF2B5EF4-FFF2-40B4-BE49-F238E27FC236}">
                <a16:creationId xmlns:a16="http://schemas.microsoft.com/office/drawing/2014/main" id="{773F0B29-193D-D2F3-CE63-EAE62305A7B7}"/>
              </a:ext>
            </a:extLst>
          </p:cNvPr>
          <p:cNvSpPr/>
          <p:nvPr/>
        </p:nvSpPr>
        <p:spPr>
          <a:xfrm>
            <a:off x="3143672" y="2082080"/>
            <a:ext cx="849076" cy="895372"/>
          </a:xfrm>
          <a:prstGeom prst="roundRect">
            <a:avLst/>
          </a:prstGeom>
          <a:solidFill>
            <a:srgbClr val="1B3F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新理论方法</a:t>
            </a:r>
            <a:endParaRPr lang="en-US" altLang="zh-CN" sz="1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左箭头 82">
            <a:extLst>
              <a:ext uri="{FF2B5EF4-FFF2-40B4-BE49-F238E27FC236}">
                <a16:creationId xmlns:a16="http://schemas.microsoft.com/office/drawing/2014/main" id="{3E66D181-1B23-8D92-8857-A4FC6419D5F8}"/>
              </a:ext>
            </a:extLst>
          </p:cNvPr>
          <p:cNvSpPr/>
          <p:nvPr/>
        </p:nvSpPr>
        <p:spPr>
          <a:xfrm rot="10800000">
            <a:off x="4079776" y="2409787"/>
            <a:ext cx="316492" cy="2399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9" name="圆角矩形 95">
            <a:extLst>
              <a:ext uri="{FF2B5EF4-FFF2-40B4-BE49-F238E27FC236}">
                <a16:creationId xmlns:a16="http://schemas.microsoft.com/office/drawing/2014/main" id="{FCBA55FD-E804-A293-BBC2-354BD5BF18B0}"/>
              </a:ext>
            </a:extLst>
          </p:cNvPr>
          <p:cNvSpPr/>
          <p:nvPr/>
        </p:nvSpPr>
        <p:spPr>
          <a:xfrm>
            <a:off x="3149632" y="3828795"/>
            <a:ext cx="858136" cy="895372"/>
          </a:xfrm>
          <a:prstGeom prst="roundRect">
            <a:avLst/>
          </a:prstGeom>
          <a:solidFill>
            <a:srgbClr val="1B3F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新关键技术</a:t>
            </a:r>
            <a:endParaRPr lang="en-US" altLang="zh-CN" sz="1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E47187-A4CA-40C5-2799-E5EBD3AB9EFE}"/>
              </a:ext>
            </a:extLst>
          </p:cNvPr>
          <p:cNvSpPr txBox="1"/>
          <p:nvPr/>
        </p:nvSpPr>
        <p:spPr>
          <a:xfrm>
            <a:off x="4483296" y="5569635"/>
            <a:ext cx="6855621" cy="895372"/>
          </a:xfrm>
          <a:prstGeom prst="rect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just">
              <a:defRPr/>
            </a:pP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支撑汉宜高速项目打造改扩建与低空经济背景下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交通监测</a:t>
            </a: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与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应急管理</a:t>
            </a: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优化应用示范</a:t>
            </a:r>
            <a:endParaRPr lang="en-US" altLang="zh-CN" sz="1400" b="1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构建改扩建与低空路衍经济影响的交通监测与管理体系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构建低空路衍经济影响的公路安全效能与韧性评估体系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97">
            <a:extLst>
              <a:ext uri="{FF2B5EF4-FFF2-40B4-BE49-F238E27FC236}">
                <a16:creationId xmlns:a16="http://schemas.microsoft.com/office/drawing/2014/main" id="{26BC28E8-FC3B-E324-A9D9-00DEEB7B341F}"/>
              </a:ext>
            </a:extLst>
          </p:cNvPr>
          <p:cNvSpPr/>
          <p:nvPr/>
        </p:nvSpPr>
        <p:spPr>
          <a:xfrm>
            <a:off x="3143672" y="5485956"/>
            <a:ext cx="849076" cy="895372"/>
          </a:xfrm>
          <a:prstGeom prst="roundRect">
            <a:avLst/>
          </a:prstGeom>
          <a:solidFill>
            <a:srgbClr val="1B3F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新应用示范</a:t>
            </a:r>
            <a:endParaRPr lang="en-US" altLang="zh-CN" sz="1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左箭头 1">
            <a:extLst>
              <a:ext uri="{FF2B5EF4-FFF2-40B4-BE49-F238E27FC236}">
                <a16:creationId xmlns:a16="http://schemas.microsoft.com/office/drawing/2014/main" id="{4E5C9C97-3EB7-E5DC-EB67-795DA04D7905}"/>
              </a:ext>
            </a:extLst>
          </p:cNvPr>
          <p:cNvSpPr/>
          <p:nvPr/>
        </p:nvSpPr>
        <p:spPr>
          <a:xfrm rot="10800000">
            <a:off x="4079777" y="5813663"/>
            <a:ext cx="316492" cy="2399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2C633C-408D-568B-E383-BA7E7CF58875}"/>
              </a:ext>
            </a:extLst>
          </p:cNvPr>
          <p:cNvSpPr txBox="1"/>
          <p:nvPr/>
        </p:nvSpPr>
        <p:spPr>
          <a:xfrm>
            <a:off x="4483296" y="3573016"/>
            <a:ext cx="6854271" cy="1847578"/>
          </a:xfrm>
          <a:prstGeom prst="rect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lvl="0" algn="just">
              <a:defRPr/>
            </a:pP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构建基于智能检测与车路协同的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实施监测</a:t>
            </a: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与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主动防控</a:t>
            </a:r>
            <a:r>
              <a:rPr lang="zh-CN" altLang="en-US" sz="14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技术体系</a:t>
            </a:r>
            <a:endParaRPr lang="en-US" altLang="zh-CN" sz="1400" b="1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搭建汉宜高速全段高危场景特征数据库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形成高危场景交通检测设施布设优化方案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搭建车路协同配套的车辆运行状态实时监测算法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形成高危路段风险量化主动防控机制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  <a:p>
            <a:pPr marL="396000" indent="-2286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_GB2312"/>
              </a:rPr>
              <a:t>形成数据模型双驱动的突发事件应急管控策略</a:t>
            </a:r>
          </a:p>
        </p:txBody>
      </p:sp>
      <p:sp>
        <p:nvSpPr>
          <p:cNvPr id="14" name="左箭头 1">
            <a:extLst>
              <a:ext uri="{FF2B5EF4-FFF2-40B4-BE49-F238E27FC236}">
                <a16:creationId xmlns:a16="http://schemas.microsoft.com/office/drawing/2014/main" id="{DCF3E022-3A41-D824-D1DD-2C0566F01E22}"/>
              </a:ext>
            </a:extLst>
          </p:cNvPr>
          <p:cNvSpPr/>
          <p:nvPr/>
        </p:nvSpPr>
        <p:spPr>
          <a:xfrm rot="10800000">
            <a:off x="4079777" y="4156502"/>
            <a:ext cx="316492" cy="2399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AA53FB-A8CF-9684-3E25-37C5275B9E29}"/>
              </a:ext>
            </a:extLst>
          </p:cNvPr>
          <p:cNvSpPr/>
          <p:nvPr/>
        </p:nvSpPr>
        <p:spPr>
          <a:xfrm>
            <a:off x="2815508" y="1262613"/>
            <a:ext cx="1113349" cy="5847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三大方面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E3C22F-7345-1B8B-BD12-73DC253A7EE0}"/>
              </a:ext>
            </a:extLst>
          </p:cNvPr>
          <p:cNvSpPr/>
          <p:nvPr/>
        </p:nvSpPr>
        <p:spPr>
          <a:xfrm>
            <a:off x="4633914" y="1262613"/>
            <a:ext cx="1678110" cy="5847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创新内容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97DA85-086A-A469-75BA-DA69C2CA560E}"/>
              </a:ext>
            </a:extLst>
          </p:cNvPr>
          <p:cNvSpPr/>
          <p:nvPr/>
        </p:nvSpPr>
        <p:spPr>
          <a:xfrm>
            <a:off x="734179" y="1262613"/>
            <a:ext cx="1113349" cy="5847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五个课题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74">
            <a:extLst>
              <a:ext uri="{FF2B5EF4-FFF2-40B4-BE49-F238E27FC236}">
                <a16:creationId xmlns:a16="http://schemas.microsoft.com/office/drawing/2014/main" id="{85775418-0273-83B8-B1D9-B4BFBAD31618}"/>
              </a:ext>
            </a:extLst>
          </p:cNvPr>
          <p:cNvSpPr/>
          <p:nvPr/>
        </p:nvSpPr>
        <p:spPr>
          <a:xfrm>
            <a:off x="854433" y="2082082"/>
            <a:ext cx="849076" cy="6204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课题一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74">
            <a:extLst>
              <a:ext uri="{FF2B5EF4-FFF2-40B4-BE49-F238E27FC236}">
                <a16:creationId xmlns:a16="http://schemas.microsoft.com/office/drawing/2014/main" id="{DA902840-E6DF-CB17-64E9-3575476FBA4E}"/>
              </a:ext>
            </a:extLst>
          </p:cNvPr>
          <p:cNvSpPr/>
          <p:nvPr/>
        </p:nvSpPr>
        <p:spPr>
          <a:xfrm>
            <a:off x="853083" y="3002476"/>
            <a:ext cx="849076" cy="6204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课题二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74">
            <a:extLst>
              <a:ext uri="{FF2B5EF4-FFF2-40B4-BE49-F238E27FC236}">
                <a16:creationId xmlns:a16="http://schemas.microsoft.com/office/drawing/2014/main" id="{F0EBDEF1-051D-158C-D9A8-138033C35D3B}"/>
              </a:ext>
            </a:extLst>
          </p:cNvPr>
          <p:cNvSpPr/>
          <p:nvPr/>
        </p:nvSpPr>
        <p:spPr>
          <a:xfrm>
            <a:off x="853083" y="3917128"/>
            <a:ext cx="849076" cy="6204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课题三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74">
            <a:extLst>
              <a:ext uri="{FF2B5EF4-FFF2-40B4-BE49-F238E27FC236}">
                <a16:creationId xmlns:a16="http://schemas.microsoft.com/office/drawing/2014/main" id="{26CFE68B-1F0E-F2F5-B7DF-5B7B1995285C}"/>
              </a:ext>
            </a:extLst>
          </p:cNvPr>
          <p:cNvSpPr/>
          <p:nvPr/>
        </p:nvSpPr>
        <p:spPr>
          <a:xfrm>
            <a:off x="853083" y="4836809"/>
            <a:ext cx="849076" cy="6204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课题四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74">
            <a:extLst>
              <a:ext uri="{FF2B5EF4-FFF2-40B4-BE49-F238E27FC236}">
                <a16:creationId xmlns:a16="http://schemas.microsoft.com/office/drawing/2014/main" id="{973037F9-66CC-ED04-56C2-BFD2E3F2E057}"/>
              </a:ext>
            </a:extLst>
          </p:cNvPr>
          <p:cNvSpPr/>
          <p:nvPr/>
        </p:nvSpPr>
        <p:spPr>
          <a:xfrm>
            <a:off x="853083" y="5760860"/>
            <a:ext cx="849076" cy="6204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课题五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6643286-9FE9-82CF-2BD9-B3427AA45D61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>
          <a:xfrm>
            <a:off x="1703509" y="2392318"/>
            <a:ext cx="1440163" cy="137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DBC5EAC-D576-7252-D3DB-C5FEE5C45496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>
            <a:off x="1703509" y="2392318"/>
            <a:ext cx="1446123" cy="188416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B89C304-B255-B018-A4C6-0F83277B56BF}"/>
              </a:ext>
            </a:extLst>
          </p:cNvPr>
          <p:cNvCxnSpPr>
            <a:cxnSpLocks/>
            <a:stCxn id="19" idx="3"/>
            <a:endCxn id="7" idx="1"/>
          </p:cNvCxnSpPr>
          <p:nvPr/>
        </p:nvCxnSpPr>
        <p:spPr>
          <a:xfrm flipV="1">
            <a:off x="1702159" y="2529766"/>
            <a:ext cx="1441513" cy="78294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A77A708-901A-FFD3-D447-3296BF84ACF6}"/>
              </a:ext>
            </a:extLst>
          </p:cNvPr>
          <p:cNvCxnSpPr>
            <a:cxnSpLocks/>
            <a:stCxn id="22" idx="3"/>
            <a:endCxn id="11" idx="1"/>
          </p:cNvCxnSpPr>
          <p:nvPr/>
        </p:nvCxnSpPr>
        <p:spPr>
          <a:xfrm flipV="1">
            <a:off x="1702159" y="5933642"/>
            <a:ext cx="1441513" cy="13745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728396B-C7DC-423B-3185-C992CA697A94}"/>
              </a:ext>
            </a:extLst>
          </p:cNvPr>
          <p:cNvCxnSpPr>
            <a:cxnSpLocks/>
            <a:stCxn id="19" idx="3"/>
            <a:endCxn id="11" idx="1"/>
          </p:cNvCxnSpPr>
          <p:nvPr/>
        </p:nvCxnSpPr>
        <p:spPr>
          <a:xfrm>
            <a:off x="1702159" y="3312712"/>
            <a:ext cx="1441513" cy="26209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FE48DF4-E97F-470A-7354-5F1E882B9D2F}"/>
              </a:ext>
            </a:extLst>
          </p:cNvPr>
          <p:cNvCxnSpPr>
            <a:cxnSpLocks/>
          </p:cNvCxnSpPr>
          <p:nvPr/>
        </p:nvCxnSpPr>
        <p:spPr>
          <a:xfrm>
            <a:off x="1703509" y="3320234"/>
            <a:ext cx="1448501" cy="101507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8BD4A29-E329-3B5B-4E02-B79B2D4B4E7C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>
            <a:off x="1702159" y="4227364"/>
            <a:ext cx="1447473" cy="4911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24BE68E-B960-F53A-4406-81BCB3DABD9D}"/>
              </a:ext>
            </a:extLst>
          </p:cNvPr>
          <p:cNvCxnSpPr>
            <a:cxnSpLocks/>
            <a:stCxn id="20" idx="3"/>
            <a:endCxn id="7" idx="1"/>
          </p:cNvCxnSpPr>
          <p:nvPr/>
        </p:nvCxnSpPr>
        <p:spPr>
          <a:xfrm flipV="1">
            <a:off x="1702159" y="2529766"/>
            <a:ext cx="1441513" cy="169759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54C4332-F718-DBF9-6EB4-37931359F572}"/>
              </a:ext>
            </a:extLst>
          </p:cNvPr>
          <p:cNvCxnSpPr>
            <a:cxnSpLocks/>
          </p:cNvCxnSpPr>
          <p:nvPr/>
        </p:nvCxnSpPr>
        <p:spPr>
          <a:xfrm flipV="1">
            <a:off x="1702159" y="2568823"/>
            <a:ext cx="1441513" cy="261727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EDBD854-D863-CC62-B53A-8617DF7E8A84}"/>
              </a:ext>
            </a:extLst>
          </p:cNvPr>
          <p:cNvCxnSpPr>
            <a:cxnSpLocks/>
            <a:stCxn id="21" idx="3"/>
            <a:endCxn id="9" idx="1"/>
          </p:cNvCxnSpPr>
          <p:nvPr/>
        </p:nvCxnSpPr>
        <p:spPr>
          <a:xfrm flipV="1">
            <a:off x="1702159" y="4276481"/>
            <a:ext cx="1447473" cy="8705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88C16A3-ECD6-45B8-8249-B7C0F3ED1910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>
            <a:off x="1702159" y="5147045"/>
            <a:ext cx="1441513" cy="78659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9F45D631-B4D7-2DBC-12D3-92EAD24320F1}"/>
              </a:ext>
            </a:extLst>
          </p:cNvPr>
          <p:cNvSpPr/>
          <p:nvPr/>
        </p:nvSpPr>
        <p:spPr>
          <a:xfrm>
            <a:off x="9962506" y="1262613"/>
            <a:ext cx="1678110" cy="5847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专项报告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572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6894" y="357130"/>
            <a:ext cx="6867833" cy="4336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预期成果和效益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E65E7E-C43B-6661-9E25-B4C11D382CB4}"/>
              </a:ext>
            </a:extLst>
          </p:cNvPr>
          <p:cNvSpPr/>
          <p:nvPr/>
        </p:nvSpPr>
        <p:spPr>
          <a:xfrm>
            <a:off x="3449481" y="1317081"/>
            <a:ext cx="4994396" cy="5064244"/>
          </a:xfrm>
          <a:prstGeom prst="rect">
            <a:avLst/>
          </a:prstGeom>
          <a:solidFill>
            <a:srgbClr val="FFFDF7"/>
          </a:solidFill>
          <a:ln w="19050">
            <a:solidFill>
              <a:srgbClr val="C00000"/>
            </a:solidFill>
            <a:prstDash val="sysDash"/>
            <a:miter lim="800000"/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endParaRPr lang="zh-CN" altLang="en-US" b="1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324261-E278-6CCA-AA86-901FDDE52A00}"/>
              </a:ext>
            </a:extLst>
          </p:cNvPr>
          <p:cNvSpPr/>
          <p:nvPr/>
        </p:nvSpPr>
        <p:spPr>
          <a:xfrm>
            <a:off x="434346" y="1311896"/>
            <a:ext cx="2593518" cy="5069430"/>
          </a:xfrm>
          <a:prstGeom prst="rect">
            <a:avLst/>
          </a:prstGeom>
          <a:solidFill>
            <a:srgbClr val="FFFDF7"/>
          </a:solidFill>
          <a:ln w="19050">
            <a:solidFill>
              <a:srgbClr val="9933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just">
              <a:lnSpc>
                <a:spcPct val="125000"/>
              </a:lnSpc>
              <a:defRPr/>
            </a:pPr>
            <a:endParaRPr lang="zh-CN" altLang="en-US" b="1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</p:txBody>
      </p:sp>
      <p:sp>
        <p:nvSpPr>
          <p:cNvPr id="6" name="圆角矩形 35">
            <a:extLst>
              <a:ext uri="{FF2B5EF4-FFF2-40B4-BE49-F238E27FC236}">
                <a16:creationId xmlns:a16="http://schemas.microsoft.com/office/drawing/2014/main" id="{D0611358-88EF-2DAC-E26C-9444F2742E61}"/>
              </a:ext>
            </a:extLst>
          </p:cNvPr>
          <p:cNvSpPr/>
          <p:nvPr/>
        </p:nvSpPr>
        <p:spPr>
          <a:xfrm>
            <a:off x="652145" y="3505938"/>
            <a:ext cx="2196440" cy="1177264"/>
          </a:xfrm>
          <a:prstGeom prst="roundRect">
            <a:avLst/>
          </a:prstGeom>
          <a:solidFill>
            <a:srgbClr val="EAF2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智能交通监测与车路协同技术应用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13">
            <a:extLst>
              <a:ext uri="{FF2B5EF4-FFF2-40B4-BE49-F238E27FC236}">
                <a16:creationId xmlns:a16="http://schemas.microsoft.com/office/drawing/2014/main" id="{84C884CA-B39D-F297-F558-884A541097B8}"/>
              </a:ext>
            </a:extLst>
          </p:cNvPr>
          <p:cNvSpPr/>
          <p:nvPr/>
        </p:nvSpPr>
        <p:spPr>
          <a:xfrm>
            <a:off x="652145" y="2082612"/>
            <a:ext cx="2196440" cy="1177474"/>
          </a:xfrm>
          <a:prstGeom prst="roundRect">
            <a:avLst/>
          </a:prstGeom>
          <a:solidFill>
            <a:srgbClr val="EAF2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创新性风险评估与预防体系构建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26">
            <a:extLst>
              <a:ext uri="{FF2B5EF4-FFF2-40B4-BE49-F238E27FC236}">
                <a16:creationId xmlns:a16="http://schemas.microsoft.com/office/drawing/2014/main" id="{462B6E01-4E49-0C57-1184-9535DE88DA7D}"/>
              </a:ext>
            </a:extLst>
          </p:cNvPr>
          <p:cNvSpPr/>
          <p:nvPr/>
        </p:nvSpPr>
        <p:spPr>
          <a:xfrm>
            <a:off x="652145" y="4916270"/>
            <a:ext cx="2196440" cy="1177264"/>
          </a:xfrm>
          <a:prstGeom prst="roundRect">
            <a:avLst/>
          </a:prstGeom>
          <a:solidFill>
            <a:srgbClr val="EAF2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低空路衍经济下高速公路改扩建评估体系构建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左箭头 1">
            <a:extLst>
              <a:ext uri="{FF2B5EF4-FFF2-40B4-BE49-F238E27FC236}">
                <a16:creationId xmlns:a16="http://schemas.microsoft.com/office/drawing/2014/main" id="{16177404-9D7F-3AC3-5179-284FA86EADC7}"/>
              </a:ext>
            </a:extLst>
          </p:cNvPr>
          <p:cNvSpPr/>
          <p:nvPr/>
        </p:nvSpPr>
        <p:spPr>
          <a:xfrm rot="10800000">
            <a:off x="8571602" y="2529410"/>
            <a:ext cx="199869" cy="22969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0" name="左箭头 1">
            <a:extLst>
              <a:ext uri="{FF2B5EF4-FFF2-40B4-BE49-F238E27FC236}">
                <a16:creationId xmlns:a16="http://schemas.microsoft.com/office/drawing/2014/main" id="{28549796-862E-98BB-6437-446E15DECB24}"/>
              </a:ext>
            </a:extLst>
          </p:cNvPr>
          <p:cNvSpPr/>
          <p:nvPr/>
        </p:nvSpPr>
        <p:spPr>
          <a:xfrm rot="10800000">
            <a:off x="3158797" y="3725210"/>
            <a:ext cx="159749" cy="2428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1" name="左箭头 1">
            <a:extLst>
              <a:ext uri="{FF2B5EF4-FFF2-40B4-BE49-F238E27FC236}">
                <a16:creationId xmlns:a16="http://schemas.microsoft.com/office/drawing/2014/main" id="{3661B415-84FD-D338-DBFF-9DBDBA6CA022}"/>
              </a:ext>
            </a:extLst>
          </p:cNvPr>
          <p:cNvSpPr/>
          <p:nvPr/>
        </p:nvSpPr>
        <p:spPr>
          <a:xfrm rot="10800000">
            <a:off x="8579308" y="5274602"/>
            <a:ext cx="199869" cy="22969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FE8E51-F797-E6D8-2946-4A95B9408FF2}"/>
              </a:ext>
            </a:extLst>
          </p:cNvPr>
          <p:cNvSpPr/>
          <p:nvPr/>
        </p:nvSpPr>
        <p:spPr>
          <a:xfrm>
            <a:off x="3612201" y="1825337"/>
            <a:ext cx="4750199" cy="633338"/>
          </a:xfrm>
          <a:prstGeom prst="rect">
            <a:avLst/>
          </a:prstGeom>
          <a:solidFill>
            <a:srgbClr val="EAF2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汉宜高速同类道路交通事故数据集</a:t>
            </a: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套；</a:t>
            </a:r>
            <a:endParaRPr lang="en-US" altLang="zh-CN" sz="1600" b="1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汉宜高速全段高危场景特征数据库</a:t>
            </a: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套；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3">
            <a:extLst>
              <a:ext uri="{FF2B5EF4-FFF2-40B4-BE49-F238E27FC236}">
                <a16:creationId xmlns:a16="http://schemas.microsoft.com/office/drawing/2014/main" id="{B112549B-4851-2FA6-FFF5-5C6E22079A47}"/>
              </a:ext>
            </a:extLst>
          </p:cNvPr>
          <p:cNvSpPr/>
          <p:nvPr/>
        </p:nvSpPr>
        <p:spPr>
          <a:xfrm>
            <a:off x="3612202" y="1470077"/>
            <a:ext cx="1526651" cy="3629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数据资源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2CEAB6-7C17-CDD4-4631-F33852CD5B42}"/>
              </a:ext>
            </a:extLst>
          </p:cNvPr>
          <p:cNvSpPr/>
          <p:nvPr/>
        </p:nvSpPr>
        <p:spPr>
          <a:xfrm>
            <a:off x="8877691" y="1319586"/>
            <a:ext cx="2922946" cy="2198143"/>
          </a:xfrm>
          <a:prstGeom prst="rect">
            <a:avLst/>
          </a:prstGeom>
          <a:solidFill>
            <a:srgbClr val="FFFDF7"/>
          </a:solidFill>
          <a:ln w="19050">
            <a:solidFill>
              <a:srgbClr val="9933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just">
              <a:lnSpc>
                <a:spcPct val="125000"/>
              </a:lnSpc>
              <a:defRPr/>
            </a:pPr>
            <a:endParaRPr lang="zh-CN" altLang="en-US" b="1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</p:txBody>
      </p:sp>
      <p:sp>
        <p:nvSpPr>
          <p:cNvPr id="22" name="圆角矩形 13">
            <a:extLst>
              <a:ext uri="{FF2B5EF4-FFF2-40B4-BE49-F238E27FC236}">
                <a16:creationId xmlns:a16="http://schemas.microsoft.com/office/drawing/2014/main" id="{0827DF60-11E1-C720-A772-F19963067F1F}"/>
              </a:ext>
            </a:extLst>
          </p:cNvPr>
          <p:cNvSpPr/>
          <p:nvPr/>
        </p:nvSpPr>
        <p:spPr>
          <a:xfrm>
            <a:off x="8923387" y="1319586"/>
            <a:ext cx="2756623" cy="50405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社会效益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6">
            <a:extLst>
              <a:ext uri="{FF2B5EF4-FFF2-40B4-BE49-F238E27FC236}">
                <a16:creationId xmlns:a16="http://schemas.microsoft.com/office/drawing/2014/main" id="{CC2B3D72-3F50-F04B-CCA8-9AE1DAF39B86}"/>
              </a:ext>
            </a:extLst>
          </p:cNvPr>
          <p:cNvSpPr/>
          <p:nvPr/>
        </p:nvSpPr>
        <p:spPr>
          <a:xfrm>
            <a:off x="8962836" y="1946286"/>
            <a:ext cx="2717174" cy="1432755"/>
          </a:xfrm>
          <a:prstGeom prst="roundRect">
            <a:avLst/>
          </a:prstGeom>
          <a:solidFill>
            <a:srgbClr val="EAF2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提高应急响应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促进区域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经济发展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7BA3D0-E402-B004-E9B1-81DE680B1F98}"/>
              </a:ext>
            </a:extLst>
          </p:cNvPr>
          <p:cNvSpPr/>
          <p:nvPr/>
        </p:nvSpPr>
        <p:spPr>
          <a:xfrm>
            <a:off x="8914219" y="4067334"/>
            <a:ext cx="2922946" cy="2313991"/>
          </a:xfrm>
          <a:prstGeom prst="rect">
            <a:avLst/>
          </a:prstGeom>
          <a:solidFill>
            <a:srgbClr val="FFFDF7"/>
          </a:solidFill>
          <a:ln w="19050">
            <a:solidFill>
              <a:srgbClr val="9933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just">
              <a:lnSpc>
                <a:spcPct val="125000"/>
              </a:lnSpc>
              <a:defRPr/>
            </a:pPr>
            <a:endParaRPr lang="zh-CN" altLang="en-US" b="1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</p:txBody>
      </p:sp>
      <p:sp>
        <p:nvSpPr>
          <p:cNvPr id="26" name="圆角矩形 13">
            <a:extLst>
              <a:ext uri="{FF2B5EF4-FFF2-40B4-BE49-F238E27FC236}">
                <a16:creationId xmlns:a16="http://schemas.microsoft.com/office/drawing/2014/main" id="{05AFF3DC-E4F0-37A1-9001-57A1805121FD}"/>
              </a:ext>
            </a:extLst>
          </p:cNvPr>
          <p:cNvSpPr/>
          <p:nvPr/>
        </p:nvSpPr>
        <p:spPr>
          <a:xfrm>
            <a:off x="8979639" y="4197712"/>
            <a:ext cx="2756623" cy="4282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经济效益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8D265BC-AE8D-11BD-6CD7-401C3492B059}"/>
              </a:ext>
            </a:extLst>
          </p:cNvPr>
          <p:cNvSpPr/>
          <p:nvPr/>
        </p:nvSpPr>
        <p:spPr>
          <a:xfrm>
            <a:off x="8999361" y="4683202"/>
            <a:ext cx="2729711" cy="1409785"/>
          </a:xfrm>
          <a:prstGeom prst="roundRect">
            <a:avLst/>
          </a:prstGeom>
          <a:solidFill>
            <a:srgbClr val="EAF2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降低交通事故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优化设施资源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支持区域经济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084DF40-B124-06AB-CFEF-DD78B40DD647}"/>
              </a:ext>
            </a:extLst>
          </p:cNvPr>
          <p:cNvSpPr/>
          <p:nvPr/>
        </p:nvSpPr>
        <p:spPr>
          <a:xfrm>
            <a:off x="979791" y="1319586"/>
            <a:ext cx="15026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科学价值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49C3C5-A4C9-407A-9F9A-B1110DD6AE96}"/>
              </a:ext>
            </a:extLst>
          </p:cNvPr>
          <p:cNvSpPr/>
          <p:nvPr/>
        </p:nvSpPr>
        <p:spPr>
          <a:xfrm>
            <a:off x="6301835" y="1405219"/>
            <a:ext cx="15026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交付物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1A62B95-FEB2-4140-A7D2-24C4E2997AFD}"/>
              </a:ext>
            </a:extLst>
          </p:cNvPr>
          <p:cNvSpPr/>
          <p:nvPr/>
        </p:nvSpPr>
        <p:spPr>
          <a:xfrm>
            <a:off x="3612201" y="2896873"/>
            <a:ext cx="4750200" cy="1256434"/>
          </a:xfrm>
          <a:prstGeom prst="rect">
            <a:avLst/>
          </a:prstGeom>
          <a:solidFill>
            <a:srgbClr val="EAF2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汉宜高速事故发生概率和严重程度模型</a:t>
            </a: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套；</a:t>
            </a:r>
            <a:endParaRPr lang="en-US" altLang="zh-CN" sz="1600" b="1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1" spc="-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汉宜高速事故风险特征分析与高危路段鉴别软件</a:t>
            </a:r>
            <a:r>
              <a:rPr lang="en-US" altLang="zh-CN" sz="1600" b="1" spc="-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spc="-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套；</a:t>
            </a:r>
            <a:endParaRPr lang="en-US" altLang="zh-CN" sz="1600" b="1" spc="-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车辆运行状态实时监测算法代码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套；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管控与应急策略生成软件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套；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圆角矩形 13">
            <a:extLst>
              <a:ext uri="{FF2B5EF4-FFF2-40B4-BE49-F238E27FC236}">
                <a16:creationId xmlns:a16="http://schemas.microsoft.com/office/drawing/2014/main" id="{458FB427-662C-4EAD-A4D5-82E18B6E52F7}"/>
              </a:ext>
            </a:extLst>
          </p:cNvPr>
          <p:cNvSpPr/>
          <p:nvPr/>
        </p:nvSpPr>
        <p:spPr>
          <a:xfrm>
            <a:off x="3612202" y="2541612"/>
            <a:ext cx="1526651" cy="3629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算法软件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8D87BE9-1EB5-4938-B506-1598652194BC}"/>
              </a:ext>
            </a:extLst>
          </p:cNvPr>
          <p:cNvSpPr/>
          <p:nvPr/>
        </p:nvSpPr>
        <p:spPr>
          <a:xfrm>
            <a:off x="3612201" y="4607086"/>
            <a:ext cx="4750199" cy="879356"/>
          </a:xfrm>
          <a:prstGeom prst="rect">
            <a:avLst/>
          </a:prstGeom>
          <a:solidFill>
            <a:srgbClr val="EAF2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高危场景交通检测设施布设优化方案</a:t>
            </a: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套；</a:t>
            </a:r>
            <a:endParaRPr lang="en-US" altLang="zh-CN" sz="1600" b="1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突发事件应急管控策略</a:t>
            </a: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套；</a:t>
            </a:r>
            <a:endParaRPr lang="en-US" altLang="zh-CN" sz="1600" b="1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600" b="1" kern="100" spc="-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600" b="1" kern="100" spc="-13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低空路衍经济影响的公路安全效能与韧性评估体系</a:t>
            </a:r>
            <a:r>
              <a:rPr lang="en-US" altLang="zh-CN" sz="1600" b="1" kern="100" spc="-13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kern="100" spc="-13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套；</a:t>
            </a:r>
            <a:endParaRPr lang="zh-CN" altLang="en-US" sz="1600" b="1" spc="-13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13">
            <a:extLst>
              <a:ext uri="{FF2B5EF4-FFF2-40B4-BE49-F238E27FC236}">
                <a16:creationId xmlns:a16="http://schemas.microsoft.com/office/drawing/2014/main" id="{0281D0FD-329D-40DF-8C7F-BFF0F532F95F}"/>
              </a:ext>
            </a:extLst>
          </p:cNvPr>
          <p:cNvSpPr/>
          <p:nvPr/>
        </p:nvSpPr>
        <p:spPr>
          <a:xfrm>
            <a:off x="3612202" y="4251826"/>
            <a:ext cx="1526651" cy="3629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方案体系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FA99FE-0E6A-49A4-9105-3E30D8BC0893}"/>
              </a:ext>
            </a:extLst>
          </p:cNvPr>
          <p:cNvSpPr/>
          <p:nvPr/>
        </p:nvSpPr>
        <p:spPr>
          <a:xfrm>
            <a:off x="3620011" y="5936286"/>
            <a:ext cx="4750199" cy="362968"/>
          </a:xfrm>
          <a:prstGeom prst="rect">
            <a:avLst/>
          </a:prstGeom>
          <a:solidFill>
            <a:srgbClr val="EAF2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提交发明专利申请</a:t>
            </a:r>
            <a:r>
              <a:rPr lang="en-US" altLang="zh-CN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2-3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项；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13">
            <a:extLst>
              <a:ext uri="{FF2B5EF4-FFF2-40B4-BE49-F238E27FC236}">
                <a16:creationId xmlns:a16="http://schemas.microsoft.com/office/drawing/2014/main" id="{4BABA2F3-FD03-4473-9E0F-A3E65D99FECE}"/>
              </a:ext>
            </a:extLst>
          </p:cNvPr>
          <p:cNvSpPr/>
          <p:nvPr/>
        </p:nvSpPr>
        <p:spPr>
          <a:xfrm>
            <a:off x="3620012" y="5581026"/>
            <a:ext cx="1526651" cy="3629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知识产权</a:t>
            </a:r>
          </a:p>
        </p:txBody>
      </p:sp>
    </p:spTree>
    <p:extLst>
      <p:ext uri="{BB962C8B-B14F-4D97-AF65-F5344CB8AC3E}">
        <p14:creationId xmlns:p14="http://schemas.microsoft.com/office/powerpoint/2010/main" val="3431975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379527559055,&quot;left&quot;:165.20125984251968,&quot;top&quot;:229.97748031496062,&quot;width&quot;:637.984251968503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b="1" dirty="0" smtClean="0">
            <a:solidFill>
              <a:srgbClr val="185BAA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</TotalTime>
  <Words>1476</Words>
  <Application>Microsoft Office PowerPoint</Application>
  <PresentationFormat>宽屏</PresentationFormat>
  <Paragraphs>283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Helvetica Neue</vt:lpstr>
      <vt:lpstr>等线</vt:lpstr>
      <vt:lpstr>等线</vt:lpstr>
      <vt:lpstr>等线 Light</vt:lpstr>
      <vt:lpstr>微软雅黑</vt:lpstr>
      <vt:lpstr>Arial</vt:lpstr>
      <vt:lpstr>Berlin Sans FB</vt:lpstr>
      <vt:lpstr>Calibri</vt:lpstr>
      <vt:lpstr>Times New Roman</vt:lpstr>
      <vt:lpstr>Office 主题​​</vt:lpstr>
      <vt:lpstr>2_Office 主题</vt:lpstr>
      <vt:lpstr>PowerPoint 演示文稿</vt:lpstr>
      <vt:lpstr>PowerPoint 演示文稿</vt:lpstr>
      <vt:lpstr>主要研究内容</vt:lpstr>
      <vt:lpstr>课题1：高速公路改扩建前中后交通事故特征及高危场景画像</vt:lpstr>
      <vt:lpstr>课题2：考虑改扩建前中后交通需求与高危场景的交通监测设施布设优化</vt:lpstr>
      <vt:lpstr>课题3：基于智能监测技术的高危路段车辆在途风险研判与推演</vt:lpstr>
      <vt:lpstr>课题4：面向事故风险的预防措施与智慧应急管控策略研究</vt:lpstr>
      <vt:lpstr>主要研究内容/技术路线</vt:lpstr>
      <vt:lpstr>主要研究内容/关键技术</vt:lpstr>
      <vt:lpstr>创新点</vt:lpstr>
      <vt:lpstr>预期成果和效益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676</cp:revision>
  <dcterms:created xsi:type="dcterms:W3CDTF">2020-12-09T06:45:00Z</dcterms:created>
  <dcterms:modified xsi:type="dcterms:W3CDTF">2024-12-22T02:19:07Z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2052-10.1.0.5603</vt:lpwstr>
  </property>
</Properties>
</file>